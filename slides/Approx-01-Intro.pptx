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0"/>
  </p:notesMasterIdLst>
  <p:sldIdLst>
    <p:sldId id="256" r:id="rId2"/>
    <p:sldId id="286" r:id="rId3"/>
    <p:sldId id="292" r:id="rId4"/>
    <p:sldId id="361" r:id="rId5"/>
    <p:sldId id="362" r:id="rId6"/>
    <p:sldId id="358" r:id="rId7"/>
    <p:sldId id="363" r:id="rId8"/>
    <p:sldId id="364" r:id="rId9"/>
    <p:sldId id="376" r:id="rId10"/>
    <p:sldId id="380" r:id="rId11"/>
    <p:sldId id="377" r:id="rId12"/>
    <p:sldId id="365" r:id="rId13"/>
    <p:sldId id="378" r:id="rId14"/>
    <p:sldId id="379" r:id="rId15"/>
    <p:sldId id="359" r:id="rId16"/>
    <p:sldId id="367" r:id="rId17"/>
    <p:sldId id="382" r:id="rId18"/>
    <p:sldId id="383" r:id="rId19"/>
    <p:sldId id="384" r:id="rId20"/>
    <p:sldId id="385" r:id="rId21"/>
    <p:sldId id="402" r:id="rId22"/>
    <p:sldId id="386" r:id="rId23"/>
    <p:sldId id="369" r:id="rId24"/>
    <p:sldId id="388" r:id="rId25"/>
    <p:sldId id="389" r:id="rId26"/>
    <p:sldId id="403" r:id="rId27"/>
    <p:sldId id="411" r:id="rId28"/>
    <p:sldId id="404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0" r:id="rId37"/>
    <p:sldId id="420" r:id="rId38"/>
    <p:sldId id="419" r:id="rId39"/>
    <p:sldId id="421" r:id="rId40"/>
    <p:sldId id="422" r:id="rId41"/>
    <p:sldId id="408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360" r:id="rId53"/>
    <p:sldId id="372" r:id="rId54"/>
    <p:sldId id="391" r:id="rId55"/>
    <p:sldId id="373" r:id="rId56"/>
    <p:sldId id="392" r:id="rId57"/>
    <p:sldId id="396" r:id="rId58"/>
    <p:sldId id="374" r:id="rId59"/>
    <p:sldId id="393" r:id="rId60"/>
    <p:sldId id="394" r:id="rId61"/>
    <p:sldId id="395" r:id="rId62"/>
    <p:sldId id="397" r:id="rId63"/>
    <p:sldId id="398" r:id="rId64"/>
    <p:sldId id="399" r:id="rId65"/>
    <p:sldId id="400" r:id="rId66"/>
    <p:sldId id="401" r:id="rId67"/>
    <p:sldId id="357" r:id="rId68"/>
    <p:sldId id="33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38"/>
    <p:restoredTop sz="94734"/>
  </p:normalViewPr>
  <p:slideViewPr>
    <p:cSldViewPr snapToGrid="0" snapToObjects="1">
      <p:cViewPr varScale="1">
        <p:scale>
          <a:sx n="137" d="100"/>
          <a:sy n="137" d="100"/>
        </p:scale>
        <p:origin x="1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1.png"/><Relationship Id="rId7" Type="http://schemas.openxmlformats.org/officeDocument/2006/relationships/image" Target="../media/image5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55.png"/><Relationship Id="rId10" Type="http://schemas.openxmlformats.org/officeDocument/2006/relationships/image" Target="../media/image66.png"/><Relationship Id="rId4" Type="http://schemas.openxmlformats.org/officeDocument/2006/relationships/image" Target="../media/image54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0.png"/><Relationship Id="rId7" Type="http://schemas.openxmlformats.org/officeDocument/2006/relationships/image" Target="../media/image34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0.png"/><Relationship Id="rId5" Type="http://schemas.openxmlformats.org/officeDocument/2006/relationships/image" Target="../media/image400.png"/><Relationship Id="rId10" Type="http://schemas.openxmlformats.org/officeDocument/2006/relationships/image" Target="../media/image450.png"/><Relationship Id="rId4" Type="http://schemas.openxmlformats.org/officeDocument/2006/relationships/image" Target="../media/image390.png"/><Relationship Id="rId9" Type="http://schemas.openxmlformats.org/officeDocument/2006/relationships/image" Target="../media/image4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13" Type="http://schemas.openxmlformats.org/officeDocument/2006/relationships/image" Target="../media/image610.png"/><Relationship Id="rId18" Type="http://schemas.openxmlformats.org/officeDocument/2006/relationships/image" Target="../media/image660.png"/><Relationship Id="rId3" Type="http://schemas.openxmlformats.org/officeDocument/2006/relationships/image" Target="../media/image510.png"/><Relationship Id="rId21" Type="http://schemas.openxmlformats.org/officeDocument/2006/relationships/image" Target="../media/image690.png"/><Relationship Id="rId7" Type="http://schemas.openxmlformats.org/officeDocument/2006/relationships/image" Target="../media/image550.png"/><Relationship Id="rId12" Type="http://schemas.openxmlformats.org/officeDocument/2006/relationships/image" Target="../media/image600.png"/><Relationship Id="rId17" Type="http://schemas.openxmlformats.org/officeDocument/2006/relationships/image" Target="../media/image650.png"/><Relationship Id="rId2" Type="http://schemas.openxmlformats.org/officeDocument/2006/relationships/image" Target="../media/image500.png"/><Relationship Id="rId16" Type="http://schemas.openxmlformats.org/officeDocument/2006/relationships/image" Target="../media/image640.png"/><Relationship Id="rId20" Type="http://schemas.openxmlformats.org/officeDocument/2006/relationships/image" Target="../media/image6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0.png"/><Relationship Id="rId15" Type="http://schemas.openxmlformats.org/officeDocument/2006/relationships/image" Target="../media/image630.png"/><Relationship Id="rId10" Type="http://schemas.openxmlformats.org/officeDocument/2006/relationships/image" Target="../media/image580.png"/><Relationship Id="rId19" Type="http://schemas.openxmlformats.org/officeDocument/2006/relationships/image" Target="../media/image670.png"/><Relationship Id="rId4" Type="http://schemas.openxmlformats.org/officeDocument/2006/relationships/image" Target="../media/image520.png"/><Relationship Id="rId9" Type="http://schemas.openxmlformats.org/officeDocument/2006/relationships/image" Target="../media/image570.png"/><Relationship Id="rId14" Type="http://schemas.openxmlformats.org/officeDocument/2006/relationships/image" Target="../media/image6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3" Type="http://schemas.openxmlformats.org/officeDocument/2006/relationships/image" Target="../media/image520.png"/><Relationship Id="rId21" Type="http://schemas.openxmlformats.org/officeDocument/2006/relationships/image" Target="../media/image71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" Type="http://schemas.openxmlformats.org/officeDocument/2006/relationships/image" Target="../media/image510.png"/><Relationship Id="rId16" Type="http://schemas.openxmlformats.org/officeDocument/2006/relationships/image" Target="../media/image650.png"/><Relationship Id="rId20" Type="http://schemas.openxmlformats.org/officeDocument/2006/relationships/image" Target="../media/image7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01.pn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24" Type="http://schemas.openxmlformats.org/officeDocument/2006/relationships/image" Target="../media/image99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image" Target="../media/image103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1.png"/><Relationship Id="rId3" Type="http://schemas.openxmlformats.org/officeDocument/2006/relationships/image" Target="../media/image104.png"/><Relationship Id="rId21" Type="http://schemas.openxmlformats.org/officeDocument/2006/relationships/image" Target="../media/image84.png"/><Relationship Id="rId7" Type="http://schemas.openxmlformats.org/officeDocument/2006/relationships/image" Target="../media/image108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7.png"/><Relationship Id="rId11" Type="http://schemas.openxmlformats.org/officeDocument/2006/relationships/image" Target="../media/image87.png"/><Relationship Id="rId24" Type="http://schemas.openxmlformats.org/officeDocument/2006/relationships/image" Target="../media/image99.png"/><Relationship Id="rId5" Type="http://schemas.openxmlformats.org/officeDocument/2006/relationships/image" Target="../media/image106.png"/><Relationship Id="rId15" Type="http://schemas.openxmlformats.org/officeDocument/2006/relationships/image" Target="../media/image91.png"/><Relationship Id="rId23" Type="http://schemas.openxmlformats.org/officeDocument/2006/relationships/image" Target="../media/image98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05.png"/><Relationship Id="rId9" Type="http://schemas.openxmlformats.org/officeDocument/2006/relationships/image" Target="../media/image85.png"/><Relationship Id="rId14" Type="http://schemas.openxmlformats.org/officeDocument/2006/relationships/image" Target="../media/image110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2.png"/><Relationship Id="rId3" Type="http://schemas.openxmlformats.org/officeDocument/2006/relationships/image" Target="../media/image113.png"/><Relationship Id="rId21" Type="http://schemas.openxmlformats.org/officeDocument/2006/relationships/image" Target="../media/image97.png"/><Relationship Id="rId7" Type="http://schemas.openxmlformats.org/officeDocument/2006/relationships/image" Target="../media/image96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1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11" Type="http://schemas.openxmlformats.org/officeDocument/2006/relationships/image" Target="../media/image87.png"/><Relationship Id="rId24" Type="http://schemas.openxmlformats.org/officeDocument/2006/relationships/image" Target="../media/image100.png"/><Relationship Id="rId5" Type="http://schemas.openxmlformats.org/officeDocument/2006/relationships/image" Target="../media/image115.png"/><Relationship Id="rId15" Type="http://schemas.openxmlformats.org/officeDocument/2006/relationships/image" Target="../media/image91.png"/><Relationship Id="rId23" Type="http://schemas.openxmlformats.org/officeDocument/2006/relationships/image" Target="../media/image99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14.png"/><Relationship Id="rId9" Type="http://schemas.openxmlformats.org/officeDocument/2006/relationships/image" Target="../media/image85.png"/><Relationship Id="rId14" Type="http://schemas.openxmlformats.org/officeDocument/2006/relationships/image" Target="../media/image117.png"/><Relationship Id="rId22" Type="http://schemas.openxmlformats.org/officeDocument/2006/relationships/image" Target="../media/image98.png"/><Relationship Id="rId27" Type="http://schemas.openxmlformats.org/officeDocument/2006/relationships/image" Target="../media/image118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18.png"/><Relationship Id="rId3" Type="http://schemas.openxmlformats.org/officeDocument/2006/relationships/image" Target="../media/image119.png"/><Relationship Id="rId21" Type="http://schemas.openxmlformats.org/officeDocument/2006/relationships/image" Target="../media/image96.png"/><Relationship Id="rId7" Type="http://schemas.openxmlformats.org/officeDocument/2006/relationships/image" Target="../media/image123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99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29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11" Type="http://schemas.openxmlformats.org/officeDocument/2006/relationships/image" Target="../media/image86.png"/><Relationship Id="rId24" Type="http://schemas.openxmlformats.org/officeDocument/2006/relationships/image" Target="../media/image98.png"/><Relationship Id="rId5" Type="http://schemas.openxmlformats.org/officeDocument/2006/relationships/image" Target="../media/image121.png"/><Relationship Id="rId15" Type="http://schemas.openxmlformats.org/officeDocument/2006/relationships/image" Target="../media/image125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20.png"/><Relationship Id="rId9" Type="http://schemas.openxmlformats.org/officeDocument/2006/relationships/image" Target="../media/image109.png"/><Relationship Id="rId14" Type="http://schemas.openxmlformats.org/officeDocument/2006/relationships/image" Target="../media/image89.png"/><Relationship Id="rId22" Type="http://schemas.openxmlformats.org/officeDocument/2006/relationships/image" Target="../media/image84.png"/><Relationship Id="rId27" Type="http://schemas.openxmlformats.org/officeDocument/2006/relationships/image" Target="../media/image101.png"/><Relationship Id="rId30" Type="http://schemas.openxmlformats.org/officeDocument/2006/relationships/image" Target="../media/image11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Approximation Ratios</a:t>
            </a:r>
            <a:br>
              <a:rPr lang="en-US" sz="2000" b="1" i="1" dirty="0"/>
            </a:br>
            <a:r>
              <a:rPr lang="en-US" sz="2000" b="1" i="1" dirty="0"/>
              <a:t>	- Vertex Cover Approximation</a:t>
            </a:r>
            <a:br>
              <a:rPr lang="en-US" sz="2000" b="1" i="1" dirty="0"/>
            </a:br>
            <a:r>
              <a:rPr lang="en-US" sz="2000" b="1" i="1" dirty="0"/>
              <a:t>	- TSP Approximation</a:t>
            </a:r>
            <a:br>
              <a:rPr lang="en-US" sz="2000" b="1" i="1" dirty="0"/>
            </a:br>
            <a:r>
              <a:rPr lang="en-US" sz="2000" b="1" i="1" dirty="0"/>
              <a:t>	- Set-Covering Approximation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Introduction: Approximation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Ratios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7429F-4D24-7141-89FE-F208F0ACBC0C}"/>
              </a:ext>
            </a:extLst>
          </p:cNvPr>
          <p:cNvSpPr txBox="1"/>
          <p:nvPr/>
        </p:nvSpPr>
        <p:spPr>
          <a:xfrm>
            <a:off x="1236520" y="4177145"/>
            <a:ext cx="1797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Often, this problem is NP-Hard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097AAA-724A-674D-B208-A719A1DDD54E}"/>
              </a:ext>
            </a:extLst>
          </p:cNvPr>
          <p:cNvCxnSpPr>
            <a:cxnSpLocks/>
          </p:cNvCxnSpPr>
          <p:nvPr/>
        </p:nvCxnSpPr>
        <p:spPr>
          <a:xfrm flipV="1">
            <a:off x="2403693" y="360564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DBF18B-92C0-384D-8665-7A2487B949D0}"/>
              </a:ext>
            </a:extLst>
          </p:cNvPr>
          <p:cNvGrpSpPr/>
          <p:nvPr/>
        </p:nvGrpSpPr>
        <p:grpSpPr>
          <a:xfrm>
            <a:off x="1402774" y="1370308"/>
            <a:ext cx="9613178" cy="2652423"/>
            <a:chOff x="694601" y="1222232"/>
            <a:chExt cx="9613178" cy="265242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108144D-4556-FD43-AEF3-0D89D7D7B189}"/>
                </a:ext>
              </a:extLst>
            </p:cNvPr>
            <p:cNvSpPr/>
            <p:nvPr/>
          </p:nvSpPr>
          <p:spPr>
            <a:xfrm>
              <a:off x="3539834" y="1612039"/>
              <a:ext cx="1943100" cy="1943100"/>
            </a:xfrm>
            <a:prstGeom prst="round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Approximation Algorithm to Some Optimization Problem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1DF3B7C-99AE-B540-A6A1-F552DDB1C441}"/>
                </a:ext>
              </a:extLst>
            </p:cNvPr>
            <p:cNvSpPr/>
            <p:nvPr/>
          </p:nvSpPr>
          <p:spPr>
            <a:xfrm>
              <a:off x="694601" y="2357591"/>
              <a:ext cx="2001838" cy="45199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Input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A29CF4-EFD4-5A43-8915-483360C89A00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9" y="1381990"/>
              <a:ext cx="1044285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26EA3BD-5D58-C244-8213-D930C198DAE3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3706090"/>
              <a:ext cx="1044286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/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Optimal Solution</a:t>
                  </a:r>
                </a:p>
              </p:txBody>
            </p:sp>
          </mc:Choice>
          <mc:Fallback xmlns="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blipFill>
                  <a:blip r:embed="rId2"/>
                  <a:stretch>
                    <a:fillRect t="-7692" b="-1923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622557-BD3D-1944-9F8B-035BDAAA8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496" y="1381990"/>
              <a:ext cx="0" cy="2324101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/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𝑁𝑂𝑇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𝑜𝑝𝑡𝑖𝑚𝑎𝑙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𝑠𝑜𝑙𝑢𝑡𝑖𝑜𝑛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3D0AB32-272E-4946-9FAA-D3720E066458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1960417"/>
              <a:ext cx="1044286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/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Approximated Solution</a:t>
                  </a:r>
                </a:p>
              </p:txBody>
            </p:sp>
          </mc:Choice>
          <mc:Fallback xmlns="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blipFill>
                  <a:blip r:embed="rId4"/>
                  <a:stretch>
                    <a:fillRect t="-3571" b="-17857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65ACBC-A64A-AC4B-B87C-59804F71C0C0}"/>
                </a:ext>
              </a:extLst>
            </p:cNvPr>
            <p:cNvCxnSpPr>
              <a:stCxn id="11" idx="3"/>
              <a:endCxn id="7" idx="1"/>
            </p:cNvCxnSpPr>
            <p:nvPr/>
          </p:nvCxnSpPr>
          <p:spPr>
            <a:xfrm>
              <a:off x="2696439" y="2583589"/>
              <a:ext cx="843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8DA1835-D4DB-B44E-8AD8-65C7F9BEF9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2934" y="2010574"/>
              <a:ext cx="611477" cy="5730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/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An approximation algorithm has an </a:t>
                </a:r>
                <a:r>
                  <a:rPr lang="en-US" b="1" i="1" dirty="0">
                    <a:solidFill>
                      <a:sysClr val="windowText" lastClr="000000"/>
                    </a:solidFill>
                  </a:rPr>
                  <a:t>approximation ratio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if, for any input size n, the cost C produced by the algorithm satisfies: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blipFill>
                <a:blip r:embed="rId5"/>
                <a:stretch>
                  <a:fillRect l="-956" t="-8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also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 b="-555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Vertex-Cover</a:t>
            </a:r>
          </a:p>
        </p:txBody>
      </p:sp>
    </p:spTree>
    <p:extLst>
      <p:ext uri="{BB962C8B-B14F-4D97-AF65-F5344CB8AC3E}">
        <p14:creationId xmlns:p14="http://schemas.microsoft.com/office/powerpoint/2010/main" val="158689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Recall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blipFill>
                <a:blip r:embed="rId2"/>
                <a:stretch>
                  <a:fillRect t="-6250" b="-156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7C2DE78-1759-8447-9B92-2AF4A82F425B}"/>
              </a:ext>
            </a:extLst>
          </p:cNvPr>
          <p:cNvGrpSpPr/>
          <p:nvPr/>
        </p:nvGrpSpPr>
        <p:grpSpPr>
          <a:xfrm>
            <a:off x="3614472" y="2096062"/>
            <a:ext cx="4959877" cy="1964921"/>
            <a:chOff x="3557016" y="1819656"/>
            <a:chExt cx="4959877" cy="196492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7EEFE5-65F0-6346-B7BD-B2659399F822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40B913-6BD0-1B49-93A8-9C3819029042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549965-9AF9-0546-A16E-6C50853D7B14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69838E2-6009-504F-8290-68230C7D90A0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227750-14A7-1248-82B9-1F6656165C3D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6071694-DAB2-7346-BD4D-2F9566C2004B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90B225-A4D7-B54E-99F9-66A2B1731359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F68430-2504-054D-A55F-1EAB0915A55C}"/>
                </a:ext>
              </a:extLst>
            </p:cNvPr>
            <p:cNvCxnSpPr>
              <a:stCxn id="5" idx="4"/>
              <a:endCxn id="8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4367C4-6AD0-C942-961E-52AFCAAC92D7}"/>
                </a:ext>
              </a:extLst>
            </p:cNvPr>
            <p:cNvCxnSpPr>
              <a:endCxn id="9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987431-D419-E047-919A-9A2425DC90DE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07CA13-8432-3340-A74D-C46AEE7842CD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073737-16EB-9043-8B78-D6A489B24119}"/>
                </a:ext>
              </a:extLst>
            </p:cNvPr>
            <p:cNvCxnSpPr>
              <a:stCxn id="11" idx="3"/>
              <a:endCxn id="10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6B532A-93EB-D146-879B-DAAEECFCB20F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3BFC779-55F4-E647-9E1B-CDA261223664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158C4E0-12D8-A449-98FA-D5CC88A18871}"/>
                </a:ext>
              </a:extLst>
            </p:cNvPr>
            <p:cNvCxnSpPr>
              <a:stCxn id="11" idx="5"/>
              <a:endCxn id="13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525801" y="5246162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In other words, find the smallest set of nodes that touches every edge at least once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1506656-F997-6541-874F-4C9830E9197E}"/>
              </a:ext>
            </a:extLst>
          </p:cNvPr>
          <p:cNvCxnSpPr>
            <a:cxnSpLocks/>
          </p:cNvCxnSpPr>
          <p:nvPr/>
        </p:nvCxnSpPr>
        <p:spPr>
          <a:xfrm flipV="1">
            <a:off x="2765436" y="4428258"/>
            <a:ext cx="727572" cy="7896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EB611B-2166-994B-B832-4E464465C87B}"/>
              </a:ext>
            </a:extLst>
          </p:cNvPr>
          <p:cNvSpPr txBox="1"/>
          <p:nvPr/>
        </p:nvSpPr>
        <p:spPr>
          <a:xfrm>
            <a:off x="5006161" y="5543008"/>
            <a:ext cx="2479271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The purple nodes are the smallest solution for this graph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F438B-1FA9-D142-A7E5-3D5477FC0C0B}"/>
              </a:ext>
            </a:extLst>
          </p:cNvPr>
          <p:cNvCxnSpPr>
            <a:cxnSpLocks/>
          </p:cNvCxnSpPr>
          <p:nvPr/>
        </p:nvCxnSpPr>
        <p:spPr>
          <a:xfrm flipH="1" flipV="1">
            <a:off x="5861304" y="4504944"/>
            <a:ext cx="368352" cy="91766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772240" y="1909615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Proposed Algorithm for Vertex-Cover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341392-8ED7-244F-A497-267FCC0C865A}"/>
              </a:ext>
            </a:extLst>
          </p:cNvPr>
          <p:cNvGrpSpPr/>
          <p:nvPr/>
        </p:nvGrpSpPr>
        <p:grpSpPr>
          <a:xfrm>
            <a:off x="1145277" y="2099590"/>
            <a:ext cx="4959877" cy="1964921"/>
            <a:chOff x="3557016" y="1819656"/>
            <a:chExt cx="4959877" cy="196492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645B0CC-CF31-7849-BA08-D11A0F5BBF0D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3DCE09-C010-5741-9AFB-5D49C9D51804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941AEC-3F0D-6549-85FB-6761096805B9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329F33F-6BD8-4D4D-BB3A-FF2651DB3FCC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BC0FB6-B48D-2C4E-B3D1-44DFAD04F8A3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A10B6-C643-9B49-8C70-061FAE1FCA03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C9E77EE-76E9-ED47-B8A1-7C15E4DB2218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E232BF-B48C-4342-98A6-80FFB06D9F4F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704711-5EE6-1C45-99FB-E2FCBCF857A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E0C53A-044F-EB4B-86F1-BE26AB7F3CCE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FDC711-039E-994C-A541-37890AA24720}"/>
                </a:ext>
              </a:extLst>
            </p:cNvPr>
            <p:cNvCxnSpPr>
              <a:stCxn id="11" idx="6"/>
              <a:endCxn id="13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F223BD-1731-E546-870B-C04C9AAE96BA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AC9839-2DF7-424C-9DF1-BF64DCCA51CF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6DB4C7-147F-A14F-834F-DE9142301DDC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F317562-0E41-974E-8D28-0032871B99C9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EFB2AE-4955-AA47-94D6-176654EB893C}"/>
              </a:ext>
            </a:extLst>
          </p:cNvPr>
          <p:cNvSpPr txBox="1"/>
          <p:nvPr/>
        </p:nvSpPr>
        <p:spPr>
          <a:xfrm>
            <a:off x="7264772" y="4816394"/>
            <a:ext cx="3448887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Run this on the given graph a few times. What is the approximation ratio? Do we have a guaranteed ratio here?</a:t>
            </a:r>
          </a:p>
        </p:txBody>
      </p:sp>
    </p:spTree>
    <p:extLst>
      <p:ext uri="{BB962C8B-B14F-4D97-AF65-F5344CB8AC3E}">
        <p14:creationId xmlns:p14="http://schemas.microsoft.com/office/powerpoint/2010/main" val="142541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04A278-C5B4-854F-BC3D-83EDE8EB083B}"/>
              </a:ext>
            </a:extLst>
          </p:cNvPr>
          <p:cNvGrpSpPr/>
          <p:nvPr/>
        </p:nvGrpSpPr>
        <p:grpSpPr>
          <a:xfrm>
            <a:off x="793940" y="1207008"/>
            <a:ext cx="5312664" cy="2286000"/>
            <a:chOff x="923544" y="1152144"/>
            <a:chExt cx="5312664" cy="2286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8473C7-0F6C-3243-B424-8BD7935042CE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AB47512-32A6-9443-B8A0-85B25033D140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F5518A-A575-BC40-A7F4-18F66C5A2785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695931-10BA-7E42-8C9D-28304B525A69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0F402F-D47A-4B4C-945A-C1B36AF18123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8C98CDE-397E-C441-B6C1-2ACD9C387794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424B32-73D8-9649-B256-C6E0393BCD46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9F49AF7-39B7-FA46-9145-70B72F0157B8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44C684-2DD8-F940-92FB-A28E69322D0F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1A7ADF-5D2C-1A4D-8671-C3C76E7E4826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5127C5-91C4-5C4D-99F4-AC95E9B9D3D1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EC0372E-E0B2-6043-ACBA-81A2BE9A46C7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0DD137A-9028-C74B-B2EF-758C7A43DB96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836A34-CDCE-374E-A689-5C45C529799A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30E0216-37F8-E042-B214-E29733948FE9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9213CD-6A46-0F4F-BD32-549AED898455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6B0423-2345-734B-A863-77D9DE042069}"/>
              </a:ext>
            </a:extLst>
          </p:cNvPr>
          <p:cNvGrpSpPr/>
          <p:nvPr/>
        </p:nvGrpSpPr>
        <p:grpSpPr>
          <a:xfrm>
            <a:off x="6312327" y="1207008"/>
            <a:ext cx="5312664" cy="2286000"/>
            <a:chOff x="923544" y="1152144"/>
            <a:chExt cx="5312664" cy="2286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FCBBBCD-D747-6144-833B-0D7AC7A18248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1793D0C-0A4E-AF47-8CF4-DEF0CAB817BF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43A46C0-1837-1B4A-87B6-02E2323D863E}"/>
                </a:ext>
              </a:extLst>
            </p:cNvPr>
            <p:cNvCxnSpPr>
              <a:endCxn id="37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148955-AE8C-A445-AAA4-D88517B8E276}"/>
                </a:ext>
              </a:extLst>
            </p:cNvPr>
            <p:cNvCxnSpPr>
              <a:stCxn id="37" idx="4"/>
              <a:endCxn id="38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222E98-A1EB-D642-8C70-39CF97AC2E1D}"/>
                </a:ext>
              </a:extLst>
            </p:cNvPr>
            <p:cNvCxnSpPr>
              <a:cxnSpLocks/>
              <a:stCxn id="37" idx="6"/>
              <a:endCxn id="39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3D35D5-F6F7-3C48-BC80-7E4F141C9D97}"/>
                </a:ext>
              </a:extLst>
            </p:cNvPr>
            <p:cNvCxnSpPr>
              <a:stCxn id="39" idx="3"/>
              <a:endCxn id="38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BB6786F-62F7-514A-9C7A-A62BC510A8A0}"/>
                </a:ext>
              </a:extLst>
            </p:cNvPr>
            <p:cNvCxnSpPr>
              <a:stCxn id="39" idx="4"/>
              <a:endCxn id="40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51FAE4-3E6D-734E-B2C0-1377F973CD2B}"/>
                </a:ext>
              </a:extLst>
            </p:cNvPr>
            <p:cNvCxnSpPr>
              <a:stCxn id="38" idx="6"/>
              <a:endCxn id="40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0B3C74-176E-5745-AB50-A6F3153C6258}"/>
                </a:ext>
              </a:extLst>
            </p:cNvPr>
            <p:cNvCxnSpPr>
              <a:stCxn id="39" idx="5"/>
              <a:endCxn id="41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51C73F-6C16-6443-964E-0E59F4F268C4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E79760-81BD-C24D-9C4C-5E4D6D0B569A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28C5064-B7D1-3449-A243-C857A0E02671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8AE4D50-9EE5-934D-87FA-846602E02D9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306F8F0-CB03-CA4C-8BB6-F0A20E734F6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1881796-0038-974F-B469-645828854151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5E35F86-AB94-8C48-918D-DC375F9AF650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34F9E7-06BE-B847-9673-83A20D1A1285}"/>
              </a:ext>
            </a:extLst>
          </p:cNvPr>
          <p:cNvGrpSpPr/>
          <p:nvPr/>
        </p:nvGrpSpPr>
        <p:grpSpPr>
          <a:xfrm>
            <a:off x="781747" y="3716077"/>
            <a:ext cx="5312664" cy="2286000"/>
            <a:chOff x="923544" y="1152144"/>
            <a:chExt cx="5312664" cy="2286000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01929D1-581B-AC42-8F9E-DAC46DA36646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A236692-2FA3-3545-A5BE-FB7B8A857F19}"/>
                </a:ext>
              </a:extLst>
            </p:cNvPr>
            <p:cNvCxnSpPr>
              <a:stCxn id="52" idx="4"/>
              <a:endCxn id="53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2F70881-A45F-334E-940D-9FE8C349C6BB}"/>
                </a:ext>
              </a:extLst>
            </p:cNvPr>
            <p:cNvCxnSpPr>
              <a:endCxn id="54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F63C243-8298-3540-BF2D-E21C49AD2860}"/>
                </a:ext>
              </a:extLst>
            </p:cNvPr>
            <p:cNvCxnSpPr>
              <a:stCxn id="54" idx="4"/>
              <a:endCxn id="55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93072E-41C3-7F41-B64F-45F615415C0F}"/>
                </a:ext>
              </a:extLst>
            </p:cNvPr>
            <p:cNvCxnSpPr>
              <a:cxnSpLocks/>
              <a:stCxn id="54" idx="6"/>
              <a:endCxn id="56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3B4C8-C4B3-AF46-A975-AC453365F8AD}"/>
                </a:ext>
              </a:extLst>
            </p:cNvPr>
            <p:cNvCxnSpPr>
              <a:stCxn id="56" idx="3"/>
              <a:endCxn id="55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853D79-A49C-B247-A33D-5CE8B79496F6}"/>
                </a:ext>
              </a:extLst>
            </p:cNvPr>
            <p:cNvCxnSpPr>
              <a:stCxn id="56" idx="4"/>
              <a:endCxn id="57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1C211D0-30D0-DB4A-99F6-DA664EE57D0E}"/>
                </a:ext>
              </a:extLst>
            </p:cNvPr>
            <p:cNvCxnSpPr>
              <a:stCxn id="55" idx="6"/>
              <a:endCxn id="57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66873A6-4B84-D247-A118-1B06620E9EAB}"/>
                </a:ext>
              </a:extLst>
            </p:cNvPr>
            <p:cNvCxnSpPr>
              <a:stCxn id="56" idx="5"/>
              <a:endCxn id="58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E39CF3F-1C62-0C47-BF4A-68BCB3D80375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CB4ECDD-93A1-AE4B-83E2-68ED382B172C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7532602-1EDE-0B4D-A636-2243B4B57F8E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A77A9EA-56BC-784C-9060-8DCC5E6EF41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D409DFE-709B-8547-B203-BE86F0B69FB2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FF62142-B2E3-034A-9613-2590909D6077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6E29FF-2A7A-4643-B3C1-1FC8C37A9BD6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6312327" y="3716077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D2A62253-71AE-3946-8DBD-0BCD8590644B}"/>
              </a:ext>
            </a:extLst>
          </p:cNvPr>
          <p:cNvSpPr txBox="1"/>
          <p:nvPr/>
        </p:nvSpPr>
        <p:spPr>
          <a:xfrm>
            <a:off x="8687397" y="6080844"/>
            <a:ext cx="2587155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…last step is on next slide</a:t>
            </a:r>
          </a:p>
        </p:txBody>
      </p:sp>
    </p:spTree>
    <p:extLst>
      <p:ext uri="{BB962C8B-B14F-4D97-AF65-F5344CB8AC3E}">
        <p14:creationId xmlns:p14="http://schemas.microsoft.com/office/powerpoint/2010/main" val="55422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3438079" y="1920763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372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784796" y="1939051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CB3EB7C-72C4-444C-AA77-E638918DEE2D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F27C07-CF3E-4445-ACA0-E5863C5C5AF8}"/>
              </a:ext>
            </a:extLst>
          </p:cNvPr>
          <p:cNvSpPr txBox="1"/>
          <p:nvPr/>
        </p:nvSpPr>
        <p:spPr>
          <a:xfrm>
            <a:off x="5324728" y="4651802"/>
            <a:ext cx="5987858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This is just one way it could have turned out. Any thoughts on the limits of “how bad” or “how good” the approximation will be?</a:t>
            </a:r>
          </a:p>
        </p:txBody>
      </p:sp>
    </p:spTree>
    <p:extLst>
      <p:ext uri="{BB962C8B-B14F-4D97-AF65-F5344CB8AC3E}">
        <p14:creationId xmlns:p14="http://schemas.microsoft.com/office/powerpoint/2010/main" val="1140860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Runtime is polynomial? Yes,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blipFill>
                <a:blip r:embed="rId2"/>
                <a:stretch>
                  <a:fillRect l="-10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433B4B9-DF60-D14D-B949-7C3D8B207D53}"/>
              </a:ext>
            </a:extLst>
          </p:cNvPr>
          <p:cNvSpPr txBox="1"/>
          <p:nvPr/>
        </p:nvSpPr>
        <p:spPr>
          <a:xfrm>
            <a:off x="6099048" y="2199963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For each edge e we choose on this line, the solution definitely includes u or v, we always add both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923414" y="2439953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(e)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82674F-B2FC-AE4D-A5A0-FE30976FF17D}"/>
              </a:ext>
            </a:extLst>
          </p:cNvPr>
          <p:cNvCxnSpPr>
            <a:cxnSpLocks/>
          </p:cNvCxnSpPr>
          <p:nvPr/>
        </p:nvCxnSpPr>
        <p:spPr>
          <a:xfrm flipH="1">
            <a:off x="4809744" y="2660904"/>
            <a:ext cx="1563625" cy="93321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194923-9757-D043-9A29-55AAA77B40B0}"/>
              </a:ext>
            </a:extLst>
          </p:cNvPr>
          <p:cNvSpPr txBox="1"/>
          <p:nvPr/>
        </p:nvSpPr>
        <p:spPr>
          <a:xfrm>
            <a:off x="6373369" y="4300035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We remove as many extra edges as we can here, but of course there could be 0 each time.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D2635B-49E1-6241-B750-89222D906E7B}"/>
              </a:ext>
            </a:extLst>
          </p:cNvPr>
          <p:cNvCxnSpPr>
            <a:cxnSpLocks/>
          </p:cNvCxnSpPr>
          <p:nvPr/>
        </p:nvCxnSpPr>
        <p:spPr>
          <a:xfrm flipH="1" flipV="1">
            <a:off x="5051266" y="4300035"/>
            <a:ext cx="1477551" cy="20795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69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1328567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886838" y="2677697"/>
            <a:ext cx="424294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5660136" y="249303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1 (Correctness)</a:t>
            </a:r>
            <a:r>
              <a:rPr lang="en-US" dirty="0"/>
              <a:t>: The nodes returned by this algorithm are a valid vertex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5660136" y="3323873"/>
            <a:ext cx="590397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This is self-evident. Every edge in E is either chosen in line 4 and both it’s nodes added to the solution OR removed in line 6 being incident to u or v.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Thus, every edge is incident on some node in the set C because we do not terminate until E’ is empty.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The algorithm returns a valid vertex-cover</a:t>
            </a:r>
          </a:p>
        </p:txBody>
      </p:sp>
    </p:spTree>
    <p:extLst>
      <p:ext uri="{BB962C8B-B14F-4D97-AF65-F5344CB8AC3E}">
        <p14:creationId xmlns:p14="http://schemas.microsoft.com/office/powerpoint/2010/main" val="145499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82599"/>
            <a:ext cx="9905998" cy="59968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789071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1133856" y="208155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2 (Ratio)</a:t>
            </a:r>
            <a:r>
              <a:rPr lang="en-US" dirty="0"/>
              <a:t>: The size of C is no more than twice the size of the optimal vertex-cover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1133856" y="2912393"/>
            <a:ext cx="5903976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Consider the set of edges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chosen in line 4 of the algorithm. Because other incident edges are removed in line 6, the lines in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form a set of disjoint pairs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031ACB-C715-BD4B-B42A-7FC9FD686047}"/>
              </a:ext>
            </a:extLst>
          </p:cNvPr>
          <p:cNvSpPr/>
          <p:nvPr/>
        </p:nvSpPr>
        <p:spPr>
          <a:xfrm>
            <a:off x="1380744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E649A3-D1E8-F247-B5D1-527E3BE1E4C6}"/>
              </a:ext>
            </a:extLst>
          </p:cNvPr>
          <p:cNvSpPr/>
          <p:nvPr/>
        </p:nvSpPr>
        <p:spPr>
          <a:xfrm>
            <a:off x="239268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8D8C91-BF91-BA40-BA3D-116D0998A2E0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011680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783610F-321F-6942-9F18-8412DB9CE2F8}"/>
              </a:ext>
            </a:extLst>
          </p:cNvPr>
          <p:cNvSpPr/>
          <p:nvPr/>
        </p:nvSpPr>
        <p:spPr>
          <a:xfrm>
            <a:off x="329793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84178C-D75D-2A43-9A3A-E8A3F1E738BF}"/>
              </a:ext>
            </a:extLst>
          </p:cNvPr>
          <p:cNvSpPr/>
          <p:nvPr/>
        </p:nvSpPr>
        <p:spPr>
          <a:xfrm>
            <a:off x="4309872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295311-FE0A-464F-9E83-8B40599E0A0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3928872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A8183D1-EFBC-A74A-8F05-7CBB25A1A782}"/>
              </a:ext>
            </a:extLst>
          </p:cNvPr>
          <p:cNvSpPr/>
          <p:nvPr/>
        </p:nvSpPr>
        <p:spPr>
          <a:xfrm>
            <a:off x="519684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2D872E-4BB9-094D-B9FD-7BF725B691CB}"/>
              </a:ext>
            </a:extLst>
          </p:cNvPr>
          <p:cNvSpPr/>
          <p:nvPr/>
        </p:nvSpPr>
        <p:spPr>
          <a:xfrm>
            <a:off x="620877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8A9E11-266E-6B45-AA96-7283B7AC505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5827776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/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There may be edges between these pairs (not shown), but the vertex cover MUST include at least one node from each pair. Thus, we get the inequality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blipFill>
                <a:blip r:embed="rId2"/>
                <a:stretch>
                  <a:fillRect l="-642" t="-2703" b="-81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CDCF8-2102-D04D-87F4-9639843C6478}"/>
              </a:ext>
            </a:extLst>
          </p:cNvPr>
          <p:cNvCxnSpPr>
            <a:cxnSpLocks/>
          </p:cNvCxnSpPr>
          <p:nvPr/>
        </p:nvCxnSpPr>
        <p:spPr>
          <a:xfrm>
            <a:off x="7205472" y="1801368"/>
            <a:ext cx="0" cy="42336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/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Separately, note that our vertex cover returned always returns exactly two nodes for each edge in </a:t>
                </a:r>
                <a:r>
                  <a:rPr lang="en-US" dirty="0">
                    <a:solidFill>
                      <a:schemeClr val="accent5"/>
                    </a:solidFill>
                  </a:rPr>
                  <a:t>A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, thus: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=2|</m:t>
                      </m:r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blipFill>
                <a:blip r:embed="rId3"/>
                <a:stretch>
                  <a:fillRect l="-1042" t="-840" b="-8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/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Combining these equations we get: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≤2|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blipFill>
                <a:blip r:embed="rId4"/>
                <a:stretch>
                  <a:fillRect l="-1042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8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Traveling Salesperson</a:t>
            </a:r>
          </a:p>
        </p:txBody>
      </p:sp>
    </p:spTree>
    <p:extLst>
      <p:ext uri="{BB962C8B-B14F-4D97-AF65-F5344CB8AC3E}">
        <p14:creationId xmlns:p14="http://schemas.microsoft.com/office/powerpoint/2010/main" val="716826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863122" y="1862310"/>
            <a:ext cx="3179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 the traveling salesperson problem: Given a graph G and start node, what is the minimum cost tour (visit every node exactly once then return to start)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5503312" y="190759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49E6667-1871-7344-A4FB-45AB1619AFE7}"/>
              </a:ext>
            </a:extLst>
          </p:cNvPr>
          <p:cNvCxnSpPr/>
          <p:nvPr/>
        </p:nvCxnSpPr>
        <p:spPr>
          <a:xfrm>
            <a:off x="4166295" y="2853483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/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our approximation, we are going to assume the graph is COMPLETE and that the triangle inequality holds. For any three nodes u, v, w:</a:t>
                </a:r>
                <a:br>
                  <a:rPr lang="en-US" dirty="0"/>
                </a:b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blipFill>
                <a:blip r:embed="rId2"/>
                <a:stretch>
                  <a:fillRect l="-1117" t="-1695" r="-1676" b="-16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092B1D8-2EFA-C54B-BC1D-B4317DAAD9B0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8879823" y="392672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203F62-399C-F34B-99F4-03267862559E}"/>
              </a:ext>
            </a:extLst>
          </p:cNvPr>
          <p:cNvSpPr txBox="1"/>
          <p:nvPr/>
        </p:nvSpPr>
        <p:spPr>
          <a:xfrm>
            <a:off x="10212064" y="378143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C822-5E11-4D50-FB4F-8218E14D9D97}"/>
              </a:ext>
            </a:extLst>
          </p:cNvPr>
          <p:cNvSpPr txBox="1"/>
          <p:nvPr/>
        </p:nvSpPr>
        <p:spPr>
          <a:xfrm>
            <a:off x="7654371" y="5604131"/>
            <a:ext cx="3295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is not complete but is sufficient for showcasing out point</a:t>
            </a:r>
          </a:p>
        </p:txBody>
      </p:sp>
    </p:spTree>
    <p:extLst>
      <p:ext uri="{BB962C8B-B14F-4D97-AF65-F5344CB8AC3E}">
        <p14:creationId xmlns:p14="http://schemas.microsoft.com/office/powerpoint/2010/main" val="338044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3016144" y="172471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8767" y="354906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6FBE395-B25F-7D4C-B0C0-FC8E63DB2DE7}"/>
              </a:ext>
            </a:extLst>
          </p:cNvPr>
          <p:cNvSpPr txBox="1"/>
          <p:nvPr/>
        </p:nvSpPr>
        <p:spPr>
          <a:xfrm>
            <a:off x="3344606" y="5661849"/>
            <a:ext cx="556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Cost of this tour is: 3 + 2 + 2 + 3 + 7 + 4 + 3 = 24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C499FE6-CBAD-1B42-9D9E-168882B5D28F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6392655" y="374384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BCD386F-8D16-8349-97D6-ACD66C607ADE}"/>
              </a:ext>
            </a:extLst>
          </p:cNvPr>
          <p:cNvSpPr txBox="1"/>
          <p:nvPr/>
        </p:nvSpPr>
        <p:spPr>
          <a:xfrm>
            <a:off x="7777543" y="358235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73889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2952653" y="4390782"/>
            <a:ext cx="6283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Basic Idea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minimum spanning tree of G. Use pre-order traversal of this MST to define the tour for TSP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4306694" y="1851069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35702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MST of G (let’s root it at 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F35C6-9328-954A-84C8-1105C9FFFBA3}"/>
              </a:ext>
            </a:extLst>
          </p:cNvPr>
          <p:cNvGrpSpPr/>
          <p:nvPr/>
        </p:nvGrpSpPr>
        <p:grpSpPr>
          <a:xfrm>
            <a:off x="5121348" y="2445688"/>
            <a:ext cx="6420464" cy="3615379"/>
            <a:chOff x="693568" y="2319076"/>
            <a:chExt cx="6420464" cy="36153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636912-03B8-444F-B800-1876C8FF6784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651CB1-F9A3-3B4E-860F-EC4038AB44D9}"/>
                </a:ext>
              </a:extLst>
            </p:cNvPr>
            <p:cNvCxnSpPr>
              <a:cxnSpLocks/>
              <a:stCxn id="33" idx="7"/>
              <a:endCxn id="35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94B7C0-BEE7-CA49-83B7-9E39A5AB5F10}"/>
                </a:ext>
              </a:extLst>
            </p:cNvPr>
            <p:cNvCxnSpPr>
              <a:cxnSpLocks/>
              <a:stCxn id="35" idx="6"/>
              <a:endCxn id="37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8299BD-70EA-3D46-8D89-889C2D140D88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B45AB-2563-4548-AC73-E1931520E0FD}"/>
                </a:ext>
              </a:extLst>
            </p:cNvPr>
            <p:cNvCxnSpPr>
              <a:stCxn id="37" idx="4"/>
              <a:endCxn id="39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970CC85-D273-4742-93E1-23D548A7D2D0}"/>
                </a:ext>
              </a:extLst>
            </p:cNvPr>
            <p:cNvCxnSpPr>
              <a:cxnSpLocks/>
              <a:stCxn id="36" idx="5"/>
              <a:endCxn id="39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04607E-C056-0F47-AE15-45C954EB0C84}"/>
                </a:ext>
              </a:extLst>
            </p:cNvPr>
            <p:cNvCxnSpPr>
              <a:stCxn id="37" idx="5"/>
              <a:endCxn id="38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BBEECD-3A9C-684F-8A58-460D995AD89C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864A9E-B23A-894E-A37F-3343FF111A6C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104A15A-64BB-9B4D-BC82-98EBBA95D2FF}"/>
                </a:ext>
              </a:extLst>
            </p:cNvPr>
            <p:cNvCxnSpPr>
              <a:cxnSpLocks/>
              <a:stCxn id="39" idx="2"/>
              <a:endCxn id="34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A6EC5-3A03-3C4D-9230-E3B28F292A81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35B6177-E55A-CB4E-8E0E-08644FAF144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6CB59F-EBE6-BA45-B119-8479B14D3D54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008667-D71D-F147-8AEC-37468B0724F7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1A9E82-2EC4-8946-99B5-5FD481CD323C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6D5B2F3-F732-664A-9B65-29A7003D10FD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872077-9DB9-2246-9255-24A1150E7B57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 flipV="1">
            <a:off x="8497859" y="4464814"/>
            <a:ext cx="2276808" cy="223070"/>
          </a:xfrm>
          <a:prstGeom prst="line">
            <a:avLst/>
          </a:prstGeom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8EC5BF0-EBA9-1449-90AF-50E166CFABAF}"/>
              </a:ext>
            </a:extLst>
          </p:cNvPr>
          <p:cNvSpPr txBox="1"/>
          <p:nvPr/>
        </p:nvSpPr>
        <p:spPr>
          <a:xfrm>
            <a:off x="9859376" y="4299796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9982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1.5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Re-arrange the MST to make it easier to view, remove unused edges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EFD26-107D-7948-A9D6-BC1E751AEA6F}"/>
              </a:ext>
            </a:extLst>
          </p:cNvPr>
          <p:cNvSpPr/>
          <p:nvPr/>
        </p:nvSpPr>
        <p:spPr>
          <a:xfrm>
            <a:off x="5121348" y="2445688"/>
            <a:ext cx="6420464" cy="41265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5C566-9E30-C145-95A4-5471D9C1031A}"/>
              </a:ext>
            </a:extLst>
          </p:cNvPr>
          <p:cNvCxnSpPr>
            <a:cxnSpLocks/>
            <a:stCxn id="35" idx="2"/>
            <a:endCxn id="36" idx="7"/>
          </p:cNvCxnSpPr>
          <p:nvPr/>
        </p:nvCxnSpPr>
        <p:spPr>
          <a:xfrm flipH="1">
            <a:off x="7793025" y="3579948"/>
            <a:ext cx="1055485" cy="575326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732440-D5FA-EC46-A3AE-7F7455F845AF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5878354" y="4378344"/>
            <a:ext cx="1376133" cy="154709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502F35-DF35-5241-A348-EACDA193A5FE}"/>
              </a:ext>
            </a:extLst>
          </p:cNvPr>
          <p:cNvSpPr txBox="1"/>
          <p:nvPr/>
        </p:nvSpPr>
        <p:spPr>
          <a:xfrm>
            <a:off x="9794842" y="3171798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EFE0C-242B-F747-9F3D-3FD30A3C5F68}"/>
              </a:ext>
            </a:extLst>
          </p:cNvPr>
          <p:cNvSpPr txBox="1"/>
          <p:nvPr/>
        </p:nvSpPr>
        <p:spPr>
          <a:xfrm>
            <a:off x="6463350" y="4099827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D4AA7-3AA2-564E-BBF7-64AB7F4BF4B9}"/>
              </a:ext>
            </a:extLst>
          </p:cNvPr>
          <p:cNvSpPr txBox="1"/>
          <p:nvPr/>
        </p:nvSpPr>
        <p:spPr>
          <a:xfrm>
            <a:off x="8075246" y="3498279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C93A4-E7DE-094B-99F7-4DD201351BB3}"/>
              </a:ext>
            </a:extLst>
          </p:cNvPr>
          <p:cNvSpPr txBox="1"/>
          <p:nvPr/>
        </p:nvSpPr>
        <p:spPr>
          <a:xfrm>
            <a:off x="9120275" y="4386791"/>
            <a:ext cx="42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F4458-59B1-A748-97AE-7A5750F566A6}"/>
              </a:ext>
            </a:extLst>
          </p:cNvPr>
          <p:cNvSpPr txBox="1"/>
          <p:nvPr/>
        </p:nvSpPr>
        <p:spPr>
          <a:xfrm>
            <a:off x="6617392" y="5534026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B955C5-D197-7D4A-AD08-20099F0B71D1}"/>
              </a:ext>
            </a:extLst>
          </p:cNvPr>
          <p:cNvSpPr txBox="1"/>
          <p:nvPr/>
        </p:nvSpPr>
        <p:spPr>
          <a:xfrm>
            <a:off x="8431598" y="612118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F8015D-76C5-4E44-907D-2A3225FDD978}"/>
              </a:ext>
            </a:extLst>
          </p:cNvPr>
          <p:cNvSpPr/>
          <p:nvPr/>
        </p:nvSpPr>
        <p:spPr>
          <a:xfrm>
            <a:off x="5247418" y="4217585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CA5887-CBAB-B249-B6B6-543908FF389F}"/>
              </a:ext>
            </a:extLst>
          </p:cNvPr>
          <p:cNvSpPr/>
          <p:nvPr/>
        </p:nvSpPr>
        <p:spPr>
          <a:xfrm>
            <a:off x="8848510" y="326448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73D67F-713C-B34F-B242-5E105C1316AD}"/>
              </a:ext>
            </a:extLst>
          </p:cNvPr>
          <p:cNvSpPr/>
          <p:nvPr/>
        </p:nvSpPr>
        <p:spPr>
          <a:xfrm>
            <a:off x="7254487" y="406287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9B271A7-A8B9-784C-872D-E75D09DDABF9}"/>
              </a:ext>
            </a:extLst>
          </p:cNvPr>
          <p:cNvSpPr/>
          <p:nvPr/>
        </p:nvSpPr>
        <p:spPr>
          <a:xfrm>
            <a:off x="10427776" y="477372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E181C3F-478F-E841-A028-4E3C60B0080D}"/>
              </a:ext>
            </a:extLst>
          </p:cNvPr>
          <p:cNvSpPr/>
          <p:nvPr/>
        </p:nvSpPr>
        <p:spPr>
          <a:xfrm>
            <a:off x="9333040" y="580571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06E17AC-9A7A-314C-81BE-6BBDAF8F69CD}"/>
              </a:ext>
            </a:extLst>
          </p:cNvPr>
          <p:cNvSpPr/>
          <p:nvPr/>
        </p:nvSpPr>
        <p:spPr>
          <a:xfrm>
            <a:off x="7323769" y="5760628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8EEB2F7-8396-EC44-AC74-BE948FA027C8}"/>
              </a:ext>
            </a:extLst>
          </p:cNvPr>
          <p:cNvSpPr/>
          <p:nvPr/>
        </p:nvSpPr>
        <p:spPr>
          <a:xfrm>
            <a:off x="10204706" y="2500642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65FAB2-DC9F-3146-941C-683498D60A4B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13C36D-9E03-674B-AA21-83636130548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>
          <a:xfrm flipH="1" flipV="1">
            <a:off x="5785956" y="4756123"/>
            <a:ext cx="1630211" cy="1096903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E328ED-2020-B24E-8593-2149688AE716}"/>
              </a:ext>
            </a:extLst>
          </p:cNvPr>
          <p:cNvCxnSpPr>
            <a:cxnSpLocks/>
            <a:stCxn id="38" idx="2"/>
            <a:endCxn id="39" idx="6"/>
          </p:cNvCxnSpPr>
          <p:nvPr/>
        </p:nvCxnSpPr>
        <p:spPr>
          <a:xfrm flipH="1" flipV="1">
            <a:off x="7954705" y="6076096"/>
            <a:ext cx="1378335" cy="4508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647EC7F-5600-E94D-88FF-D8B3927F36AC}"/>
              </a:ext>
            </a:extLst>
          </p:cNvPr>
          <p:cNvCxnSpPr>
            <a:cxnSpLocks/>
            <a:stCxn id="37" idx="2"/>
            <a:endCxn id="36" idx="6"/>
          </p:cNvCxnSpPr>
          <p:nvPr/>
        </p:nvCxnSpPr>
        <p:spPr>
          <a:xfrm flipH="1" flipV="1">
            <a:off x="7885423" y="4378344"/>
            <a:ext cx="2542353" cy="71084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29B3EAC-B97A-0B4D-8BAD-C10348AC08B0}"/>
              </a:ext>
            </a:extLst>
          </p:cNvPr>
          <p:cNvCxnSpPr>
            <a:cxnSpLocks/>
            <a:stCxn id="33" idx="2"/>
            <a:endCxn id="35" idx="7"/>
          </p:cNvCxnSpPr>
          <p:nvPr/>
        </p:nvCxnSpPr>
        <p:spPr>
          <a:xfrm flipH="1">
            <a:off x="9387048" y="2816110"/>
            <a:ext cx="817658" cy="54076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001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233840"/>
            <a:ext cx="6420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2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Tour is just the pre-order traversal of the MST. Note that graph needs to be complete to ensure gray edges definitely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 =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for v in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70D1D69-DE9B-6A4C-9C69-4436E3866C06}"/>
              </a:ext>
            </a:extLst>
          </p:cNvPr>
          <p:cNvGrpSpPr/>
          <p:nvPr/>
        </p:nvGrpSpPr>
        <p:grpSpPr>
          <a:xfrm>
            <a:off x="5121348" y="2445688"/>
            <a:ext cx="6420464" cy="4126562"/>
            <a:chOff x="5121348" y="2445688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5121348" y="2445688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2"/>
              <a:endCxn id="36" idx="7"/>
            </p:cNvCxnSpPr>
            <p:nvPr/>
          </p:nvCxnSpPr>
          <p:spPr>
            <a:xfrm flipH="1">
              <a:off x="7793025" y="3579948"/>
              <a:ext cx="1055485" cy="575326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5878354" y="4378344"/>
              <a:ext cx="1376133" cy="154709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9794842" y="3171798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6463350" y="409982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8075246" y="349827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9120275" y="4386791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6617392" y="5534026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8431598" y="612118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5247418" y="4217585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848510" y="326448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254487" y="406287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10427776" y="477372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9333040" y="580571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7323769" y="5760628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stCxn id="34" idx="5"/>
              <a:endCxn id="39" idx="1"/>
            </p:cNvCxnSpPr>
            <p:nvPr/>
          </p:nvCxnSpPr>
          <p:spPr>
            <a:xfrm>
              <a:off x="5785956" y="4756123"/>
              <a:ext cx="1630211" cy="1096903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7954705" y="6076096"/>
              <a:ext cx="1378335" cy="4508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1"/>
              <a:endCxn id="36" idx="5"/>
            </p:cNvCxnSpPr>
            <p:nvPr/>
          </p:nvCxnSpPr>
          <p:spPr>
            <a:xfrm flipH="1" flipV="1">
              <a:off x="7793025" y="4601414"/>
              <a:ext cx="1632413" cy="12967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6"/>
              <a:endCxn id="37" idx="2"/>
            </p:cNvCxnSpPr>
            <p:nvPr/>
          </p:nvCxnSpPr>
          <p:spPr>
            <a:xfrm>
              <a:off x="7885423" y="4378344"/>
              <a:ext cx="2542353" cy="710844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1"/>
              <a:endCxn id="35" idx="5"/>
            </p:cNvCxnSpPr>
            <p:nvPr/>
          </p:nvCxnSpPr>
          <p:spPr>
            <a:xfrm flipH="1" flipV="1">
              <a:off x="9387048" y="3803018"/>
              <a:ext cx="1133126" cy="10631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6"/>
              <a:endCxn id="33" idx="2"/>
            </p:cNvCxnSpPr>
            <p:nvPr/>
          </p:nvCxnSpPr>
          <p:spPr>
            <a:xfrm flipV="1">
              <a:off x="9479446" y="2816110"/>
              <a:ext cx="725260" cy="76383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flipH="1">
              <a:off x="5562886" y="2593040"/>
              <a:ext cx="4734218" cy="162454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10204706" y="250064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6930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879248" y="1423111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Rearrange to show tour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Cost is 3 + 4 + 8 + 3 + 3 + 2 + 3 = 26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72F028D-330E-6B41-8DF7-F9775D0A48CF}"/>
              </a:ext>
            </a:extLst>
          </p:cNvPr>
          <p:cNvGrpSpPr/>
          <p:nvPr/>
        </p:nvGrpSpPr>
        <p:grpSpPr>
          <a:xfrm>
            <a:off x="1879248" y="2355150"/>
            <a:ext cx="6420464" cy="4126562"/>
            <a:chOff x="2884179" y="2038283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2884179" y="2038283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7281257" y="2649405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8125271" y="5165434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406916" y="406743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4564873" y="563724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cxnSpLocks/>
              <a:stCxn id="34" idx="4"/>
              <a:endCxn id="39" idx="0"/>
            </p:cNvCxnSpPr>
            <p:nvPr/>
          </p:nvCxnSpPr>
          <p:spPr>
            <a:xfrm>
              <a:off x="3438726" y="3001338"/>
              <a:ext cx="539294" cy="200496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4293488" y="5321772"/>
              <a:ext cx="1140374" cy="421122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6"/>
              <a:endCxn id="36" idx="2"/>
            </p:cNvCxnSpPr>
            <p:nvPr/>
          </p:nvCxnSpPr>
          <p:spPr>
            <a:xfrm flipV="1">
              <a:off x="6064798" y="5689519"/>
              <a:ext cx="1364201" cy="5337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7"/>
              <a:endCxn id="37" idx="3"/>
            </p:cNvCxnSpPr>
            <p:nvPr/>
          </p:nvCxnSpPr>
          <p:spPr>
            <a:xfrm flipV="1">
              <a:off x="7967537" y="4598438"/>
              <a:ext cx="471381" cy="868011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0"/>
              <a:endCxn id="35" idx="4"/>
            </p:cNvCxnSpPr>
            <p:nvPr/>
          </p:nvCxnSpPr>
          <p:spPr>
            <a:xfrm flipH="1" flipV="1">
              <a:off x="8375403" y="3053618"/>
              <a:ext cx="286585" cy="1006282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2"/>
              <a:endCxn id="33" idx="6"/>
            </p:cNvCxnSpPr>
            <p:nvPr/>
          </p:nvCxnSpPr>
          <p:spPr>
            <a:xfrm flipH="1" flipV="1">
              <a:off x="6622786" y="2435124"/>
              <a:ext cx="1437149" cy="30302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2"/>
              <a:endCxn id="34" idx="6"/>
            </p:cNvCxnSpPr>
            <p:nvPr/>
          </p:nvCxnSpPr>
          <p:spPr>
            <a:xfrm flipH="1">
              <a:off x="3754194" y="2435124"/>
              <a:ext cx="2237656" cy="250746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5991850" y="211965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3123258" y="237040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059935" y="242268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428999" y="5374051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8346520" y="405990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5433862" y="542742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3662552" y="5006304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25B5378-7BC6-4B47-A137-C71B85A9FD6E}"/>
                </a:ext>
              </a:extLst>
            </p:cNvPr>
            <p:cNvSpPr txBox="1"/>
            <p:nvPr/>
          </p:nvSpPr>
          <p:spPr>
            <a:xfrm>
              <a:off x="4760081" y="219116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488FDF1-6AAB-434D-92E9-DA2F955CEFB0}"/>
                </a:ext>
              </a:extLst>
            </p:cNvPr>
            <p:cNvSpPr txBox="1"/>
            <p:nvPr/>
          </p:nvSpPr>
          <p:spPr>
            <a:xfrm>
              <a:off x="8548425" y="3407070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6B1DE3D-D644-9843-B8B9-9AEA8A6281AD}"/>
                </a:ext>
              </a:extLst>
            </p:cNvPr>
            <p:cNvSpPr txBox="1"/>
            <p:nvPr/>
          </p:nvSpPr>
          <p:spPr>
            <a:xfrm>
              <a:off x="6468743" y="533011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75FAF68C-75A6-AC44-859E-E70472F72282}"/>
              </a:ext>
            </a:extLst>
          </p:cNvPr>
          <p:cNvSpPr txBox="1"/>
          <p:nvPr/>
        </p:nvSpPr>
        <p:spPr>
          <a:xfrm>
            <a:off x="9535061" y="3107700"/>
            <a:ext cx="265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How good / bad can this approximation be though?</a:t>
            </a:r>
            <a:endParaRPr lang="en-US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6510519-0512-FC4E-BB93-625C70428991}"/>
              </a:ext>
            </a:extLst>
          </p:cNvPr>
          <p:cNvCxnSpPr/>
          <p:nvPr/>
        </p:nvCxnSpPr>
        <p:spPr>
          <a:xfrm>
            <a:off x="8527828" y="3197258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8556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31ABE2-E09F-E04F-80C3-38FDC29F6117}"/>
              </a:ext>
            </a:extLst>
          </p:cNvPr>
          <p:cNvGrpSpPr/>
          <p:nvPr/>
        </p:nvGrpSpPr>
        <p:grpSpPr>
          <a:xfrm>
            <a:off x="1384235" y="1504783"/>
            <a:ext cx="6420464" cy="3615379"/>
            <a:chOff x="693568" y="2319076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14951"/>
            <a:ext cx="6420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1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minimum spanning tree is a lower bound for the optimal tour.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blipFill>
                <a:blip r:embed="rId2"/>
                <a:stretch>
                  <a:fillRect l="-1000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46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75CD1-EB46-D840-87A2-F0B000ED1C00}"/>
              </a:ext>
            </a:extLst>
          </p:cNvPr>
          <p:cNvSpPr/>
          <p:nvPr/>
        </p:nvSpPr>
        <p:spPr>
          <a:xfrm>
            <a:off x="1384235" y="1504783"/>
            <a:ext cx="6420464" cy="36153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A1B2D5-09FF-E04B-BD7B-954692EC9C8C}"/>
              </a:ext>
            </a:extLst>
          </p:cNvPr>
          <p:cNvCxnSpPr>
            <a:cxnSpLocks/>
            <a:stCxn id="57" idx="7"/>
            <a:endCxn id="59" idx="2"/>
          </p:cNvCxnSpPr>
          <p:nvPr/>
        </p:nvCxnSpPr>
        <p:spPr>
          <a:xfrm flipV="1">
            <a:off x="2193945" y="1945653"/>
            <a:ext cx="1517196" cy="505017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E04DF5A-8128-F246-B1B0-E88BDEBDC671}"/>
              </a:ext>
            </a:extLst>
          </p:cNvPr>
          <p:cNvCxnSpPr>
            <a:cxnSpLocks/>
            <a:stCxn id="59" idx="4"/>
            <a:endCxn id="60" idx="1"/>
          </p:cNvCxnSpPr>
          <p:nvPr/>
        </p:nvCxnSpPr>
        <p:spPr>
          <a:xfrm>
            <a:off x="4026609" y="2261121"/>
            <a:ext cx="195599" cy="103971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86FA0D8-EFD9-5D47-B974-6D92D5DEBD13}"/>
              </a:ext>
            </a:extLst>
          </p:cNvPr>
          <p:cNvCxnSpPr>
            <a:stCxn id="61" idx="3"/>
            <a:endCxn id="60" idx="7"/>
          </p:cNvCxnSpPr>
          <p:nvPr/>
        </p:nvCxnSpPr>
        <p:spPr>
          <a:xfrm flipH="1">
            <a:off x="4668348" y="2298085"/>
            <a:ext cx="1362059" cy="100275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2B4B395-6536-A94C-804C-D39493FCD9AB}"/>
              </a:ext>
            </a:extLst>
          </p:cNvPr>
          <p:cNvCxnSpPr>
            <a:cxnSpLocks/>
            <a:stCxn id="60" idx="2"/>
            <a:endCxn id="58" idx="6"/>
          </p:cNvCxnSpPr>
          <p:nvPr/>
        </p:nvCxnSpPr>
        <p:spPr>
          <a:xfrm flipH="1">
            <a:off x="2509413" y="3523909"/>
            <a:ext cx="1620397" cy="105325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F2FFDA4-B7C5-3D41-BC77-2739EF1737BE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 flipV="1">
            <a:off x="6030407" y="3746979"/>
            <a:ext cx="1007147" cy="83018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0A4A33F-061F-494E-B29D-507F31797788}"/>
              </a:ext>
            </a:extLst>
          </p:cNvPr>
          <p:cNvCxnSpPr>
            <a:cxnSpLocks/>
            <a:stCxn id="63" idx="2"/>
            <a:endCxn id="58" idx="6"/>
          </p:cNvCxnSpPr>
          <p:nvPr/>
        </p:nvCxnSpPr>
        <p:spPr>
          <a:xfrm flipH="1">
            <a:off x="2509413" y="4577164"/>
            <a:ext cx="2890058" cy="0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CD6E22-AD42-2343-807A-2388992AF5DF}"/>
              </a:ext>
            </a:extLst>
          </p:cNvPr>
          <p:cNvSpPr txBox="1"/>
          <p:nvPr/>
        </p:nvSpPr>
        <p:spPr>
          <a:xfrm>
            <a:off x="2622731" y="1789621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1287EC-796A-4E41-B1F1-4AAED0C127BC}"/>
              </a:ext>
            </a:extLst>
          </p:cNvPr>
          <p:cNvSpPr txBox="1"/>
          <p:nvPr/>
        </p:nvSpPr>
        <p:spPr>
          <a:xfrm>
            <a:off x="3248373" y="360611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09463D-F290-0A42-9AE2-FA52A680CA21}"/>
              </a:ext>
            </a:extLst>
          </p:cNvPr>
          <p:cNvSpPr txBox="1"/>
          <p:nvPr/>
        </p:nvSpPr>
        <p:spPr>
          <a:xfrm>
            <a:off x="4133414" y="2542695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21E423-A5CB-E64C-B25E-5238DC93DCD7}"/>
              </a:ext>
            </a:extLst>
          </p:cNvPr>
          <p:cNvSpPr txBox="1"/>
          <p:nvPr/>
        </p:nvSpPr>
        <p:spPr>
          <a:xfrm>
            <a:off x="5328993" y="275893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4AD15-F53D-1A4B-9553-EDA9B2F61F3A}"/>
              </a:ext>
            </a:extLst>
          </p:cNvPr>
          <p:cNvSpPr txBox="1"/>
          <p:nvPr/>
        </p:nvSpPr>
        <p:spPr>
          <a:xfrm>
            <a:off x="4068165" y="4601022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652B7-BB1B-4047-AE3C-DA67920B7E42}"/>
              </a:ext>
            </a:extLst>
          </p:cNvPr>
          <p:cNvSpPr txBox="1"/>
          <p:nvPr/>
        </p:nvSpPr>
        <p:spPr>
          <a:xfrm>
            <a:off x="6282402" y="384328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2E7EB09-1178-E14E-8C04-4799AB3D30A4}"/>
              </a:ext>
            </a:extLst>
          </p:cNvPr>
          <p:cNvSpPr/>
          <p:nvPr/>
        </p:nvSpPr>
        <p:spPr>
          <a:xfrm>
            <a:off x="1655407" y="2358272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3B92A97-A216-3849-9E09-06BBE862968E}"/>
              </a:ext>
            </a:extLst>
          </p:cNvPr>
          <p:cNvSpPr/>
          <p:nvPr/>
        </p:nvSpPr>
        <p:spPr>
          <a:xfrm>
            <a:off x="1878477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C51B31-965E-9A41-A954-7A2740737873}"/>
              </a:ext>
            </a:extLst>
          </p:cNvPr>
          <p:cNvSpPr/>
          <p:nvPr/>
        </p:nvSpPr>
        <p:spPr>
          <a:xfrm>
            <a:off x="3711141" y="1630185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B4528C4-15BD-0B40-889D-2AB289E77703}"/>
              </a:ext>
            </a:extLst>
          </p:cNvPr>
          <p:cNvSpPr/>
          <p:nvPr/>
        </p:nvSpPr>
        <p:spPr>
          <a:xfrm>
            <a:off x="4129810" y="320844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E3FFB7-47E5-8447-9898-C9D77CE66F14}"/>
              </a:ext>
            </a:extLst>
          </p:cNvPr>
          <p:cNvSpPr/>
          <p:nvPr/>
        </p:nvSpPr>
        <p:spPr>
          <a:xfrm>
            <a:off x="5938009" y="1759547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D136AEE-A7A6-E144-8516-155875F5F278}"/>
              </a:ext>
            </a:extLst>
          </p:cNvPr>
          <p:cNvSpPr/>
          <p:nvPr/>
        </p:nvSpPr>
        <p:spPr>
          <a:xfrm>
            <a:off x="7037554" y="343151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176B93-6F79-3C46-9161-32A1A1586B7D}"/>
              </a:ext>
            </a:extLst>
          </p:cNvPr>
          <p:cNvSpPr/>
          <p:nvPr/>
        </p:nvSpPr>
        <p:spPr>
          <a:xfrm>
            <a:off x="5399471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182431"/>
            <a:ext cx="64204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2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Consider the FULL WALK of T. Notice that the full walk traverses each edge exactly twice. </a:t>
            </a:r>
            <a:br>
              <a:rPr lang="en-US" dirty="0"/>
            </a:br>
            <a:r>
              <a:rPr lang="en-US" dirty="0"/>
              <a:t>Full walk is (a f g f a e d e c b c e 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blipFill>
                <a:blip r:embed="rId2"/>
                <a:stretch>
                  <a:fillRect l="-1000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CB192AD-A56C-5641-871F-4CE011DB114D}"/>
              </a:ext>
            </a:extLst>
          </p:cNvPr>
          <p:cNvSpPr txBox="1"/>
          <p:nvPr/>
        </p:nvSpPr>
        <p:spPr>
          <a:xfrm>
            <a:off x="8920465" y="4584152"/>
            <a:ext cx="2580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But this walk is not a tour (it is an </a:t>
            </a:r>
            <a:r>
              <a:rPr lang="en-US" i="1" dirty="0" err="1"/>
              <a:t>mst</a:t>
            </a:r>
            <a:r>
              <a:rPr lang="en-US" i="1" dirty="0"/>
              <a:t> full walk), what about the tour that gets returned by the algorithm?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16059E-5C27-7649-9DD8-7B3C0DF15F11}"/>
              </a:ext>
            </a:extLst>
          </p:cNvPr>
          <p:cNvCxnSpPr>
            <a:cxnSpLocks/>
          </p:cNvCxnSpPr>
          <p:nvPr/>
        </p:nvCxnSpPr>
        <p:spPr>
          <a:xfrm flipH="1" flipV="1">
            <a:off x="9496540" y="3839377"/>
            <a:ext cx="208756" cy="6224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94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03617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3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cross edges never increase the cost of the “walk”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/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Consider the edge (</a:t>
                </a:r>
                <a:r>
                  <a:rPr lang="en-US" i="1" dirty="0" err="1"/>
                  <a:t>g,e</a:t>
                </a:r>
                <a:r>
                  <a:rPr lang="en-US" i="1" dirty="0"/>
                  <a:t>) with cost 8</a:t>
                </a:r>
              </a:p>
              <a:p>
                <a:endParaRPr lang="en-US" i="1" dirty="0"/>
              </a:p>
              <a:p>
                <a:pPr/>
                <a:r>
                  <a:rPr lang="en-US" i="1" dirty="0"/>
                  <a:t>The full walk goes from (g f a e)</a:t>
                </a:r>
                <a:br>
                  <a:rPr lang="en-US" i="1" dirty="0"/>
                </a:br>
                <a:r>
                  <a:rPr lang="en-US" i="1" dirty="0"/>
                  <a:t>Direct edge goes from (g e)</a:t>
                </a:r>
                <a:br>
                  <a:rPr lang="en-US" i="1" dirty="0"/>
                </a:br>
                <a:br>
                  <a:rPr lang="en-US" i="1" dirty="0"/>
                </a:br>
                <a:r>
                  <a:rPr lang="en-US" i="1" dirty="0"/>
                  <a:t>Due to triangle inequality:</a:t>
                </a:r>
                <a:br>
                  <a:rPr lang="en-US" i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8≤10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blipFill>
                <a:blip r:embed="rId2"/>
                <a:stretch>
                  <a:fillRect l="-1365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FF3C79B-290D-D44C-97CC-F7D4E3D5F9B4}"/>
              </a:ext>
            </a:extLst>
          </p:cNvPr>
          <p:cNvGrpSpPr/>
          <p:nvPr/>
        </p:nvGrpSpPr>
        <p:grpSpPr>
          <a:xfrm>
            <a:off x="1384235" y="1625969"/>
            <a:ext cx="6420464" cy="3615379"/>
            <a:chOff x="1384235" y="1504783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1384235" y="1504783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2193945" y="1945653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4026609" y="2261121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4668348" y="2298085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2509413" y="3523909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6030407" y="3746979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2509413" y="4577164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2622731" y="1789621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3248373" y="360611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4133414" y="25426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5328993" y="275893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4068165" y="4601022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6282402" y="38432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1655407" y="235827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878477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711141" y="163018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4129810" y="32084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938009" y="1759547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7037554" y="343151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5399471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19A54C-D1B1-E84B-BCDA-E6E1E9DDD465}"/>
                </a:ext>
              </a:extLst>
            </p:cNvPr>
            <p:cNvCxnSpPr>
              <a:cxnSpLocks/>
              <a:stCxn id="62" idx="1"/>
              <a:endCxn id="60" idx="6"/>
            </p:cNvCxnSpPr>
            <p:nvPr/>
          </p:nvCxnSpPr>
          <p:spPr>
            <a:xfrm flipH="1">
              <a:off x="4760746" y="3523909"/>
              <a:ext cx="2369206" cy="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AA59E5-AAB6-7B40-B85B-4AC7B58299A8}"/>
                </a:ext>
              </a:extLst>
            </p:cNvPr>
            <p:cNvSpPr txBox="1"/>
            <p:nvPr/>
          </p:nvSpPr>
          <p:spPr>
            <a:xfrm>
              <a:off x="5655567" y="318378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/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ysClr val="windowText" lastClr="000000"/>
                    </a:solidFill>
                  </a:rPr>
                  <a:t>Thus,</a:t>
                </a:r>
              </a:p>
              <a:p>
                <a:endParaRPr lang="en-US" i="1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blipFill>
                <a:blip r:embed="rId3"/>
                <a:stretch>
                  <a:fillRect l="-1361" t="-2703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84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EA35-F6A3-A6FC-DCBC-301BD966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E2BA-0674-7D06-D31C-7345C1683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Improving The Traveling Salesperson Bound</a:t>
            </a:r>
          </a:p>
        </p:txBody>
      </p:sp>
    </p:spTree>
    <p:extLst>
      <p:ext uri="{BB962C8B-B14F-4D97-AF65-F5344CB8AC3E}">
        <p14:creationId xmlns:p14="http://schemas.microsoft.com/office/powerpoint/2010/main" val="2548180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2C0D-0DD8-67D4-8FEF-6D88CD20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/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916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/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/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93" r="-1429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5BA562-6608-7B4B-D8C1-63B688436D15}"/>
              </a:ext>
            </a:extLst>
          </p:cNvPr>
          <p:cNvSpPr txBox="1"/>
          <p:nvPr/>
        </p:nvSpPr>
        <p:spPr>
          <a:xfrm>
            <a:off x="6342490" y="5803663"/>
            <a:ext cx="4526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not obvious if / why this works. We need to define some terms and ANALYZE!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291646B-9A6D-1CB5-C720-C0AB9EE88429}"/>
              </a:ext>
            </a:extLst>
          </p:cNvPr>
          <p:cNvCxnSpPr/>
          <p:nvPr/>
        </p:nvCxnSpPr>
        <p:spPr>
          <a:xfrm>
            <a:off x="6901732" y="5168348"/>
            <a:ext cx="397565" cy="572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597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4B28-8C95-0710-4E22-89B73885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/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0FE35D0-E034-255F-F163-3DDFCD182C34}"/>
              </a:ext>
            </a:extLst>
          </p:cNvPr>
          <p:cNvSpPr txBox="1"/>
          <p:nvPr/>
        </p:nvSpPr>
        <p:spPr>
          <a:xfrm>
            <a:off x="1217874" y="3248851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Eulerian Tour</a:t>
            </a:r>
            <a:r>
              <a:rPr lang="en-US" dirty="0"/>
              <a:t>: Traversal of a graph that visits every edge of the graph exactly once, potentially visiting nodes multiple times, and returning back to the starting node.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D54F6-7260-7090-C450-A3F1E120E262}"/>
              </a:ext>
            </a:extLst>
          </p:cNvPr>
          <p:cNvSpPr txBox="1"/>
          <p:nvPr/>
        </p:nvSpPr>
        <p:spPr>
          <a:xfrm>
            <a:off x="1217874" y="4323602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Minimum Cost Perfect Matching</a:t>
            </a:r>
            <a:r>
              <a:rPr lang="en-US" dirty="0"/>
              <a:t>: Given a set of nodes, choose edges such that each node is incident to exactly one chosen edge. Minimize total cost of chosen edges.</a:t>
            </a:r>
          </a:p>
        </p:txBody>
      </p:sp>
    </p:spTree>
    <p:extLst>
      <p:ext uri="{BB962C8B-B14F-4D97-AF65-F5344CB8AC3E}">
        <p14:creationId xmlns:p14="http://schemas.microsoft.com/office/powerpoint/2010/main" val="384670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5217-2F56-1DDD-C0F0-E8ACC7108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/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B08B431F-A012-47D0-B360-BCCF06AB7F2E}"/>
              </a:ext>
            </a:extLst>
          </p:cNvPr>
          <p:cNvGrpSpPr/>
          <p:nvPr/>
        </p:nvGrpSpPr>
        <p:grpSpPr>
          <a:xfrm>
            <a:off x="2836380" y="2925170"/>
            <a:ext cx="6420464" cy="3615379"/>
            <a:chOff x="693568" y="2319076"/>
            <a:chExt cx="6420464" cy="361537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261B60A-F246-E2D2-0F41-22ECCE3F2E7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01694C-0A9F-7DCD-78C7-27C6AFF07C6C}"/>
                </a:ext>
              </a:extLst>
            </p:cNvPr>
            <p:cNvCxnSpPr>
              <a:cxnSpLocks/>
              <a:stCxn id="64" idx="4"/>
              <a:endCxn id="65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E2A9C-F62E-068C-1D58-F9E4ACC83D1F}"/>
                </a:ext>
              </a:extLst>
            </p:cNvPr>
            <p:cNvCxnSpPr>
              <a:cxnSpLocks/>
              <a:stCxn id="64" idx="7"/>
              <a:endCxn id="66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4445527-C14D-9FCF-EF9F-4317A66A30E5}"/>
                </a:ext>
              </a:extLst>
            </p:cNvPr>
            <p:cNvCxnSpPr>
              <a:cxnSpLocks/>
              <a:stCxn id="66" idx="4"/>
              <a:endCxn id="67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85FE1CB-27ED-AAD2-7A3D-846F25A48BD1}"/>
                </a:ext>
              </a:extLst>
            </p:cNvPr>
            <p:cNvCxnSpPr>
              <a:cxnSpLocks/>
              <a:stCxn id="66" idx="6"/>
              <a:endCxn id="68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C16A0D1-B4B8-44F5-1B27-D0B399731AA6}"/>
                </a:ext>
              </a:extLst>
            </p:cNvPr>
            <p:cNvCxnSpPr>
              <a:stCxn id="68" idx="3"/>
              <a:endCxn id="67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ABEF38C-79F8-6649-EB21-66F82E4947B6}"/>
                </a:ext>
              </a:extLst>
            </p:cNvPr>
            <p:cNvCxnSpPr>
              <a:stCxn id="68" idx="4"/>
              <a:endCxn id="70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651775-A596-E7F8-B6B8-6D198302907E}"/>
                </a:ext>
              </a:extLst>
            </p:cNvPr>
            <p:cNvCxnSpPr>
              <a:cxnSpLocks/>
              <a:stCxn id="67" idx="5"/>
              <a:endCxn id="70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E01191-7D84-9816-517E-CE890970F04D}"/>
                </a:ext>
              </a:extLst>
            </p:cNvPr>
            <p:cNvCxnSpPr>
              <a:stCxn id="68" idx="5"/>
              <a:endCxn id="69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92FC92E-8342-5165-E202-177FD5CA8A90}"/>
                </a:ext>
              </a:extLst>
            </p:cNvPr>
            <p:cNvCxnSpPr>
              <a:cxnSpLocks/>
              <a:stCxn id="67" idx="1"/>
              <a:endCxn id="64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7D57DF-DE4B-361A-DB6F-761EC068BE38}"/>
                </a:ext>
              </a:extLst>
            </p:cNvPr>
            <p:cNvCxnSpPr>
              <a:cxnSpLocks/>
              <a:stCxn id="67" idx="2"/>
              <a:endCxn id="65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84C258-98E1-0544-AAF4-FA0A00237EE1}"/>
                </a:ext>
              </a:extLst>
            </p:cNvPr>
            <p:cNvCxnSpPr>
              <a:cxnSpLocks/>
              <a:stCxn id="70" idx="6"/>
              <a:endCxn id="69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40639A-AA4F-CBEC-DC65-5F4D45AF4A62}"/>
                </a:ext>
              </a:extLst>
            </p:cNvPr>
            <p:cNvCxnSpPr>
              <a:cxnSpLocks/>
              <a:stCxn id="70" idx="2"/>
              <a:endCxn id="65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66BF714-A252-84E3-B702-B8D58A0CCDFF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5E73683-43B3-30C6-FE51-E59CA0302B65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80B3169-6682-50C4-9CE9-9171DF57BD0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4D9AD66-4B4F-745A-8C69-AC8C8604768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E263C9E-A201-3696-96D8-3369FCFB7E66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FE64B4-E992-C833-0B38-15B7CFC77FB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02CFE93-904F-8211-384B-7921EED3138E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62C4740-FAAA-BE78-FB76-AB289A015829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E8F45CD-D82F-2365-4035-9247FF06842B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87E8D8-B58C-B3AE-C3E4-310A6921D31C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6CC8CDB-9DE6-FCCE-D925-94ECAC25AE9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267D981-87FE-EDB0-9573-FA33AA3D10D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0ED502-1168-6200-C4C6-372C1F7E0D33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584CEB-3057-7E18-615A-808FD6D033C2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323477-36FE-0C44-1747-6DA3C255841A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98BFA16-2048-4BFD-6444-0984226C2FB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DFE7FA1-3A6A-AB03-B767-1E36A5B8C3C8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4495048-5444-3159-D943-FCFBD6929551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D666184-3E63-6C45-23EC-4DECC7629199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E2886226-7487-8BED-ABC9-311967A90FB4}"/>
              </a:ext>
            </a:extLst>
          </p:cNvPr>
          <p:cNvSpPr txBox="1"/>
          <p:nvPr/>
        </p:nvSpPr>
        <p:spPr>
          <a:xfrm>
            <a:off x="481536" y="3493962"/>
            <a:ext cx="21960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Assume missing edges have very high cost and graph is actually complete</a:t>
            </a:r>
          </a:p>
        </p:txBody>
      </p:sp>
    </p:spTree>
    <p:extLst>
      <p:ext uri="{BB962C8B-B14F-4D97-AF65-F5344CB8AC3E}">
        <p14:creationId xmlns:p14="http://schemas.microsoft.com/office/powerpoint/2010/main" val="3021455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E97C-6F50-0AE8-AE5D-07FC066E8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B84B17F-53DE-EF6D-BBE2-8E8AB9069405}"/>
              </a:ext>
            </a:extLst>
          </p:cNvPr>
          <p:cNvSpPr/>
          <p:nvPr/>
        </p:nvSpPr>
        <p:spPr>
          <a:xfrm>
            <a:off x="826938" y="620202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A1C6222-4E48-13BB-84F8-178EB7660D5B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FACA89B-6D62-DC40-D531-8D85F3F65A87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20B36F-13F9-B937-F7ED-5D358C4981EC}"/>
                </a:ext>
              </a:extLst>
            </p:cNvPr>
            <p:cNvCxnSpPr>
              <a:cxnSpLocks/>
              <a:stCxn id="96" idx="4"/>
              <a:endCxn id="97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B67B11C-2D32-9F40-27A2-0B67291E3FD6}"/>
                </a:ext>
              </a:extLst>
            </p:cNvPr>
            <p:cNvCxnSpPr>
              <a:cxnSpLocks/>
              <a:stCxn id="96" idx="7"/>
              <a:endCxn id="98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8D60395-C46C-1548-2982-4E2B7C29E6F6}"/>
                </a:ext>
              </a:extLst>
            </p:cNvPr>
            <p:cNvCxnSpPr>
              <a:cxnSpLocks/>
              <a:stCxn id="98" idx="4"/>
              <a:endCxn id="99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4CA71D-A27B-3FB1-5A07-79B9D7FE3B04}"/>
                </a:ext>
              </a:extLst>
            </p:cNvPr>
            <p:cNvCxnSpPr>
              <a:cxnSpLocks/>
              <a:stCxn id="98" idx="6"/>
              <a:endCxn id="100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F50004B-BF73-415C-165B-F45B5FA31E8C}"/>
                </a:ext>
              </a:extLst>
            </p:cNvPr>
            <p:cNvCxnSpPr>
              <a:stCxn id="100" idx="3"/>
              <a:endCxn id="99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22742F-9B7E-E1F0-E07D-C0FFA5AAA3BB}"/>
                </a:ext>
              </a:extLst>
            </p:cNvPr>
            <p:cNvCxnSpPr>
              <a:stCxn id="100" idx="4"/>
              <a:endCxn id="10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42153FC-9992-924D-F298-F1B06FA64AC2}"/>
                </a:ext>
              </a:extLst>
            </p:cNvPr>
            <p:cNvCxnSpPr>
              <a:cxnSpLocks/>
              <a:stCxn id="99" idx="5"/>
              <a:endCxn id="10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B32B75-6C7A-752A-E8B1-06E80CE0B14A}"/>
                </a:ext>
              </a:extLst>
            </p:cNvPr>
            <p:cNvCxnSpPr>
              <a:stCxn id="100" idx="5"/>
              <a:endCxn id="101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6D97274-C46C-7D93-35A2-2D2CB4FE458F}"/>
                </a:ext>
              </a:extLst>
            </p:cNvPr>
            <p:cNvCxnSpPr>
              <a:cxnSpLocks/>
              <a:stCxn id="99" idx="1"/>
              <a:endCxn id="96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50C9854-534F-2B18-8E81-BE3D4CFB19ED}"/>
                </a:ext>
              </a:extLst>
            </p:cNvPr>
            <p:cNvCxnSpPr>
              <a:cxnSpLocks/>
              <a:stCxn id="99" idx="2"/>
              <a:endCxn id="97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D553579-928D-4BB7-F36D-DED9F36258DB}"/>
                </a:ext>
              </a:extLst>
            </p:cNvPr>
            <p:cNvCxnSpPr>
              <a:cxnSpLocks/>
              <a:stCxn id="102" idx="6"/>
              <a:endCxn id="101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6632688-FC2D-A34A-BAD3-DC16A7B2828A}"/>
                </a:ext>
              </a:extLst>
            </p:cNvPr>
            <p:cNvCxnSpPr>
              <a:cxnSpLocks/>
              <a:stCxn id="102" idx="2"/>
              <a:endCxn id="97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167A916-7C14-0BB0-52AB-BED436A9F390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9989B3F-5542-0414-E465-8B813402ABC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8BA9B-A982-AB58-90A0-1E945EE9001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5908F44-1F12-A199-3705-F49EDCB71D2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11A67D-542F-9813-5743-F933679EB5F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EBFF623-6194-6A56-714D-2ABA016BAF6E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BD6B59D-5036-4697-7F69-BD8FF61E7B09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614C36-3722-3C26-807A-9542D463C00E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D81C3B0-7442-6087-E731-122A5B1752D3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1B4AF09-E812-4ADD-F3C8-1CA1671EFA02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1D4058-291C-D044-FF37-93EEE581A7CE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3DC8A38-4501-4AFB-FBB4-B2BE48E07E59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57A3251-7871-EB01-5445-38FF696E3A7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7570DCE-0075-BBB1-F6DF-E89294B7A87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6F9720-7295-1C54-A111-E9A49B0168A9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4CD94C3-A194-8B4F-1C44-CE03552FC16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CFF4542-6382-8447-5E71-621C6CA8CC2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0583319-8209-8CAD-6B10-42D29CFE1FE9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23FB73A-5E8C-F59D-751F-C73B6723B334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561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4019F-62B9-7682-65C8-77E85E44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3481CDC-525F-F8BF-E5E8-AEBFB90C520D}"/>
              </a:ext>
            </a:extLst>
          </p:cNvPr>
          <p:cNvSpPr/>
          <p:nvPr/>
        </p:nvSpPr>
        <p:spPr>
          <a:xfrm>
            <a:off x="826938" y="914400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F7A48E-BAD0-1235-D41D-DDAE8D463295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2B09EC-67B7-7FDE-A5BA-E3A6D42EAED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5104322-2D00-4779-270D-B7C584B123A5}"/>
                </a:ext>
              </a:extLst>
            </p:cNvPr>
            <p:cNvCxnSpPr>
              <a:cxnSpLocks/>
              <a:stCxn id="97" idx="4"/>
              <a:endCxn id="9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B5CEF89-69E3-F062-04FD-2015B8F62BC6}"/>
                </a:ext>
              </a:extLst>
            </p:cNvPr>
            <p:cNvCxnSpPr>
              <a:cxnSpLocks/>
              <a:stCxn id="97" idx="7"/>
              <a:endCxn id="9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C2BBA64-B6F1-1AE3-1247-3721320D78A9}"/>
                </a:ext>
              </a:extLst>
            </p:cNvPr>
            <p:cNvCxnSpPr>
              <a:cxnSpLocks/>
              <a:stCxn id="99" idx="4"/>
              <a:endCxn id="10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1EBEED-FFD9-330E-7081-5E825B0C4317}"/>
                </a:ext>
              </a:extLst>
            </p:cNvPr>
            <p:cNvCxnSpPr>
              <a:cxnSpLocks/>
              <a:stCxn id="99" idx="6"/>
              <a:endCxn id="10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2FB477F-EDEC-D3BD-04EA-E66A6B6468A5}"/>
                </a:ext>
              </a:extLst>
            </p:cNvPr>
            <p:cNvCxnSpPr>
              <a:stCxn id="101" idx="3"/>
              <a:endCxn id="10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6055A0-1886-0D9C-2208-E60EB427DF91}"/>
                </a:ext>
              </a:extLst>
            </p:cNvPr>
            <p:cNvCxnSpPr>
              <a:stCxn id="101" idx="4"/>
              <a:endCxn id="103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C9C9F3-ED74-3EB2-8A18-B1B5152C62E8}"/>
                </a:ext>
              </a:extLst>
            </p:cNvPr>
            <p:cNvCxnSpPr>
              <a:cxnSpLocks/>
              <a:stCxn id="100" idx="5"/>
              <a:endCxn id="103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EB6386-0D1A-3DFB-8DB0-D915BBFDAD9C}"/>
                </a:ext>
              </a:extLst>
            </p:cNvPr>
            <p:cNvCxnSpPr>
              <a:stCxn id="101" idx="5"/>
              <a:endCxn id="102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108B2CA-468E-28FB-72F7-F79609538196}"/>
                </a:ext>
              </a:extLst>
            </p:cNvPr>
            <p:cNvCxnSpPr>
              <a:cxnSpLocks/>
              <a:stCxn id="100" idx="1"/>
              <a:endCxn id="97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2F1E933-23CE-2A25-61C0-2762FF8E4A7D}"/>
                </a:ext>
              </a:extLst>
            </p:cNvPr>
            <p:cNvCxnSpPr>
              <a:cxnSpLocks/>
              <a:stCxn id="100" idx="2"/>
              <a:endCxn id="9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1A6B722-9063-5901-5A3F-DD6D4CD7FD33}"/>
                </a:ext>
              </a:extLst>
            </p:cNvPr>
            <p:cNvCxnSpPr>
              <a:cxnSpLocks/>
              <a:stCxn id="103" idx="6"/>
              <a:endCxn id="10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7DF4D3E-D681-1BE8-DD31-3394B81418DF}"/>
                </a:ext>
              </a:extLst>
            </p:cNvPr>
            <p:cNvCxnSpPr>
              <a:cxnSpLocks/>
              <a:stCxn id="103" idx="2"/>
              <a:endCxn id="9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0F8DA6-3E16-D484-4585-B711C5601773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65C538A-3370-10FB-545D-2D308A894C3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8BC1CA-8708-D8B1-B8C1-8BD83D4374B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51B76DB-38C3-E55E-25A1-5F0118B6552B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15938D-CB1E-0275-17C3-9C575D392E3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461584-05FE-B02B-24E3-9C458616115A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1088FE-7253-A1EA-D02F-6C007A80DB6F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E4E7B61-3035-E686-08C0-54C9C41DF84F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3F45340-AECC-191A-C8F8-358FC571E242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9109072-A091-CF73-C83A-E2C03C6BE3AB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616DB1-E084-78C9-B923-16EFC26523A6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FDCF099-FC8B-2021-AB80-A1A75322230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4D5431BC-1683-940A-9C23-5AF405F7232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5140A73-2722-6CEA-9A53-5731AC253C3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98A8167-C32A-8583-2494-9B5ACC29D690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8F877AD-EA7F-86FC-9AA8-8CBD8A5C868A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A867CFFD-A5D4-9400-31FB-179B7357F6C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D30EF9D-0AB4-100B-5BB9-AE51A6E1DC32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DCB9A161-B602-19CF-C1A1-45390D3A7986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5748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14E29-DADA-781E-D07D-0B402FE7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3DA4CFDC-7F39-E170-701A-1870BF448DD0}"/>
              </a:ext>
            </a:extLst>
          </p:cNvPr>
          <p:cNvSpPr/>
          <p:nvPr/>
        </p:nvSpPr>
        <p:spPr>
          <a:xfrm>
            <a:off x="826938" y="145508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5A0A4D9-70D0-27F8-A8DB-CE7C67159994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8934BF-08F4-3555-BBCA-FAB2BA5C2F62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160E9-B022-E5AE-33E4-50096BD27363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F130A7-BA7C-4324-D339-A632A4AC0AF6}"/>
                </a:ext>
              </a:extLst>
            </p:cNvPr>
            <p:cNvCxnSpPr>
              <a:cxnSpLocks/>
              <a:stCxn id="70" idx="6"/>
              <a:endCxn id="72" idx="2"/>
            </p:cNvCxnSpPr>
            <p:nvPr/>
          </p:nvCxnSpPr>
          <p:spPr>
            <a:xfrm>
              <a:off x="5795902" y="3350139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14F8A5-69A1-B931-6BA6-A5CEC662B41C}"/>
                </a:ext>
              </a:extLst>
            </p:cNvPr>
            <p:cNvCxnSpPr>
              <a:stCxn id="72" idx="4"/>
              <a:endCxn id="74" idx="0"/>
            </p:cNvCxnSpPr>
            <p:nvPr/>
          </p:nvCxnSpPr>
          <p:spPr>
            <a:xfrm flipH="1">
              <a:off x="7168764" y="3794969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D997B38-B139-805B-BCAD-0C16BC1273A2}"/>
                </a:ext>
              </a:extLst>
            </p:cNvPr>
            <p:cNvCxnSpPr>
              <a:cxnSpLocks/>
              <a:stCxn id="71" idx="5"/>
              <a:endCxn id="74" idx="2"/>
            </p:cNvCxnSpPr>
            <p:nvPr/>
          </p:nvCxnSpPr>
          <p:spPr>
            <a:xfrm>
              <a:off x="6122173" y="5151465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D9FDE8-1DC0-BD35-DBD1-2EF90A995B5A}"/>
                </a:ext>
              </a:extLst>
            </p:cNvPr>
            <p:cNvSpPr txBox="1"/>
            <p:nvPr/>
          </p:nvSpPr>
          <p:spPr>
            <a:xfrm>
              <a:off x="3166522" y="4705325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E43D22-00B0-864C-B570-C151BFB30AFA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CA99675-023D-92D5-1FF6-F47008A3474D}"/>
                </a:ext>
              </a:extLst>
            </p:cNvPr>
            <p:cNvSpPr txBox="1"/>
            <p:nvPr/>
          </p:nvSpPr>
          <p:spPr>
            <a:xfrm>
              <a:off x="4293878" y="432030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B6AADA-6178-7255-1C92-DC74A0AEC944}"/>
                </a:ext>
              </a:extLst>
            </p:cNvPr>
            <p:cNvSpPr txBox="1"/>
            <p:nvPr/>
          </p:nvSpPr>
          <p:spPr>
            <a:xfrm>
              <a:off x="4702198" y="501060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147594-B723-D4F0-BF9F-DE61CAE370C5}"/>
                </a:ext>
              </a:extLst>
            </p:cNvPr>
            <p:cNvSpPr txBox="1"/>
            <p:nvPr/>
          </p:nvSpPr>
          <p:spPr>
            <a:xfrm>
              <a:off x="5656812" y="39471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31E3310-92C4-A1D0-C62B-33B5DE24B1E7}"/>
                </a:ext>
              </a:extLst>
            </p:cNvPr>
            <p:cNvSpPr txBox="1"/>
            <p:nvPr/>
          </p:nvSpPr>
          <p:spPr>
            <a:xfrm>
              <a:off x="6470827" y="300563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6360-E074-DF5D-A9B5-9F208AFBF173}"/>
                </a:ext>
              </a:extLst>
            </p:cNvPr>
            <p:cNvSpPr txBox="1"/>
            <p:nvPr/>
          </p:nvSpPr>
          <p:spPr>
            <a:xfrm>
              <a:off x="6782818" y="416342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C6860F3-C099-195D-FF9A-1EA50A099805}"/>
                </a:ext>
              </a:extLst>
            </p:cNvPr>
            <p:cNvSpPr txBox="1"/>
            <p:nvPr/>
          </p:nvSpPr>
          <p:spPr>
            <a:xfrm>
              <a:off x="6479259" y="51223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52054A-2308-EA5C-DD59-1E5AB05769C6}"/>
                </a:ext>
              </a:extLst>
            </p:cNvPr>
            <p:cNvSpPr txBox="1"/>
            <p:nvPr/>
          </p:nvSpPr>
          <p:spPr>
            <a:xfrm>
              <a:off x="5521990" y="600550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F506F40-D42D-B5B5-2669-FE5D5FE1C49D}"/>
                </a:ext>
              </a:extLst>
            </p:cNvPr>
            <p:cNvSpPr txBox="1"/>
            <p:nvPr/>
          </p:nvSpPr>
          <p:spPr>
            <a:xfrm>
              <a:off x="7530157" y="418684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32183F-1C1E-34FC-FF60-28CB845A3EF7}"/>
                </a:ext>
              </a:extLst>
            </p:cNvPr>
            <p:cNvSpPr txBox="1"/>
            <p:nvPr/>
          </p:nvSpPr>
          <p:spPr>
            <a:xfrm>
              <a:off x="7736227" y="524776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A075A61-89AF-D6D3-2AC0-1FA14230D1AC}"/>
                </a:ext>
              </a:extLst>
            </p:cNvPr>
            <p:cNvSpPr txBox="1"/>
            <p:nvPr/>
          </p:nvSpPr>
          <p:spPr>
            <a:xfrm>
              <a:off x="8284382" y="4010466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5217EF8-4DC6-A93D-F408-4D5F7DE97881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DC1E1D-7071-FAA7-19B3-B8D36C946F57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701C275-08B6-516B-6C1C-4672D0FF899E}"/>
                </a:ext>
              </a:extLst>
            </p:cNvPr>
            <p:cNvSpPr/>
            <p:nvPr/>
          </p:nvSpPr>
          <p:spPr>
            <a:xfrm>
              <a:off x="5164966" y="3034671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70634C0-8B75-D208-0B3A-5BEA7ED5F46E}"/>
                </a:ext>
              </a:extLst>
            </p:cNvPr>
            <p:cNvSpPr/>
            <p:nvPr/>
          </p:nvSpPr>
          <p:spPr>
            <a:xfrm>
              <a:off x="5583635" y="461292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4D4F6F5-65D0-0DD9-E595-38B527B78144}"/>
                </a:ext>
              </a:extLst>
            </p:cNvPr>
            <p:cNvSpPr/>
            <p:nvPr/>
          </p:nvSpPr>
          <p:spPr>
            <a:xfrm>
              <a:off x="7391834" y="316403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31D3A7F-402B-B01F-FDC0-41AA2DDCB4CB}"/>
                </a:ext>
              </a:extLst>
            </p:cNvPr>
            <p:cNvSpPr/>
            <p:nvPr/>
          </p:nvSpPr>
          <p:spPr>
            <a:xfrm>
              <a:off x="8491379" y="483599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E9E67BF-D377-FD40-CD58-2A7ADF8C2A4B}"/>
                </a:ext>
              </a:extLst>
            </p:cNvPr>
            <p:cNvSpPr/>
            <p:nvPr/>
          </p:nvSpPr>
          <p:spPr>
            <a:xfrm>
              <a:off x="6853296" y="56661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7C494A42-B1AE-10FB-7E35-ED9CCFA0E4EB}"/>
                </a:ext>
              </a:extLst>
            </p:cNvPr>
            <p:cNvCxnSpPr>
              <a:endCxn id="74" idx="2"/>
            </p:cNvCxnSpPr>
            <p:nvPr/>
          </p:nvCxnSpPr>
          <p:spPr>
            <a:xfrm flipV="1">
              <a:off x="3963238" y="5981650"/>
              <a:ext cx="2890058" cy="2385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6CC5125-DD41-D52C-1371-22013609C10E}"/>
                </a:ext>
              </a:extLst>
            </p:cNvPr>
            <p:cNvCxnSpPr>
              <a:cxnSpLocks/>
              <a:stCxn id="74" idx="6"/>
              <a:endCxn id="73" idx="3"/>
            </p:cNvCxnSpPr>
            <p:nvPr/>
          </p:nvCxnSpPr>
          <p:spPr>
            <a:xfrm flipV="1">
              <a:off x="7484232" y="5374535"/>
              <a:ext cx="1099545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E691F53F-FBEF-5C3D-EE05-7AC6D0F87833}"/>
                </a:ext>
              </a:extLst>
            </p:cNvPr>
            <p:cNvCxnSpPr>
              <a:cxnSpLocks/>
              <a:stCxn id="73" idx="1"/>
              <a:endCxn id="72" idx="5"/>
            </p:cNvCxnSpPr>
            <p:nvPr/>
          </p:nvCxnSpPr>
          <p:spPr>
            <a:xfrm flipH="1" flipV="1">
              <a:off x="7930372" y="3702571"/>
              <a:ext cx="653405" cy="122582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1C5B49B-EAB0-B62D-2044-CBB1F2563DF3}"/>
                </a:ext>
              </a:extLst>
            </p:cNvPr>
            <p:cNvCxnSpPr>
              <a:cxnSpLocks/>
              <a:stCxn id="72" idx="3"/>
              <a:endCxn id="71" idx="7"/>
            </p:cNvCxnSpPr>
            <p:nvPr/>
          </p:nvCxnSpPr>
          <p:spPr>
            <a:xfrm flipH="1">
              <a:off x="6122173" y="3702571"/>
              <a:ext cx="1362059" cy="100275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D782D7C-2B24-3D54-1A53-204068B77CBA}"/>
                </a:ext>
              </a:extLst>
            </p:cNvPr>
            <p:cNvCxnSpPr>
              <a:cxnSpLocks/>
              <a:stCxn id="71" idx="0"/>
              <a:endCxn id="70" idx="4"/>
            </p:cNvCxnSpPr>
            <p:nvPr/>
          </p:nvCxnSpPr>
          <p:spPr>
            <a:xfrm flipH="1" flipV="1">
              <a:off x="5480434" y="3665607"/>
              <a:ext cx="418669" cy="94732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AFB221-4639-84B0-6A00-33FEA3E42BD8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50139"/>
              <a:ext cx="1517196" cy="50501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D3B88D9-2192-C2E8-1EE2-DDA63BB7E31E}"/>
                </a:ext>
              </a:extLst>
            </p:cNvPr>
            <p:cNvCxnSpPr>
              <a:cxnSpLocks/>
              <a:stCxn id="52" idx="6"/>
              <a:endCxn id="71" idx="1"/>
            </p:cNvCxnSpPr>
            <p:nvPr/>
          </p:nvCxnSpPr>
          <p:spPr>
            <a:xfrm>
              <a:off x="3740168" y="4078226"/>
              <a:ext cx="1935865" cy="62709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DD6CC2A-C168-2ABA-8F2E-1BDED9A17E05}"/>
                </a:ext>
              </a:extLst>
            </p:cNvPr>
            <p:cNvCxnSpPr>
              <a:cxnSpLocks/>
              <a:stCxn id="71" idx="3"/>
              <a:endCxn id="56" idx="7"/>
            </p:cNvCxnSpPr>
            <p:nvPr/>
          </p:nvCxnSpPr>
          <p:spPr>
            <a:xfrm flipH="1">
              <a:off x="3870840" y="5151465"/>
              <a:ext cx="1805193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05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D0E4D-D5CA-CAA8-67F2-8CA2C636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915FDE97-D5DD-09D3-2C0F-11639E669D81}"/>
              </a:ext>
            </a:extLst>
          </p:cNvPr>
          <p:cNvSpPr/>
          <p:nvPr/>
        </p:nvSpPr>
        <p:spPr>
          <a:xfrm>
            <a:off x="826938" y="1717481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4608E6-4226-7F13-E47C-401D24F4BBA8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F3058E-B345-29E3-13CD-8E9ADAEB7F70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A7CBA44-E168-99AE-557D-0821937722B1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44DA308-923E-DCCF-5028-36784A8A9C81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9FDAAE-47BE-FC26-CC27-8D43CD1AEC3D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E639B1-B54B-BE8F-2177-6887E01FE28D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E4477-54FA-A7B6-978E-5E2E4729CE3D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3654EB2-0305-EFE7-DE6E-0DA336316D6D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1147C5-92C2-4E7A-98F0-AC33A8385C80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DEE646F-8634-A90F-437C-A6D6C8546510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0E314C-8C65-FE61-1456-132FA7D2EDD8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BA02C-5197-B054-A56A-6FC018DC97E1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E9781-3B4A-B701-04FD-6129718A741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1187507-9101-4224-2CE3-70E944006FEA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8AC1B49C-6B8A-BF68-3EE2-454EE9E36063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69427DD-2C4E-0EEE-7796-D19C03968958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232803A-C972-B234-EC63-83F8549D8F99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39DD7F9-CAE4-81E2-32E9-113B448A6388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5B3BA96D-2CC3-8A8C-7195-4A6CBE183A9E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410373CE-C7AC-E784-C092-3188916FA5CA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3E43912A-FDAE-3B92-3103-6CA376849F62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0277731-FA68-8777-76D7-312D4A11033D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1EE1BB73-CED1-4250-E559-9ECF54CDB969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153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34BE-8CBE-14DD-CEDD-76EEE9A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2F72AAB2-C15C-56AD-3CDD-7723F73B1CBE}"/>
              </a:ext>
            </a:extLst>
          </p:cNvPr>
          <p:cNvSpPr/>
          <p:nvPr/>
        </p:nvSpPr>
        <p:spPr>
          <a:xfrm>
            <a:off x="826938" y="225021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546E5BD-B50A-BB25-6960-BE6BFDDDD2E0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5C23C09-B0C3-2900-3B4E-0F886A65F1BE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C058601-FE78-7DFA-D6FD-D661DB7B20DC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6AF87B-BEC2-9220-1FB5-76DFF499D68A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4BEDBAF-AF39-A564-B09F-4C16DD0302C6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474C40-BB9D-BD20-ED23-488A210BB0E3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1915D48-F57E-32A8-BE2F-69D72FBF5ED0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6A62C0-297D-1650-E333-EA37BD39434C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110C5F-7C9D-24C3-E905-26FD5B9D6619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A39536A-2453-EF3C-76DA-7B44CBF0365A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9DAE565-8E0C-0659-E337-E8E02EEF0CDF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6B442887-F6BE-20B8-4842-22B9AF150049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9F2DC2-ED56-F214-5D4C-4045D2B03B0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C615D06-5EE7-F84B-68A9-1D2C79C19764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A7988186-8CDC-1B30-2722-C0A2C40292A9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3941337-B484-F496-7853-3CBF734ECAFD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B092476-9259-798C-E2EC-4958425B6784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654C06-BD7F-E976-EAD3-975D4578DB77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FBE7438-ECF7-BA4B-E4D9-9A3420A9BE92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90355E4-E6BD-F492-F4F3-8EC1883D5C65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14A2914-DC88-8C1E-CFAF-6F03055B51E8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D96D79E-551C-A983-7953-7147A2467437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B637632-55C3-AD23-B5B5-1674039370B8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555088-3078-0C02-0569-983AF5DFD46D}"/>
              </a:ext>
            </a:extLst>
          </p:cNvPr>
          <p:cNvSpPr txBox="1"/>
          <p:nvPr/>
        </p:nvSpPr>
        <p:spPr>
          <a:xfrm>
            <a:off x="9325055" y="3807806"/>
            <a:ext cx="1960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happens to be the optimal solution for this particular graph</a:t>
            </a:r>
          </a:p>
        </p:txBody>
      </p:sp>
    </p:spTree>
    <p:extLst>
      <p:ext uri="{BB962C8B-B14F-4D97-AF65-F5344CB8AC3E}">
        <p14:creationId xmlns:p14="http://schemas.microsoft.com/office/powerpoint/2010/main" val="226170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9E3E-4E46-D67B-1B9E-FA054CD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D6265-65CC-1F66-B4FF-5D4F6642A732}"/>
              </a:ext>
            </a:extLst>
          </p:cNvPr>
          <p:cNvSpPr txBox="1"/>
          <p:nvPr/>
        </p:nvSpPr>
        <p:spPr>
          <a:xfrm>
            <a:off x="3082958" y="2497719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88AF096-68B9-70BC-39C7-79461F3DD1EA}"/>
              </a:ext>
            </a:extLst>
          </p:cNvPr>
          <p:cNvSpPr txBox="1"/>
          <p:nvPr/>
        </p:nvSpPr>
        <p:spPr>
          <a:xfrm>
            <a:off x="7983111" y="4334302"/>
            <a:ext cx="2417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you see why? I will argue this verbally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76D1A-6056-E2BD-8869-3F0F0E47159C}"/>
              </a:ext>
            </a:extLst>
          </p:cNvPr>
          <p:cNvCxnSpPr/>
          <p:nvPr/>
        </p:nvCxnSpPr>
        <p:spPr>
          <a:xfrm>
            <a:off x="7975158" y="3484659"/>
            <a:ext cx="564542" cy="7931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736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D568-CEE0-A304-1A42-1AD3435A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D55E57-6F07-6477-6901-49D2BD68B291}"/>
              </a:ext>
            </a:extLst>
          </p:cNvPr>
          <p:cNvSpPr txBox="1"/>
          <p:nvPr/>
        </p:nvSpPr>
        <p:spPr>
          <a:xfrm>
            <a:off x="1217873" y="4000516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/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E2EB65E-3144-66FB-F911-0E23FBBEC1B7}"/>
              </a:ext>
            </a:extLst>
          </p:cNvPr>
          <p:cNvSpPr txBox="1"/>
          <p:nvPr/>
        </p:nvSpPr>
        <p:spPr>
          <a:xfrm>
            <a:off x="7347004" y="4000516"/>
            <a:ext cx="39915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this means: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MST T</a:t>
            </a:r>
            <a:r>
              <a:rPr lang="en-US" dirty="0"/>
              <a:t> is guaranteed to have an even number of odd-degree nodes.</a:t>
            </a:r>
          </a:p>
          <a:p>
            <a:pPr marL="342900" indent="-342900">
              <a:buAutoNum type="arabicPeriod"/>
            </a:pPr>
            <a:r>
              <a:rPr lang="en-US" dirty="0"/>
              <a:t>Since the graph is complete,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least-cost perfect matching M </a:t>
            </a:r>
            <a:r>
              <a:rPr lang="en-US" dirty="0"/>
              <a:t>of these nodes must exist.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/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9928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7C26-9A95-E081-0FBD-3C41BDDA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/>
              <p:nvPr/>
            </p:nvSpPr>
            <p:spPr>
              <a:xfrm>
                <a:off x="1264799" y="2839638"/>
                <a:ext cx="9662399" cy="101091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any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perfect min-cost matching M on an even number of nodes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799" y="2839638"/>
                <a:ext cx="9662399" cy="1010918"/>
              </a:xfrm>
              <a:prstGeom prst="rect">
                <a:avLst/>
              </a:prstGeom>
              <a:blipFill>
                <a:blip r:embed="rId2"/>
                <a:stretch>
                  <a:fillRect t="-4938" r="-393" b="-61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1944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6510-FE3E-1C76-A7E9-97357F83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/>
              <p:nvPr/>
            </p:nvSpPr>
            <p:spPr>
              <a:xfrm>
                <a:off x="2598645" y="1525757"/>
                <a:ext cx="6994707" cy="101091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min-cost perfect 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645" y="1525757"/>
                <a:ext cx="6994707" cy="1010918"/>
              </a:xfrm>
              <a:prstGeom prst="rect">
                <a:avLst/>
              </a:prstGeom>
              <a:blipFill>
                <a:blip r:embed="rId2"/>
                <a:stretch>
                  <a:fillRect t="-3659"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/>
              <p:nvPr/>
            </p:nvSpPr>
            <p:spPr>
              <a:xfrm>
                <a:off x="6859406" y="2924833"/>
                <a:ext cx="4810539" cy="30272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dirty="0"/>
                  <a:t>Take optimal tour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and create tour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taking the nodes in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nodes with odd-degree </a:t>
                </a:r>
                <a:r>
                  <a:rPr lang="en-US" dirty="0"/>
                  <a:t>in the order they appear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342900" indent="-342900">
                  <a:buAutoNum type="arabicPeriod"/>
                </a:pPr>
                <a:r>
                  <a:rPr lang="en-US" dirty="0"/>
                  <a:t>Split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into two matchings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with alternating edges.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both matchings, but may not be the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least cost one</a:t>
                </a:r>
                <a:r>
                  <a:rPr lang="en-US" dirty="0"/>
                  <a:t>.</a:t>
                </a: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06" y="2924833"/>
                <a:ext cx="4810539" cy="3027239"/>
              </a:xfrm>
              <a:prstGeom prst="rect">
                <a:avLst/>
              </a:prstGeom>
              <a:blipFill>
                <a:blip r:embed="rId4"/>
                <a:stretch>
                  <a:fillRect l="-792" t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6145B0C2-511D-0F4E-233E-3BB5A7506503}"/>
              </a:ext>
            </a:extLst>
          </p:cNvPr>
          <p:cNvGrpSpPr/>
          <p:nvPr/>
        </p:nvGrpSpPr>
        <p:grpSpPr>
          <a:xfrm>
            <a:off x="1326621" y="2683565"/>
            <a:ext cx="5486401" cy="4057838"/>
            <a:chOff x="1326621" y="2683565"/>
            <a:chExt cx="5486401" cy="40578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2532D7-136C-8B19-7950-E427F144497C}"/>
                </a:ext>
              </a:extLst>
            </p:cNvPr>
            <p:cNvSpPr/>
            <p:nvPr/>
          </p:nvSpPr>
          <p:spPr>
            <a:xfrm>
              <a:off x="1326621" y="2683565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0811707-48DE-3D99-65FB-20E0E309EE06}"/>
                </a:ext>
              </a:extLst>
            </p:cNvPr>
            <p:cNvSpPr/>
            <p:nvPr/>
          </p:nvSpPr>
          <p:spPr>
            <a:xfrm>
              <a:off x="1607172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BDCCC81-B74C-FB5B-33C6-D83D8B167C0D}"/>
                </a:ext>
              </a:extLst>
            </p:cNvPr>
            <p:cNvSpPr/>
            <p:nvPr/>
          </p:nvSpPr>
          <p:spPr>
            <a:xfrm>
              <a:off x="2634215" y="473433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020E5-2B37-5FED-A9B2-629ABD405560}"/>
                </a:ext>
              </a:extLst>
            </p:cNvPr>
            <p:cNvSpPr/>
            <p:nvPr/>
          </p:nvSpPr>
          <p:spPr>
            <a:xfrm>
              <a:off x="4659823" y="49503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44E29B-5D11-1408-30A5-59F043D68C0C}"/>
                </a:ext>
              </a:extLst>
            </p:cNvPr>
            <p:cNvSpPr/>
            <p:nvPr/>
          </p:nvSpPr>
          <p:spPr>
            <a:xfrm>
              <a:off x="5716419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E40BF41-4640-DEA0-E593-85F2C437EA91}"/>
                </a:ext>
              </a:extLst>
            </p:cNvPr>
            <p:cNvSpPr/>
            <p:nvPr/>
          </p:nvSpPr>
          <p:spPr>
            <a:xfrm>
              <a:off x="4548903" y="282695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4EEC4C-F7A6-9A02-0DD0-3A5E5DD9463C}"/>
                </a:ext>
              </a:extLst>
            </p:cNvPr>
            <p:cNvSpPr/>
            <p:nvPr/>
          </p:nvSpPr>
          <p:spPr>
            <a:xfrm>
              <a:off x="2829021" y="28491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A8DDA50-578F-40F5-DA24-5F4A26857145}"/>
                </a:ext>
              </a:extLst>
            </p:cNvPr>
            <p:cNvSpPr/>
            <p:nvPr/>
          </p:nvSpPr>
          <p:spPr>
            <a:xfrm>
              <a:off x="3208033" y="5862723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12B2BE6-3CA4-08CC-4A15-21A61E1D0A4C}"/>
                </a:ext>
              </a:extLst>
            </p:cNvPr>
            <p:cNvSpPr/>
            <p:nvPr/>
          </p:nvSpPr>
          <p:spPr>
            <a:xfrm>
              <a:off x="4254705" y="603114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45D921F-9B55-3B2C-4FFD-E6091DF5A122}"/>
                </a:ext>
              </a:extLst>
            </p:cNvPr>
            <p:cNvSpPr/>
            <p:nvPr/>
          </p:nvSpPr>
          <p:spPr>
            <a:xfrm>
              <a:off x="6097035" y="523920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AD8E2FA-F07A-23FF-63DB-D4B1EAB62AE2}"/>
                </a:ext>
              </a:extLst>
            </p:cNvPr>
            <p:cNvSpPr/>
            <p:nvPr/>
          </p:nvSpPr>
          <p:spPr>
            <a:xfrm>
              <a:off x="5839611" y="278096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9D2CEF-076C-F71D-AA38-13412DC8091A}"/>
                </a:ext>
              </a:extLst>
            </p:cNvPr>
            <p:cNvCxnSpPr>
              <a:stCxn id="8" idx="5"/>
              <a:endCxn id="9" idx="1"/>
            </p:cNvCxnSpPr>
            <p:nvPr/>
          </p:nvCxnSpPr>
          <p:spPr>
            <a:xfrm>
              <a:off x="2109399" y="4440110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DB19AF-3326-91F3-AA22-024D3F491D63}"/>
                </a:ext>
              </a:extLst>
            </p:cNvPr>
            <p:cNvCxnSpPr>
              <a:cxnSpLocks/>
              <a:stCxn id="10" idx="7"/>
              <a:endCxn id="11" idx="3"/>
            </p:cNvCxnSpPr>
            <p:nvPr/>
          </p:nvCxnSpPr>
          <p:spPr>
            <a:xfrm flipV="1">
              <a:off x="5162050" y="4440110"/>
              <a:ext cx="640538" cy="59640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1A1585-A824-3011-B1F3-8F39FD505C98}"/>
                </a:ext>
              </a:extLst>
            </p:cNvPr>
            <p:cNvCxnSpPr>
              <a:cxnSpLocks/>
              <a:stCxn id="12" idx="2"/>
              <a:endCxn id="13" idx="6"/>
            </p:cNvCxnSpPr>
            <p:nvPr/>
          </p:nvCxnSpPr>
          <p:spPr>
            <a:xfrm flipH="1">
              <a:off x="3417417" y="3121157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43A093-97DF-A128-BAF1-6B0A73EF9959}"/>
                </a:ext>
              </a:extLst>
            </p:cNvPr>
            <p:cNvCxnSpPr>
              <a:cxnSpLocks/>
              <a:stCxn id="13" idx="3"/>
              <a:endCxn id="8" idx="7"/>
            </p:cNvCxnSpPr>
            <p:nvPr/>
          </p:nvCxnSpPr>
          <p:spPr>
            <a:xfrm flipH="1">
              <a:off x="2109399" y="3351377"/>
              <a:ext cx="805791" cy="67267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EFB9B7-4532-7DE1-FFEF-0807D0110898}"/>
                </a:ext>
              </a:extLst>
            </p:cNvPr>
            <p:cNvCxnSpPr>
              <a:cxnSpLocks/>
              <a:stCxn id="10" idx="2"/>
              <a:endCxn id="9" idx="6"/>
            </p:cNvCxnSpPr>
            <p:nvPr/>
          </p:nvCxnSpPr>
          <p:spPr>
            <a:xfrm flipH="1" flipV="1">
              <a:off x="3222611" y="5028537"/>
              <a:ext cx="1437212" cy="21601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84375CA-3C5F-5EBF-76B2-4CE4E2633718}"/>
                </a:ext>
              </a:extLst>
            </p:cNvPr>
            <p:cNvCxnSpPr>
              <a:cxnSpLocks/>
              <a:stCxn id="11" idx="1"/>
              <a:endCxn id="12" idx="5"/>
            </p:cNvCxnSpPr>
            <p:nvPr/>
          </p:nvCxnSpPr>
          <p:spPr>
            <a:xfrm flipH="1" flipV="1">
              <a:off x="5051130" y="3329186"/>
              <a:ext cx="751458" cy="694866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45B0A69-864A-1D45-F8D3-42AB46B7E9CD}"/>
                </a:ext>
              </a:extLst>
            </p:cNvPr>
            <p:cNvCxnSpPr>
              <a:cxnSpLocks/>
              <a:stCxn id="9" idx="4"/>
              <a:endCxn id="14" idx="1"/>
            </p:cNvCxnSpPr>
            <p:nvPr/>
          </p:nvCxnSpPr>
          <p:spPr>
            <a:xfrm>
              <a:off x="2928413" y="5322735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7479C0C-D3ED-004E-FE52-DB37276E17BB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3796429" y="6156921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276C08E-B3D1-CBBA-50B6-244F2F968221}"/>
                </a:ext>
              </a:extLst>
            </p:cNvPr>
            <p:cNvCxnSpPr>
              <a:cxnSpLocks/>
              <a:stCxn id="15" idx="7"/>
              <a:endCxn id="10" idx="4"/>
            </p:cNvCxnSpPr>
            <p:nvPr/>
          </p:nvCxnSpPr>
          <p:spPr>
            <a:xfrm flipV="1">
              <a:off x="4756932" y="5538746"/>
              <a:ext cx="197089" cy="578572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8EA10B-6647-5426-A98F-AAE3D11CDB2B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5248219" y="5244548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D80F459-EC4A-8E4C-7D5B-71748467D384}"/>
                </a:ext>
              </a:extLst>
            </p:cNvPr>
            <p:cNvCxnSpPr>
              <a:cxnSpLocks/>
              <a:stCxn id="11" idx="4"/>
              <a:endCxn id="16" idx="0"/>
            </p:cNvCxnSpPr>
            <p:nvPr/>
          </p:nvCxnSpPr>
          <p:spPr>
            <a:xfrm>
              <a:off x="6010617" y="4526279"/>
              <a:ext cx="380616" cy="712929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02DF34-2460-62C1-2871-896E3D7B339A}"/>
                </a:ext>
              </a:extLst>
            </p:cNvPr>
            <p:cNvCxnSpPr>
              <a:cxnSpLocks/>
              <a:stCxn id="17" idx="4"/>
              <a:endCxn id="11" idx="0"/>
            </p:cNvCxnSpPr>
            <p:nvPr/>
          </p:nvCxnSpPr>
          <p:spPr>
            <a:xfrm flipH="1">
              <a:off x="6010617" y="3369365"/>
              <a:ext cx="123192" cy="56851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616F7EF-4E7F-17F9-918E-82619712F332}"/>
                </a:ext>
              </a:extLst>
            </p:cNvPr>
            <p:cNvCxnSpPr>
              <a:cxnSpLocks/>
              <a:stCxn id="12" idx="6"/>
              <a:endCxn id="17" idx="2"/>
            </p:cNvCxnSpPr>
            <p:nvPr/>
          </p:nvCxnSpPr>
          <p:spPr>
            <a:xfrm flipV="1">
              <a:off x="5137299" y="3075167"/>
              <a:ext cx="702312" cy="45990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C1C71EA4-59A3-29E1-09EB-E134E0AD2D6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278293" y="4615923"/>
              <a:ext cx="1885238" cy="1533609"/>
            </a:xfrm>
            <a:prstGeom prst="curvedConnector3">
              <a:avLst>
                <a:gd name="adj1" fmla="val 102194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/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Curved Connector 32">
              <a:extLst>
                <a:ext uri="{FF2B5EF4-FFF2-40B4-BE49-F238E27FC236}">
                  <a16:creationId xmlns:a16="http://schemas.microsoft.com/office/drawing/2014/main" id="{4C814EDB-0FEB-8CCC-2F07-F6EFCC242067}"/>
                </a:ext>
              </a:extLst>
            </p:cNvPr>
            <p:cNvCxnSpPr>
              <a:cxnSpLocks/>
            </p:cNvCxnSpPr>
            <p:nvPr/>
          </p:nvCxnSpPr>
          <p:spPr>
            <a:xfrm>
              <a:off x="2302913" y="4207781"/>
              <a:ext cx="2429617" cy="612729"/>
            </a:xfrm>
            <a:prstGeom prst="curvedConnector3">
              <a:avLst>
                <a:gd name="adj1" fmla="val 7455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/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/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/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850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A405-EA24-A7B5-810E-C2D79C66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/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 err="1">
                    <a:solidFill>
                      <a:schemeClr val="accent5"/>
                    </a:solidFill>
                  </a:rPr>
                  <a:t>m.c.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 perf.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l="-198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945E87-1ABC-05AC-5948-66344943B498}"/>
              </a:ext>
            </a:extLst>
          </p:cNvPr>
          <p:cNvSpPr txBox="1"/>
          <p:nvPr/>
        </p:nvSpPr>
        <p:spPr>
          <a:xfrm>
            <a:off x="2914402" y="1591271"/>
            <a:ext cx="6363191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/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9BECABAF-4B55-3E7D-4949-9D036F4E7A98}"/>
              </a:ext>
            </a:extLst>
          </p:cNvPr>
          <p:cNvSpPr/>
          <p:nvPr/>
        </p:nvSpPr>
        <p:spPr>
          <a:xfrm rot="5400000">
            <a:off x="3073304" y="4136836"/>
            <a:ext cx="349858" cy="17569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F75EC-17D9-18FD-0FE3-878D99D8A750}"/>
              </a:ext>
            </a:extLst>
          </p:cNvPr>
          <p:cNvSpPr txBox="1"/>
          <p:nvPr/>
        </p:nvSpPr>
        <p:spPr>
          <a:xfrm>
            <a:off x="2556594" y="5244420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triangle inequality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4A6C594D-147A-C8B2-B75A-235C05990866}"/>
              </a:ext>
            </a:extLst>
          </p:cNvPr>
          <p:cNvSpPr/>
          <p:nvPr/>
        </p:nvSpPr>
        <p:spPr>
          <a:xfrm rot="5400000">
            <a:off x="5002157" y="4016588"/>
            <a:ext cx="349858" cy="1986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B4EF-4ADB-F7A1-8D83-C8DC3E8C6245}"/>
              </a:ext>
            </a:extLst>
          </p:cNvPr>
          <p:cNvSpPr txBox="1"/>
          <p:nvPr/>
        </p:nvSpPr>
        <p:spPr>
          <a:xfrm>
            <a:off x="4490086" y="5244419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how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T’</a:t>
            </a:r>
            <a:r>
              <a:rPr lang="en-US" dirty="0"/>
              <a:t> is constructed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72B61D3-67B2-D905-8BD1-41F494EF1996}"/>
              </a:ext>
            </a:extLst>
          </p:cNvPr>
          <p:cNvSpPr/>
          <p:nvPr/>
        </p:nvSpPr>
        <p:spPr>
          <a:xfrm rot="5400000">
            <a:off x="7172862" y="3889759"/>
            <a:ext cx="349858" cy="224069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0AAFF-64B5-68E0-C9D1-EF3148A556E6}"/>
              </a:ext>
            </a:extLst>
          </p:cNvPr>
          <p:cNvSpPr txBox="1"/>
          <p:nvPr/>
        </p:nvSpPr>
        <p:spPr>
          <a:xfrm>
            <a:off x="6648201" y="5244418"/>
            <a:ext cx="1383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MST less than optimal tour + by lemma 2</a:t>
            </a:r>
          </a:p>
        </p:txBody>
      </p:sp>
    </p:spTree>
    <p:extLst>
      <p:ext uri="{BB962C8B-B14F-4D97-AF65-F5344CB8AC3E}">
        <p14:creationId xmlns:p14="http://schemas.microsoft.com/office/powerpoint/2010/main" val="34798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E45B-EBFD-FAEF-CA31-8AA225CD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4F6F-D230-6A86-00E0-66B2BD93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Approximating The General Traveling-Salesperson Problem</a:t>
            </a:r>
          </a:p>
        </p:txBody>
      </p:sp>
    </p:spTree>
    <p:extLst>
      <p:ext uri="{BB962C8B-B14F-4D97-AF65-F5344CB8AC3E}">
        <p14:creationId xmlns:p14="http://schemas.microsoft.com/office/powerpoint/2010/main" val="42933740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3D85A-24F4-E780-C2CB-BA28E706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BA1B4C-A98F-9F1D-6AB6-BD89676B53E7}"/>
              </a:ext>
            </a:extLst>
          </p:cNvPr>
          <p:cNvSpPr txBox="1"/>
          <p:nvPr/>
        </p:nvSpPr>
        <p:spPr>
          <a:xfrm>
            <a:off x="1203569" y="2303931"/>
            <a:ext cx="9784862" cy="13849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i="1" u="sng" dirty="0">
                <a:solidFill>
                  <a:schemeClr val="bg1"/>
                </a:solidFill>
              </a:rPr>
              <a:t>Question</a:t>
            </a:r>
            <a:r>
              <a:rPr lang="en-US" sz="2800" dirty="0">
                <a:solidFill>
                  <a:schemeClr val="bg1"/>
                </a:solidFill>
              </a:rPr>
              <a:t>: Our TSP approximations assume connected graphs and triangle inequality. Can we approximate the general TSP without these assumptions?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0D8428-D5C6-C779-E56D-35BF7BD8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D14FAF-9B17-E2AF-7A88-BB2D530CCA71}"/>
              </a:ext>
            </a:extLst>
          </p:cNvPr>
          <p:cNvSpPr txBox="1"/>
          <p:nvPr/>
        </p:nvSpPr>
        <p:spPr>
          <a:xfrm>
            <a:off x="7299569" y="4814277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do you think?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E5CECD-9B0F-FCFC-9269-81EF7C4A15BD}"/>
              </a:ext>
            </a:extLst>
          </p:cNvPr>
          <p:cNvCxnSpPr/>
          <p:nvPr/>
        </p:nvCxnSpPr>
        <p:spPr>
          <a:xfrm>
            <a:off x="7408985" y="3852984"/>
            <a:ext cx="523630" cy="93003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626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C8475-AE84-7911-A343-31FD3105B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72F1234-282A-E8A6-2609-36DA67F80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833515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F1D0-CA83-87C3-79AC-EA67A5A3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7F0915-1EF5-213F-91D0-6653E091BFD4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2880759-C410-D5E9-C68E-7BC465CA4FCB}"/>
              </a:ext>
            </a:extLst>
          </p:cNvPr>
          <p:cNvSpPr txBox="1"/>
          <p:nvPr/>
        </p:nvSpPr>
        <p:spPr>
          <a:xfrm>
            <a:off x="1566984" y="2729467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Overview: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E8D5111-D1AA-BC27-C652-D77A71AF65CC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4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Arrow 12">
            <a:extLst>
              <a:ext uri="{FF2B5EF4-FFF2-40B4-BE49-F238E27FC236}">
                <a16:creationId xmlns:a16="http://schemas.microsoft.com/office/drawing/2014/main" id="{BC5D7C96-EC85-3A44-EAD0-843BD44BBD0B}"/>
              </a:ext>
            </a:extLst>
          </p:cNvPr>
          <p:cNvSpPr/>
          <p:nvPr/>
        </p:nvSpPr>
        <p:spPr>
          <a:xfrm>
            <a:off x="4021016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DFCD1CA-850C-2DB3-B4D4-FEB7FBE59835}"/>
              </a:ext>
            </a:extLst>
          </p:cNvPr>
          <p:cNvSpPr/>
          <p:nvPr/>
        </p:nvSpPr>
        <p:spPr>
          <a:xfrm>
            <a:off x="7321064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798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6CE7B-EDE5-6332-EEF1-69AED6E5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4E9B18-FA22-52BC-984A-22B7DD444C80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A96BFF2A-C36F-6270-38D9-B5840BEC7661}"/>
              </a:ext>
            </a:extLst>
          </p:cNvPr>
          <p:cNvGrpSpPr/>
          <p:nvPr/>
        </p:nvGrpSpPr>
        <p:grpSpPr>
          <a:xfrm>
            <a:off x="5513756" y="2471764"/>
            <a:ext cx="5486401" cy="4057838"/>
            <a:chOff x="5662246" y="2471764"/>
            <a:chExt cx="5486401" cy="405783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6B3409-5CFF-73C5-415A-8F76FC09F52C}"/>
                </a:ext>
              </a:extLst>
            </p:cNvPr>
            <p:cNvSpPr/>
            <p:nvPr/>
          </p:nvSpPr>
          <p:spPr>
            <a:xfrm>
              <a:off x="5662246" y="2471764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048AB26-BD26-5682-413E-913B44C5D71F}"/>
                </a:ext>
              </a:extLst>
            </p:cNvPr>
            <p:cNvSpPr/>
            <p:nvPr/>
          </p:nvSpPr>
          <p:spPr>
            <a:xfrm>
              <a:off x="5942797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49E95C3-F1CA-C8AB-6EE4-C27E89A6BB94}"/>
                </a:ext>
              </a:extLst>
            </p:cNvPr>
            <p:cNvSpPr/>
            <p:nvPr/>
          </p:nvSpPr>
          <p:spPr>
            <a:xfrm>
              <a:off x="6969840" y="452253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421DF76-32B6-7C8E-7CA3-C1EF53A5AEAF}"/>
                </a:ext>
              </a:extLst>
            </p:cNvPr>
            <p:cNvSpPr/>
            <p:nvPr/>
          </p:nvSpPr>
          <p:spPr>
            <a:xfrm>
              <a:off x="8995448" y="47385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71AB7E9-9FE3-6CE5-7C0C-2B327BED9A7C}"/>
                </a:ext>
              </a:extLst>
            </p:cNvPr>
            <p:cNvSpPr/>
            <p:nvPr/>
          </p:nvSpPr>
          <p:spPr>
            <a:xfrm>
              <a:off x="10052044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A431F2F-CCEC-E60D-A62F-E7BD55CDB150}"/>
                </a:ext>
              </a:extLst>
            </p:cNvPr>
            <p:cNvSpPr/>
            <p:nvPr/>
          </p:nvSpPr>
          <p:spPr>
            <a:xfrm>
              <a:off x="8884528" y="261515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7F8B940-98D8-35B0-D3C7-72DC8BC17F1C}"/>
                </a:ext>
              </a:extLst>
            </p:cNvPr>
            <p:cNvSpPr/>
            <p:nvPr/>
          </p:nvSpPr>
          <p:spPr>
            <a:xfrm>
              <a:off x="7164646" y="26373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E23D539-6963-3E7A-65A2-44B3A2DDD145}"/>
                </a:ext>
              </a:extLst>
            </p:cNvPr>
            <p:cNvSpPr/>
            <p:nvPr/>
          </p:nvSpPr>
          <p:spPr>
            <a:xfrm>
              <a:off x="7543658" y="565092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FB6782B-E001-8C32-E068-4DE510BF037A}"/>
                </a:ext>
              </a:extLst>
            </p:cNvPr>
            <p:cNvSpPr/>
            <p:nvPr/>
          </p:nvSpPr>
          <p:spPr>
            <a:xfrm>
              <a:off x="8590330" y="581934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786EFA-A0B7-D80B-134B-DE12BD9D2E5B}"/>
                </a:ext>
              </a:extLst>
            </p:cNvPr>
            <p:cNvSpPr/>
            <p:nvPr/>
          </p:nvSpPr>
          <p:spPr>
            <a:xfrm>
              <a:off x="10432660" y="5027407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E2B940-1084-8C26-7D90-4E3E36B98E4D}"/>
                </a:ext>
              </a:extLst>
            </p:cNvPr>
            <p:cNvSpPr/>
            <p:nvPr/>
          </p:nvSpPr>
          <p:spPr>
            <a:xfrm>
              <a:off x="10175236" y="256916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FEC002-CCAF-0935-851D-6644084B7082}"/>
                </a:ext>
              </a:extLst>
            </p:cNvPr>
            <p:cNvCxnSpPr>
              <a:stCxn id="15" idx="5"/>
              <a:endCxn id="16" idx="1"/>
            </p:cNvCxnSpPr>
            <p:nvPr/>
          </p:nvCxnSpPr>
          <p:spPr>
            <a:xfrm>
              <a:off x="6445024" y="4228309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078255-0D4F-E9EC-6609-0D87DEA41DD6}"/>
                </a:ext>
              </a:extLst>
            </p:cNvPr>
            <p:cNvCxnSpPr>
              <a:cxnSpLocks/>
              <a:stCxn id="19" idx="2"/>
              <a:endCxn id="20" idx="6"/>
            </p:cNvCxnSpPr>
            <p:nvPr/>
          </p:nvCxnSpPr>
          <p:spPr>
            <a:xfrm flipH="1">
              <a:off x="7753042" y="2909356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AE7DA5-E4DB-FBC1-827F-0E0CF5992517}"/>
                </a:ext>
              </a:extLst>
            </p:cNvPr>
            <p:cNvCxnSpPr>
              <a:cxnSpLocks/>
              <a:stCxn id="20" idx="3"/>
              <a:endCxn id="15" idx="7"/>
            </p:cNvCxnSpPr>
            <p:nvPr/>
          </p:nvCxnSpPr>
          <p:spPr>
            <a:xfrm flipH="1">
              <a:off x="6445024" y="3139576"/>
              <a:ext cx="805791" cy="672675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1F739C2-834A-5F20-B72F-33A380A9A194}"/>
                </a:ext>
              </a:extLst>
            </p:cNvPr>
            <p:cNvCxnSpPr>
              <a:cxnSpLocks/>
              <a:stCxn id="16" idx="4"/>
              <a:endCxn id="21" idx="1"/>
            </p:cNvCxnSpPr>
            <p:nvPr/>
          </p:nvCxnSpPr>
          <p:spPr>
            <a:xfrm>
              <a:off x="7264038" y="5110934"/>
              <a:ext cx="365789" cy="626157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CA6A5C0-6DE4-6F92-DD1C-0DFC01B76642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>
              <a:off x="8132054" y="5945120"/>
              <a:ext cx="458276" cy="168426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1A677C-46E4-F132-4433-6A325FC5944E}"/>
                </a:ext>
              </a:extLst>
            </p:cNvPr>
            <p:cNvCxnSpPr>
              <a:cxnSpLocks/>
              <a:stCxn id="22" idx="0"/>
              <a:endCxn id="17" idx="4"/>
            </p:cNvCxnSpPr>
            <p:nvPr/>
          </p:nvCxnSpPr>
          <p:spPr>
            <a:xfrm flipV="1">
              <a:off x="8884528" y="5326945"/>
              <a:ext cx="405118" cy="492403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C50FD20-94F5-C8C9-C4B6-901AA973234F}"/>
                </a:ext>
              </a:extLst>
            </p:cNvPr>
            <p:cNvCxnSpPr>
              <a:cxnSpLocks/>
              <a:stCxn id="23" idx="2"/>
              <a:endCxn id="17" idx="6"/>
            </p:cNvCxnSpPr>
            <p:nvPr/>
          </p:nvCxnSpPr>
          <p:spPr>
            <a:xfrm flipH="1" flipV="1">
              <a:off x="9583844" y="5032747"/>
              <a:ext cx="848816" cy="28885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242FC01-20DC-7D8C-6307-195D80953632}"/>
                </a:ext>
              </a:extLst>
            </p:cNvPr>
            <p:cNvCxnSpPr>
              <a:cxnSpLocks/>
              <a:stCxn id="18" idx="4"/>
              <a:endCxn id="23" idx="0"/>
            </p:cNvCxnSpPr>
            <p:nvPr/>
          </p:nvCxnSpPr>
          <p:spPr>
            <a:xfrm>
              <a:off x="10346242" y="4314478"/>
              <a:ext cx="380616" cy="71292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E1B9EA5-2DD5-148C-6261-83625B460E1F}"/>
                </a:ext>
              </a:extLst>
            </p:cNvPr>
            <p:cNvCxnSpPr>
              <a:cxnSpLocks/>
              <a:stCxn id="24" idx="4"/>
              <a:endCxn id="18" idx="0"/>
            </p:cNvCxnSpPr>
            <p:nvPr/>
          </p:nvCxnSpPr>
          <p:spPr>
            <a:xfrm flipH="1">
              <a:off x="10346242" y="3157564"/>
              <a:ext cx="123192" cy="56851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7AB8966-F929-846C-9809-64F78E931F1B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 flipV="1">
              <a:off x="9472924" y="2863366"/>
              <a:ext cx="702312" cy="45990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/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US" dirty="0"/>
                </a:p>
                <a:p>
                  <a:endParaRPr lang="en-US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blipFill>
                  <a:blip r:embed="rId4"/>
                  <a:stretch>
                    <a:fillRect r="-877"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5163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119A0-9407-A716-1FD7-5114EBC4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1D8DB-8206-12D2-712F-C96E4576759D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7ABB3DA-DCA1-149E-7B9C-B1EC02C2B501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620B0E-CEA7-1DDB-AA29-5DE335DB39CB}"/>
              </a:ext>
            </a:extLst>
          </p:cNvPr>
          <p:cNvSpPr txBox="1"/>
          <p:nvPr/>
        </p:nvSpPr>
        <p:spPr>
          <a:xfrm>
            <a:off x="1398953" y="3617436"/>
            <a:ext cx="3266831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Hamiltonian Cycle</a:t>
            </a:r>
            <a:r>
              <a:rPr lang="en-US" dirty="0"/>
              <a:t>: Given a graph G, does there exist a path that starts at some vertex, visits every node exactly once, and returns to the original starting vertex? 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79DA5B-D5F5-0AE3-AB02-2EED58B34E4A}"/>
              </a:ext>
            </a:extLst>
          </p:cNvPr>
          <p:cNvGrpSpPr/>
          <p:nvPr/>
        </p:nvGrpSpPr>
        <p:grpSpPr>
          <a:xfrm>
            <a:off x="7867280" y="2532461"/>
            <a:ext cx="3183673" cy="1977013"/>
            <a:chOff x="7921988" y="2446491"/>
            <a:chExt cx="3183673" cy="197701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70D1FCA-945D-8A15-49FC-E7A4DD083B81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B8378913-4240-30A0-1102-E06CF88F72C2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8B4F49E-C12C-5A53-EDEC-8BF8824E46AA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06A784B-B15E-7095-E114-9A5DC7497084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DA7C6D-F63C-E6A1-B286-5BC275B6EF18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40849AE-0F82-C168-B4D9-65DD8EAFF122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79A0921-1FE3-F051-0A3A-5503086D081B}"/>
                  </a:ext>
                </a:extLst>
              </p:cNvPr>
              <p:cNvCxnSpPr>
                <a:stCxn id="3" idx="6"/>
                <a:endCxn id="4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343D60C-BF7A-73D2-52E9-EC26DC1C60CA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3988AC8-AFEA-5F6A-89AF-40DBF0104A69}"/>
                  </a:ext>
                </a:extLst>
              </p:cNvPr>
              <p:cNvCxnSpPr>
                <a:cxnSpLocks/>
                <a:stCxn id="6" idx="4"/>
                <a:endCxn id="15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CD80B8B-639E-11E4-565A-BC343AB2787A}"/>
                  </a:ext>
                </a:extLst>
              </p:cNvPr>
              <p:cNvCxnSpPr>
                <a:cxnSpLocks/>
                <a:stCxn id="4" idx="5"/>
                <a:endCxn id="15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B62C61-B55B-FF3A-3FEA-BF41DAF48CE4}"/>
                  </a:ext>
                </a:extLst>
              </p:cNvPr>
              <p:cNvCxnSpPr>
                <a:cxnSpLocks/>
                <a:stCxn id="8" idx="6"/>
                <a:endCxn id="15" idx="2"/>
              </p:cNvCxnSpPr>
              <p:nvPr/>
            </p:nvCxnSpPr>
            <p:spPr>
              <a:xfrm>
                <a:off x="8143631" y="3847990"/>
                <a:ext cx="1891324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878711D-5D75-2AFD-B1C2-8370A09DA794}"/>
                  </a:ext>
                </a:extLst>
              </p:cNvPr>
              <p:cNvCxnSpPr>
                <a:cxnSpLocks/>
                <a:stCxn id="8" idx="7"/>
                <a:endCxn id="4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B9A7C1E-0E35-9EDD-AE50-DF5D74F83CD0}"/>
                  </a:ext>
                </a:extLst>
              </p:cNvPr>
              <p:cNvCxnSpPr>
                <a:cxnSpLocks/>
                <a:stCxn id="8" idx="0"/>
                <a:endCxn id="3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89024D4-96E5-5B83-F152-514A398D9EB4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A674D08-12D4-5E71-04E1-C3081B2B918E}"/>
                </a:ext>
              </a:extLst>
            </p:cNvPr>
            <p:cNvSpPr txBox="1"/>
            <p:nvPr/>
          </p:nvSpPr>
          <p:spPr>
            <a:xfrm>
              <a:off x="9346264" y="4029783"/>
              <a:ext cx="115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Yes!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11FE625-A2F7-A501-154E-51EE8CFCA479}"/>
              </a:ext>
            </a:extLst>
          </p:cNvPr>
          <p:cNvGrpSpPr/>
          <p:nvPr/>
        </p:nvGrpSpPr>
        <p:grpSpPr>
          <a:xfrm>
            <a:off x="7867279" y="4672499"/>
            <a:ext cx="3183673" cy="1977013"/>
            <a:chOff x="7921988" y="2446491"/>
            <a:chExt cx="3183673" cy="197701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322C83D-F21A-E72B-3C6B-71BBA10905D3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2ED7A07-273B-807E-D468-EF16F5C7CA21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BE2667A-A6E7-8D36-CF5B-017C31D84497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7A8A49B-4315-1B99-7079-88B5329CC5D1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541382F-554C-60B1-DA48-1190969FE149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1012B4A-10FE-A96F-FC9E-EDBA48FB9BB9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242CDEA3-3822-EF6F-8286-DBBA12397349}"/>
                  </a:ext>
                </a:extLst>
              </p:cNvPr>
              <p:cNvCxnSpPr>
                <a:stCxn id="46" idx="6"/>
                <a:endCxn id="47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D00CBB5-EB18-A06E-E938-F37AECEDA3BC}"/>
                  </a:ext>
                </a:extLst>
              </p:cNvPr>
              <p:cNvCxnSpPr>
                <a:cxnSpLocks/>
                <a:stCxn id="47" idx="6"/>
                <a:endCxn id="48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3BA7EFB-F8C0-3D61-60A9-9542D5AE6E38}"/>
                  </a:ext>
                </a:extLst>
              </p:cNvPr>
              <p:cNvCxnSpPr>
                <a:cxnSpLocks/>
                <a:stCxn id="48" idx="4"/>
                <a:endCxn id="50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77D41369-D212-812F-D262-CB2AEB41BFD0}"/>
                  </a:ext>
                </a:extLst>
              </p:cNvPr>
              <p:cNvCxnSpPr>
                <a:cxnSpLocks/>
                <a:stCxn id="47" idx="5"/>
                <a:endCxn id="50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9EAE057-E806-9961-ED93-C7D2CEF26704}"/>
                  </a:ext>
                </a:extLst>
              </p:cNvPr>
              <p:cNvCxnSpPr>
                <a:cxnSpLocks/>
                <a:stCxn id="49" idx="7"/>
                <a:endCxn id="47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912F01D-1195-455E-CA85-85DBCEF3C5FE}"/>
                  </a:ext>
                </a:extLst>
              </p:cNvPr>
              <p:cNvCxnSpPr>
                <a:cxnSpLocks/>
                <a:stCxn id="49" idx="0"/>
                <a:endCxn id="46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F16BA11-4A7E-7377-9FCE-B7EC95D5D1BF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F11219B-320E-3C60-0E8A-877ED45E1736}"/>
                </a:ext>
              </a:extLst>
            </p:cNvPr>
            <p:cNvSpPr txBox="1"/>
            <p:nvPr/>
          </p:nvSpPr>
          <p:spPr>
            <a:xfrm>
              <a:off x="8119250" y="4029783"/>
              <a:ext cx="2972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No (one attempt shown)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748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6D0E4-F115-704F-5741-712308E8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59BC8B-5280-1778-A46F-E7875E839E19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/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Approach: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an instance of Hamiltonian Cycle (HC), construct a graph that has a Hamiltonian Cycle if and only if that graph is </a:t>
                </a:r>
                <a:r>
                  <a:rPr lang="en-US" dirty="0" err="1"/>
                  <a:t>approximatable</a:t>
                </a:r>
                <a:r>
                  <a:rPr lang="en-US" dirty="0"/>
                  <a:t> within a factor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blipFill>
                <a:blip r:embed="rId4"/>
                <a:stretch>
                  <a:fillRect l="-1010" t="-617" r="-1010" b="-432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92FA-850B-C9BC-F546-814D3316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approximatablein</a:t>
                </a:r>
                <a:r>
                  <a:rPr lang="en-US" sz="2800" dirty="0">
                    <a:solidFill>
                      <a:schemeClr val="bg1"/>
                    </a:solidFill>
                  </a:rPr>
                  <a:t>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403425-6C1F-8A4D-1EFC-39A126225160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/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FD5A14E-33AC-C970-6B84-70501F475893}"/>
              </a:ext>
            </a:extLst>
          </p:cNvPr>
          <p:cNvGrpSpPr/>
          <p:nvPr/>
        </p:nvGrpSpPr>
        <p:grpSpPr>
          <a:xfrm>
            <a:off x="1506779" y="237797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FAEBFB-2344-9C1A-8A75-A76D117274F3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AA37996-9601-42D9-A398-B45961F39E83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3A58E1F-D4C8-31E1-74B9-F8F442CC23A7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F586F6C-2864-8144-DDCE-192548F47C50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F24344-523F-80F2-2A3D-28A46330B4A0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C85D093-05CA-9085-7785-8BACF31383DF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43D702-089E-D8D9-7188-24D2F2568E3B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7E4EC8-C8BF-A3BF-949E-12DEDD012A35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6980C9-9707-7D50-F58D-0385160C6EC3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EF601EF-4F51-227B-3D4C-5332AD538897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DC7E901-6812-0235-33C7-9A4BB367C9ED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7D57ECE-2878-3285-29E0-ABB16BFE68EE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7973DEA-DEFD-2506-BD29-93F27F76CAFB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9F693E-23C6-1EC5-E55F-55660A20DA55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778D20D-03D4-D8C7-7403-7D1AD05B3547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B246195-83BE-BBC9-9D0E-B736E37667D3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CDFBA3C-BDD6-73BF-5251-48C46F46E4D2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21B204-0AC9-D548-EAD4-70130602E954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AB6B8F-DAFB-3F4F-542D-ADCD05E64442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63EB94-AEE6-37A4-25A6-25C83F627890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88A3671-7AC3-C472-C5D8-9B8E9AC103E9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CFA8331-1260-2F70-7879-EAE78AC3B92A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728E8B-B01F-2FCC-E547-C176DEA27400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9A6606A4-4CED-A024-CB1E-BD85844DA53D}"/>
              </a:ext>
            </a:extLst>
          </p:cNvPr>
          <p:cNvSpPr txBox="1"/>
          <p:nvPr/>
        </p:nvSpPr>
        <p:spPr>
          <a:xfrm>
            <a:off x="7321426" y="2570397"/>
            <a:ext cx="404214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are given a graph G, for which we want to find a Hamiltonian cycle. Note the answer to this one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/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Our target TSP tour cost is going to be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this means each edge incurred exactly cost 1</a:t>
                </a: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blipFill>
                <a:blip r:embed="rId4"/>
                <a:stretch>
                  <a:fillRect l="-1250" t="-2667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4001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394A-3210-5EDF-F548-74A84093D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2BBE44-C017-3D91-C2BA-3739B02CA3DF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5E897B-3DE8-5FDD-B1E1-D78A638CF549}"/>
              </a:ext>
            </a:extLst>
          </p:cNvPr>
          <p:cNvGrpSpPr/>
          <p:nvPr/>
        </p:nvGrpSpPr>
        <p:grpSpPr>
          <a:xfrm>
            <a:off x="287586" y="242486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FA8FC6-825A-9A6E-0A0D-F7069A125872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31AA0B2-863D-7A2A-532A-2FEC7CC90026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3892278-AC27-80BD-4EFC-64E5F73FA242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490C4E5-6105-F708-52EA-80CC5A4ED805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02CEE6-C0E2-0AD5-4D51-2501CAD3C76F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82248E-A9AB-8332-AB4D-F1D92FB9FED8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DE8BA8-1E58-026A-03C8-198AB43F933E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3A3702D-AD5F-5337-F89B-647F3D85B4A7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589F9CC-8979-20D5-82AF-E83E41990444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E54F33-EC6B-E0BC-1E35-16DB0E5AF7E9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A6A9F78-C947-A4F6-F281-50B412FBDA06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0F8777-0798-2B44-E341-6CE8E945494D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BF35E4-3BC2-685E-A138-308AE029620C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EAA999-00FA-2E6E-7C2A-F85CE615A2CC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FECF80-3C38-5D7F-ABCF-3F5CAC7BCABC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EB69CAC-20E0-32CE-10BE-5D1ED17C82D8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7329C2C-155F-BE47-7D52-F18FC3575A4D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8562BFB-B1AD-EB9D-AE4A-47F9E7A78DBE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D60BD9-0482-2ECD-E9DD-200E20EE22A1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FF63484-803E-A926-5C48-6310A0F82F57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E0BC04F-4330-A007-BAEE-67A9512D4516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D02601-035E-78CE-1D34-A29420F030CC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4534143-91B3-E8E2-D30B-83C5AE93C33E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/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3846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5515520-50F6-7990-D9D9-9B299F41350C}"/>
              </a:ext>
            </a:extLst>
          </p:cNvPr>
          <p:cNvGrpSpPr/>
          <p:nvPr/>
        </p:nvGrpSpPr>
        <p:grpSpPr>
          <a:xfrm>
            <a:off x="6114596" y="2424113"/>
            <a:ext cx="6025604" cy="4057838"/>
            <a:chOff x="6114596" y="2424113"/>
            <a:chExt cx="6025604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B460D24-7BC8-9D4B-E52D-0F882CF41D1C}"/>
                </a:ext>
              </a:extLst>
            </p:cNvPr>
            <p:cNvSpPr/>
            <p:nvPr/>
          </p:nvSpPr>
          <p:spPr>
            <a:xfrm>
              <a:off x="6114596" y="2424113"/>
              <a:ext cx="5947533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02D164-2F0A-7CE6-96BD-EA9769B7DE64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704A0E-F6F3-B91F-B42D-16DC250FC6A7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149E110-4DAA-A3E2-0943-6DA78876A3C3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CACAEB7-BE0B-CFED-D057-EBEF70548447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FC6605C-0300-61A6-D6EE-7F1F8726D9B8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A0FCD61-F330-F774-3433-EC861E0B9210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A55F818-3139-B8C8-3301-F722F7C5612E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5E04567-6350-2C55-E9C6-C7662C446BB3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9ABE931-FB9E-ED67-7E5C-120A2BEB95A3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99B9A47-E7FB-E4C9-2411-82B142D17D7A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150287E-1D9C-C4DB-DA06-9063E4F51688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E11AF9-9821-36A9-E134-6C9F8BD5AD58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D1DBF31-7FE9-35D6-AF6D-B629E800C31E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56A3743-0750-2029-E55D-8295FFF43D7F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2462B01-EEC9-5389-71DE-1EB2DC52CEC5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256417E-B714-14E3-A546-3689450614E2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DA5D45F-ED37-ABBC-A9F1-D73F05B1CE7A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34F9FE9-5825-74A4-CBE0-6764E3948B3E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3C9E17-6DD4-1811-985C-FE4F83C6297E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556EA0-4C58-2DAD-E382-373BB7D4DA2E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555526F-6580-C131-839D-A94C5EBA94D4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1CE3FAE-D0BB-8360-4D47-39FC12895E4F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5BCB032E-551E-48A8-4BD4-77D1327FC29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379680C-9892-ECAA-2A2D-90A71CEC9A9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E86E918-08CC-B6E6-D444-F1D906D39719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1227D43-7EA0-8CDB-93FC-F68321E620E1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4E9682A-1EA2-2361-9C47-7A7122B996D6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E148AA3-3298-255E-FF5A-995C890F8D71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11650E-1E60-A102-AE23-CEC04EC13FFE}"/>
                </a:ext>
              </a:extLst>
            </p:cNvPr>
            <p:cNvSpPr txBox="1"/>
            <p:nvPr/>
          </p:nvSpPr>
          <p:spPr>
            <a:xfrm>
              <a:off x="6145827" y="5481983"/>
              <a:ext cx="142958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u="sng" dirty="0"/>
                <a:t>Note</a:t>
              </a:r>
              <a:r>
                <a:rPr lang="en-US" sz="1400" i="1" dirty="0"/>
                <a:t>: Not drawing all missing edges for space reasons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5E54F51-F768-A080-3139-2DDD33895BDD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9B3BAB-2EA9-702D-3DE4-63B340025CE9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4BA774-CE38-7A21-7FAA-014332ABC6AC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F44C41C-A290-9C99-5FD4-25383BB1C21C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C3A1294-5EF9-7B11-A37E-7BAA476351E4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B561F3D-AC2D-0A3C-5ACD-2CC112DF7480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DC64FB-EDEE-1F4E-E83C-8EEA565EFBB0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F57A027-67FA-45EF-7F3E-7AD99CF457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17F5623-5ACB-3B66-0722-BBBA0B21FE49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6EA747C-6E3D-157F-68F2-4901ADB12EF2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2140D0E-2875-41C2-2E86-C8738EF9C161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0F3DD62-4A7A-B5B4-A62A-52FF51FF7483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/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Convert the graph into an instance of TSP as shown here. For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each edge, add cost of 1</a:t>
                </a:r>
                <a:r>
                  <a:rPr lang="en-US" dirty="0"/>
                  <a:t>, for each </a:t>
                </a:r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missing edge, add cost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blipFill>
                <a:blip r:embed="rId10"/>
                <a:stretch>
                  <a:fillRect l="-781" t="-2667" r="-1563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785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DE81-2E9F-2948-5169-4E611A2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4057EBD7-DC76-FE00-20A7-60C98DA82026}"/>
              </a:ext>
            </a:extLst>
          </p:cNvPr>
          <p:cNvSpPr/>
          <p:nvPr/>
        </p:nvSpPr>
        <p:spPr>
          <a:xfrm>
            <a:off x="9183637" y="4270688"/>
            <a:ext cx="2768495" cy="1581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/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27A8A4-C37B-57F0-494C-7BF3198090FF}"/>
              </a:ext>
            </a:extLst>
          </p:cNvPr>
          <p:cNvCxnSpPr>
            <a:cxnSpLocks/>
          </p:cNvCxnSpPr>
          <p:nvPr/>
        </p:nvCxnSpPr>
        <p:spPr>
          <a:xfrm>
            <a:off x="890954" y="1161233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/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2308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D609AA2-012B-B027-900C-63D547CB646F}"/>
              </a:ext>
            </a:extLst>
          </p:cNvPr>
          <p:cNvGrpSpPr/>
          <p:nvPr/>
        </p:nvGrpSpPr>
        <p:grpSpPr>
          <a:xfrm>
            <a:off x="182882" y="2162093"/>
            <a:ext cx="5810960" cy="4057838"/>
            <a:chOff x="6329240" y="2424113"/>
            <a:chExt cx="5810960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C3600FD-C100-3EDC-C3AD-9C5EBB9E9370}"/>
                </a:ext>
              </a:extLst>
            </p:cNvPr>
            <p:cNvSpPr/>
            <p:nvPr/>
          </p:nvSpPr>
          <p:spPr>
            <a:xfrm>
              <a:off x="6329240" y="2424113"/>
              <a:ext cx="5732889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81DFF2F-EBFA-F17C-59D6-CA87F9C940A5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534E449-F324-0888-2161-812C5CAB55D5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098370F-318C-1F79-AFD0-2A726B38465C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F995C5E-19FF-071A-5D70-1F662A0F6FB3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109848A-FBE2-A8DB-ACB7-0FC7B66A8A41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85801C3-74B6-5833-9F4D-B074AD86E227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D6CBD14-2805-1CE9-3851-284B8C2F5FD4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0F8CF67-8C59-E2C7-78A5-FC314BE81090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35A3A22-5574-F3BD-8D3D-AA681886D232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7076B30-E6C9-8459-ABE0-6565B1F75504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C9AD7AA-D171-2E92-9E26-E346F278F567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95F1469-5A39-77F2-AA64-B91D71952D27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CFE6DFF-C4AF-7BF9-BE24-7CC9869B16E8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96E503E-DDAD-ABAF-1330-969226503FC5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4DCEAC5-CC46-8959-CBFF-568ED2B55A69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481EC42-FD46-C9C4-DF52-0AA8ECD883C4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710D2B-4499-7607-655F-AE614CAF1C8C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89E2DF6-7801-9197-D56B-3BF9F7CDF0B0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FA2CBED-F9B2-734E-5CC1-F3DD80C14CBD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DDC56D6-09E4-628D-4624-91CCDEC54F6F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7511E6C-A8A5-D16C-79E1-DAB45AC7C99D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A121892-3E0F-F91D-624D-6CCE3CDE8E01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FB45B0B-72D9-863E-2885-7E72290D4C1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05B5533-20B4-D63F-73ED-48C15D3BCC4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29152AD-CFB3-24E9-8ACB-F0D12C5A3F8A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3D65E9C-AE8C-2779-AFB8-F51C8414B308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38A801-6AE6-FBCD-D87C-C417D22B3A5D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E911F66-EF32-427B-704A-F027A792F079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ED14BFB-95B2-6941-D88C-519B1E24FE41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D7D94EA-A77B-F61D-523F-22A9D5AEA9D8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9E3B3-4434-761F-C536-99217A83BD4E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EFFA444-5D85-EDE3-2DD0-3CA5607E21E7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34ED1C-74FA-24DB-F496-B34B1342AE82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909EC6D-7EF3-B2F9-BECF-CBA75BC56C6B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7C48AD5-C185-DEB7-3A6D-B270C5961F4A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A3BF4DF-87E1-78F7-E852-F86E261C51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BC7914F-2DC9-5D51-E179-9337E0EB8103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24FD4C0-8353-F75E-88C7-40253CD7CC2E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AF0D301-8848-B798-FA64-F9A131811486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26CD235-BBFD-C994-2E10-80A6358F423E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/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new graph has two possible optimal TSP tours: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		if original graph has a HC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	if original graph has no HC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blipFill>
                <a:blip r:embed="rId9"/>
                <a:stretch>
                  <a:fillRect l="-1111" t="-1695" b="-5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>
            <a:extLst>
              <a:ext uri="{FF2B5EF4-FFF2-40B4-BE49-F238E27FC236}">
                <a16:creationId xmlns:a16="http://schemas.microsoft.com/office/drawing/2014/main" id="{B8C53353-BD66-1E48-A316-001661454C53}"/>
              </a:ext>
            </a:extLst>
          </p:cNvPr>
          <p:cNvSpPr/>
          <p:nvPr/>
        </p:nvSpPr>
        <p:spPr>
          <a:xfrm>
            <a:off x="6480313" y="4271779"/>
            <a:ext cx="1278231" cy="1571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5C72678-FB6C-7374-C3B8-5C90178595D8}"/>
              </a:ext>
            </a:extLst>
          </p:cNvPr>
          <p:cNvSpPr/>
          <p:nvPr/>
        </p:nvSpPr>
        <p:spPr>
          <a:xfrm>
            <a:off x="7765056" y="4270687"/>
            <a:ext cx="1418697" cy="1581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6D970BD-E7B4-2385-86B3-E1A5C0364132}"/>
              </a:ext>
            </a:extLst>
          </p:cNvPr>
          <p:cNvCxnSpPr/>
          <p:nvPr/>
        </p:nvCxnSpPr>
        <p:spPr>
          <a:xfrm>
            <a:off x="6480313" y="4086972"/>
            <a:ext cx="0" cy="5430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1DF9E89-A1E1-612A-CD9B-FA28CE4148D5}"/>
              </a:ext>
            </a:extLst>
          </p:cNvPr>
          <p:cNvCxnSpPr/>
          <p:nvPr/>
        </p:nvCxnSpPr>
        <p:spPr>
          <a:xfrm>
            <a:off x="7761799" y="4104309"/>
            <a:ext cx="0" cy="543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E3259EB-F60F-3384-D3AE-E27E03AA6DE6}"/>
              </a:ext>
            </a:extLst>
          </p:cNvPr>
          <p:cNvCxnSpPr/>
          <p:nvPr/>
        </p:nvCxnSpPr>
        <p:spPr>
          <a:xfrm>
            <a:off x="9185000" y="4104308"/>
            <a:ext cx="0" cy="54304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4DD205F-8BC7-E194-A171-9F91CB702DEC}"/>
              </a:ext>
            </a:extLst>
          </p:cNvPr>
          <p:cNvSpPr txBox="1"/>
          <p:nvPr/>
        </p:nvSpPr>
        <p:spPr>
          <a:xfrm>
            <a:off x="6321287" y="374583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96511F8-1E65-92DA-A616-3852DBA4C7D3}"/>
              </a:ext>
            </a:extLst>
          </p:cNvPr>
          <p:cNvSpPr txBox="1"/>
          <p:nvPr/>
        </p:nvSpPr>
        <p:spPr>
          <a:xfrm>
            <a:off x="7604876" y="373911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4C0ED6-354C-C023-B7C9-04CEB9063947}"/>
              </a:ext>
            </a:extLst>
          </p:cNvPr>
          <p:cNvCxnSpPr/>
          <p:nvPr/>
        </p:nvCxnSpPr>
        <p:spPr>
          <a:xfrm flipV="1">
            <a:off x="6989197" y="4558025"/>
            <a:ext cx="174928" cy="11616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2D0D115-8916-DEAA-2A60-76C169E88E60}"/>
              </a:ext>
            </a:extLst>
          </p:cNvPr>
          <p:cNvSpPr txBox="1"/>
          <p:nvPr/>
        </p:nvSpPr>
        <p:spPr>
          <a:xfrm>
            <a:off x="6321287" y="5843478"/>
            <a:ext cx="1475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The optimal solution CANNOT be in this range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E9EAA17-E9D1-7EF4-9443-232F2C042526}"/>
              </a:ext>
            </a:extLst>
          </p:cNvPr>
          <p:cNvCxnSpPr/>
          <p:nvPr/>
        </p:nvCxnSpPr>
        <p:spPr>
          <a:xfrm>
            <a:off x="11945430" y="4104308"/>
            <a:ext cx="0" cy="54304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/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ρ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7439F15-1592-866A-A602-A154B8C90F47}"/>
              </a:ext>
            </a:extLst>
          </p:cNvPr>
          <p:cNvCxnSpPr>
            <a:cxnSpLocks/>
          </p:cNvCxnSpPr>
          <p:nvPr/>
        </p:nvCxnSpPr>
        <p:spPr>
          <a:xfrm flipH="1" flipV="1">
            <a:off x="8526550" y="4555359"/>
            <a:ext cx="60775" cy="918787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6DA64A31-BE9F-CA36-483D-D6368CCB11B0}"/>
              </a:ext>
            </a:extLst>
          </p:cNvPr>
          <p:cNvSpPr txBox="1"/>
          <p:nvPr/>
        </p:nvSpPr>
        <p:spPr>
          <a:xfrm>
            <a:off x="7955358" y="5425056"/>
            <a:ext cx="16577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our approximation is anywhere in this range, then original graph has a HC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D59C3D-E565-D3D3-BBF0-BD519B3A2D2D}"/>
              </a:ext>
            </a:extLst>
          </p:cNvPr>
          <p:cNvSpPr txBox="1"/>
          <p:nvPr/>
        </p:nvSpPr>
        <p:spPr>
          <a:xfrm>
            <a:off x="9836768" y="5329506"/>
            <a:ext cx="16577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our approximation is anywhere in this range, then original graph does NOT have an HC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D38181-6773-45BA-EB09-D17723B21A99}"/>
              </a:ext>
            </a:extLst>
          </p:cNvPr>
          <p:cNvCxnSpPr>
            <a:cxnSpLocks/>
          </p:cNvCxnSpPr>
          <p:nvPr/>
        </p:nvCxnSpPr>
        <p:spPr>
          <a:xfrm flipH="1" flipV="1">
            <a:off x="10511624" y="4555359"/>
            <a:ext cx="121097" cy="674625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/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blipFill>
                <a:blip r:embed="rId11"/>
                <a:stretch>
                  <a:fillRect l="-2410" t="-4545" r="-1205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442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3C30-23C4-26BA-C786-B82C1234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Proven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approximatable</a:t>
                </a:r>
                <a:r>
                  <a:rPr lang="en-US" sz="2800" dirty="0">
                    <a:solidFill>
                      <a:schemeClr val="bg1"/>
                    </a:solidFill>
                  </a:rPr>
                  <a:t> in polynomial time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17EE1DF-B74D-1B98-DC6E-B36CE6669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236410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Set Cover</a:t>
            </a:r>
          </a:p>
        </p:txBody>
      </p:sp>
    </p:spTree>
    <p:extLst>
      <p:ext uri="{BB962C8B-B14F-4D97-AF65-F5344CB8AC3E}">
        <p14:creationId xmlns:p14="http://schemas.microsoft.com/office/powerpoint/2010/main" val="837661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12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825258" y="1303275"/>
            <a:ext cx="4732758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 Cover Problem Statement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D4DE29E-3BC3-C148-957F-F7A1501580D2}"/>
              </a:ext>
            </a:extLst>
          </p:cNvPr>
          <p:cNvGrpSpPr/>
          <p:nvPr/>
        </p:nvGrpSpPr>
        <p:grpSpPr>
          <a:xfrm>
            <a:off x="488022" y="845205"/>
            <a:ext cx="6170674" cy="5801121"/>
            <a:chOff x="488022" y="845205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488022" y="84520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820266" y="105273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877824" y="128420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1490472" y="1672607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2752344" y="243155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844888" y="482828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1221316" y="115941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4686892" y="113449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/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u="sng" dirty="0">
                    <a:solidFill>
                      <a:schemeClr val="bg1"/>
                    </a:solidFill>
                  </a:rPr>
                  <a:t>INPUT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(black nodes in image)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family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of subsets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|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said to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cover</a:t>
                </a:r>
                <a:r>
                  <a:rPr lang="en-US" dirty="0">
                    <a:solidFill>
                      <a:schemeClr val="bg1"/>
                    </a:solidFill>
                  </a:rPr>
                  <a:t> its elements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i="1" u="sng" dirty="0">
                    <a:solidFill>
                      <a:schemeClr val="bg1"/>
                    </a:solidFill>
                  </a:rPr>
                  <a:t>OUTPUT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Minimum size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such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blipFill>
                <a:blip r:embed="rId8"/>
                <a:stretch>
                  <a:fillRect l="-1070" t="-433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96B3F65-419C-C245-9211-ECAC2DD443DC}"/>
              </a:ext>
            </a:extLst>
          </p:cNvPr>
          <p:cNvSpPr txBox="1"/>
          <p:nvPr/>
        </p:nvSpPr>
        <p:spPr>
          <a:xfrm>
            <a:off x="8595359" y="5815329"/>
            <a:ext cx="261147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In other words, find the smallest group of subsets that include all the elements.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/>
          <p:nvPr/>
        </p:nvCxnSpPr>
        <p:spPr>
          <a:xfrm flipH="1" flipV="1">
            <a:off x="8741664" y="5006755"/>
            <a:ext cx="449973" cy="71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165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7736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FC8F05-1A09-5C4B-B38E-6C0C004039E4}"/>
              </a:ext>
            </a:extLst>
          </p:cNvPr>
          <p:cNvGrpSpPr/>
          <p:nvPr/>
        </p:nvGrpSpPr>
        <p:grpSpPr>
          <a:xfrm>
            <a:off x="1649310" y="842630"/>
            <a:ext cx="6170674" cy="5801121"/>
            <a:chOff x="1649310" y="842630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1649310" y="842630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1981554" y="1050156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2039112" y="1281629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2651760" y="1670032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3913632" y="2428984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2006176" y="4825709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2382604" y="11568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5848180" y="113192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/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i="1" dirty="0"/>
                  <a:t>Minimum cover is called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, for this case,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 is shown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blipFill>
                <a:blip r:embed="rId8"/>
                <a:stretch>
                  <a:fillRect t="-2469" r="-4525" b="-98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>
            <a:cxnSpLocks/>
          </p:cNvCxnSpPr>
          <p:nvPr/>
        </p:nvCxnSpPr>
        <p:spPr>
          <a:xfrm flipH="1">
            <a:off x="8078607" y="2428983"/>
            <a:ext cx="1220841" cy="1884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EFBF42-876E-1E4B-84A3-0216E0742DA9}"/>
              </a:ext>
            </a:extLst>
          </p:cNvPr>
          <p:cNvSpPr txBox="1"/>
          <p:nvPr/>
        </p:nvSpPr>
        <p:spPr>
          <a:xfrm>
            <a:off x="8842247" y="4478850"/>
            <a:ext cx="254858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Set Cover is also NP-Hard, by the way.</a:t>
            </a:r>
          </a:p>
        </p:txBody>
      </p:sp>
    </p:spTree>
    <p:extLst>
      <p:ext uri="{BB962C8B-B14F-4D97-AF65-F5344CB8AC3E}">
        <p14:creationId xmlns:p14="http://schemas.microsoft.com/office/powerpoint/2010/main" val="118550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740361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4557942" y="1717825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1111" t="-1093" b="-103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3CAD0F-7FB4-D34F-AE16-322FF57518FC}"/>
              </a:ext>
            </a:extLst>
          </p:cNvPr>
          <p:cNvSpPr txBox="1"/>
          <p:nvPr/>
        </p:nvSpPr>
        <p:spPr>
          <a:xfrm>
            <a:off x="2000948" y="5441146"/>
            <a:ext cx="217627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What is the runtime of this method?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64A80A-50B4-A746-AA76-787F533F1207}"/>
              </a:ext>
            </a:extLst>
          </p:cNvPr>
          <p:cNvCxnSpPr>
            <a:cxnSpLocks/>
          </p:cNvCxnSpPr>
          <p:nvPr/>
        </p:nvCxnSpPr>
        <p:spPr>
          <a:xfrm flipV="1">
            <a:off x="3843992" y="463556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CF307B-7D88-7644-8812-0E660BD928DB}"/>
              </a:ext>
            </a:extLst>
          </p:cNvPr>
          <p:cNvSpPr txBox="1"/>
          <p:nvPr/>
        </p:nvSpPr>
        <p:spPr>
          <a:xfrm>
            <a:off x="5500052" y="4537687"/>
            <a:ext cx="57745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… in other words, always select the subset that adds the most new (currently uncovered) elements to the cover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6FCA9-5546-CC4B-AAFE-98DA4FAD0580}"/>
              </a:ext>
            </a:extLst>
          </p:cNvPr>
          <p:cNvSpPr txBox="1"/>
          <p:nvPr/>
        </p:nvSpPr>
        <p:spPr>
          <a:xfrm>
            <a:off x="315404" y="2874345"/>
            <a:ext cx="2464372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How good of a cover will this produce? Any “gut” reactions?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CA7B4-AC04-7E47-B380-4C06D157EC01}"/>
              </a:ext>
            </a:extLst>
          </p:cNvPr>
          <p:cNvCxnSpPr>
            <a:cxnSpLocks/>
          </p:cNvCxnSpPr>
          <p:nvPr/>
        </p:nvCxnSpPr>
        <p:spPr>
          <a:xfrm flipV="1">
            <a:off x="2779776" y="3277136"/>
            <a:ext cx="1563624" cy="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98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7365150" y="1050313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831" t="-1087" b="-97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0D3A41-F342-1A47-986A-5FFE606F2979}"/>
              </a:ext>
            </a:extLst>
          </p:cNvPr>
          <p:cNvGrpSpPr/>
          <p:nvPr/>
        </p:nvGrpSpPr>
        <p:grpSpPr>
          <a:xfrm>
            <a:off x="80806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0C3EC4E-293D-FC4B-88E5-FC8513A2D42F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59B86D1-8F77-E846-8E11-5D441540D030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C421902-B091-C043-BC00-62C35A65BE5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1D103D7-976A-C647-A872-A4AFB5FAB4E6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44B1FE5-2868-6642-884D-91C2BB546C74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2D237C8-82F7-9147-9171-2623F1BD64BF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D0122B6-8758-C341-BF10-18562A166F24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543C0C1-643B-A343-BA33-CFCD6D13369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5F02FD9-2DD5-B243-A97C-9BBDF0415180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CF703AE-9E77-8445-829B-88A452E62409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32709B-827B-4545-9968-422845F94457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D7195CE-9C0B-B84C-BF93-CB503391CF9B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Execution on test case gives: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2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 first (adds six nodes to cover)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1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next (adds three nodes to cover)</a:t>
                </a:r>
                <a:br>
                  <a:rPr lang="en-US" dirty="0">
                    <a:solidFill>
                      <a:schemeClr val="accent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3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next (adds two nodes to cover)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5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last (adds one node to cover)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blipFill>
                <a:blip r:embed="rId9"/>
                <a:stretch>
                  <a:fillRect l="-831" t="-847" b="-423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/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7407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H() is a harmonic number (see next slide)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588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64705"/>
          </a:xfrm>
        </p:spPr>
        <p:txBody>
          <a:bodyPr/>
          <a:lstStyle/>
          <a:p>
            <a:pPr algn="ctr"/>
            <a:r>
              <a:rPr lang="en-US" dirty="0"/>
              <a:t>Aside: Harmonic Numbers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646592" y="5905832"/>
            <a:ext cx="584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Harmonic number (x-axis) and value of summation </a:t>
            </a:r>
            <a:r>
              <a:rPr lang="en-US" i="1" dirty="0" err="1"/>
              <a:t>H_d</a:t>
            </a:r>
            <a:r>
              <a:rPr lang="en-US" i="1" dirty="0"/>
              <a:t> (y-axis).  **source = Wikipedia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/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blipFill>
                <a:blip r:embed="rId2"/>
                <a:stretch>
                  <a:fillRect t="-91549" b="-1436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910C21-BD29-764E-929D-F7D1AE136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592" y="1131570"/>
            <a:ext cx="5843588" cy="46748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B472F2-1AD0-E94B-A995-B8683A9E1D27}"/>
              </a:ext>
            </a:extLst>
          </p:cNvPr>
          <p:cNvSpPr txBox="1"/>
          <p:nvPr/>
        </p:nvSpPr>
        <p:spPr>
          <a:xfrm>
            <a:off x="793835" y="1445288"/>
            <a:ext cx="460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Harmonic Number: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EF4241-3F07-FE45-877F-C09BAFFF4BA8}"/>
              </a:ext>
            </a:extLst>
          </p:cNvPr>
          <p:cNvSpPr txBox="1"/>
          <p:nvPr/>
        </p:nvSpPr>
        <p:spPr>
          <a:xfrm>
            <a:off x="1530796" y="2901791"/>
            <a:ext cx="3132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Why? Well set cover algorithm seems to have a similar pattern. You keep adding a percentage of nodes that are left on each iteration.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/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Note that it is established that:</a:t>
                </a:r>
              </a:p>
              <a:p>
                <a:pPr algn="ctr"/>
                <a:endParaRPr lang="en-US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blipFill>
                <a:blip r:embed="rId4"/>
                <a:stretch>
                  <a:fillRect t="-2703" b="-270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5965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951474" y="1432577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Consider the following 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⋃"/>
                              <m:subHide m:val="on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⋃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…</m:t>
                                  </m:r>
                                  <m:nary>
                                    <m:naryPr>
                                      <m:chr m:val="⋃"/>
                                      <m:subHide m:val="on"/>
                                      <m:supHide m:val="on"/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/>
                                    <m:sup/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blipFill>
                <a:blip r:embed="rId2"/>
                <a:stretch>
                  <a:fillRect t="-5556" b="-7592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blipFill>
                <a:blip r:embed="rId21"/>
                <a:stretch>
                  <a:fillRect l="-83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95FEA050-807E-2C45-9C4E-F1E5BA822A81}"/>
              </a:ext>
            </a:extLst>
          </p:cNvPr>
          <p:cNvSpPr txBox="1"/>
          <p:nvPr/>
        </p:nvSpPr>
        <p:spPr>
          <a:xfrm>
            <a:off x="6951474" y="2732993"/>
            <a:ext cx="455426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set we add to the solution adds a cost of 1, but spread cost out among elements added. Each element has exactly ONE cost.</a:t>
            </a:r>
          </a:p>
        </p:txBody>
      </p:sp>
    </p:spTree>
    <p:extLst>
      <p:ext uri="{BB962C8B-B14F-4D97-AF65-F5344CB8AC3E}">
        <p14:creationId xmlns:p14="http://schemas.microsoft.com/office/powerpoint/2010/main" val="22735371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blipFill>
                <a:blip r:embed="rId20"/>
                <a:stretch>
                  <a:fillRect l="-111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A7B7B2FE-698A-064F-8077-A24B96DAA922}"/>
              </a:ext>
            </a:extLst>
          </p:cNvPr>
          <p:cNvSpPr txBox="1"/>
          <p:nvPr/>
        </p:nvSpPr>
        <p:spPr>
          <a:xfrm>
            <a:off x="6766298" y="3477024"/>
            <a:ext cx="2457712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/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blipFill>
                <a:blip r:embed="rId21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4CA3A46-9EBF-2041-AC6B-952E8591E954}"/>
              </a:ext>
            </a:extLst>
          </p:cNvPr>
          <p:cNvSpPr txBox="1"/>
          <p:nvPr/>
        </p:nvSpPr>
        <p:spPr>
          <a:xfrm>
            <a:off x="9307568" y="3958607"/>
            <a:ext cx="272822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Sum of costs equals total cost. In this case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blipFill>
                <a:blip r:embed="rId22"/>
                <a:stretch>
                  <a:fillRect l="-25943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9532620" y="4764939"/>
            <a:ext cx="2423160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Because left side duplicates some costs that right side does not</a:t>
            </a:r>
          </a:p>
        </p:txBody>
      </p:sp>
    </p:spTree>
    <p:extLst>
      <p:ext uri="{BB962C8B-B14F-4D97-AF65-F5344CB8AC3E}">
        <p14:creationId xmlns:p14="http://schemas.microsoft.com/office/powerpoint/2010/main" val="16885414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4B3D50-84B5-7F4D-A188-2337A0CD61F4}"/>
              </a:ext>
            </a:extLst>
          </p:cNvPr>
          <p:cNvSpPr/>
          <p:nvPr/>
        </p:nvSpPr>
        <p:spPr>
          <a:xfrm>
            <a:off x="2606040" y="3383280"/>
            <a:ext cx="8321040" cy="3054096"/>
          </a:xfrm>
          <a:prstGeom prst="roundRect">
            <a:avLst/>
          </a:prstGeom>
          <a:noFill/>
          <a:ln w="28575"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blipFill>
                <a:blip r:embed="rId2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1705356" y="1238319"/>
            <a:ext cx="3039054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blipFill>
                <a:blip r:embed="rId3"/>
                <a:stretch>
                  <a:fillRect l="-14796" t="-119355" b="-1661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6580266" y="3852551"/>
            <a:ext cx="40816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Accept as true for now, will argue why in a moment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/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blipFill>
                <a:blip r:embed="rId4"/>
                <a:stretch>
                  <a:fillRect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01F3348A-5029-1248-B11A-FF40274FA502}"/>
              </a:ext>
            </a:extLst>
          </p:cNvPr>
          <p:cNvSpPr txBox="1"/>
          <p:nvPr/>
        </p:nvSpPr>
        <p:spPr>
          <a:xfrm>
            <a:off x="6589410" y="4837055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…………………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/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4CAAFDE-7D43-4946-9F67-4BF8784B7789}"/>
              </a:ext>
            </a:extLst>
          </p:cNvPr>
          <p:cNvSpPr txBox="1"/>
          <p:nvPr/>
        </p:nvSpPr>
        <p:spPr>
          <a:xfrm>
            <a:off x="6598554" y="5655181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Q.E.D. if inequality assumed above is true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FEE75D-78AA-5043-868D-657AF20F916C}"/>
              </a:ext>
            </a:extLst>
          </p:cNvPr>
          <p:cNvCxnSpPr/>
          <p:nvPr/>
        </p:nvCxnSpPr>
        <p:spPr>
          <a:xfrm>
            <a:off x="813816" y="2907792"/>
            <a:ext cx="11000232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43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733742" y="1737665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First, suppose that there is a set S with size |S| and algorithm adds all nodes from S “at once”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D5086A-7FE4-5944-AB86-8BE67D4AF46B}"/>
              </a:ext>
            </a:extLst>
          </p:cNvPr>
          <p:cNvGrpSpPr/>
          <p:nvPr/>
        </p:nvGrpSpPr>
        <p:grpSpPr>
          <a:xfrm>
            <a:off x="1309094" y="4136005"/>
            <a:ext cx="9781172" cy="802261"/>
            <a:chOff x="1309094" y="4136005"/>
            <a:chExt cx="9781172" cy="80226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9065A1-5DD2-AC40-A7DE-D94FFD7D6665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2261"/>
              <a:chOff x="1309094" y="4374542"/>
              <a:chExt cx="9781172" cy="80226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3769EA12-4B20-144E-ADB9-99B52D294968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725BEA7F-AC89-C146-8C86-A344EDD536F3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AC67504-E048-9D45-AE6C-C91D37551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2F062B1-3E5F-9740-B2E7-92AE875B55AF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37D76A-9334-E749-A203-4F3E40936E5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27D2504-6A43-4B45-99CD-C3E3524B6771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8BB17F97-E8B9-7949-BF18-62D698104EDD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BA4426E8-E08F-6841-AE6D-164A288812DC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BC53B0-7893-A648-90BC-30443D12BF45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974" y="4276101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3B718AF-5A69-BB4C-9869-BBFB7E77D89B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CC12A0-CC12-5F40-A11E-68300F368099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16B248-DD57-FC47-A30D-F6BA6C7040F5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DF81F8D-3391-A748-95D0-27661F4DAC3E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D0FAC73-C889-B44B-9A82-23F468768468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81AF4F6-2BB8-B446-A9C7-5BA9838E5561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4B17D2E-3FA3-C44F-9FAF-F76721D87C7E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DBF75C9-777C-014B-B6CB-BA8F4BCA04C5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008F556-A53D-3E44-990C-ACFCFA627DCE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6378673-61FD-6F42-95CA-822AEEE84FC4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DFCB85E-366A-9242-AE32-3CFD4304E1A7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3A0BAB8D-07B4-9444-8077-7B6AE014D1FE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3B1C742-7A8F-4947-8E0F-5EFB578D91BD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71F50DE-C1E0-5C45-853B-DB0A24460667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CF2D48F-A6F8-DB42-960C-67AB95DC1B9A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96EF4155-8158-FE4E-BB57-93491A726726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92714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one node gets added in the previous ”round” and S gets added next.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5C02736-A721-AE42-A447-7EEB6346D37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5EB50F01-271E-6B4A-851A-F22FD32992CB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3924325E-64D1-024D-BD49-30A3F904C484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6998FBC3-6CD8-3F4F-9380-8C45A1C20974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97600F93-B690-D542-B95B-69E6E475B277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4143D8A-C314-9848-BB5C-0BCCC6B2D428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73EE5171-8F85-2B4F-BEF9-454B32EC6BBD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40E8793B-0FA4-4F43-A13B-D672AF90038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5C668C3C-54DD-794E-B16D-C109A824A13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80C1E4A9-63D9-E649-91B0-D6703F527640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B0E6FD02-A840-5242-9510-2C6AA6A6FDED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EA54376D-79A3-494E-8B80-715343AB6442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04C1DFC6-88AB-DB41-AD8F-F9C3A1F83733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46493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S is added “third”, OR after two nodes already added.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3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35734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Logic continues. What if last node is added by itself…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−3+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−2+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5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20421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Thus, it is proven!!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2852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618509" y="1805152"/>
            <a:ext cx="8198632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Basic Approximations:</a:t>
            </a:r>
          </a:p>
          <a:p>
            <a:pPr lvl="1"/>
            <a:r>
              <a:rPr lang="en-US" sz="1600" dirty="0"/>
              <a:t>Are very fast (often greedy) algorithms. Algorithm / implementation not difficult.</a:t>
            </a:r>
          </a:p>
          <a:p>
            <a:pPr lvl="1"/>
            <a:r>
              <a:rPr lang="en-US" sz="1600" dirty="0"/>
              <a:t>Analysis to figure out “how good” approximation is often much harder</a:t>
            </a:r>
          </a:p>
          <a:p>
            <a:pPr lvl="1"/>
            <a:r>
              <a:rPr lang="en-US" sz="1600" dirty="0"/>
              <a:t>We only scratched the surface in this slide deck.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br>
              <a:rPr lang="en-US" sz="20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42287</TotalTime>
  <Words>5030</Words>
  <Application>Microsoft Macintosh PowerPoint</Application>
  <PresentationFormat>Widescreen</PresentationFormat>
  <Paragraphs>1022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Cambria Math</vt:lpstr>
      <vt:lpstr>Courier New</vt:lpstr>
      <vt:lpstr>Tw Cen MT</vt:lpstr>
      <vt:lpstr>Circuit</vt:lpstr>
      <vt:lpstr>Approximation Algorithms</vt:lpstr>
      <vt:lpstr>Advanced Tree Structures</vt:lpstr>
      <vt:lpstr>Introduction: Approximation</vt:lpstr>
      <vt:lpstr>Approximation Ratios</vt:lpstr>
      <vt:lpstr>Some Definitions</vt:lpstr>
      <vt:lpstr>Vertex-Cover</vt:lpstr>
      <vt:lpstr>Recall Vertex-Cover</vt:lpstr>
      <vt:lpstr>Proposed Algorithm for Vertex-Cover</vt:lpstr>
      <vt:lpstr>Sample Execution</vt:lpstr>
      <vt:lpstr>Sample Execution</vt:lpstr>
      <vt:lpstr>Sample Execution</vt:lpstr>
      <vt:lpstr>Approx-Vert-Cover: Analysis</vt:lpstr>
      <vt:lpstr>Approx-Vert-Cover: Analysis</vt:lpstr>
      <vt:lpstr>Approx-Vert-Cover: Analysis</vt:lpstr>
      <vt:lpstr>Traveling Salesperson</vt:lpstr>
      <vt:lpstr>Recall Traveling SalesPerson Problem</vt:lpstr>
      <vt:lpstr>Recall Traveling SalesPerson Problem</vt:lpstr>
      <vt:lpstr>Approximation for TSP</vt:lpstr>
      <vt:lpstr>Approximation for TSP</vt:lpstr>
      <vt:lpstr>Approximation for TSP</vt:lpstr>
      <vt:lpstr>Approximation for TSP</vt:lpstr>
      <vt:lpstr>Approximation for TSP</vt:lpstr>
      <vt:lpstr>Approximation for TSP: Analysis</vt:lpstr>
      <vt:lpstr>Approximation for TSP: Analysis</vt:lpstr>
      <vt:lpstr>Approximation for TSP: Analysis</vt:lpstr>
      <vt:lpstr>Improving The Traveling Salesperson Bound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Traveling-Salesperson Problem</vt:lpstr>
      <vt:lpstr>Approximating the General TSP</vt:lpstr>
      <vt:lpstr>Approximating the General TSP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TSP</vt:lpstr>
      <vt:lpstr>Set Cover</vt:lpstr>
      <vt:lpstr>Set Cover Problem</vt:lpstr>
      <vt:lpstr>Set Cover Problem</vt:lpstr>
      <vt:lpstr>Approximating Set Cover</vt:lpstr>
      <vt:lpstr>Approximating Set Cover</vt:lpstr>
      <vt:lpstr>Analysis</vt:lpstr>
      <vt:lpstr>Aside: Harmonic Numbers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294</cp:revision>
  <dcterms:created xsi:type="dcterms:W3CDTF">2023-02-24T14:15:53Z</dcterms:created>
  <dcterms:modified xsi:type="dcterms:W3CDTF">2026-03-31T14:20:31Z</dcterms:modified>
</cp:coreProperties>
</file>