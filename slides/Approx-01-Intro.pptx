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70"/>
  </p:notesMasterIdLst>
  <p:sldIdLst>
    <p:sldId id="256" r:id="rId2"/>
    <p:sldId id="286" r:id="rId3"/>
    <p:sldId id="292" r:id="rId4"/>
    <p:sldId id="361" r:id="rId5"/>
    <p:sldId id="362" r:id="rId6"/>
    <p:sldId id="358" r:id="rId7"/>
    <p:sldId id="363" r:id="rId8"/>
    <p:sldId id="364" r:id="rId9"/>
    <p:sldId id="376" r:id="rId10"/>
    <p:sldId id="380" r:id="rId11"/>
    <p:sldId id="377" r:id="rId12"/>
    <p:sldId id="365" r:id="rId13"/>
    <p:sldId id="378" r:id="rId14"/>
    <p:sldId id="379" r:id="rId15"/>
    <p:sldId id="359" r:id="rId16"/>
    <p:sldId id="367" r:id="rId17"/>
    <p:sldId id="382" r:id="rId18"/>
    <p:sldId id="383" r:id="rId19"/>
    <p:sldId id="384" r:id="rId20"/>
    <p:sldId id="385" r:id="rId21"/>
    <p:sldId id="402" r:id="rId22"/>
    <p:sldId id="386" r:id="rId23"/>
    <p:sldId id="369" r:id="rId24"/>
    <p:sldId id="388" r:id="rId25"/>
    <p:sldId id="389" r:id="rId26"/>
    <p:sldId id="403" r:id="rId27"/>
    <p:sldId id="411" r:id="rId28"/>
    <p:sldId id="404" r:id="rId29"/>
    <p:sldId id="412" r:id="rId30"/>
    <p:sldId id="413" r:id="rId31"/>
    <p:sldId id="414" r:id="rId32"/>
    <p:sldId id="415" r:id="rId33"/>
    <p:sldId id="416" r:id="rId34"/>
    <p:sldId id="417" r:id="rId35"/>
    <p:sldId id="418" r:id="rId36"/>
    <p:sldId id="410" r:id="rId37"/>
    <p:sldId id="420" r:id="rId38"/>
    <p:sldId id="419" r:id="rId39"/>
    <p:sldId id="421" r:id="rId40"/>
    <p:sldId id="422" r:id="rId41"/>
    <p:sldId id="408" r:id="rId42"/>
    <p:sldId id="423" r:id="rId43"/>
    <p:sldId id="424" r:id="rId44"/>
    <p:sldId id="425" r:id="rId45"/>
    <p:sldId id="426" r:id="rId46"/>
    <p:sldId id="427" r:id="rId47"/>
    <p:sldId id="428" r:id="rId48"/>
    <p:sldId id="429" r:id="rId49"/>
    <p:sldId id="430" r:id="rId50"/>
    <p:sldId id="431" r:id="rId51"/>
    <p:sldId id="432" r:id="rId52"/>
    <p:sldId id="360" r:id="rId53"/>
    <p:sldId id="372" r:id="rId54"/>
    <p:sldId id="391" r:id="rId55"/>
    <p:sldId id="373" r:id="rId56"/>
    <p:sldId id="392" r:id="rId57"/>
    <p:sldId id="396" r:id="rId58"/>
    <p:sldId id="374" r:id="rId59"/>
    <p:sldId id="393" r:id="rId60"/>
    <p:sldId id="394" r:id="rId61"/>
    <p:sldId id="395" r:id="rId62"/>
    <p:sldId id="397" r:id="rId63"/>
    <p:sldId id="398" r:id="rId64"/>
    <p:sldId id="399" r:id="rId65"/>
    <p:sldId id="400" r:id="rId66"/>
    <p:sldId id="401" r:id="rId67"/>
    <p:sldId id="357" r:id="rId68"/>
    <p:sldId id="333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734"/>
  </p:normalViewPr>
  <p:slideViewPr>
    <p:cSldViewPr snapToGrid="0" snapToObjects="1">
      <p:cViewPr varScale="1">
        <p:scale>
          <a:sx n="137" d="100"/>
          <a:sy n="137" d="100"/>
        </p:scale>
        <p:origin x="18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0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55.png"/><Relationship Id="rId10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30.png"/><Relationship Id="rId7" Type="http://schemas.openxmlformats.org/officeDocument/2006/relationships/image" Target="../media/image27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00.png"/><Relationship Id="rId7" Type="http://schemas.openxmlformats.org/officeDocument/2006/relationships/image" Target="../media/image34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3" Type="http://schemas.openxmlformats.org/officeDocument/2006/relationships/image" Target="../media/image380.png"/><Relationship Id="rId7" Type="http://schemas.openxmlformats.org/officeDocument/2006/relationships/image" Target="../media/image42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0.png"/><Relationship Id="rId5" Type="http://schemas.openxmlformats.org/officeDocument/2006/relationships/image" Target="../media/image400.png"/><Relationship Id="rId10" Type="http://schemas.openxmlformats.org/officeDocument/2006/relationships/image" Target="../media/image450.png"/><Relationship Id="rId4" Type="http://schemas.openxmlformats.org/officeDocument/2006/relationships/image" Target="../media/image390.png"/><Relationship Id="rId9" Type="http://schemas.openxmlformats.org/officeDocument/2006/relationships/image" Target="../media/image44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/><Relationship Id="rId13" Type="http://schemas.openxmlformats.org/officeDocument/2006/relationships/image" Target="../media/image610.png"/><Relationship Id="rId18" Type="http://schemas.openxmlformats.org/officeDocument/2006/relationships/image" Target="../media/image660.png"/><Relationship Id="rId3" Type="http://schemas.openxmlformats.org/officeDocument/2006/relationships/image" Target="../media/image510.png"/><Relationship Id="rId21" Type="http://schemas.openxmlformats.org/officeDocument/2006/relationships/image" Target="../media/image690.png"/><Relationship Id="rId7" Type="http://schemas.openxmlformats.org/officeDocument/2006/relationships/image" Target="../media/image550.png"/><Relationship Id="rId12" Type="http://schemas.openxmlformats.org/officeDocument/2006/relationships/image" Target="../media/image600.png"/><Relationship Id="rId17" Type="http://schemas.openxmlformats.org/officeDocument/2006/relationships/image" Target="../media/image650.png"/><Relationship Id="rId2" Type="http://schemas.openxmlformats.org/officeDocument/2006/relationships/image" Target="../media/image500.png"/><Relationship Id="rId16" Type="http://schemas.openxmlformats.org/officeDocument/2006/relationships/image" Target="../media/image640.png"/><Relationship Id="rId20" Type="http://schemas.openxmlformats.org/officeDocument/2006/relationships/image" Target="../media/image6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0.png"/><Relationship Id="rId11" Type="http://schemas.openxmlformats.org/officeDocument/2006/relationships/image" Target="../media/image590.png"/><Relationship Id="rId5" Type="http://schemas.openxmlformats.org/officeDocument/2006/relationships/image" Target="../media/image530.png"/><Relationship Id="rId15" Type="http://schemas.openxmlformats.org/officeDocument/2006/relationships/image" Target="../media/image630.png"/><Relationship Id="rId10" Type="http://schemas.openxmlformats.org/officeDocument/2006/relationships/image" Target="../media/image580.png"/><Relationship Id="rId19" Type="http://schemas.openxmlformats.org/officeDocument/2006/relationships/image" Target="../media/image670.png"/><Relationship Id="rId4" Type="http://schemas.openxmlformats.org/officeDocument/2006/relationships/image" Target="../media/image520.png"/><Relationship Id="rId9" Type="http://schemas.openxmlformats.org/officeDocument/2006/relationships/image" Target="../media/image570.png"/><Relationship Id="rId14" Type="http://schemas.openxmlformats.org/officeDocument/2006/relationships/image" Target="../media/image62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620.png"/><Relationship Id="rId18" Type="http://schemas.openxmlformats.org/officeDocument/2006/relationships/image" Target="../media/image670.png"/><Relationship Id="rId3" Type="http://schemas.openxmlformats.org/officeDocument/2006/relationships/image" Target="../media/image520.png"/><Relationship Id="rId21" Type="http://schemas.openxmlformats.org/officeDocument/2006/relationships/image" Target="../media/image71.png"/><Relationship Id="rId7" Type="http://schemas.openxmlformats.org/officeDocument/2006/relationships/image" Target="../media/image560.png"/><Relationship Id="rId12" Type="http://schemas.openxmlformats.org/officeDocument/2006/relationships/image" Target="../media/image610.png"/><Relationship Id="rId17" Type="http://schemas.openxmlformats.org/officeDocument/2006/relationships/image" Target="../media/image660.png"/><Relationship Id="rId2" Type="http://schemas.openxmlformats.org/officeDocument/2006/relationships/image" Target="../media/image510.png"/><Relationship Id="rId16" Type="http://schemas.openxmlformats.org/officeDocument/2006/relationships/image" Target="../media/image650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0.png"/><Relationship Id="rId11" Type="http://schemas.openxmlformats.org/officeDocument/2006/relationships/image" Target="../media/image600.png"/><Relationship Id="rId5" Type="http://schemas.openxmlformats.org/officeDocument/2006/relationships/image" Target="../media/image540.png"/><Relationship Id="rId15" Type="http://schemas.openxmlformats.org/officeDocument/2006/relationships/image" Target="../media/image640.png"/><Relationship Id="rId10" Type="http://schemas.openxmlformats.org/officeDocument/2006/relationships/image" Target="../media/image590.png"/><Relationship Id="rId19" Type="http://schemas.openxmlformats.org/officeDocument/2006/relationships/image" Target="../media/image680.png"/><Relationship Id="rId4" Type="http://schemas.openxmlformats.org/officeDocument/2006/relationships/image" Target="../media/image530.png"/><Relationship Id="rId9" Type="http://schemas.openxmlformats.org/officeDocument/2006/relationships/image" Target="../media/image580.png"/><Relationship Id="rId14" Type="http://schemas.openxmlformats.org/officeDocument/2006/relationships/image" Target="../media/image630.png"/><Relationship Id="rId22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26" Type="http://schemas.openxmlformats.org/officeDocument/2006/relationships/image" Target="../media/image101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24" Type="http://schemas.openxmlformats.org/officeDocument/2006/relationships/image" Target="../media/image99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28" Type="http://schemas.openxmlformats.org/officeDocument/2006/relationships/image" Target="../media/image103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Relationship Id="rId27" Type="http://schemas.openxmlformats.org/officeDocument/2006/relationships/image" Target="../media/image10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26" Type="http://schemas.openxmlformats.org/officeDocument/2006/relationships/image" Target="../media/image101.png"/><Relationship Id="rId3" Type="http://schemas.openxmlformats.org/officeDocument/2006/relationships/image" Target="../media/image104.png"/><Relationship Id="rId21" Type="http://schemas.openxmlformats.org/officeDocument/2006/relationships/image" Target="../media/image84.png"/><Relationship Id="rId7" Type="http://schemas.openxmlformats.org/officeDocument/2006/relationships/image" Target="../media/image108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5" Type="http://schemas.openxmlformats.org/officeDocument/2006/relationships/image" Target="../media/image100.png"/><Relationship Id="rId2" Type="http://schemas.openxmlformats.org/officeDocument/2006/relationships/image" Target="../media/image77.png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7.png"/><Relationship Id="rId11" Type="http://schemas.openxmlformats.org/officeDocument/2006/relationships/image" Target="../media/image87.png"/><Relationship Id="rId24" Type="http://schemas.openxmlformats.org/officeDocument/2006/relationships/image" Target="../media/image99.png"/><Relationship Id="rId5" Type="http://schemas.openxmlformats.org/officeDocument/2006/relationships/image" Target="../media/image106.png"/><Relationship Id="rId15" Type="http://schemas.openxmlformats.org/officeDocument/2006/relationships/image" Target="../media/image91.png"/><Relationship Id="rId23" Type="http://schemas.openxmlformats.org/officeDocument/2006/relationships/image" Target="../media/image98.png"/><Relationship Id="rId28" Type="http://schemas.openxmlformats.org/officeDocument/2006/relationships/image" Target="../media/image111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4" Type="http://schemas.openxmlformats.org/officeDocument/2006/relationships/image" Target="../media/image105.png"/><Relationship Id="rId9" Type="http://schemas.openxmlformats.org/officeDocument/2006/relationships/image" Target="../media/image85.png"/><Relationship Id="rId14" Type="http://schemas.openxmlformats.org/officeDocument/2006/relationships/image" Target="../media/image110.png"/><Relationship Id="rId22" Type="http://schemas.openxmlformats.org/officeDocument/2006/relationships/image" Target="../media/image97.png"/><Relationship Id="rId27" Type="http://schemas.openxmlformats.org/officeDocument/2006/relationships/image" Target="../media/image102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26" Type="http://schemas.openxmlformats.org/officeDocument/2006/relationships/image" Target="../media/image102.png"/><Relationship Id="rId3" Type="http://schemas.openxmlformats.org/officeDocument/2006/relationships/image" Target="../media/image113.png"/><Relationship Id="rId21" Type="http://schemas.openxmlformats.org/officeDocument/2006/relationships/image" Target="../media/image97.png"/><Relationship Id="rId7" Type="http://schemas.openxmlformats.org/officeDocument/2006/relationships/image" Target="../media/image96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5" Type="http://schemas.openxmlformats.org/officeDocument/2006/relationships/image" Target="../media/image101.png"/><Relationship Id="rId2" Type="http://schemas.openxmlformats.org/officeDocument/2006/relationships/image" Target="../media/image77.png"/><Relationship Id="rId16" Type="http://schemas.openxmlformats.org/officeDocument/2006/relationships/image" Target="../media/image92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6.png"/><Relationship Id="rId11" Type="http://schemas.openxmlformats.org/officeDocument/2006/relationships/image" Target="../media/image87.png"/><Relationship Id="rId24" Type="http://schemas.openxmlformats.org/officeDocument/2006/relationships/image" Target="../media/image100.png"/><Relationship Id="rId5" Type="http://schemas.openxmlformats.org/officeDocument/2006/relationships/image" Target="../media/image115.png"/><Relationship Id="rId15" Type="http://schemas.openxmlformats.org/officeDocument/2006/relationships/image" Target="../media/image91.png"/><Relationship Id="rId23" Type="http://schemas.openxmlformats.org/officeDocument/2006/relationships/image" Target="../media/image99.png"/><Relationship Id="rId28" Type="http://schemas.openxmlformats.org/officeDocument/2006/relationships/image" Target="../media/image111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4" Type="http://schemas.openxmlformats.org/officeDocument/2006/relationships/image" Target="../media/image114.png"/><Relationship Id="rId9" Type="http://schemas.openxmlformats.org/officeDocument/2006/relationships/image" Target="../media/image85.png"/><Relationship Id="rId14" Type="http://schemas.openxmlformats.org/officeDocument/2006/relationships/image" Target="../media/image117.png"/><Relationship Id="rId22" Type="http://schemas.openxmlformats.org/officeDocument/2006/relationships/image" Target="../media/image98.png"/><Relationship Id="rId27" Type="http://schemas.openxmlformats.org/officeDocument/2006/relationships/image" Target="../media/image118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26" Type="http://schemas.openxmlformats.org/officeDocument/2006/relationships/image" Target="../media/image118.png"/><Relationship Id="rId3" Type="http://schemas.openxmlformats.org/officeDocument/2006/relationships/image" Target="../media/image119.png"/><Relationship Id="rId21" Type="http://schemas.openxmlformats.org/officeDocument/2006/relationships/image" Target="../media/image96.png"/><Relationship Id="rId7" Type="http://schemas.openxmlformats.org/officeDocument/2006/relationships/image" Target="../media/image123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5" Type="http://schemas.openxmlformats.org/officeDocument/2006/relationships/image" Target="../media/image99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2.png"/><Relationship Id="rId11" Type="http://schemas.openxmlformats.org/officeDocument/2006/relationships/image" Target="../media/image86.png"/><Relationship Id="rId24" Type="http://schemas.openxmlformats.org/officeDocument/2006/relationships/image" Target="../media/image98.png"/><Relationship Id="rId5" Type="http://schemas.openxmlformats.org/officeDocument/2006/relationships/image" Target="../media/image121.png"/><Relationship Id="rId15" Type="http://schemas.openxmlformats.org/officeDocument/2006/relationships/image" Target="../media/image125.png"/><Relationship Id="rId23" Type="http://schemas.openxmlformats.org/officeDocument/2006/relationships/image" Target="../media/image97.png"/><Relationship Id="rId28" Type="http://schemas.openxmlformats.org/officeDocument/2006/relationships/image" Target="../media/image102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120.png"/><Relationship Id="rId9" Type="http://schemas.openxmlformats.org/officeDocument/2006/relationships/image" Target="../media/image109.png"/><Relationship Id="rId14" Type="http://schemas.openxmlformats.org/officeDocument/2006/relationships/image" Target="../media/image89.png"/><Relationship Id="rId22" Type="http://schemas.openxmlformats.org/officeDocument/2006/relationships/image" Target="../media/image84.png"/><Relationship Id="rId27" Type="http://schemas.openxmlformats.org/officeDocument/2006/relationships/image" Target="../media/image101.png"/><Relationship Id="rId30" Type="http://schemas.openxmlformats.org/officeDocument/2006/relationships/image" Target="../media/image11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Approximation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Advanced Algorithms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CLRS Ch. 35</a:t>
            </a:r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Advanced Tree Structures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3140886" y="1813393"/>
            <a:ext cx="6156434" cy="4230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 u="sng" dirty="0"/>
              <a:t>In this deck we will look at</a:t>
            </a:r>
            <a:r>
              <a:rPr lang="en-US" sz="2000" i="1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/>
              <a:t>	- </a:t>
            </a:r>
            <a:r>
              <a:rPr lang="en-US" sz="2000" b="1" i="1" dirty="0"/>
              <a:t>Approximation Ratios</a:t>
            </a:r>
            <a:br>
              <a:rPr lang="en-US" sz="2000" b="1" i="1" dirty="0"/>
            </a:br>
            <a:r>
              <a:rPr lang="en-US" sz="2000" b="1" i="1" dirty="0"/>
              <a:t>	- Vertex Cover Approximation</a:t>
            </a:r>
            <a:br>
              <a:rPr lang="en-US" sz="2000" b="1" i="1" dirty="0"/>
            </a:br>
            <a:r>
              <a:rPr lang="en-US" sz="2000" b="1" i="1" dirty="0"/>
              <a:t>	- TSP Approximation</a:t>
            </a:r>
            <a:br>
              <a:rPr lang="en-US" sz="2000" b="1" i="1" dirty="0"/>
            </a:br>
            <a:r>
              <a:rPr lang="en-US" sz="2000" b="1" i="1" dirty="0"/>
              <a:t>	- Set-Covering Approximation</a:t>
            </a:r>
          </a:p>
        </p:txBody>
      </p:sp>
    </p:spTree>
    <p:extLst>
      <p:ext uri="{BB962C8B-B14F-4D97-AF65-F5344CB8AC3E}">
        <p14:creationId xmlns:p14="http://schemas.microsoft.com/office/powerpoint/2010/main" val="192267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Introduction: Approximation</a:t>
            </a:r>
          </a:p>
        </p:txBody>
      </p:sp>
    </p:spTree>
    <p:extLst>
      <p:ext uri="{BB962C8B-B14F-4D97-AF65-F5344CB8AC3E}">
        <p14:creationId xmlns:p14="http://schemas.microsoft.com/office/powerpoint/2010/main" val="355838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49580"/>
            <a:ext cx="9905998" cy="652710"/>
          </a:xfrm>
        </p:spPr>
        <p:txBody>
          <a:bodyPr/>
          <a:lstStyle/>
          <a:p>
            <a:pPr algn="ctr"/>
            <a:r>
              <a:rPr lang="en-US" dirty="0"/>
              <a:t>Approximation Ratios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D7429F-4D24-7141-89FE-F208F0ACBC0C}"/>
              </a:ext>
            </a:extLst>
          </p:cNvPr>
          <p:cNvSpPr txBox="1"/>
          <p:nvPr/>
        </p:nvSpPr>
        <p:spPr>
          <a:xfrm>
            <a:off x="1236520" y="4177145"/>
            <a:ext cx="1797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Often, this problem is NP-Hard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097AAA-724A-674D-B208-A719A1DDD54E}"/>
              </a:ext>
            </a:extLst>
          </p:cNvPr>
          <p:cNvCxnSpPr>
            <a:cxnSpLocks/>
          </p:cNvCxnSpPr>
          <p:nvPr/>
        </p:nvCxnSpPr>
        <p:spPr>
          <a:xfrm flipV="1">
            <a:off x="2403693" y="3605645"/>
            <a:ext cx="1721498" cy="60267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EDBF18B-92C0-384D-8665-7A2487B949D0}"/>
              </a:ext>
            </a:extLst>
          </p:cNvPr>
          <p:cNvGrpSpPr/>
          <p:nvPr/>
        </p:nvGrpSpPr>
        <p:grpSpPr>
          <a:xfrm>
            <a:off x="1402774" y="1370308"/>
            <a:ext cx="9613178" cy="2652423"/>
            <a:chOff x="694601" y="1222232"/>
            <a:chExt cx="9613178" cy="265242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108144D-4556-FD43-AEF3-0D89D7D7B189}"/>
                </a:ext>
              </a:extLst>
            </p:cNvPr>
            <p:cNvSpPr/>
            <p:nvPr/>
          </p:nvSpPr>
          <p:spPr>
            <a:xfrm>
              <a:off x="3539834" y="1612039"/>
              <a:ext cx="1943100" cy="1943100"/>
            </a:xfrm>
            <a:prstGeom prst="roundRect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Approximation Algorithm to Some Optimization Problem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C1DF3B7C-99AE-B540-A6A1-F552DDB1C441}"/>
                </a:ext>
              </a:extLst>
            </p:cNvPr>
            <p:cNvSpPr/>
            <p:nvPr/>
          </p:nvSpPr>
          <p:spPr>
            <a:xfrm>
              <a:off x="694601" y="2357591"/>
              <a:ext cx="2001838" cy="451996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Input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9A29CF4-EFD4-5A43-8915-483360C89A00}"/>
                </a:ext>
              </a:extLst>
            </p:cNvPr>
            <p:cNvCxnSpPr>
              <a:cxnSpLocks/>
            </p:cNvCxnSpPr>
            <p:nvPr/>
          </p:nvCxnSpPr>
          <p:spPr>
            <a:xfrm>
              <a:off x="6182589" y="1381990"/>
              <a:ext cx="1044285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26EA3BD-5D58-C244-8213-D930C198DAE3}"/>
                </a:ext>
              </a:extLst>
            </p:cNvPr>
            <p:cNvCxnSpPr>
              <a:cxnSpLocks/>
            </p:cNvCxnSpPr>
            <p:nvPr/>
          </p:nvCxnSpPr>
          <p:spPr>
            <a:xfrm>
              <a:off x="6182588" y="3706090"/>
              <a:ext cx="1044286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BC2C6D28-B0F5-6D40-81B7-AEE10FEC8F54}"/>
                    </a:ext>
                  </a:extLst>
                </p:cNvPr>
                <p:cNvSpPr/>
                <p:nvPr/>
              </p:nvSpPr>
              <p:spPr>
                <a:xfrm>
                  <a:off x="7310144" y="1222232"/>
                  <a:ext cx="2987243" cy="319516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 = Optimal Solution</a:t>
                  </a:r>
                </a:p>
              </p:txBody>
            </p:sp>
          </mc:Choice>
          <mc:Fallback xmlns=""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BC2C6D28-B0F5-6D40-81B7-AEE10FEC8F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0144" y="1222232"/>
                  <a:ext cx="2987243" cy="319516"/>
                </a:xfrm>
                <a:prstGeom prst="roundRect">
                  <a:avLst/>
                </a:prstGeom>
                <a:blipFill>
                  <a:blip r:embed="rId2"/>
                  <a:stretch>
                    <a:fillRect t="-7692" b="-19231"/>
                  </a:stretch>
                </a:blipFill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7622557-BD3D-1944-9F8B-035BDAAA8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6496" y="1381990"/>
              <a:ext cx="0" cy="2324101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A9A288F4-50E2-F64A-9ECC-A9C80C1383D7}"/>
                    </a:ext>
                  </a:extLst>
                </p:cNvPr>
                <p:cNvSpPr/>
                <p:nvPr/>
              </p:nvSpPr>
              <p:spPr>
                <a:xfrm>
                  <a:off x="7320536" y="3555139"/>
                  <a:ext cx="2987243" cy="319516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𝑁𝑂𝑇</m:t>
                        </m:r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𝑜𝑝𝑡𝑖𝑚𝑎𝑙</m:t>
                        </m:r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𝑠𝑜𝑙𝑢𝑡𝑖𝑜𝑛</m:t>
                        </m:r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A9A288F4-50E2-F64A-9ECC-A9C80C1383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0536" y="3555139"/>
                  <a:ext cx="2987243" cy="319516"/>
                </a:xfrm>
                <a:prstGeom prst="roundRect">
                  <a:avLst/>
                </a:prstGeom>
                <a:blipFill>
                  <a:blip r:embed="rId3"/>
                  <a:stretch>
                    <a:fillRect b="-11111"/>
                  </a:stretch>
                </a:blipFill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D0AB32-272E-4946-9FAA-D3720E066458}"/>
                </a:ext>
              </a:extLst>
            </p:cNvPr>
            <p:cNvCxnSpPr>
              <a:cxnSpLocks/>
            </p:cNvCxnSpPr>
            <p:nvPr/>
          </p:nvCxnSpPr>
          <p:spPr>
            <a:xfrm>
              <a:off x="6182588" y="1960417"/>
              <a:ext cx="1044286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8C6BB2D9-B30A-BF4F-B2BB-3F9B3B31033B}"/>
                    </a:ext>
                  </a:extLst>
                </p:cNvPr>
                <p:cNvSpPr/>
                <p:nvPr/>
              </p:nvSpPr>
              <p:spPr>
                <a:xfrm>
                  <a:off x="7310143" y="1800512"/>
                  <a:ext cx="2987243" cy="319516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 = Approximated Solution</a:t>
                  </a:r>
                </a:p>
              </p:txBody>
            </p:sp>
          </mc:Choice>
          <mc:Fallback xmlns="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8C6BB2D9-B30A-BF4F-B2BB-3F9B3B3103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0143" y="1800512"/>
                  <a:ext cx="2987243" cy="319516"/>
                </a:xfrm>
                <a:prstGeom prst="roundRect">
                  <a:avLst/>
                </a:prstGeom>
                <a:blipFill>
                  <a:blip r:embed="rId4"/>
                  <a:stretch>
                    <a:fillRect t="-3571" b="-17857"/>
                  </a:stretch>
                </a:blipFill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265ACBC-A64A-AC4B-B87C-59804F71C0C0}"/>
                </a:ext>
              </a:extLst>
            </p:cNvPr>
            <p:cNvCxnSpPr>
              <a:stCxn id="11" idx="3"/>
              <a:endCxn id="7" idx="1"/>
            </p:cNvCxnSpPr>
            <p:nvPr/>
          </p:nvCxnSpPr>
          <p:spPr>
            <a:xfrm>
              <a:off x="2696439" y="2583589"/>
              <a:ext cx="8433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8DA1835-D4DB-B44E-8AD8-65C7F9BEF9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934" y="2010574"/>
              <a:ext cx="611477" cy="5730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25E828-2D11-2148-BDE5-CD964137E063}"/>
                  </a:ext>
                </a:extLst>
              </p:cNvPr>
              <p:cNvSpPr txBox="1"/>
              <p:nvPr/>
            </p:nvSpPr>
            <p:spPr>
              <a:xfrm>
                <a:off x="4416136" y="4956421"/>
                <a:ext cx="6631274" cy="14577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An approximation algorithm has an </a:t>
                </a:r>
                <a:r>
                  <a:rPr lang="en-US" b="1" i="1" dirty="0">
                    <a:solidFill>
                      <a:sysClr val="windowText" lastClr="000000"/>
                    </a:solidFill>
                  </a:rPr>
                  <a:t>approximation ratio</a:t>
                </a:r>
                <a:r>
                  <a:rPr lang="en-US" dirty="0">
                    <a:solidFill>
                      <a:sysClr val="windowText" lastClr="0000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 if, for any input size n, the cost C produced by the algorithm satisfies:</a:t>
                </a:r>
              </a:p>
              <a:p>
                <a:endParaRPr lang="en-US" dirty="0">
                  <a:solidFill>
                    <a:sysClr val="windowText" lastClr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𝑀𝑎𝑥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25E828-2D11-2148-BDE5-CD964137E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136" y="4956421"/>
                <a:ext cx="6631274" cy="1457707"/>
              </a:xfrm>
              <a:prstGeom prst="rect">
                <a:avLst/>
              </a:prstGeom>
              <a:blipFill>
                <a:blip r:embed="rId5"/>
                <a:stretch>
                  <a:fillRect l="-956" t="-85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861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Some Definitions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507F4E-6CC4-BC41-9782-9F16AFBEC3B8}"/>
              </a:ext>
            </a:extLst>
          </p:cNvPr>
          <p:cNvSpPr txBox="1"/>
          <p:nvPr/>
        </p:nvSpPr>
        <p:spPr>
          <a:xfrm>
            <a:off x="789708" y="2292946"/>
            <a:ext cx="2815937" cy="33855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600" i="1" dirty="0"/>
              <a:t>Approximation Scheme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B20409-AA97-D143-A7AE-C528CA238C94}"/>
                  </a:ext>
                </a:extLst>
              </p:cNvPr>
              <p:cNvSpPr txBox="1"/>
              <p:nvPr/>
            </p:nvSpPr>
            <p:spPr>
              <a:xfrm>
                <a:off x="3751118" y="2292946"/>
                <a:ext cx="7813963" cy="5847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ysClr val="windowText" lastClr="000000"/>
                    </a:solidFill>
                  </a:rPr>
                  <a:t>An approximation algorithm that takes as input the instance of the problem and a value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600" i="1" dirty="0">
                    <a:solidFill>
                      <a:sysClr val="windowText" lastClr="000000"/>
                    </a:solidFill>
                  </a:rPr>
                  <a:t> such that for any fixed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600" i="1" dirty="0">
                    <a:solidFill>
                      <a:sysClr val="windowText" lastClr="000000"/>
                    </a:solidFill>
                  </a:rPr>
                  <a:t>, the scheme is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i="1" dirty="0">
                    <a:solidFill>
                      <a:sysClr val="windowText" lastClr="000000"/>
                    </a:solidFill>
                  </a:rPr>
                  <a:t>-approximation algorithm.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B20409-AA97-D143-A7AE-C528CA238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18" y="2292946"/>
                <a:ext cx="7813963" cy="584775"/>
              </a:xfrm>
              <a:prstGeom prst="rect">
                <a:avLst/>
              </a:prstGeom>
              <a:blipFill>
                <a:blip r:embed="rId2"/>
                <a:stretch>
                  <a:fillRect l="-324" t="-2083" b="-625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FF1ABD-240F-B14E-B2EA-F5DA37F75FBB}"/>
                  </a:ext>
                </a:extLst>
              </p:cNvPr>
              <p:cNvSpPr txBox="1"/>
              <p:nvPr/>
            </p:nvSpPr>
            <p:spPr>
              <a:xfrm>
                <a:off x="789708" y="1655640"/>
                <a:ext cx="2815937" cy="338554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i="1" dirty="0"/>
                  <a:t>-Approximation Algorithm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FF1ABD-240F-B14E-B2EA-F5DA37F7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08" y="1655640"/>
                <a:ext cx="2815937" cy="338554"/>
              </a:xfrm>
              <a:prstGeom prst="rect">
                <a:avLst/>
              </a:prstGeom>
              <a:blipFill>
                <a:blip r:embed="rId3"/>
                <a:stretch>
                  <a:fillRect r="-446" b="-13793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E3DC69-947A-6742-8B5F-5CF9023C0BE5}"/>
                  </a:ext>
                </a:extLst>
              </p:cNvPr>
              <p:cNvSpPr txBox="1"/>
              <p:nvPr/>
            </p:nvSpPr>
            <p:spPr>
              <a:xfrm>
                <a:off x="3751118" y="1655640"/>
                <a:ext cx="7813963" cy="33855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ysClr val="windowText" lastClr="000000"/>
                    </a:solidFill>
                  </a:rPr>
                  <a:t>An approximation algorithm that achieves an approximation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i="1" dirty="0">
                    <a:solidFill>
                      <a:sysClr val="windowText" lastClr="000000"/>
                    </a:solidFill>
                  </a:rPr>
                  <a:t> on all inputs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E3DC69-947A-6742-8B5F-5CF9023C0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18" y="1655640"/>
                <a:ext cx="7813963" cy="338554"/>
              </a:xfrm>
              <a:prstGeom prst="rect">
                <a:avLst/>
              </a:prstGeom>
              <a:blipFill>
                <a:blip r:embed="rId4"/>
                <a:stretch>
                  <a:fillRect l="-324" b="-1379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39AC1A8-BC02-C745-82A4-03CA60390375}"/>
              </a:ext>
            </a:extLst>
          </p:cNvPr>
          <p:cNvSpPr txBox="1"/>
          <p:nvPr/>
        </p:nvSpPr>
        <p:spPr>
          <a:xfrm>
            <a:off x="789708" y="3133431"/>
            <a:ext cx="2815937" cy="584775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600" i="1" dirty="0"/>
              <a:t>Polynomial Time Approximation Scheme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6796EC-7ED0-1545-B49F-6339E045669D}"/>
                  </a:ext>
                </a:extLst>
              </p:cNvPr>
              <p:cNvSpPr txBox="1"/>
              <p:nvPr/>
            </p:nvSpPr>
            <p:spPr>
              <a:xfrm>
                <a:off x="3751118" y="3133431"/>
                <a:ext cx="7813963" cy="5847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ysClr val="windowText" lastClr="000000"/>
                    </a:solidFill>
                  </a:rPr>
                  <a:t>A scheme is polynomial time if, for any fixed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600" i="1" dirty="0">
                    <a:solidFill>
                      <a:sysClr val="windowText" lastClr="000000"/>
                    </a:solidFill>
                  </a:rPr>
                  <a:t>, the algorithm runs in polynomial time in terms of the input size n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6796EC-7ED0-1545-B49F-6339E0456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18" y="3133431"/>
                <a:ext cx="7813963" cy="584775"/>
              </a:xfrm>
              <a:prstGeom prst="rect">
                <a:avLst/>
              </a:prstGeom>
              <a:blipFill>
                <a:blip r:embed="rId5"/>
                <a:stretch>
                  <a:fillRect l="-324" t="-2083" b="-8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6B4940-C452-B145-83ED-B3074A51885B}"/>
                  </a:ext>
                </a:extLst>
              </p:cNvPr>
              <p:cNvSpPr txBox="1"/>
              <p:nvPr/>
            </p:nvSpPr>
            <p:spPr>
              <a:xfrm>
                <a:off x="1525801" y="5410754"/>
                <a:ext cx="4518383" cy="1138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/>
                  <a:t>For example, a fully polynomial time approximation scheme might have runtime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600" b="0" i="1" dirty="0"/>
              </a:p>
              <a:p>
                <a:r>
                  <a:rPr lang="en-US" sz="1600" i="1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6B4940-C452-B145-83ED-B3074A518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801" y="5410754"/>
                <a:ext cx="4518383" cy="1138004"/>
              </a:xfrm>
              <a:prstGeom prst="rect">
                <a:avLst/>
              </a:prstGeom>
              <a:blipFill>
                <a:blip r:embed="rId6"/>
                <a:stretch>
                  <a:fillRect l="-843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058ABA-4EE3-0042-A9CD-27ED7BCB3633}"/>
              </a:ext>
            </a:extLst>
          </p:cNvPr>
          <p:cNvCxnSpPr>
            <a:cxnSpLocks/>
          </p:cNvCxnSpPr>
          <p:nvPr/>
        </p:nvCxnSpPr>
        <p:spPr>
          <a:xfrm flipV="1">
            <a:off x="2692974" y="4839255"/>
            <a:ext cx="1721498" cy="60267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F18E51D-0177-1146-A35E-350BB41B107F}"/>
              </a:ext>
            </a:extLst>
          </p:cNvPr>
          <p:cNvSpPr txBox="1"/>
          <p:nvPr/>
        </p:nvSpPr>
        <p:spPr>
          <a:xfrm>
            <a:off x="789708" y="3973916"/>
            <a:ext cx="2815937" cy="584775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600" i="1" dirty="0"/>
              <a:t>Fully Polynomial Time Approximation Scheme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A0DFB5-B265-4142-9A22-35926E01F19E}"/>
                  </a:ext>
                </a:extLst>
              </p:cNvPr>
              <p:cNvSpPr txBox="1"/>
              <p:nvPr/>
            </p:nvSpPr>
            <p:spPr>
              <a:xfrm>
                <a:off x="3751118" y="3973916"/>
                <a:ext cx="7813963" cy="44114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ysClr val="windowText" lastClr="000000"/>
                    </a:solidFill>
                  </a:rPr>
                  <a:t>A scheme is fully polynomial time if it also has a runtime that is polynomial in terms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i="1" dirty="0">
                    <a:solidFill>
                      <a:sysClr val="windowText" lastClr="0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A0DFB5-B265-4142-9A22-35926E01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18" y="3973916"/>
                <a:ext cx="7813963" cy="441146"/>
              </a:xfrm>
              <a:prstGeom prst="rect">
                <a:avLst/>
              </a:prstGeom>
              <a:blipFill>
                <a:blip r:embed="rId7"/>
                <a:stretch>
                  <a:fillRect l="-324" b="-555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63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Vertex-Cover</a:t>
            </a:r>
          </a:p>
        </p:txBody>
      </p:sp>
    </p:spTree>
    <p:extLst>
      <p:ext uri="{BB962C8B-B14F-4D97-AF65-F5344CB8AC3E}">
        <p14:creationId xmlns:p14="http://schemas.microsoft.com/office/powerpoint/2010/main" val="158689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4"/>
            <a:ext cx="9905998" cy="658504"/>
          </a:xfrm>
        </p:spPr>
        <p:txBody>
          <a:bodyPr/>
          <a:lstStyle/>
          <a:p>
            <a:pPr algn="ctr"/>
            <a:r>
              <a:rPr lang="en-US" dirty="0"/>
              <a:t>Recall Vertex-Cover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D1DC23-009C-4345-AACE-883EA6E42F99}"/>
                  </a:ext>
                </a:extLst>
              </p:cNvPr>
              <p:cNvSpPr txBox="1"/>
              <p:nvPr/>
            </p:nvSpPr>
            <p:spPr>
              <a:xfrm>
                <a:off x="1207801" y="1353751"/>
                <a:ext cx="10043710" cy="38888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, find the smallest set of nodes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  <m:sub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D1DC23-009C-4345-AACE-883EA6E42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01" y="1353751"/>
                <a:ext cx="10043710" cy="388889"/>
              </a:xfrm>
              <a:prstGeom prst="rect">
                <a:avLst/>
              </a:prstGeom>
              <a:blipFill>
                <a:blip r:embed="rId2"/>
                <a:stretch>
                  <a:fillRect t="-6250" b="-1562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E7C2DE78-1759-8447-9B92-2AF4A82F425B}"/>
              </a:ext>
            </a:extLst>
          </p:cNvPr>
          <p:cNvGrpSpPr/>
          <p:nvPr/>
        </p:nvGrpSpPr>
        <p:grpSpPr>
          <a:xfrm>
            <a:off x="3614472" y="2096062"/>
            <a:ext cx="4959877" cy="1964921"/>
            <a:chOff x="3557016" y="1819656"/>
            <a:chExt cx="4959877" cy="196492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17EEFE5-65F0-6346-B7BD-B2659399F822}"/>
                </a:ext>
              </a:extLst>
            </p:cNvPr>
            <p:cNvSpPr/>
            <p:nvPr/>
          </p:nvSpPr>
          <p:spPr>
            <a:xfrm>
              <a:off x="3557016" y="1819656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40B913-6BD0-1B49-93A8-9C3819029042}"/>
                </a:ext>
              </a:extLst>
            </p:cNvPr>
            <p:cNvSpPr/>
            <p:nvPr/>
          </p:nvSpPr>
          <p:spPr>
            <a:xfrm>
              <a:off x="3557016" y="3153641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549965-9AF9-0546-A16E-6C50853D7B14}"/>
                </a:ext>
              </a:extLst>
            </p:cNvPr>
            <p:cNvSpPr/>
            <p:nvPr/>
          </p:nvSpPr>
          <p:spPr>
            <a:xfrm>
              <a:off x="5090160" y="1819656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69838E2-6009-504F-8290-68230C7D90A0}"/>
                </a:ext>
              </a:extLst>
            </p:cNvPr>
            <p:cNvSpPr/>
            <p:nvPr/>
          </p:nvSpPr>
          <p:spPr>
            <a:xfrm>
              <a:off x="5090160" y="3153641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A227750-14A7-1248-82B9-1F6656165C3D}"/>
                </a:ext>
              </a:extLst>
            </p:cNvPr>
            <p:cNvSpPr/>
            <p:nvPr/>
          </p:nvSpPr>
          <p:spPr>
            <a:xfrm>
              <a:off x="6623304" y="1819656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6071694-DAB2-7346-BD4D-2F9566C2004B}"/>
                </a:ext>
              </a:extLst>
            </p:cNvPr>
            <p:cNvSpPr/>
            <p:nvPr/>
          </p:nvSpPr>
          <p:spPr>
            <a:xfrm>
              <a:off x="6623304" y="3153641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390B225-A4D7-B54E-99F9-66A2B1731359}"/>
                </a:ext>
              </a:extLst>
            </p:cNvPr>
            <p:cNvSpPr/>
            <p:nvPr/>
          </p:nvSpPr>
          <p:spPr>
            <a:xfrm>
              <a:off x="7885957" y="3153641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F68430-2504-054D-A55F-1EAB0915A55C}"/>
                </a:ext>
              </a:extLst>
            </p:cNvPr>
            <p:cNvCxnSpPr>
              <a:stCxn id="5" idx="4"/>
              <a:endCxn id="8" idx="0"/>
            </p:cNvCxnSpPr>
            <p:nvPr/>
          </p:nvCxnSpPr>
          <p:spPr>
            <a:xfrm>
              <a:off x="3872484" y="2450592"/>
              <a:ext cx="0" cy="7030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4367C4-6AD0-C942-961E-52AFCAAC92D7}"/>
                </a:ext>
              </a:extLst>
            </p:cNvPr>
            <p:cNvCxnSpPr>
              <a:endCxn id="9" idx="2"/>
            </p:cNvCxnSpPr>
            <p:nvPr/>
          </p:nvCxnSpPr>
          <p:spPr>
            <a:xfrm>
              <a:off x="4187952" y="2135124"/>
              <a:ext cx="9022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D987431-D419-E047-919A-9A2425DC90DE}"/>
                </a:ext>
              </a:extLst>
            </p:cNvPr>
            <p:cNvCxnSpPr>
              <a:stCxn id="9" idx="4"/>
              <a:endCxn id="10" idx="0"/>
            </p:cNvCxnSpPr>
            <p:nvPr/>
          </p:nvCxnSpPr>
          <p:spPr>
            <a:xfrm>
              <a:off x="5405628" y="2450592"/>
              <a:ext cx="0" cy="7030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607CA13-8432-3340-A74D-C46AEE7842CD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>
              <a:off x="5721096" y="2135124"/>
              <a:ext cx="9022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A073737-16EB-9043-8B78-D6A489B24119}"/>
                </a:ext>
              </a:extLst>
            </p:cNvPr>
            <p:cNvCxnSpPr>
              <a:stCxn id="11" idx="3"/>
              <a:endCxn id="10" idx="7"/>
            </p:cNvCxnSpPr>
            <p:nvPr/>
          </p:nvCxnSpPr>
          <p:spPr>
            <a:xfrm flipH="1">
              <a:off x="5628698" y="2358194"/>
              <a:ext cx="1087004" cy="887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26B532A-93EB-D146-879B-DAAEECFCB20F}"/>
                </a:ext>
              </a:extLst>
            </p:cNvPr>
            <p:cNvCxnSpPr>
              <a:stCxn id="11" idx="4"/>
              <a:endCxn id="12" idx="0"/>
            </p:cNvCxnSpPr>
            <p:nvPr/>
          </p:nvCxnSpPr>
          <p:spPr>
            <a:xfrm>
              <a:off x="6938772" y="2450592"/>
              <a:ext cx="0" cy="7030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3BFC779-55F4-E647-9E1B-CDA261223664}"/>
                </a:ext>
              </a:extLst>
            </p:cNvPr>
            <p:cNvCxnSpPr>
              <a:stCxn id="10" idx="6"/>
              <a:endCxn id="12" idx="2"/>
            </p:cNvCxnSpPr>
            <p:nvPr/>
          </p:nvCxnSpPr>
          <p:spPr>
            <a:xfrm>
              <a:off x="5721096" y="3469109"/>
              <a:ext cx="9022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158C4E0-12D8-A449-98FA-D5CC88A18871}"/>
                </a:ext>
              </a:extLst>
            </p:cNvPr>
            <p:cNvCxnSpPr>
              <a:stCxn id="11" idx="5"/>
              <a:endCxn id="13" idx="1"/>
            </p:cNvCxnSpPr>
            <p:nvPr/>
          </p:nvCxnSpPr>
          <p:spPr>
            <a:xfrm>
              <a:off x="7161842" y="2358194"/>
              <a:ext cx="816513" cy="887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F161728-15B5-954F-9A41-BA22A58390B2}"/>
              </a:ext>
            </a:extLst>
          </p:cNvPr>
          <p:cNvSpPr txBox="1"/>
          <p:nvPr/>
        </p:nvSpPr>
        <p:spPr>
          <a:xfrm>
            <a:off x="1525801" y="5246162"/>
            <a:ext cx="2479271" cy="107721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In other words, find the smallest set of nodes that touches every edge at least once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1506656-F997-6541-874F-4C9830E9197E}"/>
              </a:ext>
            </a:extLst>
          </p:cNvPr>
          <p:cNvCxnSpPr>
            <a:cxnSpLocks/>
          </p:cNvCxnSpPr>
          <p:nvPr/>
        </p:nvCxnSpPr>
        <p:spPr>
          <a:xfrm flipV="1">
            <a:off x="2765436" y="4428258"/>
            <a:ext cx="727572" cy="78964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EB611B-2166-994B-B832-4E464465C87B}"/>
              </a:ext>
            </a:extLst>
          </p:cNvPr>
          <p:cNvSpPr txBox="1"/>
          <p:nvPr/>
        </p:nvSpPr>
        <p:spPr>
          <a:xfrm>
            <a:off x="5006161" y="5543008"/>
            <a:ext cx="2479271" cy="83099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The purple nodes are the smallest solution for this graph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3FF438B-1FA9-D142-A7E5-3D5477FC0C0B}"/>
              </a:ext>
            </a:extLst>
          </p:cNvPr>
          <p:cNvCxnSpPr>
            <a:cxnSpLocks/>
          </p:cNvCxnSpPr>
          <p:nvPr/>
        </p:nvCxnSpPr>
        <p:spPr>
          <a:xfrm flipH="1" flipV="1">
            <a:off x="5861304" y="4504944"/>
            <a:ext cx="368352" cy="91766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D544E45-2AB5-B94E-BBB0-24CC96733871}"/>
              </a:ext>
            </a:extLst>
          </p:cNvPr>
          <p:cNvSpPr txBox="1"/>
          <p:nvPr/>
        </p:nvSpPr>
        <p:spPr>
          <a:xfrm>
            <a:off x="8772240" y="1909615"/>
            <a:ext cx="2479271" cy="33855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This problem is NP-Hard</a:t>
            </a:r>
          </a:p>
        </p:txBody>
      </p:sp>
    </p:spTree>
    <p:extLst>
      <p:ext uri="{BB962C8B-B14F-4D97-AF65-F5344CB8AC3E}">
        <p14:creationId xmlns:p14="http://schemas.microsoft.com/office/powerpoint/2010/main" val="3664405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658065"/>
          </a:xfrm>
        </p:spPr>
        <p:txBody>
          <a:bodyPr/>
          <a:lstStyle/>
          <a:p>
            <a:pPr algn="ctr"/>
            <a:r>
              <a:rPr lang="en-US" dirty="0"/>
              <a:t>Proposed Algorithm for Vertex-Cover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6665846" y="1927889"/>
            <a:ext cx="4646740" cy="230832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Vertex-Approximation(G):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C = []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E’ = G.E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while</a:t>
            </a:r>
            <a:r>
              <a:rPr lang="en-US" dirty="0">
                <a:solidFill>
                  <a:sysClr val="windowText" lastClr="000000"/>
                </a:solidFill>
              </a:rPr>
              <a:t> E’ not empty: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let e=(</a:t>
            </a:r>
            <a:r>
              <a:rPr lang="en-US" dirty="0" err="1">
                <a:solidFill>
                  <a:sysClr val="windowText" lastClr="000000"/>
                </a:solidFill>
              </a:rPr>
              <a:t>u,v</a:t>
            </a:r>
            <a:r>
              <a:rPr lang="en-US" dirty="0">
                <a:solidFill>
                  <a:sysClr val="windowText" lastClr="000000"/>
                </a:solidFill>
              </a:rPr>
              <a:t>) be arbitrary edge from E’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C = </a:t>
            </a:r>
            <a:r>
              <a:rPr lang="en-US" dirty="0" err="1">
                <a:solidFill>
                  <a:sysClr val="windowText" lastClr="000000"/>
                </a:solidFill>
              </a:rPr>
              <a:t>C.append</a:t>
            </a:r>
            <a:r>
              <a:rPr lang="en-US" dirty="0">
                <a:solidFill>
                  <a:sysClr val="windowText" lastClr="000000"/>
                </a:solidFill>
              </a:rPr>
              <a:t>({</a:t>
            </a:r>
            <a:r>
              <a:rPr lang="en-US" dirty="0" err="1">
                <a:solidFill>
                  <a:sysClr val="windowText" lastClr="000000"/>
                </a:solidFill>
              </a:rPr>
              <a:t>u,v</a:t>
            </a:r>
            <a:r>
              <a:rPr lang="en-US" dirty="0">
                <a:solidFill>
                  <a:sysClr val="windowText" lastClr="000000"/>
                </a:solidFill>
              </a:rPr>
              <a:t>})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remove all edges in E’ incident on u or v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return</a:t>
            </a:r>
            <a:r>
              <a:rPr lang="en-US" dirty="0">
                <a:solidFill>
                  <a:sysClr val="windowText" lastClr="000000"/>
                </a:solidFill>
              </a:rPr>
              <a:t> C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E341392-8ED7-244F-A497-267FCC0C865A}"/>
              </a:ext>
            </a:extLst>
          </p:cNvPr>
          <p:cNvGrpSpPr/>
          <p:nvPr/>
        </p:nvGrpSpPr>
        <p:grpSpPr>
          <a:xfrm>
            <a:off x="1145277" y="2099590"/>
            <a:ext cx="4959877" cy="1964921"/>
            <a:chOff x="3557016" y="1819656"/>
            <a:chExt cx="4959877" cy="196492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645B0CC-CF31-7849-BA08-D11A0F5BBF0D}"/>
                </a:ext>
              </a:extLst>
            </p:cNvPr>
            <p:cNvSpPr/>
            <p:nvPr/>
          </p:nvSpPr>
          <p:spPr>
            <a:xfrm>
              <a:off x="3557016" y="1819656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23DCE09-C010-5741-9AFB-5D49C9D51804}"/>
                </a:ext>
              </a:extLst>
            </p:cNvPr>
            <p:cNvSpPr/>
            <p:nvPr/>
          </p:nvSpPr>
          <p:spPr>
            <a:xfrm>
              <a:off x="3557016" y="3153641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941AEC-3F0D-6549-85FB-6761096805B9}"/>
                </a:ext>
              </a:extLst>
            </p:cNvPr>
            <p:cNvSpPr/>
            <p:nvPr/>
          </p:nvSpPr>
          <p:spPr>
            <a:xfrm>
              <a:off x="5090160" y="1819656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29F33F-6BD8-4D4D-BB3A-FF2651DB3FCC}"/>
                </a:ext>
              </a:extLst>
            </p:cNvPr>
            <p:cNvSpPr/>
            <p:nvPr/>
          </p:nvSpPr>
          <p:spPr>
            <a:xfrm>
              <a:off x="5090160" y="3153641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BC0FB6-B48D-2C4E-B3D1-44DFAD04F8A3}"/>
                </a:ext>
              </a:extLst>
            </p:cNvPr>
            <p:cNvSpPr/>
            <p:nvPr/>
          </p:nvSpPr>
          <p:spPr>
            <a:xfrm>
              <a:off x="6623304" y="1819656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8DA10B6-C643-9B49-8C70-061FAE1FCA03}"/>
                </a:ext>
              </a:extLst>
            </p:cNvPr>
            <p:cNvSpPr/>
            <p:nvPr/>
          </p:nvSpPr>
          <p:spPr>
            <a:xfrm>
              <a:off x="6623304" y="3153641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C9E77EE-76E9-ED47-B8A1-7C15E4DB2218}"/>
                </a:ext>
              </a:extLst>
            </p:cNvPr>
            <p:cNvSpPr/>
            <p:nvPr/>
          </p:nvSpPr>
          <p:spPr>
            <a:xfrm>
              <a:off x="7885957" y="3153641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AE232BF-B48C-4342-98A6-80FFB06D9F4F}"/>
                </a:ext>
              </a:extLst>
            </p:cNvPr>
            <p:cNvCxnSpPr>
              <a:stCxn id="9" idx="4"/>
              <a:endCxn id="10" idx="0"/>
            </p:cNvCxnSpPr>
            <p:nvPr/>
          </p:nvCxnSpPr>
          <p:spPr>
            <a:xfrm>
              <a:off x="3872484" y="2450592"/>
              <a:ext cx="0" cy="7030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704711-5EE6-1C45-99FB-E2FCBCF857AB}"/>
                </a:ext>
              </a:extLst>
            </p:cNvPr>
            <p:cNvCxnSpPr>
              <a:endCxn id="11" idx="2"/>
            </p:cNvCxnSpPr>
            <p:nvPr/>
          </p:nvCxnSpPr>
          <p:spPr>
            <a:xfrm>
              <a:off x="4187952" y="2135124"/>
              <a:ext cx="9022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E0C53A-044F-EB4B-86F1-BE26AB7F3CCE}"/>
                </a:ext>
              </a:extLst>
            </p:cNvPr>
            <p:cNvCxnSpPr>
              <a:stCxn id="11" idx="4"/>
              <a:endCxn id="12" idx="0"/>
            </p:cNvCxnSpPr>
            <p:nvPr/>
          </p:nvCxnSpPr>
          <p:spPr>
            <a:xfrm>
              <a:off x="5405628" y="2450592"/>
              <a:ext cx="0" cy="7030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0FDC711-039E-994C-A541-37890AA24720}"/>
                </a:ext>
              </a:extLst>
            </p:cNvPr>
            <p:cNvCxnSpPr>
              <a:stCxn id="11" idx="6"/>
              <a:endCxn id="13" idx="2"/>
            </p:cNvCxnSpPr>
            <p:nvPr/>
          </p:nvCxnSpPr>
          <p:spPr>
            <a:xfrm>
              <a:off x="5721096" y="2135124"/>
              <a:ext cx="9022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F223BD-1731-E546-870B-C04C9AAE96BA}"/>
                </a:ext>
              </a:extLst>
            </p:cNvPr>
            <p:cNvCxnSpPr>
              <a:stCxn id="13" idx="3"/>
              <a:endCxn id="12" idx="7"/>
            </p:cNvCxnSpPr>
            <p:nvPr/>
          </p:nvCxnSpPr>
          <p:spPr>
            <a:xfrm flipH="1">
              <a:off x="5628698" y="2358194"/>
              <a:ext cx="1087004" cy="887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AC9839-2DF7-424C-9DF1-BF64DCCA51CF}"/>
                </a:ext>
              </a:extLst>
            </p:cNvPr>
            <p:cNvCxnSpPr>
              <a:stCxn id="13" idx="4"/>
              <a:endCxn id="14" idx="0"/>
            </p:cNvCxnSpPr>
            <p:nvPr/>
          </p:nvCxnSpPr>
          <p:spPr>
            <a:xfrm>
              <a:off x="6938772" y="2450592"/>
              <a:ext cx="0" cy="7030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6DB4C7-147F-A14F-834F-DE9142301DDC}"/>
                </a:ext>
              </a:extLst>
            </p:cNvPr>
            <p:cNvCxnSpPr>
              <a:stCxn id="12" idx="6"/>
              <a:endCxn id="14" idx="2"/>
            </p:cNvCxnSpPr>
            <p:nvPr/>
          </p:nvCxnSpPr>
          <p:spPr>
            <a:xfrm>
              <a:off x="5721096" y="3469109"/>
              <a:ext cx="9022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F317562-0E41-974E-8D28-0032871B99C9}"/>
                </a:ext>
              </a:extLst>
            </p:cNvPr>
            <p:cNvCxnSpPr>
              <a:stCxn id="13" idx="5"/>
              <a:endCxn id="15" idx="1"/>
            </p:cNvCxnSpPr>
            <p:nvPr/>
          </p:nvCxnSpPr>
          <p:spPr>
            <a:xfrm>
              <a:off x="7161842" y="2358194"/>
              <a:ext cx="816513" cy="887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BEFB2AE-4955-AA47-94D6-176654EB893C}"/>
              </a:ext>
            </a:extLst>
          </p:cNvPr>
          <p:cNvSpPr txBox="1"/>
          <p:nvPr/>
        </p:nvSpPr>
        <p:spPr>
          <a:xfrm>
            <a:off x="7264772" y="4816394"/>
            <a:ext cx="3448887" cy="830997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Run this on the given graph a few times. What is the approximation ratio? Do we have a guaranteed ratio here?</a:t>
            </a:r>
          </a:p>
        </p:txBody>
      </p:sp>
    </p:spTree>
    <p:extLst>
      <p:ext uri="{BB962C8B-B14F-4D97-AF65-F5344CB8AC3E}">
        <p14:creationId xmlns:p14="http://schemas.microsoft.com/office/powerpoint/2010/main" val="142541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658065"/>
          </a:xfrm>
        </p:spPr>
        <p:txBody>
          <a:bodyPr/>
          <a:lstStyle/>
          <a:p>
            <a:pPr algn="ctr"/>
            <a:r>
              <a:rPr lang="en-US" dirty="0"/>
              <a:t>Sample Execution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04A278-C5B4-854F-BC3D-83EDE8EB083B}"/>
              </a:ext>
            </a:extLst>
          </p:cNvPr>
          <p:cNvGrpSpPr/>
          <p:nvPr/>
        </p:nvGrpSpPr>
        <p:grpSpPr>
          <a:xfrm>
            <a:off x="793940" y="1207008"/>
            <a:ext cx="5312664" cy="2286000"/>
            <a:chOff x="923544" y="1152144"/>
            <a:chExt cx="5312664" cy="2286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8473C7-0F6C-3243-B424-8BD7935042CE}"/>
                </a:ext>
              </a:extLst>
            </p:cNvPr>
            <p:cNvSpPr/>
            <p:nvPr/>
          </p:nvSpPr>
          <p:spPr>
            <a:xfrm>
              <a:off x="923544" y="1152144"/>
              <a:ext cx="5312664" cy="22860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AB47512-32A6-9443-B8A0-85B25033D140}"/>
                </a:ext>
              </a:extLst>
            </p:cNvPr>
            <p:cNvCxnSpPr>
              <a:stCxn id="9" idx="4"/>
              <a:endCxn id="10" idx="0"/>
            </p:cNvCxnSpPr>
            <p:nvPr/>
          </p:nvCxnSpPr>
          <p:spPr>
            <a:xfrm>
              <a:off x="1450002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F5518A-A575-BC40-A7F4-18F66C5A2785}"/>
                </a:ext>
              </a:extLst>
            </p:cNvPr>
            <p:cNvCxnSpPr>
              <a:endCxn id="11" idx="2"/>
            </p:cNvCxnSpPr>
            <p:nvPr/>
          </p:nvCxnSpPr>
          <p:spPr>
            <a:xfrm>
              <a:off x="1765470" y="1610386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0695931-10BA-7E42-8C9D-28304B525A69}"/>
                </a:ext>
              </a:extLst>
            </p:cNvPr>
            <p:cNvCxnSpPr>
              <a:stCxn id="11" idx="4"/>
              <a:endCxn id="12" idx="0"/>
            </p:cNvCxnSpPr>
            <p:nvPr/>
          </p:nvCxnSpPr>
          <p:spPr>
            <a:xfrm>
              <a:off x="2983146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0F402F-D47A-4B4C-945A-C1B36AF18123}"/>
                </a:ext>
              </a:extLst>
            </p:cNvPr>
            <p:cNvCxnSpPr>
              <a:cxnSpLocks/>
              <a:stCxn id="11" idx="6"/>
              <a:endCxn id="13" idx="2"/>
            </p:cNvCxnSpPr>
            <p:nvPr/>
          </p:nvCxnSpPr>
          <p:spPr>
            <a:xfrm>
              <a:off x="3298614" y="1610386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8C98CDE-397E-C441-B6C1-2ACD9C387794}"/>
                </a:ext>
              </a:extLst>
            </p:cNvPr>
            <p:cNvCxnSpPr>
              <a:stCxn id="13" idx="3"/>
              <a:endCxn id="12" idx="7"/>
            </p:cNvCxnSpPr>
            <p:nvPr/>
          </p:nvCxnSpPr>
          <p:spPr>
            <a:xfrm flipH="1">
              <a:off x="3206216" y="1833456"/>
              <a:ext cx="1087004" cy="88784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D424B32-73D8-9649-B256-C6E0393BCD46}"/>
                </a:ext>
              </a:extLst>
            </p:cNvPr>
            <p:cNvCxnSpPr>
              <a:stCxn id="13" idx="4"/>
              <a:endCxn id="14" idx="0"/>
            </p:cNvCxnSpPr>
            <p:nvPr/>
          </p:nvCxnSpPr>
          <p:spPr>
            <a:xfrm>
              <a:off x="4516290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9F49AF7-39B7-FA46-9145-70B72F0157B8}"/>
                </a:ext>
              </a:extLst>
            </p:cNvPr>
            <p:cNvCxnSpPr>
              <a:stCxn id="12" idx="6"/>
              <a:endCxn id="14" idx="2"/>
            </p:cNvCxnSpPr>
            <p:nvPr/>
          </p:nvCxnSpPr>
          <p:spPr>
            <a:xfrm>
              <a:off x="3298614" y="2944371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A44C684-2DD8-F940-92FB-A28E69322D0F}"/>
                </a:ext>
              </a:extLst>
            </p:cNvPr>
            <p:cNvCxnSpPr>
              <a:stCxn id="13" idx="5"/>
              <a:endCxn id="15" idx="1"/>
            </p:cNvCxnSpPr>
            <p:nvPr/>
          </p:nvCxnSpPr>
          <p:spPr>
            <a:xfrm>
              <a:off x="4739360" y="1833456"/>
              <a:ext cx="816513" cy="88784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E1A7ADF-5D2C-1A4D-8671-C3C76E7E4826}"/>
                </a:ext>
              </a:extLst>
            </p:cNvPr>
            <p:cNvSpPr/>
            <p:nvPr/>
          </p:nvSpPr>
          <p:spPr>
            <a:xfrm>
              <a:off x="1134534" y="1294918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5127C5-91C4-5C4D-99F4-AC95E9B9D3D1}"/>
                </a:ext>
              </a:extLst>
            </p:cNvPr>
            <p:cNvSpPr/>
            <p:nvPr/>
          </p:nvSpPr>
          <p:spPr>
            <a:xfrm>
              <a:off x="1134534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EC0372E-E0B2-6043-ACBA-81A2BE9A46C7}"/>
                </a:ext>
              </a:extLst>
            </p:cNvPr>
            <p:cNvSpPr/>
            <p:nvPr/>
          </p:nvSpPr>
          <p:spPr>
            <a:xfrm>
              <a:off x="2667678" y="1294918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0DD137A-9028-C74B-B2EF-758C7A43DB96}"/>
                </a:ext>
              </a:extLst>
            </p:cNvPr>
            <p:cNvSpPr/>
            <p:nvPr/>
          </p:nvSpPr>
          <p:spPr>
            <a:xfrm>
              <a:off x="2667678" y="2628903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9836A34-CDCE-374E-A689-5C45C529799A}"/>
                </a:ext>
              </a:extLst>
            </p:cNvPr>
            <p:cNvSpPr/>
            <p:nvPr/>
          </p:nvSpPr>
          <p:spPr>
            <a:xfrm>
              <a:off x="4200822" y="1294918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30E0216-37F8-E042-B214-E29733948FE9}"/>
                </a:ext>
              </a:extLst>
            </p:cNvPr>
            <p:cNvSpPr/>
            <p:nvPr/>
          </p:nvSpPr>
          <p:spPr>
            <a:xfrm>
              <a:off x="4200822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99213CD-6A46-0F4F-BD32-549AED898455}"/>
                </a:ext>
              </a:extLst>
            </p:cNvPr>
            <p:cNvSpPr/>
            <p:nvPr/>
          </p:nvSpPr>
          <p:spPr>
            <a:xfrm>
              <a:off x="5463475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6B0423-2345-734B-A863-77D9DE042069}"/>
              </a:ext>
            </a:extLst>
          </p:cNvPr>
          <p:cNvGrpSpPr/>
          <p:nvPr/>
        </p:nvGrpSpPr>
        <p:grpSpPr>
          <a:xfrm>
            <a:off x="6312327" y="1207008"/>
            <a:ext cx="5312664" cy="2286000"/>
            <a:chOff x="923544" y="1152144"/>
            <a:chExt cx="5312664" cy="2286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FCBBBCD-D747-6144-833B-0D7AC7A18248}"/>
                </a:ext>
              </a:extLst>
            </p:cNvPr>
            <p:cNvSpPr/>
            <p:nvPr/>
          </p:nvSpPr>
          <p:spPr>
            <a:xfrm>
              <a:off x="923544" y="1152144"/>
              <a:ext cx="5312664" cy="22860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1793D0C-0A4E-AF47-8CF4-DEF0CAB817BF}"/>
                </a:ext>
              </a:extLst>
            </p:cNvPr>
            <p:cNvCxnSpPr>
              <a:stCxn id="35" idx="4"/>
              <a:endCxn id="36" idx="0"/>
            </p:cNvCxnSpPr>
            <p:nvPr/>
          </p:nvCxnSpPr>
          <p:spPr>
            <a:xfrm>
              <a:off x="1450002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43A46C0-1837-1B4A-87B6-02E2323D863E}"/>
                </a:ext>
              </a:extLst>
            </p:cNvPr>
            <p:cNvCxnSpPr>
              <a:endCxn id="37" idx="2"/>
            </p:cNvCxnSpPr>
            <p:nvPr/>
          </p:nvCxnSpPr>
          <p:spPr>
            <a:xfrm>
              <a:off x="1765470" y="1610386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E148955-AE8C-A445-AAA4-D88517B8E276}"/>
                </a:ext>
              </a:extLst>
            </p:cNvPr>
            <p:cNvCxnSpPr>
              <a:stCxn id="37" idx="4"/>
              <a:endCxn id="38" idx="0"/>
            </p:cNvCxnSpPr>
            <p:nvPr/>
          </p:nvCxnSpPr>
          <p:spPr>
            <a:xfrm>
              <a:off x="2983146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8222E98-A1EB-D642-8C70-39CF97AC2E1D}"/>
                </a:ext>
              </a:extLst>
            </p:cNvPr>
            <p:cNvCxnSpPr>
              <a:cxnSpLocks/>
              <a:stCxn id="37" idx="6"/>
              <a:endCxn id="39" idx="2"/>
            </p:cNvCxnSpPr>
            <p:nvPr/>
          </p:nvCxnSpPr>
          <p:spPr>
            <a:xfrm>
              <a:off x="3298614" y="1610386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23D35D5-F6F7-3C48-BC80-7E4F141C9D97}"/>
                </a:ext>
              </a:extLst>
            </p:cNvPr>
            <p:cNvCxnSpPr>
              <a:stCxn id="39" idx="3"/>
              <a:endCxn id="38" idx="7"/>
            </p:cNvCxnSpPr>
            <p:nvPr/>
          </p:nvCxnSpPr>
          <p:spPr>
            <a:xfrm flipH="1">
              <a:off x="3206216" y="1833456"/>
              <a:ext cx="1087004" cy="88784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BB6786F-62F7-514A-9C7A-A62BC510A8A0}"/>
                </a:ext>
              </a:extLst>
            </p:cNvPr>
            <p:cNvCxnSpPr>
              <a:stCxn id="39" idx="4"/>
              <a:endCxn id="40" idx="0"/>
            </p:cNvCxnSpPr>
            <p:nvPr/>
          </p:nvCxnSpPr>
          <p:spPr>
            <a:xfrm>
              <a:off x="4516290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251FAE4-3E6D-734E-B2C0-1377F973CD2B}"/>
                </a:ext>
              </a:extLst>
            </p:cNvPr>
            <p:cNvCxnSpPr>
              <a:stCxn id="38" idx="6"/>
              <a:endCxn id="40" idx="2"/>
            </p:cNvCxnSpPr>
            <p:nvPr/>
          </p:nvCxnSpPr>
          <p:spPr>
            <a:xfrm>
              <a:off x="3298614" y="2944371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70B3C74-176E-5745-AB50-A6F3153C6258}"/>
                </a:ext>
              </a:extLst>
            </p:cNvPr>
            <p:cNvCxnSpPr>
              <a:stCxn id="39" idx="5"/>
              <a:endCxn id="41" idx="1"/>
            </p:cNvCxnSpPr>
            <p:nvPr/>
          </p:nvCxnSpPr>
          <p:spPr>
            <a:xfrm>
              <a:off x="4739360" y="1833456"/>
              <a:ext cx="816513" cy="88784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351C73F-6C16-6443-964E-0E59F4F268C4}"/>
                </a:ext>
              </a:extLst>
            </p:cNvPr>
            <p:cNvSpPr/>
            <p:nvPr/>
          </p:nvSpPr>
          <p:spPr>
            <a:xfrm>
              <a:off x="1134534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4E79760-81BD-C24D-9C4C-5E4D6D0B569A}"/>
                </a:ext>
              </a:extLst>
            </p:cNvPr>
            <p:cNvSpPr/>
            <p:nvPr/>
          </p:nvSpPr>
          <p:spPr>
            <a:xfrm>
              <a:off x="1134534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28C5064-B7D1-3449-A243-C857A0E02671}"/>
                </a:ext>
              </a:extLst>
            </p:cNvPr>
            <p:cNvSpPr/>
            <p:nvPr/>
          </p:nvSpPr>
          <p:spPr>
            <a:xfrm>
              <a:off x="2667678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8AE4D50-9EE5-934D-87FA-846602E02D9A}"/>
                </a:ext>
              </a:extLst>
            </p:cNvPr>
            <p:cNvSpPr/>
            <p:nvPr/>
          </p:nvSpPr>
          <p:spPr>
            <a:xfrm>
              <a:off x="2667678" y="2628903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306F8F0-CB03-CA4C-8BB6-F0A20E734F60}"/>
                </a:ext>
              </a:extLst>
            </p:cNvPr>
            <p:cNvSpPr/>
            <p:nvPr/>
          </p:nvSpPr>
          <p:spPr>
            <a:xfrm>
              <a:off x="4200822" y="1294918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1881796-0038-974F-B469-645828854151}"/>
                </a:ext>
              </a:extLst>
            </p:cNvPr>
            <p:cNvSpPr/>
            <p:nvPr/>
          </p:nvSpPr>
          <p:spPr>
            <a:xfrm>
              <a:off x="4200822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5E35F86-AB94-8C48-918D-DC375F9AF650}"/>
                </a:ext>
              </a:extLst>
            </p:cNvPr>
            <p:cNvSpPr/>
            <p:nvPr/>
          </p:nvSpPr>
          <p:spPr>
            <a:xfrm>
              <a:off x="5463475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E34F9E7-06BE-B847-9673-83A20D1A1285}"/>
              </a:ext>
            </a:extLst>
          </p:cNvPr>
          <p:cNvGrpSpPr/>
          <p:nvPr/>
        </p:nvGrpSpPr>
        <p:grpSpPr>
          <a:xfrm>
            <a:off x="781747" y="3716077"/>
            <a:ext cx="5312664" cy="2286000"/>
            <a:chOff x="923544" y="1152144"/>
            <a:chExt cx="5312664" cy="22860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01929D1-581B-AC42-8F9E-DAC46DA36646}"/>
                </a:ext>
              </a:extLst>
            </p:cNvPr>
            <p:cNvSpPr/>
            <p:nvPr/>
          </p:nvSpPr>
          <p:spPr>
            <a:xfrm>
              <a:off x="923544" y="1152144"/>
              <a:ext cx="5312664" cy="22860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A236692-2FA3-3545-A5BE-FB7B8A857F19}"/>
                </a:ext>
              </a:extLst>
            </p:cNvPr>
            <p:cNvCxnSpPr>
              <a:stCxn id="52" idx="4"/>
              <a:endCxn id="53" idx="0"/>
            </p:cNvCxnSpPr>
            <p:nvPr/>
          </p:nvCxnSpPr>
          <p:spPr>
            <a:xfrm>
              <a:off x="1450002" y="1925854"/>
              <a:ext cx="0" cy="70304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2F70881-A45F-334E-940D-9FE8C349C6BB}"/>
                </a:ext>
              </a:extLst>
            </p:cNvPr>
            <p:cNvCxnSpPr>
              <a:endCxn id="54" idx="2"/>
            </p:cNvCxnSpPr>
            <p:nvPr/>
          </p:nvCxnSpPr>
          <p:spPr>
            <a:xfrm>
              <a:off x="1765470" y="1610386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F63C243-8298-3540-BF2D-E21C49AD2860}"/>
                </a:ext>
              </a:extLst>
            </p:cNvPr>
            <p:cNvCxnSpPr>
              <a:stCxn id="54" idx="4"/>
              <a:endCxn id="55" idx="0"/>
            </p:cNvCxnSpPr>
            <p:nvPr/>
          </p:nvCxnSpPr>
          <p:spPr>
            <a:xfrm>
              <a:off x="2983146" y="1925854"/>
              <a:ext cx="0" cy="70304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A93072E-41C3-7F41-B64F-45F615415C0F}"/>
                </a:ext>
              </a:extLst>
            </p:cNvPr>
            <p:cNvCxnSpPr>
              <a:cxnSpLocks/>
              <a:stCxn id="54" idx="6"/>
              <a:endCxn id="56" idx="2"/>
            </p:cNvCxnSpPr>
            <p:nvPr/>
          </p:nvCxnSpPr>
          <p:spPr>
            <a:xfrm>
              <a:off x="3298614" y="1610386"/>
              <a:ext cx="902208" cy="0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CF3B4C8-C4B3-AF46-A975-AC453365F8AD}"/>
                </a:ext>
              </a:extLst>
            </p:cNvPr>
            <p:cNvCxnSpPr>
              <a:stCxn id="56" idx="3"/>
              <a:endCxn id="55" idx="7"/>
            </p:cNvCxnSpPr>
            <p:nvPr/>
          </p:nvCxnSpPr>
          <p:spPr>
            <a:xfrm flipH="1">
              <a:off x="3206216" y="1833456"/>
              <a:ext cx="1087004" cy="88784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D853D79-A49C-B247-A33D-5CE8B79496F6}"/>
                </a:ext>
              </a:extLst>
            </p:cNvPr>
            <p:cNvCxnSpPr>
              <a:stCxn id="56" idx="4"/>
              <a:endCxn id="57" idx="0"/>
            </p:cNvCxnSpPr>
            <p:nvPr/>
          </p:nvCxnSpPr>
          <p:spPr>
            <a:xfrm>
              <a:off x="4516290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1C211D0-30D0-DB4A-99F6-DA664EE57D0E}"/>
                </a:ext>
              </a:extLst>
            </p:cNvPr>
            <p:cNvCxnSpPr>
              <a:stCxn id="55" idx="6"/>
              <a:endCxn id="57" idx="2"/>
            </p:cNvCxnSpPr>
            <p:nvPr/>
          </p:nvCxnSpPr>
          <p:spPr>
            <a:xfrm>
              <a:off x="3298614" y="2944371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66873A6-4B84-D247-A118-1B06620E9EAB}"/>
                </a:ext>
              </a:extLst>
            </p:cNvPr>
            <p:cNvCxnSpPr>
              <a:stCxn id="56" idx="5"/>
              <a:endCxn id="58" idx="1"/>
            </p:cNvCxnSpPr>
            <p:nvPr/>
          </p:nvCxnSpPr>
          <p:spPr>
            <a:xfrm>
              <a:off x="4739360" y="1833456"/>
              <a:ext cx="816513" cy="88784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E39CF3F-1C62-0C47-BF4A-68BCB3D80375}"/>
                </a:ext>
              </a:extLst>
            </p:cNvPr>
            <p:cNvSpPr/>
            <p:nvPr/>
          </p:nvSpPr>
          <p:spPr>
            <a:xfrm>
              <a:off x="1134534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B4ECDD-93A1-AE4B-83E2-68ED382B172C}"/>
                </a:ext>
              </a:extLst>
            </p:cNvPr>
            <p:cNvSpPr/>
            <p:nvPr/>
          </p:nvSpPr>
          <p:spPr>
            <a:xfrm>
              <a:off x="1134534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7532602-1EDE-0B4D-A636-2243B4B57F8E}"/>
                </a:ext>
              </a:extLst>
            </p:cNvPr>
            <p:cNvSpPr/>
            <p:nvPr/>
          </p:nvSpPr>
          <p:spPr>
            <a:xfrm>
              <a:off x="2667678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A77A9EA-56BC-784C-9060-8DCC5E6EF41A}"/>
                </a:ext>
              </a:extLst>
            </p:cNvPr>
            <p:cNvSpPr/>
            <p:nvPr/>
          </p:nvSpPr>
          <p:spPr>
            <a:xfrm>
              <a:off x="2667678" y="2628903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D409DFE-709B-8547-B203-BE86F0B69FB2}"/>
                </a:ext>
              </a:extLst>
            </p:cNvPr>
            <p:cNvSpPr/>
            <p:nvPr/>
          </p:nvSpPr>
          <p:spPr>
            <a:xfrm>
              <a:off x="4200822" y="1294918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FF62142-B2E3-034A-9613-2590909D6077}"/>
                </a:ext>
              </a:extLst>
            </p:cNvPr>
            <p:cNvSpPr/>
            <p:nvPr/>
          </p:nvSpPr>
          <p:spPr>
            <a:xfrm>
              <a:off x="4200822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C6E29FF-2A7A-4643-B3C1-1FC8C37A9BD6}"/>
                </a:ext>
              </a:extLst>
            </p:cNvPr>
            <p:cNvSpPr/>
            <p:nvPr/>
          </p:nvSpPr>
          <p:spPr>
            <a:xfrm>
              <a:off x="5463475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4A64E8-D82D-5544-B14C-78D1AD32196A}"/>
              </a:ext>
            </a:extLst>
          </p:cNvPr>
          <p:cNvGrpSpPr/>
          <p:nvPr/>
        </p:nvGrpSpPr>
        <p:grpSpPr>
          <a:xfrm>
            <a:off x="6312327" y="3716077"/>
            <a:ext cx="5312664" cy="2286000"/>
            <a:chOff x="923544" y="1152144"/>
            <a:chExt cx="5312664" cy="22860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A47E62E-A6D2-E746-851F-46F2EA504715}"/>
                </a:ext>
              </a:extLst>
            </p:cNvPr>
            <p:cNvSpPr/>
            <p:nvPr/>
          </p:nvSpPr>
          <p:spPr>
            <a:xfrm>
              <a:off x="923544" y="1152144"/>
              <a:ext cx="5312664" cy="22860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968EA80-B508-A740-98D7-0F7A6E9A41FC}"/>
                </a:ext>
              </a:extLst>
            </p:cNvPr>
            <p:cNvCxnSpPr>
              <a:stCxn id="69" idx="4"/>
              <a:endCxn id="70" idx="0"/>
            </p:cNvCxnSpPr>
            <p:nvPr/>
          </p:nvCxnSpPr>
          <p:spPr>
            <a:xfrm>
              <a:off x="1450002" y="1925854"/>
              <a:ext cx="0" cy="70304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029B41C-0885-9249-8768-F6A98DE90CB7}"/>
                </a:ext>
              </a:extLst>
            </p:cNvPr>
            <p:cNvCxnSpPr>
              <a:endCxn id="71" idx="2"/>
            </p:cNvCxnSpPr>
            <p:nvPr/>
          </p:nvCxnSpPr>
          <p:spPr>
            <a:xfrm>
              <a:off x="1765470" y="1610386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A4FBDEF-2B25-CB4A-B626-881485542490}"/>
                </a:ext>
              </a:extLst>
            </p:cNvPr>
            <p:cNvCxnSpPr>
              <a:stCxn id="71" idx="4"/>
              <a:endCxn id="72" idx="0"/>
            </p:cNvCxnSpPr>
            <p:nvPr/>
          </p:nvCxnSpPr>
          <p:spPr>
            <a:xfrm>
              <a:off x="2983146" y="1925854"/>
              <a:ext cx="0" cy="70304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6B15BF0-AEE1-754B-ADD8-485DE159D195}"/>
                </a:ext>
              </a:extLst>
            </p:cNvPr>
            <p:cNvCxnSpPr>
              <a:cxnSpLocks/>
              <a:stCxn id="71" idx="6"/>
              <a:endCxn id="73" idx="2"/>
            </p:cNvCxnSpPr>
            <p:nvPr/>
          </p:nvCxnSpPr>
          <p:spPr>
            <a:xfrm>
              <a:off x="3298614" y="1610386"/>
              <a:ext cx="902208" cy="0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A703A30-B27D-514F-916C-EFDDDA2528FC}"/>
                </a:ext>
              </a:extLst>
            </p:cNvPr>
            <p:cNvCxnSpPr>
              <a:stCxn id="73" idx="3"/>
              <a:endCxn id="72" idx="7"/>
            </p:cNvCxnSpPr>
            <p:nvPr/>
          </p:nvCxnSpPr>
          <p:spPr>
            <a:xfrm flipH="1">
              <a:off x="3206216" y="1833456"/>
              <a:ext cx="1087004" cy="88784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291049E-5A85-124B-A500-2053378F2A6F}"/>
                </a:ext>
              </a:extLst>
            </p:cNvPr>
            <p:cNvCxnSpPr>
              <a:stCxn id="73" idx="4"/>
              <a:endCxn id="74" idx="0"/>
            </p:cNvCxnSpPr>
            <p:nvPr/>
          </p:nvCxnSpPr>
          <p:spPr>
            <a:xfrm>
              <a:off x="4516290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436DB4B-26D0-AF44-99AA-A08798C414D7}"/>
                </a:ext>
              </a:extLst>
            </p:cNvPr>
            <p:cNvCxnSpPr>
              <a:stCxn id="72" idx="6"/>
              <a:endCxn id="74" idx="2"/>
            </p:cNvCxnSpPr>
            <p:nvPr/>
          </p:nvCxnSpPr>
          <p:spPr>
            <a:xfrm>
              <a:off x="3298614" y="2944371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076DEB6-2B23-8C46-BCFD-110A0FBB4448}"/>
                </a:ext>
              </a:extLst>
            </p:cNvPr>
            <p:cNvCxnSpPr>
              <a:stCxn id="73" idx="5"/>
              <a:endCxn id="75" idx="1"/>
            </p:cNvCxnSpPr>
            <p:nvPr/>
          </p:nvCxnSpPr>
          <p:spPr>
            <a:xfrm>
              <a:off x="4739360" y="1833456"/>
              <a:ext cx="816513" cy="88784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38071E0-E22E-A545-95D4-8EDC25E479F7}"/>
                </a:ext>
              </a:extLst>
            </p:cNvPr>
            <p:cNvSpPr/>
            <p:nvPr/>
          </p:nvSpPr>
          <p:spPr>
            <a:xfrm>
              <a:off x="1134534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6EC50C1-B442-AA4A-96A3-0CCE27031E2F}"/>
                </a:ext>
              </a:extLst>
            </p:cNvPr>
            <p:cNvSpPr/>
            <p:nvPr/>
          </p:nvSpPr>
          <p:spPr>
            <a:xfrm>
              <a:off x="1134534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3143E1E-E5F2-4741-81B4-D0742C98ECCA}"/>
                </a:ext>
              </a:extLst>
            </p:cNvPr>
            <p:cNvSpPr/>
            <p:nvPr/>
          </p:nvSpPr>
          <p:spPr>
            <a:xfrm>
              <a:off x="2667678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2CE387D-D01F-E84A-9D37-A859B95741F0}"/>
                </a:ext>
              </a:extLst>
            </p:cNvPr>
            <p:cNvSpPr/>
            <p:nvPr/>
          </p:nvSpPr>
          <p:spPr>
            <a:xfrm>
              <a:off x="2667678" y="2628903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1252C7A-2E20-B146-B8AE-665B53C62D80}"/>
                </a:ext>
              </a:extLst>
            </p:cNvPr>
            <p:cNvSpPr/>
            <p:nvPr/>
          </p:nvSpPr>
          <p:spPr>
            <a:xfrm>
              <a:off x="4200822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6E19D55-02F2-C34B-BED6-69402709FF70}"/>
                </a:ext>
              </a:extLst>
            </p:cNvPr>
            <p:cNvSpPr/>
            <p:nvPr/>
          </p:nvSpPr>
          <p:spPr>
            <a:xfrm>
              <a:off x="4200822" y="2628903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1A620E4-70A9-344E-B7D1-1D189F3C5973}"/>
                </a:ext>
              </a:extLst>
            </p:cNvPr>
            <p:cNvSpPr/>
            <p:nvPr/>
          </p:nvSpPr>
          <p:spPr>
            <a:xfrm>
              <a:off x="5463475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D2A62253-71AE-3946-8DBD-0BCD8590644B}"/>
              </a:ext>
            </a:extLst>
          </p:cNvPr>
          <p:cNvSpPr txBox="1"/>
          <p:nvPr/>
        </p:nvSpPr>
        <p:spPr>
          <a:xfrm>
            <a:off x="8687397" y="6080844"/>
            <a:ext cx="2587155" cy="33855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600" i="1" dirty="0"/>
              <a:t>…last step is on next slide</a:t>
            </a:r>
          </a:p>
        </p:txBody>
      </p:sp>
    </p:spTree>
    <p:extLst>
      <p:ext uri="{BB962C8B-B14F-4D97-AF65-F5344CB8AC3E}">
        <p14:creationId xmlns:p14="http://schemas.microsoft.com/office/powerpoint/2010/main" val="55422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658065"/>
          </a:xfrm>
        </p:spPr>
        <p:txBody>
          <a:bodyPr/>
          <a:lstStyle/>
          <a:p>
            <a:pPr algn="ctr"/>
            <a:r>
              <a:rPr lang="en-US" dirty="0"/>
              <a:t>Sample Execution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4A64E8-D82D-5544-B14C-78D1AD32196A}"/>
              </a:ext>
            </a:extLst>
          </p:cNvPr>
          <p:cNvGrpSpPr/>
          <p:nvPr/>
        </p:nvGrpSpPr>
        <p:grpSpPr>
          <a:xfrm>
            <a:off x="3438079" y="1920763"/>
            <a:ext cx="5312664" cy="2286000"/>
            <a:chOff x="923544" y="1152144"/>
            <a:chExt cx="5312664" cy="22860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A47E62E-A6D2-E746-851F-46F2EA504715}"/>
                </a:ext>
              </a:extLst>
            </p:cNvPr>
            <p:cNvSpPr/>
            <p:nvPr/>
          </p:nvSpPr>
          <p:spPr>
            <a:xfrm>
              <a:off x="923544" y="1152144"/>
              <a:ext cx="5312664" cy="22860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968EA80-B508-A740-98D7-0F7A6E9A41FC}"/>
                </a:ext>
              </a:extLst>
            </p:cNvPr>
            <p:cNvCxnSpPr>
              <a:stCxn id="69" idx="4"/>
              <a:endCxn id="70" idx="0"/>
            </p:cNvCxnSpPr>
            <p:nvPr/>
          </p:nvCxnSpPr>
          <p:spPr>
            <a:xfrm>
              <a:off x="1450002" y="1925854"/>
              <a:ext cx="0" cy="70304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029B41C-0885-9249-8768-F6A98DE90CB7}"/>
                </a:ext>
              </a:extLst>
            </p:cNvPr>
            <p:cNvCxnSpPr>
              <a:endCxn id="71" idx="2"/>
            </p:cNvCxnSpPr>
            <p:nvPr/>
          </p:nvCxnSpPr>
          <p:spPr>
            <a:xfrm>
              <a:off x="1765470" y="1610386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A4FBDEF-2B25-CB4A-B626-881485542490}"/>
                </a:ext>
              </a:extLst>
            </p:cNvPr>
            <p:cNvCxnSpPr>
              <a:stCxn id="71" idx="4"/>
              <a:endCxn id="72" idx="0"/>
            </p:cNvCxnSpPr>
            <p:nvPr/>
          </p:nvCxnSpPr>
          <p:spPr>
            <a:xfrm>
              <a:off x="2983146" y="1925854"/>
              <a:ext cx="0" cy="70304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6B15BF0-AEE1-754B-ADD8-485DE159D195}"/>
                </a:ext>
              </a:extLst>
            </p:cNvPr>
            <p:cNvCxnSpPr>
              <a:cxnSpLocks/>
              <a:stCxn id="71" idx="6"/>
              <a:endCxn id="73" idx="2"/>
            </p:cNvCxnSpPr>
            <p:nvPr/>
          </p:nvCxnSpPr>
          <p:spPr>
            <a:xfrm>
              <a:off x="3298614" y="1610386"/>
              <a:ext cx="902208" cy="0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A703A30-B27D-514F-916C-EFDDDA2528FC}"/>
                </a:ext>
              </a:extLst>
            </p:cNvPr>
            <p:cNvCxnSpPr>
              <a:stCxn id="73" idx="3"/>
              <a:endCxn id="72" idx="7"/>
            </p:cNvCxnSpPr>
            <p:nvPr/>
          </p:nvCxnSpPr>
          <p:spPr>
            <a:xfrm flipH="1">
              <a:off x="3206216" y="1833456"/>
              <a:ext cx="1087004" cy="887845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291049E-5A85-124B-A500-2053378F2A6F}"/>
                </a:ext>
              </a:extLst>
            </p:cNvPr>
            <p:cNvCxnSpPr>
              <a:stCxn id="73" idx="4"/>
              <a:endCxn id="74" idx="0"/>
            </p:cNvCxnSpPr>
            <p:nvPr/>
          </p:nvCxnSpPr>
          <p:spPr>
            <a:xfrm>
              <a:off x="4516290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436DB4B-26D0-AF44-99AA-A08798C414D7}"/>
                </a:ext>
              </a:extLst>
            </p:cNvPr>
            <p:cNvCxnSpPr>
              <a:stCxn id="72" idx="6"/>
              <a:endCxn id="74" idx="2"/>
            </p:cNvCxnSpPr>
            <p:nvPr/>
          </p:nvCxnSpPr>
          <p:spPr>
            <a:xfrm>
              <a:off x="3298614" y="2944371"/>
              <a:ext cx="902208" cy="0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076DEB6-2B23-8C46-BCFD-110A0FBB4448}"/>
                </a:ext>
              </a:extLst>
            </p:cNvPr>
            <p:cNvCxnSpPr>
              <a:stCxn id="73" idx="5"/>
              <a:endCxn id="75" idx="1"/>
            </p:cNvCxnSpPr>
            <p:nvPr/>
          </p:nvCxnSpPr>
          <p:spPr>
            <a:xfrm>
              <a:off x="4739360" y="1833456"/>
              <a:ext cx="816513" cy="887845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38071E0-E22E-A545-95D4-8EDC25E479F7}"/>
                </a:ext>
              </a:extLst>
            </p:cNvPr>
            <p:cNvSpPr/>
            <p:nvPr/>
          </p:nvSpPr>
          <p:spPr>
            <a:xfrm>
              <a:off x="1134534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6EC50C1-B442-AA4A-96A3-0CCE27031E2F}"/>
                </a:ext>
              </a:extLst>
            </p:cNvPr>
            <p:cNvSpPr/>
            <p:nvPr/>
          </p:nvSpPr>
          <p:spPr>
            <a:xfrm>
              <a:off x="1134534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3143E1E-E5F2-4741-81B4-D0742C98ECCA}"/>
                </a:ext>
              </a:extLst>
            </p:cNvPr>
            <p:cNvSpPr/>
            <p:nvPr/>
          </p:nvSpPr>
          <p:spPr>
            <a:xfrm>
              <a:off x="2667678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2CE387D-D01F-E84A-9D37-A859B95741F0}"/>
                </a:ext>
              </a:extLst>
            </p:cNvPr>
            <p:cNvSpPr/>
            <p:nvPr/>
          </p:nvSpPr>
          <p:spPr>
            <a:xfrm>
              <a:off x="2667678" y="2628903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1252C7A-2E20-B146-B8AE-665B53C62D80}"/>
                </a:ext>
              </a:extLst>
            </p:cNvPr>
            <p:cNvSpPr/>
            <p:nvPr/>
          </p:nvSpPr>
          <p:spPr>
            <a:xfrm>
              <a:off x="4200822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6E19D55-02F2-C34B-BED6-69402709FF70}"/>
                </a:ext>
              </a:extLst>
            </p:cNvPr>
            <p:cNvSpPr/>
            <p:nvPr/>
          </p:nvSpPr>
          <p:spPr>
            <a:xfrm>
              <a:off x="4200822" y="2628903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1A620E4-70A9-344E-B7D1-1D189F3C5973}"/>
                </a:ext>
              </a:extLst>
            </p:cNvPr>
            <p:cNvSpPr/>
            <p:nvPr/>
          </p:nvSpPr>
          <p:spPr>
            <a:xfrm>
              <a:off x="5463475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0372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658065"/>
          </a:xfrm>
        </p:spPr>
        <p:txBody>
          <a:bodyPr/>
          <a:lstStyle/>
          <a:p>
            <a:pPr algn="ctr"/>
            <a:r>
              <a:rPr lang="en-US" dirty="0"/>
              <a:t>Sample Execution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4A64E8-D82D-5544-B14C-78D1AD32196A}"/>
              </a:ext>
            </a:extLst>
          </p:cNvPr>
          <p:cNvGrpSpPr/>
          <p:nvPr/>
        </p:nvGrpSpPr>
        <p:grpSpPr>
          <a:xfrm>
            <a:off x="784796" y="1939051"/>
            <a:ext cx="5312664" cy="2286000"/>
            <a:chOff x="923544" y="1152144"/>
            <a:chExt cx="5312664" cy="22860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A47E62E-A6D2-E746-851F-46F2EA504715}"/>
                </a:ext>
              </a:extLst>
            </p:cNvPr>
            <p:cNvSpPr/>
            <p:nvPr/>
          </p:nvSpPr>
          <p:spPr>
            <a:xfrm>
              <a:off x="923544" y="1152144"/>
              <a:ext cx="5312664" cy="22860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968EA80-B508-A740-98D7-0F7A6E9A41FC}"/>
                </a:ext>
              </a:extLst>
            </p:cNvPr>
            <p:cNvCxnSpPr>
              <a:stCxn id="69" idx="4"/>
              <a:endCxn id="70" idx="0"/>
            </p:cNvCxnSpPr>
            <p:nvPr/>
          </p:nvCxnSpPr>
          <p:spPr>
            <a:xfrm>
              <a:off x="1450002" y="1925854"/>
              <a:ext cx="0" cy="70304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029B41C-0885-9249-8768-F6A98DE90CB7}"/>
                </a:ext>
              </a:extLst>
            </p:cNvPr>
            <p:cNvCxnSpPr>
              <a:endCxn id="71" idx="2"/>
            </p:cNvCxnSpPr>
            <p:nvPr/>
          </p:nvCxnSpPr>
          <p:spPr>
            <a:xfrm>
              <a:off x="1765470" y="1610386"/>
              <a:ext cx="902208" cy="0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A4FBDEF-2B25-CB4A-B626-881485542490}"/>
                </a:ext>
              </a:extLst>
            </p:cNvPr>
            <p:cNvCxnSpPr>
              <a:stCxn id="71" idx="4"/>
              <a:endCxn id="72" idx="0"/>
            </p:cNvCxnSpPr>
            <p:nvPr/>
          </p:nvCxnSpPr>
          <p:spPr>
            <a:xfrm>
              <a:off x="2983146" y="1925854"/>
              <a:ext cx="0" cy="703049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6B15BF0-AEE1-754B-ADD8-485DE159D195}"/>
                </a:ext>
              </a:extLst>
            </p:cNvPr>
            <p:cNvCxnSpPr>
              <a:cxnSpLocks/>
              <a:stCxn id="71" idx="6"/>
              <a:endCxn id="73" idx="2"/>
            </p:cNvCxnSpPr>
            <p:nvPr/>
          </p:nvCxnSpPr>
          <p:spPr>
            <a:xfrm>
              <a:off x="3298614" y="1610386"/>
              <a:ext cx="902208" cy="0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A703A30-B27D-514F-916C-EFDDDA2528FC}"/>
                </a:ext>
              </a:extLst>
            </p:cNvPr>
            <p:cNvCxnSpPr>
              <a:stCxn id="73" idx="3"/>
              <a:endCxn id="72" idx="7"/>
            </p:cNvCxnSpPr>
            <p:nvPr/>
          </p:nvCxnSpPr>
          <p:spPr>
            <a:xfrm flipH="1">
              <a:off x="3206216" y="1833456"/>
              <a:ext cx="1087004" cy="887845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291049E-5A85-124B-A500-2053378F2A6F}"/>
                </a:ext>
              </a:extLst>
            </p:cNvPr>
            <p:cNvCxnSpPr>
              <a:stCxn id="73" idx="4"/>
              <a:endCxn id="74" idx="0"/>
            </p:cNvCxnSpPr>
            <p:nvPr/>
          </p:nvCxnSpPr>
          <p:spPr>
            <a:xfrm>
              <a:off x="4516290" y="1925854"/>
              <a:ext cx="0" cy="703049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436DB4B-26D0-AF44-99AA-A08798C414D7}"/>
                </a:ext>
              </a:extLst>
            </p:cNvPr>
            <p:cNvCxnSpPr>
              <a:stCxn id="72" idx="6"/>
              <a:endCxn id="74" idx="2"/>
            </p:cNvCxnSpPr>
            <p:nvPr/>
          </p:nvCxnSpPr>
          <p:spPr>
            <a:xfrm>
              <a:off x="3298614" y="2944371"/>
              <a:ext cx="902208" cy="0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076DEB6-2B23-8C46-BCFD-110A0FBB4448}"/>
                </a:ext>
              </a:extLst>
            </p:cNvPr>
            <p:cNvCxnSpPr>
              <a:stCxn id="73" idx="5"/>
              <a:endCxn id="75" idx="1"/>
            </p:cNvCxnSpPr>
            <p:nvPr/>
          </p:nvCxnSpPr>
          <p:spPr>
            <a:xfrm>
              <a:off x="4739360" y="1833456"/>
              <a:ext cx="816513" cy="887845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38071E0-E22E-A545-95D4-8EDC25E479F7}"/>
                </a:ext>
              </a:extLst>
            </p:cNvPr>
            <p:cNvSpPr/>
            <p:nvPr/>
          </p:nvSpPr>
          <p:spPr>
            <a:xfrm>
              <a:off x="1134534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6EC50C1-B442-AA4A-96A3-0CCE27031E2F}"/>
                </a:ext>
              </a:extLst>
            </p:cNvPr>
            <p:cNvSpPr/>
            <p:nvPr/>
          </p:nvSpPr>
          <p:spPr>
            <a:xfrm>
              <a:off x="1134534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3143E1E-E5F2-4741-81B4-D0742C98ECCA}"/>
                </a:ext>
              </a:extLst>
            </p:cNvPr>
            <p:cNvSpPr/>
            <p:nvPr/>
          </p:nvSpPr>
          <p:spPr>
            <a:xfrm>
              <a:off x="2667678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2CE387D-D01F-E84A-9D37-A859B95741F0}"/>
                </a:ext>
              </a:extLst>
            </p:cNvPr>
            <p:cNvSpPr/>
            <p:nvPr/>
          </p:nvSpPr>
          <p:spPr>
            <a:xfrm>
              <a:off x="2667678" y="2628903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1252C7A-2E20-B146-B8AE-665B53C62D80}"/>
                </a:ext>
              </a:extLst>
            </p:cNvPr>
            <p:cNvSpPr/>
            <p:nvPr/>
          </p:nvSpPr>
          <p:spPr>
            <a:xfrm>
              <a:off x="4200822" y="129491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6E19D55-02F2-C34B-BED6-69402709FF70}"/>
                </a:ext>
              </a:extLst>
            </p:cNvPr>
            <p:cNvSpPr/>
            <p:nvPr/>
          </p:nvSpPr>
          <p:spPr>
            <a:xfrm>
              <a:off x="4200822" y="2628903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1A620E4-70A9-344E-B7D1-1D189F3C5973}"/>
                </a:ext>
              </a:extLst>
            </p:cNvPr>
            <p:cNvSpPr/>
            <p:nvPr/>
          </p:nvSpPr>
          <p:spPr>
            <a:xfrm>
              <a:off x="5463475" y="2628903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FCB3EB7C-72C4-444C-AA77-E638918DEE2D}"/>
              </a:ext>
            </a:extLst>
          </p:cNvPr>
          <p:cNvSpPr txBox="1"/>
          <p:nvPr/>
        </p:nvSpPr>
        <p:spPr>
          <a:xfrm>
            <a:off x="6665846" y="1927889"/>
            <a:ext cx="4646740" cy="230832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Vertex-Approximation(G):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C = []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E’ = G.E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while</a:t>
            </a:r>
            <a:r>
              <a:rPr lang="en-US" dirty="0">
                <a:solidFill>
                  <a:sysClr val="windowText" lastClr="000000"/>
                </a:solidFill>
              </a:rPr>
              <a:t> E’ not empty: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let e=(</a:t>
            </a:r>
            <a:r>
              <a:rPr lang="en-US" dirty="0" err="1">
                <a:solidFill>
                  <a:sysClr val="windowText" lastClr="000000"/>
                </a:solidFill>
              </a:rPr>
              <a:t>u,v</a:t>
            </a:r>
            <a:r>
              <a:rPr lang="en-US" dirty="0">
                <a:solidFill>
                  <a:sysClr val="windowText" lastClr="000000"/>
                </a:solidFill>
              </a:rPr>
              <a:t>) be arbitrary edge from E’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C = </a:t>
            </a:r>
            <a:r>
              <a:rPr lang="en-US" dirty="0" err="1">
                <a:solidFill>
                  <a:sysClr val="windowText" lastClr="000000"/>
                </a:solidFill>
              </a:rPr>
              <a:t>C.append</a:t>
            </a:r>
            <a:r>
              <a:rPr lang="en-US" dirty="0">
                <a:solidFill>
                  <a:sysClr val="windowText" lastClr="000000"/>
                </a:solidFill>
              </a:rPr>
              <a:t>({</a:t>
            </a:r>
            <a:r>
              <a:rPr lang="en-US" dirty="0" err="1">
                <a:solidFill>
                  <a:sysClr val="windowText" lastClr="000000"/>
                </a:solidFill>
              </a:rPr>
              <a:t>u,v</a:t>
            </a:r>
            <a:r>
              <a:rPr lang="en-US" dirty="0">
                <a:solidFill>
                  <a:sysClr val="windowText" lastClr="000000"/>
                </a:solidFill>
              </a:rPr>
              <a:t>})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remove all edges in E’ incident on u or v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return</a:t>
            </a:r>
            <a:r>
              <a:rPr lang="en-US" dirty="0">
                <a:solidFill>
                  <a:sysClr val="windowText" lastClr="000000"/>
                </a:solidFill>
              </a:rPr>
              <a:t> 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F27C07-CF3E-4445-ACA0-E5863C5C5AF8}"/>
              </a:ext>
            </a:extLst>
          </p:cNvPr>
          <p:cNvSpPr txBox="1"/>
          <p:nvPr/>
        </p:nvSpPr>
        <p:spPr>
          <a:xfrm>
            <a:off x="5324728" y="4651802"/>
            <a:ext cx="5987858" cy="584775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600" i="1" dirty="0"/>
              <a:t>This is just one way it could have turned out. Any thoughts on the limits of “how bad” or “how good” the approximation will be?</a:t>
            </a:r>
          </a:p>
        </p:txBody>
      </p:sp>
    </p:spTree>
    <p:extLst>
      <p:ext uri="{BB962C8B-B14F-4D97-AF65-F5344CB8AC3E}">
        <p14:creationId xmlns:p14="http://schemas.microsoft.com/office/powerpoint/2010/main" val="1140860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 err="1"/>
              <a:t>Approx</a:t>
            </a:r>
            <a:r>
              <a:rPr lang="en-US" dirty="0"/>
              <a:t>-Vert-Cover: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D1DC23-009C-4345-AACE-883EA6E42F99}"/>
                  </a:ext>
                </a:extLst>
              </p:cNvPr>
              <p:cNvSpPr txBox="1"/>
              <p:nvPr/>
            </p:nvSpPr>
            <p:spPr>
              <a:xfrm>
                <a:off x="923414" y="1980507"/>
                <a:ext cx="4646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Runtime is polynomial? Yes,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D1DC23-009C-4345-AACE-883EA6E42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414" y="1980507"/>
                <a:ext cx="4646740" cy="369332"/>
              </a:xfrm>
              <a:prstGeom prst="rect">
                <a:avLst/>
              </a:prstGeom>
              <a:blipFill>
                <a:blip r:embed="rId2"/>
                <a:stretch>
                  <a:fillRect l="-1090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433B4B9-DF60-D14D-B949-7C3D8B207D53}"/>
              </a:ext>
            </a:extLst>
          </p:cNvPr>
          <p:cNvSpPr txBox="1"/>
          <p:nvPr/>
        </p:nvSpPr>
        <p:spPr>
          <a:xfrm>
            <a:off x="6099048" y="2199963"/>
            <a:ext cx="503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 each edge e we choose on this line, the solution definitely includes u or v, we always add both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6F62A-DDAD-FE43-9F01-D6B230B6B25A}"/>
              </a:ext>
            </a:extLst>
          </p:cNvPr>
          <p:cNvSpPr txBox="1"/>
          <p:nvPr/>
        </p:nvSpPr>
        <p:spPr>
          <a:xfrm>
            <a:off x="923414" y="2439953"/>
            <a:ext cx="4646740" cy="230832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Vertex-Approximation(G):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C = []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E’ = G.E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while</a:t>
            </a:r>
            <a:r>
              <a:rPr lang="en-US" dirty="0">
                <a:solidFill>
                  <a:sysClr val="windowText" lastClr="000000"/>
                </a:solidFill>
              </a:rPr>
              <a:t> E’ not empty: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let e=(</a:t>
            </a:r>
            <a:r>
              <a:rPr lang="en-US" dirty="0" err="1">
                <a:solidFill>
                  <a:sysClr val="windowText" lastClr="000000"/>
                </a:solidFill>
              </a:rPr>
              <a:t>u,v</a:t>
            </a:r>
            <a:r>
              <a:rPr lang="en-US" dirty="0">
                <a:solidFill>
                  <a:sysClr val="windowText" lastClr="000000"/>
                </a:solidFill>
              </a:rPr>
              <a:t>) be arbitrary edge from E’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C = </a:t>
            </a:r>
            <a:r>
              <a:rPr lang="en-US" dirty="0" err="1">
                <a:solidFill>
                  <a:sysClr val="windowText" lastClr="000000"/>
                </a:solidFill>
              </a:rPr>
              <a:t>C.append</a:t>
            </a:r>
            <a:r>
              <a:rPr lang="en-US" dirty="0">
                <a:solidFill>
                  <a:sysClr val="windowText" lastClr="000000"/>
                </a:solidFill>
              </a:rPr>
              <a:t>(e)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remove all edges in E’ incident on u or v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return</a:t>
            </a:r>
            <a:r>
              <a:rPr lang="en-US" dirty="0">
                <a:solidFill>
                  <a:sysClr val="windowText" lastClr="000000"/>
                </a:solidFill>
              </a:rPr>
              <a:t> 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82674F-B2FC-AE4D-A5A0-FE30976FF17D}"/>
              </a:ext>
            </a:extLst>
          </p:cNvPr>
          <p:cNvCxnSpPr>
            <a:cxnSpLocks/>
          </p:cNvCxnSpPr>
          <p:nvPr/>
        </p:nvCxnSpPr>
        <p:spPr>
          <a:xfrm flipH="1">
            <a:off x="4809744" y="2660904"/>
            <a:ext cx="1563625" cy="93321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4194923-9757-D043-9A29-55AAA77B40B0}"/>
              </a:ext>
            </a:extLst>
          </p:cNvPr>
          <p:cNvSpPr txBox="1"/>
          <p:nvPr/>
        </p:nvSpPr>
        <p:spPr>
          <a:xfrm>
            <a:off x="6373369" y="4300035"/>
            <a:ext cx="503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We remove as many extra edges as we can here, but of course there could be 0 each time.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D2635B-49E1-6241-B750-89222D906E7B}"/>
              </a:ext>
            </a:extLst>
          </p:cNvPr>
          <p:cNvCxnSpPr>
            <a:cxnSpLocks/>
          </p:cNvCxnSpPr>
          <p:nvPr/>
        </p:nvCxnSpPr>
        <p:spPr>
          <a:xfrm flipH="1" flipV="1">
            <a:off x="5051266" y="4300035"/>
            <a:ext cx="1477551" cy="20795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699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 err="1"/>
              <a:t>Approx</a:t>
            </a:r>
            <a:r>
              <a:rPr lang="en-US" dirty="0"/>
              <a:t>-Vert-Cover: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1664078" y="1328567"/>
            <a:ext cx="8824090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Claim</a:t>
            </a:r>
            <a:r>
              <a:rPr lang="en-US" dirty="0"/>
              <a:t>: Vertex-Approximation is a 2-approximation of vertex cover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6F62A-DDAD-FE43-9F01-D6B230B6B25A}"/>
              </a:ext>
            </a:extLst>
          </p:cNvPr>
          <p:cNvSpPr txBox="1"/>
          <p:nvPr/>
        </p:nvSpPr>
        <p:spPr>
          <a:xfrm>
            <a:off x="886838" y="2677697"/>
            <a:ext cx="4242946" cy="230832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Vertex-Approximation(G):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C = []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E’ = G.E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while</a:t>
            </a:r>
            <a:r>
              <a:rPr lang="en-US" dirty="0">
                <a:solidFill>
                  <a:sysClr val="windowText" lastClr="000000"/>
                </a:solidFill>
              </a:rPr>
              <a:t> E’ not empty: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let e=(</a:t>
            </a:r>
            <a:r>
              <a:rPr lang="en-US" dirty="0" err="1">
                <a:solidFill>
                  <a:sysClr val="windowText" lastClr="000000"/>
                </a:solidFill>
              </a:rPr>
              <a:t>u,v</a:t>
            </a:r>
            <a:r>
              <a:rPr lang="en-US" dirty="0">
                <a:solidFill>
                  <a:sysClr val="windowText" lastClr="000000"/>
                </a:solidFill>
              </a:rPr>
              <a:t>) be arbitrary edge from E’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C = </a:t>
            </a:r>
            <a:r>
              <a:rPr lang="en-US" dirty="0" err="1">
                <a:solidFill>
                  <a:sysClr val="windowText" lastClr="000000"/>
                </a:solidFill>
              </a:rPr>
              <a:t>C.append</a:t>
            </a:r>
            <a:r>
              <a:rPr lang="en-US" dirty="0">
                <a:solidFill>
                  <a:sysClr val="windowText" lastClr="000000"/>
                </a:solidFill>
              </a:rPr>
              <a:t>({</a:t>
            </a:r>
            <a:r>
              <a:rPr lang="en-US" dirty="0" err="1">
                <a:solidFill>
                  <a:sysClr val="windowText" lastClr="000000"/>
                </a:solidFill>
              </a:rPr>
              <a:t>u,v</a:t>
            </a:r>
            <a:r>
              <a:rPr lang="en-US" dirty="0">
                <a:solidFill>
                  <a:sysClr val="windowText" lastClr="000000"/>
                </a:solidFill>
              </a:rPr>
              <a:t>})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remove all edges in E’ incident on u or v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return</a:t>
            </a:r>
            <a:r>
              <a:rPr lang="en-US" dirty="0">
                <a:solidFill>
                  <a:sysClr val="windowText" lastClr="000000"/>
                </a:solidFill>
              </a:rPr>
              <a:t> 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E8148-4360-B549-959D-4D30AD1767DA}"/>
              </a:ext>
            </a:extLst>
          </p:cNvPr>
          <p:cNvSpPr txBox="1"/>
          <p:nvPr/>
        </p:nvSpPr>
        <p:spPr>
          <a:xfrm>
            <a:off x="5660136" y="2493031"/>
            <a:ext cx="5903976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Proof Part 1 (Correctness)</a:t>
            </a:r>
            <a:r>
              <a:rPr lang="en-US" dirty="0"/>
              <a:t>: The nodes returned by this algorithm are a valid vertex cover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B3751-8015-7042-8D88-099F75B2A71B}"/>
              </a:ext>
            </a:extLst>
          </p:cNvPr>
          <p:cNvSpPr txBox="1"/>
          <p:nvPr/>
        </p:nvSpPr>
        <p:spPr>
          <a:xfrm>
            <a:off x="5660136" y="3323873"/>
            <a:ext cx="5903976" cy="230832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This is self-evident. Every edge in E is either chosen in line 4 and both it’s nodes added to the solution OR removed in line 6 being incident to u or v.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Thus, every edge is incident on some node in the set C because we do not terminate until E’ is empty.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The algorithm returns a valid vertex-cover</a:t>
            </a:r>
          </a:p>
        </p:txBody>
      </p:sp>
    </p:spTree>
    <p:extLst>
      <p:ext uri="{BB962C8B-B14F-4D97-AF65-F5344CB8AC3E}">
        <p14:creationId xmlns:p14="http://schemas.microsoft.com/office/powerpoint/2010/main" val="1454998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2599"/>
            <a:ext cx="9905998" cy="599685"/>
          </a:xfrm>
        </p:spPr>
        <p:txBody>
          <a:bodyPr/>
          <a:lstStyle/>
          <a:p>
            <a:pPr algn="ctr"/>
            <a:r>
              <a:rPr lang="en-US" dirty="0" err="1"/>
              <a:t>Approx</a:t>
            </a:r>
            <a:r>
              <a:rPr lang="en-US" dirty="0"/>
              <a:t>-Vert-Cover: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1664078" y="789071"/>
            <a:ext cx="8824090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Claim</a:t>
            </a:r>
            <a:r>
              <a:rPr lang="en-US" dirty="0"/>
              <a:t>: Vertex-Approximation is a 2-approximation of vertex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E8148-4360-B549-959D-4D30AD1767DA}"/>
              </a:ext>
            </a:extLst>
          </p:cNvPr>
          <p:cNvSpPr txBox="1"/>
          <p:nvPr/>
        </p:nvSpPr>
        <p:spPr>
          <a:xfrm>
            <a:off x="1133856" y="2081551"/>
            <a:ext cx="5903976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Proof Part 2 (Ratio)</a:t>
            </a:r>
            <a:r>
              <a:rPr lang="en-US" dirty="0"/>
              <a:t>: The size of C is no more than twice the size of the optimal vertex-cover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B3751-8015-7042-8D88-099F75B2A71B}"/>
              </a:ext>
            </a:extLst>
          </p:cNvPr>
          <p:cNvSpPr txBox="1"/>
          <p:nvPr/>
        </p:nvSpPr>
        <p:spPr>
          <a:xfrm>
            <a:off x="1133856" y="2912393"/>
            <a:ext cx="5903976" cy="92333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Consider the set of edges </a:t>
            </a:r>
            <a:r>
              <a:rPr lang="en-US" dirty="0">
                <a:solidFill>
                  <a:schemeClr val="accent5"/>
                </a:solidFill>
              </a:rPr>
              <a:t>A</a:t>
            </a:r>
            <a:r>
              <a:rPr lang="en-US" dirty="0">
                <a:solidFill>
                  <a:sysClr val="windowText" lastClr="000000"/>
                </a:solidFill>
              </a:rPr>
              <a:t> chosen in line 4 of the algorithm. Because other incident edges are removed in line 6, the lines in </a:t>
            </a:r>
            <a:r>
              <a:rPr lang="en-US" dirty="0">
                <a:solidFill>
                  <a:schemeClr val="accent5"/>
                </a:solidFill>
              </a:rPr>
              <a:t>A</a:t>
            </a:r>
            <a:r>
              <a:rPr lang="en-US" dirty="0">
                <a:solidFill>
                  <a:sysClr val="windowText" lastClr="000000"/>
                </a:solidFill>
              </a:rPr>
              <a:t> form a set of disjoint pairs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C031ACB-C715-BD4B-B42A-7FC9FD686047}"/>
              </a:ext>
            </a:extLst>
          </p:cNvPr>
          <p:cNvSpPr/>
          <p:nvPr/>
        </p:nvSpPr>
        <p:spPr>
          <a:xfrm>
            <a:off x="1380744" y="4020234"/>
            <a:ext cx="630936" cy="630936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E649A3-D1E8-F247-B5D1-527E3BE1E4C6}"/>
              </a:ext>
            </a:extLst>
          </p:cNvPr>
          <p:cNvSpPr/>
          <p:nvPr/>
        </p:nvSpPr>
        <p:spPr>
          <a:xfrm>
            <a:off x="2392680" y="4020234"/>
            <a:ext cx="630936" cy="630936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8D8C91-BF91-BA40-BA3D-116D0998A2E0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2011680" y="4335702"/>
            <a:ext cx="381000" cy="0"/>
          </a:xfrm>
          <a:prstGeom prst="line">
            <a:avLst/>
          </a:prstGeom>
          <a:ln w="254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783610F-321F-6942-9F18-8412DB9CE2F8}"/>
              </a:ext>
            </a:extLst>
          </p:cNvPr>
          <p:cNvSpPr/>
          <p:nvPr/>
        </p:nvSpPr>
        <p:spPr>
          <a:xfrm>
            <a:off x="3297936" y="4020234"/>
            <a:ext cx="630936" cy="630936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84178C-D75D-2A43-9A3A-E8A3F1E738BF}"/>
              </a:ext>
            </a:extLst>
          </p:cNvPr>
          <p:cNvSpPr/>
          <p:nvPr/>
        </p:nvSpPr>
        <p:spPr>
          <a:xfrm>
            <a:off x="4309872" y="4020234"/>
            <a:ext cx="630936" cy="630936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295311-FE0A-464F-9E83-8B40599E0A00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3928872" y="4335702"/>
            <a:ext cx="381000" cy="0"/>
          </a:xfrm>
          <a:prstGeom prst="line">
            <a:avLst/>
          </a:prstGeom>
          <a:ln w="254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A8183D1-EFBC-A74A-8F05-7CBB25A1A782}"/>
              </a:ext>
            </a:extLst>
          </p:cNvPr>
          <p:cNvSpPr/>
          <p:nvPr/>
        </p:nvSpPr>
        <p:spPr>
          <a:xfrm>
            <a:off x="5196840" y="4020234"/>
            <a:ext cx="630936" cy="630936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2D872E-4BB9-094D-B9FD-7BF725B691CB}"/>
              </a:ext>
            </a:extLst>
          </p:cNvPr>
          <p:cNvSpPr/>
          <p:nvPr/>
        </p:nvSpPr>
        <p:spPr>
          <a:xfrm>
            <a:off x="6208776" y="4020234"/>
            <a:ext cx="630936" cy="630936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8A9E11-266E-6B45-AA96-7283B7AC5056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5827776" y="4335702"/>
            <a:ext cx="381000" cy="0"/>
          </a:xfrm>
          <a:prstGeom prst="line">
            <a:avLst/>
          </a:prstGeom>
          <a:ln w="254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5FE81E-3C5A-384A-BEF5-5EB23C30FAA0}"/>
                  </a:ext>
                </a:extLst>
              </p:cNvPr>
              <p:cNvSpPr txBox="1"/>
              <p:nvPr/>
            </p:nvSpPr>
            <p:spPr>
              <a:xfrm>
                <a:off x="1133856" y="4835681"/>
                <a:ext cx="5903976" cy="92333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There may be edges between these pairs (not shown), but the vertex cover MUST include at least one node from each pair. Thus, we get the inequality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≥|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5FE81E-3C5A-384A-BEF5-5EB23C30F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856" y="4835681"/>
                <a:ext cx="5903976" cy="923330"/>
              </a:xfrm>
              <a:prstGeom prst="rect">
                <a:avLst/>
              </a:prstGeom>
              <a:blipFill>
                <a:blip r:embed="rId2"/>
                <a:stretch>
                  <a:fillRect l="-642" t="-2703" b="-810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2CDCF8-2102-D04D-87F4-9639843C6478}"/>
              </a:ext>
            </a:extLst>
          </p:cNvPr>
          <p:cNvCxnSpPr>
            <a:cxnSpLocks/>
          </p:cNvCxnSpPr>
          <p:nvPr/>
        </p:nvCxnSpPr>
        <p:spPr>
          <a:xfrm>
            <a:off x="7205472" y="1801368"/>
            <a:ext cx="0" cy="423367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C8F58E-0437-484E-A19B-D840A6026C1A}"/>
                  </a:ext>
                </a:extLst>
              </p:cNvPr>
              <p:cNvSpPr txBox="1"/>
              <p:nvPr/>
            </p:nvSpPr>
            <p:spPr>
              <a:xfrm>
                <a:off x="7434835" y="2239523"/>
                <a:ext cx="3628644" cy="147732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Separately, note that our vertex cover returned always returns exactly two nodes for each edge in </a:t>
                </a:r>
                <a:r>
                  <a:rPr lang="en-US" dirty="0">
                    <a:solidFill>
                      <a:schemeClr val="accent5"/>
                    </a:solidFill>
                  </a:rPr>
                  <a:t>A</a:t>
                </a:r>
                <a:r>
                  <a:rPr lang="en-US" dirty="0">
                    <a:solidFill>
                      <a:sysClr val="windowText" lastClr="000000"/>
                    </a:solidFill>
                  </a:rPr>
                  <a:t>, thus:</a:t>
                </a:r>
              </a:p>
              <a:p>
                <a:endParaRPr lang="en-US" dirty="0">
                  <a:solidFill>
                    <a:sysClr val="windowText" lastClr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=2|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C8F58E-0437-484E-A19B-D840A6026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835" y="2239523"/>
                <a:ext cx="3628644" cy="1477328"/>
              </a:xfrm>
              <a:prstGeom prst="rect">
                <a:avLst/>
              </a:prstGeom>
              <a:blipFill>
                <a:blip r:embed="rId3"/>
                <a:stretch>
                  <a:fillRect l="-1042" t="-840" b="-84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3069CB-E01A-C540-9F2E-CDF314087EF1}"/>
                  </a:ext>
                </a:extLst>
              </p:cNvPr>
              <p:cNvSpPr txBox="1"/>
              <p:nvPr/>
            </p:nvSpPr>
            <p:spPr>
              <a:xfrm>
                <a:off x="7434835" y="4532795"/>
                <a:ext cx="3628644" cy="120032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Combining these equations we get:</a:t>
                </a:r>
              </a:p>
              <a:p>
                <a:endParaRPr lang="en-US" dirty="0">
                  <a:solidFill>
                    <a:sysClr val="windowText" lastClr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≤2|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3069CB-E01A-C540-9F2E-CDF314087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835" y="4532795"/>
                <a:ext cx="3628644" cy="1200329"/>
              </a:xfrm>
              <a:prstGeom prst="rect">
                <a:avLst/>
              </a:prstGeom>
              <a:blipFill>
                <a:blip r:embed="rId4"/>
                <a:stretch>
                  <a:fillRect l="-1042" t="-2083" b="-312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8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Traveling Salesperson</a:t>
            </a:r>
          </a:p>
        </p:txBody>
      </p:sp>
    </p:spTree>
    <p:extLst>
      <p:ext uri="{BB962C8B-B14F-4D97-AF65-F5344CB8AC3E}">
        <p14:creationId xmlns:p14="http://schemas.microsoft.com/office/powerpoint/2010/main" val="716826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Recall Traveling </a:t>
            </a:r>
            <a:r>
              <a:rPr lang="en-US" dirty="0" err="1"/>
              <a:t>SalesPerson</a:t>
            </a:r>
            <a:r>
              <a:rPr lang="en-US" dirty="0"/>
              <a:t>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863122" y="1862310"/>
            <a:ext cx="3179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 the traveling salesperson problem: Given a graph G and start node, what is the minimum cost tour (visit every node exactly once then return to start)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8EA14D6-06E2-9142-BDAA-8572AF88800D}"/>
              </a:ext>
            </a:extLst>
          </p:cNvPr>
          <p:cNvGrpSpPr/>
          <p:nvPr/>
        </p:nvGrpSpPr>
        <p:grpSpPr>
          <a:xfrm>
            <a:off x="5503312" y="1907596"/>
            <a:ext cx="6420464" cy="3615379"/>
            <a:chOff x="693568" y="2319076"/>
            <a:chExt cx="6420464" cy="361537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12E3D-163D-D54A-A730-758DE5089A32}"/>
                </a:ext>
              </a:extLst>
            </p:cNvPr>
            <p:cNvSpPr/>
            <p:nvPr/>
          </p:nvSpPr>
          <p:spPr>
            <a:xfrm>
              <a:off x="693568" y="2319076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49B7E4-B73A-9C4E-88BA-03A9005BF08B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1280208" y="3803501"/>
              <a:ext cx="223070" cy="12724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286EE5-C6CD-0641-8528-3236CB446C9E}"/>
                </a:ext>
              </a:extLst>
            </p:cNvPr>
            <p:cNvCxnSpPr>
              <a:cxnSpLocks/>
              <a:stCxn id="17" idx="7"/>
              <a:endCxn id="19" idx="2"/>
            </p:cNvCxnSpPr>
            <p:nvPr/>
          </p:nvCxnSpPr>
          <p:spPr>
            <a:xfrm flipV="1">
              <a:off x="1503278" y="2759946"/>
              <a:ext cx="1517196" cy="505017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58CCB3-E859-2C45-8FB7-40BFC6F2ECAD}"/>
                </a:ext>
              </a:extLst>
            </p:cNvPr>
            <p:cNvCxnSpPr>
              <a:cxnSpLocks/>
              <a:stCxn id="19" idx="4"/>
              <a:endCxn id="20" idx="1"/>
            </p:cNvCxnSpPr>
            <p:nvPr/>
          </p:nvCxnSpPr>
          <p:spPr>
            <a:xfrm>
              <a:off x="3335942" y="3075414"/>
              <a:ext cx="195599" cy="103971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7CECFA6-F6BA-BD46-BF86-A2C068D996BB}"/>
                </a:ext>
              </a:extLst>
            </p:cNvPr>
            <p:cNvCxnSpPr>
              <a:cxnSpLocks/>
              <a:stCxn id="19" idx="6"/>
              <a:endCxn id="21" idx="2"/>
            </p:cNvCxnSpPr>
            <p:nvPr/>
          </p:nvCxnSpPr>
          <p:spPr>
            <a:xfrm>
              <a:off x="3651410" y="2759946"/>
              <a:ext cx="1595932" cy="12936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2E110D-62F0-E749-956C-38C7E98DC791}"/>
                </a:ext>
              </a:extLst>
            </p:cNvPr>
            <p:cNvCxnSpPr>
              <a:stCxn id="21" idx="3"/>
              <a:endCxn id="20" idx="7"/>
            </p:cNvCxnSpPr>
            <p:nvPr/>
          </p:nvCxnSpPr>
          <p:spPr>
            <a:xfrm flipH="1">
              <a:off x="3977681" y="3112378"/>
              <a:ext cx="1362059" cy="100275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57C778C-70DC-0A4F-B8E3-49601025C68C}"/>
                </a:ext>
              </a:extLst>
            </p:cNvPr>
            <p:cNvCxnSpPr>
              <a:stCxn id="21" idx="4"/>
              <a:endCxn id="22" idx="0"/>
            </p:cNvCxnSpPr>
            <p:nvPr/>
          </p:nvCxnSpPr>
          <p:spPr>
            <a:xfrm flipH="1">
              <a:off x="5024272" y="3204776"/>
              <a:ext cx="538538" cy="187121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8D0AD6-4A63-B448-B998-5656ED2C852C}"/>
                </a:ext>
              </a:extLst>
            </p:cNvPr>
            <p:cNvCxnSpPr>
              <a:cxnSpLocks/>
              <a:stCxn id="20" idx="5"/>
              <a:endCxn id="22" idx="2"/>
            </p:cNvCxnSpPr>
            <p:nvPr/>
          </p:nvCxnSpPr>
          <p:spPr>
            <a:xfrm>
              <a:off x="3977681" y="4561272"/>
              <a:ext cx="731123" cy="83018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8B5F6F6-66DA-3948-AD09-DB9B85DC1F57}"/>
                </a:ext>
              </a:extLst>
            </p:cNvPr>
            <p:cNvCxnSpPr>
              <a:stCxn id="21" idx="5"/>
              <a:endCxn id="23" idx="1"/>
            </p:cNvCxnSpPr>
            <p:nvPr/>
          </p:nvCxnSpPr>
          <p:spPr>
            <a:xfrm>
              <a:off x="5785880" y="3112378"/>
              <a:ext cx="653405" cy="122582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E9EF7CD-AEDC-584A-A1FA-4CB143E702B4}"/>
                </a:ext>
              </a:extLst>
            </p:cNvPr>
            <p:cNvCxnSpPr>
              <a:cxnSpLocks/>
              <a:stCxn id="19" idx="3"/>
              <a:endCxn id="18" idx="7"/>
            </p:cNvCxnSpPr>
            <p:nvPr/>
          </p:nvCxnSpPr>
          <p:spPr>
            <a:xfrm flipH="1">
              <a:off x="1726348" y="2983016"/>
              <a:ext cx="1386524" cy="218537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333B4CB-DD78-8649-9E8E-1DE950524102}"/>
                </a:ext>
              </a:extLst>
            </p:cNvPr>
            <p:cNvCxnSpPr>
              <a:cxnSpLocks/>
              <a:stCxn id="20" idx="2"/>
              <a:endCxn id="18" idx="6"/>
            </p:cNvCxnSpPr>
            <p:nvPr/>
          </p:nvCxnSpPr>
          <p:spPr>
            <a:xfrm flipH="1">
              <a:off x="1818746" y="4338202"/>
              <a:ext cx="1620397" cy="105325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03BFA31-09F1-964F-85E1-35DE606A13F0}"/>
                </a:ext>
              </a:extLst>
            </p:cNvPr>
            <p:cNvCxnSpPr>
              <a:cxnSpLocks/>
              <a:stCxn id="22" idx="6"/>
              <a:endCxn id="23" idx="2"/>
            </p:cNvCxnSpPr>
            <p:nvPr/>
          </p:nvCxnSpPr>
          <p:spPr>
            <a:xfrm flipV="1">
              <a:off x="5339740" y="4561272"/>
              <a:ext cx="1007147" cy="83018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94CAA36-5357-1E41-9D7F-75ADA46B0475}"/>
                </a:ext>
              </a:extLst>
            </p:cNvPr>
            <p:cNvCxnSpPr>
              <a:cxnSpLocks/>
              <a:stCxn id="22" idx="2"/>
              <a:endCxn id="18" idx="6"/>
            </p:cNvCxnSpPr>
            <p:nvPr/>
          </p:nvCxnSpPr>
          <p:spPr>
            <a:xfrm flipH="1">
              <a:off x="1818746" y="5391457"/>
              <a:ext cx="289005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81CEB2B-50E8-8F4D-AA89-3E3E33375BCB}"/>
                </a:ext>
              </a:extLst>
            </p:cNvPr>
            <p:cNvSpPr txBox="1"/>
            <p:nvPr/>
          </p:nvSpPr>
          <p:spPr>
            <a:xfrm>
              <a:off x="1022030" y="4115132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222A80F-F379-284D-9B12-1D3EB3217EAC}"/>
                </a:ext>
              </a:extLst>
            </p:cNvPr>
            <p:cNvSpPr txBox="1"/>
            <p:nvPr/>
          </p:nvSpPr>
          <p:spPr>
            <a:xfrm>
              <a:off x="1932064" y="2603914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6D98F0D-FA4C-6445-B0FD-2C99F89739ED}"/>
                </a:ext>
              </a:extLst>
            </p:cNvPr>
            <p:cNvSpPr txBox="1"/>
            <p:nvPr/>
          </p:nvSpPr>
          <p:spPr>
            <a:xfrm>
              <a:off x="2149386" y="37301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51A26EB-4A25-1A41-9ECD-E541C70BCCD0}"/>
                </a:ext>
              </a:extLst>
            </p:cNvPr>
            <p:cNvSpPr txBox="1"/>
            <p:nvPr/>
          </p:nvSpPr>
          <p:spPr>
            <a:xfrm>
              <a:off x="2557706" y="44204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B64F940-5833-6D48-A992-EB3EF22AC6F5}"/>
                </a:ext>
              </a:extLst>
            </p:cNvPr>
            <p:cNvSpPr txBox="1"/>
            <p:nvPr/>
          </p:nvSpPr>
          <p:spPr>
            <a:xfrm>
              <a:off x="3442747" y="335698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F0D5A85-C94B-9643-B0F6-4AE6BB7A833C}"/>
                </a:ext>
              </a:extLst>
            </p:cNvPr>
            <p:cNvSpPr txBox="1"/>
            <p:nvPr/>
          </p:nvSpPr>
          <p:spPr>
            <a:xfrm>
              <a:off x="4326335" y="241544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C1B16D8-DD45-7249-B3F2-7530608FF245}"/>
                </a:ext>
              </a:extLst>
            </p:cNvPr>
            <p:cNvSpPr txBox="1"/>
            <p:nvPr/>
          </p:nvSpPr>
          <p:spPr>
            <a:xfrm>
              <a:off x="4638326" y="357323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BD5BF5B-FA8B-5C4F-8115-6E61D654653B}"/>
                </a:ext>
              </a:extLst>
            </p:cNvPr>
            <p:cNvSpPr txBox="1"/>
            <p:nvPr/>
          </p:nvSpPr>
          <p:spPr>
            <a:xfrm>
              <a:off x="4334767" y="4532180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5168918-07F8-4146-A6C6-63F94C53045F}"/>
                </a:ext>
              </a:extLst>
            </p:cNvPr>
            <p:cNvSpPr txBox="1"/>
            <p:nvPr/>
          </p:nvSpPr>
          <p:spPr>
            <a:xfrm>
              <a:off x="3377498" y="541531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B707C12-35A6-EE49-BE50-3D21409F66A4}"/>
                </a:ext>
              </a:extLst>
            </p:cNvPr>
            <p:cNvSpPr txBox="1"/>
            <p:nvPr/>
          </p:nvSpPr>
          <p:spPr>
            <a:xfrm>
              <a:off x="5403448" y="361375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AA9AC2-73CF-F344-8681-33F6B5871984}"/>
                </a:ext>
              </a:extLst>
            </p:cNvPr>
            <p:cNvSpPr txBox="1"/>
            <p:nvPr/>
          </p:nvSpPr>
          <p:spPr>
            <a:xfrm>
              <a:off x="5591735" y="465757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9AC9103-552B-E246-9A26-C32CD0B26CA2}"/>
                </a:ext>
              </a:extLst>
            </p:cNvPr>
            <p:cNvSpPr txBox="1"/>
            <p:nvPr/>
          </p:nvSpPr>
          <p:spPr>
            <a:xfrm>
              <a:off x="6139890" y="3420273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252DC65-EF43-8F43-BECB-F9CD735ACC4F}"/>
                </a:ext>
              </a:extLst>
            </p:cNvPr>
            <p:cNvSpPr/>
            <p:nvPr/>
          </p:nvSpPr>
          <p:spPr>
            <a:xfrm>
              <a:off x="964740" y="3172565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D22AD49-D8D5-8443-92B5-A4AF29D50D53}"/>
                </a:ext>
              </a:extLst>
            </p:cNvPr>
            <p:cNvSpPr/>
            <p:nvPr/>
          </p:nvSpPr>
          <p:spPr>
            <a:xfrm>
              <a:off x="1187810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ED65C2-9E8B-004C-BBC1-272889896DB8}"/>
                </a:ext>
              </a:extLst>
            </p:cNvPr>
            <p:cNvSpPr/>
            <p:nvPr/>
          </p:nvSpPr>
          <p:spPr>
            <a:xfrm>
              <a:off x="3020474" y="2444478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873ADC8-B423-0F45-9647-C22CF879E4A4}"/>
                </a:ext>
              </a:extLst>
            </p:cNvPr>
            <p:cNvSpPr/>
            <p:nvPr/>
          </p:nvSpPr>
          <p:spPr>
            <a:xfrm>
              <a:off x="3439143" y="4022734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5E9ED4-3E22-B444-8488-F5BF55580DFB}"/>
                </a:ext>
              </a:extLst>
            </p:cNvPr>
            <p:cNvSpPr/>
            <p:nvPr/>
          </p:nvSpPr>
          <p:spPr>
            <a:xfrm>
              <a:off x="5247342" y="2573840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8ABD30B-C6EB-AE4F-B96D-F8F25D1FEC0B}"/>
                </a:ext>
              </a:extLst>
            </p:cNvPr>
            <p:cNvSpPr/>
            <p:nvPr/>
          </p:nvSpPr>
          <p:spPr>
            <a:xfrm>
              <a:off x="6346887" y="4245804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0A05753-5071-A546-82CD-F92C493C4A4F}"/>
                </a:ext>
              </a:extLst>
            </p:cNvPr>
            <p:cNvSpPr/>
            <p:nvPr/>
          </p:nvSpPr>
          <p:spPr>
            <a:xfrm>
              <a:off x="4708804" y="5075989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49E6667-1871-7344-A4FB-45AB1619AFE7}"/>
              </a:ext>
            </a:extLst>
          </p:cNvPr>
          <p:cNvCxnSpPr/>
          <p:nvPr/>
        </p:nvCxnSpPr>
        <p:spPr>
          <a:xfrm>
            <a:off x="4166295" y="2853483"/>
            <a:ext cx="890712" cy="27669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109F4F5-0601-8B48-B967-EAE63420537D}"/>
                  </a:ext>
                </a:extLst>
              </p:cNvPr>
              <p:cNvSpPr txBox="1"/>
              <p:nvPr/>
            </p:nvSpPr>
            <p:spPr>
              <a:xfrm>
                <a:off x="884960" y="4490032"/>
                <a:ext cx="4525954" cy="1477328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our approximation, we are going to assume the graph is COMPLETE and that the triangle inequality holds. For any three nodes u, v, w:</a:t>
                </a:r>
                <a:br>
                  <a:rPr lang="en-US" dirty="0"/>
                </a:b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109F4F5-0601-8B48-B967-EAE634205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60" y="4490032"/>
                <a:ext cx="4525954" cy="1477328"/>
              </a:xfrm>
              <a:prstGeom prst="rect">
                <a:avLst/>
              </a:prstGeom>
              <a:blipFill>
                <a:blip r:embed="rId2"/>
                <a:stretch>
                  <a:fillRect l="-1117" t="-1695" r="-1676" b="-1695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092B1D8-2EFA-C54B-BC1D-B4317DAAD9B0}"/>
              </a:ext>
            </a:extLst>
          </p:cNvPr>
          <p:cNvCxnSpPr>
            <a:cxnSpLocks/>
            <a:stCxn id="23" idx="2"/>
            <a:endCxn id="20" idx="6"/>
          </p:cNvCxnSpPr>
          <p:nvPr/>
        </p:nvCxnSpPr>
        <p:spPr>
          <a:xfrm flipH="1" flipV="1">
            <a:off x="8879823" y="3926722"/>
            <a:ext cx="2276808" cy="2230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E203F62-399C-F34B-99F4-03267862559E}"/>
              </a:ext>
            </a:extLst>
          </p:cNvPr>
          <p:cNvSpPr txBox="1"/>
          <p:nvPr/>
        </p:nvSpPr>
        <p:spPr>
          <a:xfrm>
            <a:off x="10212064" y="3781434"/>
            <a:ext cx="30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CC822-5E11-4D50-FB4F-8218E14D9D97}"/>
              </a:ext>
            </a:extLst>
          </p:cNvPr>
          <p:cNvSpPr txBox="1"/>
          <p:nvPr/>
        </p:nvSpPr>
        <p:spPr>
          <a:xfrm>
            <a:off x="7654371" y="5604131"/>
            <a:ext cx="3295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graph is not complete but is sufficient for showcasing out point</a:t>
            </a:r>
          </a:p>
        </p:txBody>
      </p:sp>
    </p:spTree>
    <p:extLst>
      <p:ext uri="{BB962C8B-B14F-4D97-AF65-F5344CB8AC3E}">
        <p14:creationId xmlns:p14="http://schemas.microsoft.com/office/powerpoint/2010/main" val="3380446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Recall Traveling </a:t>
            </a:r>
            <a:r>
              <a:rPr lang="en-US" dirty="0" err="1"/>
              <a:t>SalesPerson</a:t>
            </a:r>
            <a:r>
              <a:rPr lang="en-US" dirty="0"/>
              <a:t> Problem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8EA14D6-06E2-9142-BDAA-8572AF88800D}"/>
              </a:ext>
            </a:extLst>
          </p:cNvPr>
          <p:cNvGrpSpPr/>
          <p:nvPr/>
        </p:nvGrpSpPr>
        <p:grpSpPr>
          <a:xfrm>
            <a:off x="3016144" y="1724716"/>
            <a:ext cx="6420464" cy="3615379"/>
            <a:chOff x="693568" y="2319076"/>
            <a:chExt cx="6420464" cy="361537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12E3D-163D-D54A-A730-758DE5089A32}"/>
                </a:ext>
              </a:extLst>
            </p:cNvPr>
            <p:cNvSpPr/>
            <p:nvPr/>
          </p:nvSpPr>
          <p:spPr>
            <a:xfrm>
              <a:off x="693568" y="2319076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49B7E4-B73A-9C4E-88BA-03A9005BF08B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1280208" y="3803501"/>
              <a:ext cx="223070" cy="1272488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286EE5-C6CD-0641-8528-3236CB446C9E}"/>
                </a:ext>
              </a:extLst>
            </p:cNvPr>
            <p:cNvCxnSpPr>
              <a:cxnSpLocks/>
              <a:stCxn id="17" idx="7"/>
              <a:endCxn id="19" idx="2"/>
            </p:cNvCxnSpPr>
            <p:nvPr/>
          </p:nvCxnSpPr>
          <p:spPr>
            <a:xfrm flipV="1">
              <a:off x="1503278" y="2759946"/>
              <a:ext cx="1517196" cy="505017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58CCB3-E859-2C45-8FB7-40BFC6F2ECAD}"/>
                </a:ext>
              </a:extLst>
            </p:cNvPr>
            <p:cNvCxnSpPr>
              <a:cxnSpLocks/>
              <a:stCxn id="19" idx="4"/>
              <a:endCxn id="20" idx="1"/>
            </p:cNvCxnSpPr>
            <p:nvPr/>
          </p:nvCxnSpPr>
          <p:spPr>
            <a:xfrm>
              <a:off x="3335942" y="3075414"/>
              <a:ext cx="195599" cy="1039718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7CECFA6-F6BA-BD46-BF86-A2C068D996BB}"/>
                </a:ext>
              </a:extLst>
            </p:cNvPr>
            <p:cNvCxnSpPr>
              <a:cxnSpLocks/>
              <a:stCxn id="19" idx="6"/>
              <a:endCxn id="21" idx="2"/>
            </p:cNvCxnSpPr>
            <p:nvPr/>
          </p:nvCxnSpPr>
          <p:spPr>
            <a:xfrm>
              <a:off x="3651410" y="2759946"/>
              <a:ext cx="1595932" cy="12936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2E110D-62F0-E749-956C-38C7E98DC791}"/>
                </a:ext>
              </a:extLst>
            </p:cNvPr>
            <p:cNvCxnSpPr>
              <a:stCxn id="21" idx="3"/>
              <a:endCxn id="20" idx="7"/>
            </p:cNvCxnSpPr>
            <p:nvPr/>
          </p:nvCxnSpPr>
          <p:spPr>
            <a:xfrm flipH="1">
              <a:off x="3977681" y="3112378"/>
              <a:ext cx="1362059" cy="1002754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57C778C-70DC-0A4F-B8E3-49601025C68C}"/>
                </a:ext>
              </a:extLst>
            </p:cNvPr>
            <p:cNvCxnSpPr>
              <a:stCxn id="21" idx="4"/>
              <a:endCxn id="22" idx="0"/>
            </p:cNvCxnSpPr>
            <p:nvPr/>
          </p:nvCxnSpPr>
          <p:spPr>
            <a:xfrm flipH="1">
              <a:off x="5024272" y="3204776"/>
              <a:ext cx="538538" cy="187121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8D0AD6-4A63-B448-B998-5656ED2C852C}"/>
                </a:ext>
              </a:extLst>
            </p:cNvPr>
            <p:cNvCxnSpPr>
              <a:cxnSpLocks/>
              <a:stCxn id="20" idx="5"/>
              <a:endCxn id="22" idx="2"/>
            </p:cNvCxnSpPr>
            <p:nvPr/>
          </p:nvCxnSpPr>
          <p:spPr>
            <a:xfrm>
              <a:off x="3977681" y="4561272"/>
              <a:ext cx="731123" cy="83018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8B5F6F6-66DA-3948-AD09-DB9B85DC1F57}"/>
                </a:ext>
              </a:extLst>
            </p:cNvPr>
            <p:cNvCxnSpPr>
              <a:stCxn id="21" idx="5"/>
              <a:endCxn id="23" idx="1"/>
            </p:cNvCxnSpPr>
            <p:nvPr/>
          </p:nvCxnSpPr>
          <p:spPr>
            <a:xfrm>
              <a:off x="5785880" y="3112378"/>
              <a:ext cx="653405" cy="1225824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E9EF7CD-AEDC-584A-A1FA-4CB143E702B4}"/>
                </a:ext>
              </a:extLst>
            </p:cNvPr>
            <p:cNvCxnSpPr>
              <a:cxnSpLocks/>
              <a:stCxn id="19" idx="3"/>
              <a:endCxn id="18" idx="7"/>
            </p:cNvCxnSpPr>
            <p:nvPr/>
          </p:nvCxnSpPr>
          <p:spPr>
            <a:xfrm flipH="1">
              <a:off x="1726348" y="2983016"/>
              <a:ext cx="1386524" cy="218537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333B4CB-DD78-8649-9E8E-1DE950524102}"/>
                </a:ext>
              </a:extLst>
            </p:cNvPr>
            <p:cNvCxnSpPr>
              <a:cxnSpLocks/>
              <a:stCxn id="20" idx="2"/>
              <a:endCxn id="18" idx="6"/>
            </p:cNvCxnSpPr>
            <p:nvPr/>
          </p:nvCxnSpPr>
          <p:spPr>
            <a:xfrm flipH="1">
              <a:off x="1818746" y="4338202"/>
              <a:ext cx="1620397" cy="105325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03BFA31-09F1-964F-85E1-35DE606A13F0}"/>
                </a:ext>
              </a:extLst>
            </p:cNvPr>
            <p:cNvCxnSpPr>
              <a:cxnSpLocks/>
              <a:stCxn id="22" idx="6"/>
              <a:endCxn id="23" idx="2"/>
            </p:cNvCxnSpPr>
            <p:nvPr/>
          </p:nvCxnSpPr>
          <p:spPr>
            <a:xfrm flipV="1">
              <a:off x="5339740" y="4561272"/>
              <a:ext cx="1007147" cy="83018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94CAA36-5357-1E41-9D7F-75ADA46B0475}"/>
                </a:ext>
              </a:extLst>
            </p:cNvPr>
            <p:cNvCxnSpPr>
              <a:cxnSpLocks/>
              <a:stCxn id="22" idx="2"/>
              <a:endCxn id="18" idx="6"/>
            </p:cNvCxnSpPr>
            <p:nvPr/>
          </p:nvCxnSpPr>
          <p:spPr>
            <a:xfrm flipH="1">
              <a:off x="1818746" y="5391457"/>
              <a:ext cx="2890058" cy="0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81CEB2B-50E8-8F4D-AA89-3E3E33375BCB}"/>
                </a:ext>
              </a:extLst>
            </p:cNvPr>
            <p:cNvSpPr txBox="1"/>
            <p:nvPr/>
          </p:nvSpPr>
          <p:spPr>
            <a:xfrm>
              <a:off x="1022030" y="4115132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222A80F-F379-284D-9B12-1D3EB3217EAC}"/>
                </a:ext>
              </a:extLst>
            </p:cNvPr>
            <p:cNvSpPr txBox="1"/>
            <p:nvPr/>
          </p:nvSpPr>
          <p:spPr>
            <a:xfrm>
              <a:off x="1932064" y="2603914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6D98F0D-FA4C-6445-B0FD-2C99F89739ED}"/>
                </a:ext>
              </a:extLst>
            </p:cNvPr>
            <p:cNvSpPr txBox="1"/>
            <p:nvPr/>
          </p:nvSpPr>
          <p:spPr>
            <a:xfrm>
              <a:off x="2149386" y="37301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51A26EB-4A25-1A41-9ECD-E541C70BCCD0}"/>
                </a:ext>
              </a:extLst>
            </p:cNvPr>
            <p:cNvSpPr txBox="1"/>
            <p:nvPr/>
          </p:nvSpPr>
          <p:spPr>
            <a:xfrm>
              <a:off x="2557706" y="44204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B64F940-5833-6D48-A992-EB3EF22AC6F5}"/>
                </a:ext>
              </a:extLst>
            </p:cNvPr>
            <p:cNvSpPr txBox="1"/>
            <p:nvPr/>
          </p:nvSpPr>
          <p:spPr>
            <a:xfrm>
              <a:off x="3442747" y="335698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F0D5A85-C94B-9643-B0F6-4AE6BB7A833C}"/>
                </a:ext>
              </a:extLst>
            </p:cNvPr>
            <p:cNvSpPr txBox="1"/>
            <p:nvPr/>
          </p:nvSpPr>
          <p:spPr>
            <a:xfrm>
              <a:off x="4326335" y="241544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C1B16D8-DD45-7249-B3F2-7530608FF245}"/>
                </a:ext>
              </a:extLst>
            </p:cNvPr>
            <p:cNvSpPr txBox="1"/>
            <p:nvPr/>
          </p:nvSpPr>
          <p:spPr>
            <a:xfrm>
              <a:off x="4638326" y="357323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BD5BF5B-FA8B-5C4F-8115-6E61D654653B}"/>
                </a:ext>
              </a:extLst>
            </p:cNvPr>
            <p:cNvSpPr txBox="1"/>
            <p:nvPr/>
          </p:nvSpPr>
          <p:spPr>
            <a:xfrm>
              <a:off x="4334767" y="4532180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5168918-07F8-4146-A6C6-63F94C53045F}"/>
                </a:ext>
              </a:extLst>
            </p:cNvPr>
            <p:cNvSpPr txBox="1"/>
            <p:nvPr/>
          </p:nvSpPr>
          <p:spPr>
            <a:xfrm>
              <a:off x="3377498" y="541531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B707C12-35A6-EE49-BE50-3D21409F66A4}"/>
                </a:ext>
              </a:extLst>
            </p:cNvPr>
            <p:cNvSpPr txBox="1"/>
            <p:nvPr/>
          </p:nvSpPr>
          <p:spPr>
            <a:xfrm>
              <a:off x="5408767" y="354906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AA9AC2-73CF-F344-8681-33F6B5871984}"/>
                </a:ext>
              </a:extLst>
            </p:cNvPr>
            <p:cNvSpPr txBox="1"/>
            <p:nvPr/>
          </p:nvSpPr>
          <p:spPr>
            <a:xfrm>
              <a:off x="5591735" y="465757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9AC9103-552B-E246-9A26-C32CD0B26CA2}"/>
                </a:ext>
              </a:extLst>
            </p:cNvPr>
            <p:cNvSpPr txBox="1"/>
            <p:nvPr/>
          </p:nvSpPr>
          <p:spPr>
            <a:xfrm>
              <a:off x="6139890" y="3420273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252DC65-EF43-8F43-BECB-F9CD735ACC4F}"/>
                </a:ext>
              </a:extLst>
            </p:cNvPr>
            <p:cNvSpPr/>
            <p:nvPr/>
          </p:nvSpPr>
          <p:spPr>
            <a:xfrm>
              <a:off x="964740" y="3172565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D22AD49-D8D5-8443-92B5-A4AF29D50D53}"/>
                </a:ext>
              </a:extLst>
            </p:cNvPr>
            <p:cNvSpPr/>
            <p:nvPr/>
          </p:nvSpPr>
          <p:spPr>
            <a:xfrm>
              <a:off x="1187810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ED65C2-9E8B-004C-BBC1-272889896DB8}"/>
                </a:ext>
              </a:extLst>
            </p:cNvPr>
            <p:cNvSpPr/>
            <p:nvPr/>
          </p:nvSpPr>
          <p:spPr>
            <a:xfrm>
              <a:off x="3020474" y="244447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873ADC8-B423-0F45-9647-C22CF879E4A4}"/>
                </a:ext>
              </a:extLst>
            </p:cNvPr>
            <p:cNvSpPr/>
            <p:nvPr/>
          </p:nvSpPr>
          <p:spPr>
            <a:xfrm>
              <a:off x="3439143" y="4022734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5E9ED4-3E22-B444-8488-F5BF55580DFB}"/>
                </a:ext>
              </a:extLst>
            </p:cNvPr>
            <p:cNvSpPr/>
            <p:nvPr/>
          </p:nvSpPr>
          <p:spPr>
            <a:xfrm>
              <a:off x="5247342" y="2573840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8ABD30B-C6EB-AE4F-B96D-F8F25D1FEC0B}"/>
                </a:ext>
              </a:extLst>
            </p:cNvPr>
            <p:cNvSpPr/>
            <p:nvPr/>
          </p:nvSpPr>
          <p:spPr>
            <a:xfrm>
              <a:off x="6346887" y="4245804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0A05753-5071-A546-82CD-F92C493C4A4F}"/>
                </a:ext>
              </a:extLst>
            </p:cNvPr>
            <p:cNvSpPr/>
            <p:nvPr/>
          </p:nvSpPr>
          <p:spPr>
            <a:xfrm>
              <a:off x="4708804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6FBE395-B25F-7D4C-B0C0-FC8E63DB2DE7}"/>
              </a:ext>
            </a:extLst>
          </p:cNvPr>
          <p:cNvSpPr txBox="1"/>
          <p:nvPr/>
        </p:nvSpPr>
        <p:spPr>
          <a:xfrm>
            <a:off x="3344606" y="5661849"/>
            <a:ext cx="556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Cost of this tour is: 3 + 2 + 2 + 3 + 7 + 4 + 3 = 24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C499FE6-CBAD-1B42-9D9E-168882B5D28F}"/>
              </a:ext>
            </a:extLst>
          </p:cNvPr>
          <p:cNvCxnSpPr>
            <a:cxnSpLocks/>
            <a:stCxn id="23" idx="2"/>
            <a:endCxn id="20" idx="6"/>
          </p:cNvCxnSpPr>
          <p:nvPr/>
        </p:nvCxnSpPr>
        <p:spPr>
          <a:xfrm flipH="1" flipV="1">
            <a:off x="6392655" y="3743842"/>
            <a:ext cx="2276808" cy="2230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BCD386F-8D16-8349-97D6-ACD66C607ADE}"/>
              </a:ext>
            </a:extLst>
          </p:cNvPr>
          <p:cNvSpPr txBox="1"/>
          <p:nvPr/>
        </p:nvSpPr>
        <p:spPr>
          <a:xfrm>
            <a:off x="7777543" y="3582351"/>
            <a:ext cx="30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73889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Approximation for TSP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2952653" y="4390782"/>
            <a:ext cx="6283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Basic Idea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Calculate minimum spanning tree of G. Use pre-order traversal of this MST to define the tour for TSP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D0BE3-DBDC-2A4F-888F-DB09AF72307E}"/>
              </a:ext>
            </a:extLst>
          </p:cNvPr>
          <p:cNvSpPr txBox="1"/>
          <p:nvPr/>
        </p:nvSpPr>
        <p:spPr>
          <a:xfrm>
            <a:off x="4306694" y="1851069"/>
            <a:ext cx="3575434" cy="230832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TSP-</a:t>
            </a:r>
            <a:r>
              <a:rPr lang="en-US" dirty="0" err="1">
                <a:solidFill>
                  <a:sysClr val="windowText" lastClr="000000"/>
                </a:solidFill>
              </a:rPr>
              <a:t>Approx</a:t>
            </a:r>
            <a:r>
              <a:rPr lang="en-US" dirty="0">
                <a:solidFill>
                  <a:sysClr val="windowText" lastClr="000000"/>
                </a:solidFill>
              </a:rPr>
              <a:t>(G, s):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Select any vertex r in G.V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MST T = prims-</a:t>
            </a:r>
            <a:r>
              <a:rPr lang="en-US" dirty="0" err="1">
                <a:solidFill>
                  <a:sysClr val="windowText" lastClr="000000"/>
                </a:solidFill>
              </a:rPr>
              <a:t>mst</a:t>
            </a:r>
            <a:r>
              <a:rPr lang="en-US" dirty="0">
                <a:solidFill>
                  <a:sysClr val="windowText" lastClr="000000"/>
                </a:solidFill>
              </a:rPr>
              <a:t>(G, r)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dirty="0" err="1">
                <a:solidFill>
                  <a:sysClr val="windowText" lastClr="000000"/>
                </a:solidFill>
              </a:rPr>
              <a:t>prev</a:t>
            </a:r>
            <a:r>
              <a:rPr lang="en-US" dirty="0">
                <a:solidFill>
                  <a:sysClr val="windowText" lastClr="000000"/>
                </a:solidFill>
              </a:rPr>
              <a:t> = </a:t>
            </a:r>
            <a:r>
              <a:rPr lang="en-US" dirty="0" err="1">
                <a:solidFill>
                  <a:sysClr val="windowText" lastClr="000000"/>
                </a:solidFill>
              </a:rPr>
              <a:t>T.preorder</a:t>
            </a:r>
            <a:r>
              <a:rPr lang="en-US" dirty="0">
                <a:solidFill>
                  <a:sysClr val="windowText" lastClr="000000"/>
                </a:solidFill>
              </a:rPr>
              <a:t>().first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for </a:t>
            </a:r>
            <a:r>
              <a:rPr lang="en-US" dirty="0">
                <a:solidFill>
                  <a:sysClr val="windowText" lastClr="000000"/>
                </a:solidFill>
              </a:rPr>
              <a:t>v in </a:t>
            </a:r>
            <a:r>
              <a:rPr lang="en-US" dirty="0" err="1">
                <a:solidFill>
                  <a:sysClr val="windowText" lastClr="000000"/>
                </a:solidFill>
              </a:rPr>
              <a:t>T.preorder</a:t>
            </a:r>
            <a:r>
              <a:rPr lang="en-US" dirty="0">
                <a:solidFill>
                  <a:sysClr val="windowText" lastClr="000000"/>
                </a:solidFill>
              </a:rPr>
              <a:t>().second : …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add (</a:t>
            </a:r>
            <a:r>
              <a:rPr lang="en-US" dirty="0" err="1">
                <a:solidFill>
                  <a:sysClr val="windowText" lastClr="000000"/>
                </a:solidFill>
              </a:rPr>
              <a:t>prev</a:t>
            </a:r>
            <a:r>
              <a:rPr lang="en-US" dirty="0">
                <a:solidFill>
                  <a:sysClr val="windowText" lastClr="000000"/>
                </a:solidFill>
              </a:rPr>
              <a:t>, v) to solution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add (</a:t>
            </a:r>
            <a:r>
              <a:rPr lang="en-US" dirty="0" err="1">
                <a:solidFill>
                  <a:sysClr val="windowText" lastClr="000000"/>
                </a:solidFill>
              </a:rPr>
              <a:t>prev</a:t>
            </a:r>
            <a:r>
              <a:rPr lang="en-US" dirty="0">
                <a:solidFill>
                  <a:sysClr val="windowText" lastClr="000000"/>
                </a:solidFill>
              </a:rPr>
              <a:t>, s) to solution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return</a:t>
            </a:r>
            <a:r>
              <a:rPr lang="en-US" dirty="0">
                <a:solidFill>
                  <a:sysClr val="windowText" lastClr="000000"/>
                </a:solidFill>
              </a:rPr>
              <a:t> solution</a:t>
            </a:r>
          </a:p>
        </p:txBody>
      </p:sp>
    </p:spTree>
    <p:extLst>
      <p:ext uri="{BB962C8B-B14F-4D97-AF65-F5344CB8AC3E}">
        <p14:creationId xmlns:p14="http://schemas.microsoft.com/office/powerpoint/2010/main" val="357024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Approximation for TSP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5121348" y="1440574"/>
            <a:ext cx="6420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Step 1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Calculate MST of G (let’s root it at 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D0BE3-DBDC-2A4F-888F-DB09AF72307E}"/>
              </a:ext>
            </a:extLst>
          </p:cNvPr>
          <p:cNvSpPr txBox="1"/>
          <p:nvPr/>
        </p:nvSpPr>
        <p:spPr>
          <a:xfrm>
            <a:off x="832154" y="2451677"/>
            <a:ext cx="3575434" cy="230832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TSP-</a:t>
            </a:r>
            <a:r>
              <a:rPr lang="en-US" dirty="0" err="1">
                <a:solidFill>
                  <a:sysClr val="windowText" lastClr="000000"/>
                </a:solidFill>
              </a:rPr>
              <a:t>Approx</a:t>
            </a:r>
            <a:r>
              <a:rPr lang="en-US" dirty="0">
                <a:solidFill>
                  <a:sysClr val="windowText" lastClr="000000"/>
                </a:solidFill>
              </a:rPr>
              <a:t>(G, s):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Select any vertex R in G.V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MST T = prims-</a:t>
            </a:r>
            <a:r>
              <a:rPr lang="en-US" b="1" dirty="0" err="1">
                <a:solidFill>
                  <a:sysClr val="windowText" lastClr="000000"/>
                </a:solidFill>
              </a:rPr>
              <a:t>mst</a:t>
            </a:r>
            <a:r>
              <a:rPr lang="en-US" b="1" dirty="0">
                <a:solidFill>
                  <a:sysClr val="windowText" lastClr="000000"/>
                </a:solidFill>
              </a:rPr>
              <a:t>(G, r)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dirty="0" err="1">
                <a:solidFill>
                  <a:sysClr val="windowText" lastClr="000000"/>
                </a:solidFill>
              </a:rPr>
              <a:t>prev</a:t>
            </a:r>
            <a:r>
              <a:rPr lang="en-US" dirty="0">
                <a:solidFill>
                  <a:sysClr val="windowText" lastClr="000000"/>
                </a:solidFill>
              </a:rPr>
              <a:t> = </a:t>
            </a:r>
            <a:r>
              <a:rPr lang="en-US" dirty="0" err="1">
                <a:solidFill>
                  <a:sysClr val="windowText" lastClr="000000"/>
                </a:solidFill>
              </a:rPr>
              <a:t>T.preorder</a:t>
            </a:r>
            <a:r>
              <a:rPr lang="en-US" dirty="0">
                <a:solidFill>
                  <a:sysClr val="windowText" lastClr="000000"/>
                </a:solidFill>
              </a:rPr>
              <a:t>().first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for </a:t>
            </a:r>
            <a:r>
              <a:rPr lang="en-US" dirty="0">
                <a:solidFill>
                  <a:sysClr val="windowText" lastClr="000000"/>
                </a:solidFill>
              </a:rPr>
              <a:t>v in </a:t>
            </a:r>
            <a:r>
              <a:rPr lang="en-US" dirty="0" err="1">
                <a:solidFill>
                  <a:sysClr val="windowText" lastClr="000000"/>
                </a:solidFill>
              </a:rPr>
              <a:t>T.preorder</a:t>
            </a:r>
            <a:r>
              <a:rPr lang="en-US" dirty="0">
                <a:solidFill>
                  <a:sysClr val="windowText" lastClr="000000"/>
                </a:solidFill>
              </a:rPr>
              <a:t>().second : …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add (</a:t>
            </a:r>
            <a:r>
              <a:rPr lang="en-US" dirty="0" err="1">
                <a:solidFill>
                  <a:sysClr val="windowText" lastClr="000000"/>
                </a:solidFill>
              </a:rPr>
              <a:t>prev</a:t>
            </a:r>
            <a:r>
              <a:rPr lang="en-US" dirty="0">
                <a:solidFill>
                  <a:sysClr val="windowText" lastClr="000000"/>
                </a:solidFill>
              </a:rPr>
              <a:t>, v) to solution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add (</a:t>
            </a:r>
            <a:r>
              <a:rPr lang="en-US" dirty="0" err="1">
                <a:solidFill>
                  <a:sysClr val="windowText" lastClr="000000"/>
                </a:solidFill>
              </a:rPr>
              <a:t>prev</a:t>
            </a:r>
            <a:r>
              <a:rPr lang="en-US" dirty="0">
                <a:solidFill>
                  <a:sysClr val="windowText" lastClr="000000"/>
                </a:solidFill>
              </a:rPr>
              <a:t>, s) to solution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return</a:t>
            </a:r>
            <a:r>
              <a:rPr lang="en-US" dirty="0">
                <a:solidFill>
                  <a:sysClr val="windowText" lastClr="000000"/>
                </a:solidFill>
              </a:rPr>
              <a:t> solution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F35C6-9328-954A-84C8-1105C9FFFBA3}"/>
              </a:ext>
            </a:extLst>
          </p:cNvPr>
          <p:cNvGrpSpPr/>
          <p:nvPr/>
        </p:nvGrpSpPr>
        <p:grpSpPr>
          <a:xfrm>
            <a:off x="5121348" y="2445688"/>
            <a:ext cx="6420464" cy="3615379"/>
            <a:chOff x="693568" y="2319076"/>
            <a:chExt cx="6420464" cy="36153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6EFD26-107D-7948-A9D6-BC1E751AEA6F}"/>
                </a:ext>
              </a:extLst>
            </p:cNvPr>
            <p:cNvSpPr/>
            <p:nvPr/>
          </p:nvSpPr>
          <p:spPr>
            <a:xfrm>
              <a:off x="693568" y="2319076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9636912-03B8-444F-B800-1876C8FF6784}"/>
                </a:ext>
              </a:extLst>
            </p:cNvPr>
            <p:cNvCxnSpPr>
              <a:cxnSpLocks/>
              <a:stCxn id="33" idx="4"/>
              <a:endCxn id="34" idx="0"/>
            </p:cNvCxnSpPr>
            <p:nvPr/>
          </p:nvCxnSpPr>
          <p:spPr>
            <a:xfrm>
              <a:off x="1280208" y="3803501"/>
              <a:ext cx="223070" cy="1272488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6651CB1-F9A3-3B4E-860F-EC4038AB44D9}"/>
                </a:ext>
              </a:extLst>
            </p:cNvPr>
            <p:cNvCxnSpPr>
              <a:cxnSpLocks/>
              <a:stCxn id="33" idx="7"/>
              <a:endCxn id="35" idx="2"/>
            </p:cNvCxnSpPr>
            <p:nvPr/>
          </p:nvCxnSpPr>
          <p:spPr>
            <a:xfrm flipV="1">
              <a:off x="1503278" y="2759946"/>
              <a:ext cx="1517196" cy="505017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E25C566-9E30-C145-95A4-5471D9C1031A}"/>
                </a:ext>
              </a:extLst>
            </p:cNvPr>
            <p:cNvCxnSpPr>
              <a:cxnSpLocks/>
              <a:stCxn id="35" idx="4"/>
              <a:endCxn id="36" idx="1"/>
            </p:cNvCxnSpPr>
            <p:nvPr/>
          </p:nvCxnSpPr>
          <p:spPr>
            <a:xfrm>
              <a:off x="3335942" y="3075414"/>
              <a:ext cx="195599" cy="1039718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94B7C0-BEE7-CA49-83B7-9E39A5AB5F10}"/>
                </a:ext>
              </a:extLst>
            </p:cNvPr>
            <p:cNvCxnSpPr>
              <a:cxnSpLocks/>
              <a:stCxn id="35" idx="6"/>
              <a:endCxn id="37" idx="2"/>
            </p:cNvCxnSpPr>
            <p:nvPr/>
          </p:nvCxnSpPr>
          <p:spPr>
            <a:xfrm>
              <a:off x="3651410" y="2759946"/>
              <a:ext cx="1595932" cy="129362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68299BD-70EA-3D46-8D89-889C2D140D88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3977681" y="3112378"/>
              <a:ext cx="1362059" cy="1002754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7BB45AB-2563-4548-AC73-E1931520E0FD}"/>
                </a:ext>
              </a:extLst>
            </p:cNvPr>
            <p:cNvCxnSpPr>
              <a:stCxn id="37" idx="4"/>
              <a:endCxn id="39" idx="0"/>
            </p:cNvCxnSpPr>
            <p:nvPr/>
          </p:nvCxnSpPr>
          <p:spPr>
            <a:xfrm flipH="1">
              <a:off x="5024272" y="3204776"/>
              <a:ext cx="538538" cy="1871213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970CC85-D273-4742-93E1-23D548A7D2D0}"/>
                </a:ext>
              </a:extLst>
            </p:cNvPr>
            <p:cNvCxnSpPr>
              <a:cxnSpLocks/>
              <a:stCxn id="36" idx="5"/>
              <a:endCxn id="39" idx="2"/>
            </p:cNvCxnSpPr>
            <p:nvPr/>
          </p:nvCxnSpPr>
          <p:spPr>
            <a:xfrm>
              <a:off x="3977681" y="4561272"/>
              <a:ext cx="731123" cy="830185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04607E-C056-0F47-AE15-45C954EB0C84}"/>
                </a:ext>
              </a:extLst>
            </p:cNvPr>
            <p:cNvCxnSpPr>
              <a:stCxn id="37" idx="5"/>
              <a:endCxn id="38" idx="1"/>
            </p:cNvCxnSpPr>
            <p:nvPr/>
          </p:nvCxnSpPr>
          <p:spPr>
            <a:xfrm>
              <a:off x="5785880" y="3112378"/>
              <a:ext cx="653405" cy="1225824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DBBEECD-3A9C-684F-8A58-460D995AD89C}"/>
                </a:ext>
              </a:extLst>
            </p:cNvPr>
            <p:cNvCxnSpPr>
              <a:cxnSpLocks/>
              <a:stCxn id="35" idx="3"/>
              <a:endCxn id="34" idx="7"/>
            </p:cNvCxnSpPr>
            <p:nvPr/>
          </p:nvCxnSpPr>
          <p:spPr>
            <a:xfrm flipH="1">
              <a:off x="1726348" y="2983016"/>
              <a:ext cx="1386524" cy="2185371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732440-D5FA-EC46-A3AE-7F7455F845AF}"/>
                </a:ext>
              </a:extLst>
            </p:cNvPr>
            <p:cNvCxnSpPr>
              <a:cxnSpLocks/>
              <a:stCxn id="36" idx="2"/>
              <a:endCxn id="34" idx="6"/>
            </p:cNvCxnSpPr>
            <p:nvPr/>
          </p:nvCxnSpPr>
          <p:spPr>
            <a:xfrm flipH="1">
              <a:off x="1818746" y="4338202"/>
              <a:ext cx="1620397" cy="105325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864A9E-B23A-894E-A37F-3343FF111A6C}"/>
                </a:ext>
              </a:extLst>
            </p:cNvPr>
            <p:cNvCxnSpPr>
              <a:cxnSpLocks/>
              <a:stCxn id="39" idx="6"/>
              <a:endCxn id="38" idx="2"/>
            </p:cNvCxnSpPr>
            <p:nvPr/>
          </p:nvCxnSpPr>
          <p:spPr>
            <a:xfrm flipV="1">
              <a:off x="5339740" y="4561272"/>
              <a:ext cx="1007147" cy="83018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104A15A-64BB-9B4D-BC82-98EBBA95D2FF}"/>
                </a:ext>
              </a:extLst>
            </p:cNvPr>
            <p:cNvCxnSpPr>
              <a:cxnSpLocks/>
              <a:stCxn id="39" idx="2"/>
              <a:endCxn id="34" idx="6"/>
            </p:cNvCxnSpPr>
            <p:nvPr/>
          </p:nvCxnSpPr>
          <p:spPr>
            <a:xfrm flipH="1">
              <a:off x="1818746" y="5391457"/>
              <a:ext cx="2890058" cy="0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FA6EC5-3A03-3C4D-9230-E3B28F292A81}"/>
                </a:ext>
              </a:extLst>
            </p:cNvPr>
            <p:cNvSpPr txBox="1"/>
            <p:nvPr/>
          </p:nvSpPr>
          <p:spPr>
            <a:xfrm>
              <a:off x="1022030" y="4115132"/>
              <a:ext cx="3298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502F35-DF35-5241-A348-EACDA193A5FE}"/>
                </a:ext>
              </a:extLst>
            </p:cNvPr>
            <p:cNvSpPr txBox="1"/>
            <p:nvPr/>
          </p:nvSpPr>
          <p:spPr>
            <a:xfrm>
              <a:off x="1932064" y="2603914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35B6177-E55A-CB4E-8E0E-08644FAF144F}"/>
                </a:ext>
              </a:extLst>
            </p:cNvPr>
            <p:cNvSpPr txBox="1"/>
            <p:nvPr/>
          </p:nvSpPr>
          <p:spPr>
            <a:xfrm>
              <a:off x="2149386" y="3730111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81EFE0C-242B-F747-9F3D-3FD30A3C5F68}"/>
                </a:ext>
              </a:extLst>
            </p:cNvPr>
            <p:cNvSpPr txBox="1"/>
            <p:nvPr/>
          </p:nvSpPr>
          <p:spPr>
            <a:xfrm>
              <a:off x="2557706" y="44204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A7D4AA7-3AA2-564E-BBF7-64AB7F4BF4B9}"/>
                </a:ext>
              </a:extLst>
            </p:cNvPr>
            <p:cNvSpPr txBox="1"/>
            <p:nvPr/>
          </p:nvSpPr>
          <p:spPr>
            <a:xfrm>
              <a:off x="3442747" y="335698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76CB59F-EBE6-BA45-B119-8479B14D3D54}"/>
                </a:ext>
              </a:extLst>
            </p:cNvPr>
            <p:cNvSpPr txBox="1"/>
            <p:nvPr/>
          </p:nvSpPr>
          <p:spPr>
            <a:xfrm>
              <a:off x="4326335" y="2415444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34C93A4-E7DE-094B-99F7-4DD201351BB3}"/>
                </a:ext>
              </a:extLst>
            </p:cNvPr>
            <p:cNvSpPr txBox="1"/>
            <p:nvPr/>
          </p:nvSpPr>
          <p:spPr>
            <a:xfrm>
              <a:off x="4638326" y="357323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6008667-D71D-F147-8AEC-37468B0724F7}"/>
                </a:ext>
              </a:extLst>
            </p:cNvPr>
            <p:cNvSpPr txBox="1"/>
            <p:nvPr/>
          </p:nvSpPr>
          <p:spPr>
            <a:xfrm>
              <a:off x="4334767" y="4532180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0F4458-59B1-A748-97AE-7A5750F566A6}"/>
                </a:ext>
              </a:extLst>
            </p:cNvPr>
            <p:cNvSpPr txBox="1"/>
            <p:nvPr/>
          </p:nvSpPr>
          <p:spPr>
            <a:xfrm>
              <a:off x="3377498" y="541531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1A9E82-2EC4-8946-99B5-5FD481CD323C}"/>
                </a:ext>
              </a:extLst>
            </p:cNvPr>
            <p:cNvSpPr txBox="1"/>
            <p:nvPr/>
          </p:nvSpPr>
          <p:spPr>
            <a:xfrm>
              <a:off x="5385665" y="3596647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B955C5-D197-7D4A-AD08-20099F0B71D1}"/>
                </a:ext>
              </a:extLst>
            </p:cNvPr>
            <p:cNvSpPr txBox="1"/>
            <p:nvPr/>
          </p:nvSpPr>
          <p:spPr>
            <a:xfrm>
              <a:off x="5591735" y="465757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6D5B2F3-F732-664A-9B65-29A7003D10FD}"/>
                </a:ext>
              </a:extLst>
            </p:cNvPr>
            <p:cNvSpPr txBox="1"/>
            <p:nvPr/>
          </p:nvSpPr>
          <p:spPr>
            <a:xfrm>
              <a:off x="6139890" y="3420273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8EEB2F7-8396-EC44-AC74-BE948FA027C8}"/>
                </a:ext>
              </a:extLst>
            </p:cNvPr>
            <p:cNvSpPr/>
            <p:nvPr/>
          </p:nvSpPr>
          <p:spPr>
            <a:xfrm>
              <a:off x="964740" y="3172565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0F8015D-76C5-4E44-907D-2A3225FDD978}"/>
                </a:ext>
              </a:extLst>
            </p:cNvPr>
            <p:cNvSpPr/>
            <p:nvPr/>
          </p:nvSpPr>
          <p:spPr>
            <a:xfrm>
              <a:off x="1187810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CA5887-CBAB-B249-B6B6-543908FF389F}"/>
                </a:ext>
              </a:extLst>
            </p:cNvPr>
            <p:cNvSpPr/>
            <p:nvPr/>
          </p:nvSpPr>
          <p:spPr>
            <a:xfrm>
              <a:off x="3020474" y="244447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B73D67F-713C-B34F-B242-5E105C1316AD}"/>
                </a:ext>
              </a:extLst>
            </p:cNvPr>
            <p:cNvSpPr/>
            <p:nvPr/>
          </p:nvSpPr>
          <p:spPr>
            <a:xfrm>
              <a:off x="3439143" y="4022734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9B271A7-A8B9-784C-872D-E75D09DDABF9}"/>
                </a:ext>
              </a:extLst>
            </p:cNvPr>
            <p:cNvSpPr/>
            <p:nvPr/>
          </p:nvSpPr>
          <p:spPr>
            <a:xfrm>
              <a:off x="5247342" y="2573840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E181C3F-478F-E841-A028-4E3C60B0080D}"/>
                </a:ext>
              </a:extLst>
            </p:cNvPr>
            <p:cNvSpPr/>
            <p:nvPr/>
          </p:nvSpPr>
          <p:spPr>
            <a:xfrm>
              <a:off x="6346887" y="4245804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06E17AC-9A7A-314C-81BE-6BBDAF8F69CD}"/>
                </a:ext>
              </a:extLst>
            </p:cNvPr>
            <p:cNvSpPr/>
            <p:nvPr/>
          </p:nvSpPr>
          <p:spPr>
            <a:xfrm>
              <a:off x="4708804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1872077-9DB9-2246-9255-24A1150E7B57}"/>
              </a:ext>
            </a:extLst>
          </p:cNvPr>
          <p:cNvCxnSpPr>
            <a:cxnSpLocks/>
            <a:stCxn id="38" idx="2"/>
            <a:endCxn id="36" idx="6"/>
          </p:cNvCxnSpPr>
          <p:nvPr/>
        </p:nvCxnSpPr>
        <p:spPr>
          <a:xfrm flipH="1" flipV="1">
            <a:off x="8497859" y="4464814"/>
            <a:ext cx="2276808" cy="223070"/>
          </a:xfrm>
          <a:prstGeom prst="line">
            <a:avLst/>
          </a:prstGeom>
          <a:ln w="254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8EC5BF0-EBA9-1449-90AF-50E166CFABAF}"/>
              </a:ext>
            </a:extLst>
          </p:cNvPr>
          <p:cNvSpPr txBox="1"/>
          <p:nvPr/>
        </p:nvSpPr>
        <p:spPr>
          <a:xfrm>
            <a:off x="9859376" y="4299796"/>
            <a:ext cx="3080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19982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Approximation for TSP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5121348" y="1440574"/>
            <a:ext cx="6420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Step 1.5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Re-arrange the MST to make it easier to view, remove unused edges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EFD26-107D-7948-A9D6-BC1E751AEA6F}"/>
              </a:ext>
            </a:extLst>
          </p:cNvPr>
          <p:cNvSpPr/>
          <p:nvPr/>
        </p:nvSpPr>
        <p:spPr>
          <a:xfrm>
            <a:off x="5121348" y="2445688"/>
            <a:ext cx="6420464" cy="41265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25C566-9E30-C145-95A4-5471D9C1031A}"/>
              </a:ext>
            </a:extLst>
          </p:cNvPr>
          <p:cNvCxnSpPr>
            <a:cxnSpLocks/>
            <a:stCxn id="35" idx="2"/>
            <a:endCxn id="36" idx="7"/>
          </p:cNvCxnSpPr>
          <p:nvPr/>
        </p:nvCxnSpPr>
        <p:spPr>
          <a:xfrm flipH="1">
            <a:off x="7793025" y="3579948"/>
            <a:ext cx="1055485" cy="575326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B732440-D5FA-EC46-A3AE-7F7455F845AF}"/>
              </a:ext>
            </a:extLst>
          </p:cNvPr>
          <p:cNvCxnSpPr>
            <a:cxnSpLocks/>
            <a:stCxn id="36" idx="2"/>
            <a:endCxn id="34" idx="6"/>
          </p:cNvCxnSpPr>
          <p:nvPr/>
        </p:nvCxnSpPr>
        <p:spPr>
          <a:xfrm flipH="1">
            <a:off x="5878354" y="4378344"/>
            <a:ext cx="1376133" cy="154709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502F35-DF35-5241-A348-EACDA193A5FE}"/>
              </a:ext>
            </a:extLst>
          </p:cNvPr>
          <p:cNvSpPr txBox="1"/>
          <p:nvPr/>
        </p:nvSpPr>
        <p:spPr>
          <a:xfrm>
            <a:off x="9794842" y="3171798"/>
            <a:ext cx="329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EFE0C-242B-F747-9F3D-3FD30A3C5F68}"/>
              </a:ext>
            </a:extLst>
          </p:cNvPr>
          <p:cNvSpPr txBox="1"/>
          <p:nvPr/>
        </p:nvSpPr>
        <p:spPr>
          <a:xfrm>
            <a:off x="6463350" y="4099827"/>
            <a:ext cx="3080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7D4AA7-3AA2-564E-BBF7-64AB7F4BF4B9}"/>
              </a:ext>
            </a:extLst>
          </p:cNvPr>
          <p:cNvSpPr txBox="1"/>
          <p:nvPr/>
        </p:nvSpPr>
        <p:spPr>
          <a:xfrm>
            <a:off x="8075246" y="3498279"/>
            <a:ext cx="3080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C93A4-E7DE-094B-99F7-4DD201351BB3}"/>
              </a:ext>
            </a:extLst>
          </p:cNvPr>
          <p:cNvSpPr txBox="1"/>
          <p:nvPr/>
        </p:nvSpPr>
        <p:spPr>
          <a:xfrm>
            <a:off x="9120275" y="4386791"/>
            <a:ext cx="429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0F4458-59B1-A748-97AE-7A5750F566A6}"/>
              </a:ext>
            </a:extLst>
          </p:cNvPr>
          <p:cNvSpPr txBox="1"/>
          <p:nvPr/>
        </p:nvSpPr>
        <p:spPr>
          <a:xfrm>
            <a:off x="6617392" y="5534026"/>
            <a:ext cx="30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B955C5-D197-7D4A-AD08-20099F0B71D1}"/>
              </a:ext>
            </a:extLst>
          </p:cNvPr>
          <p:cNvSpPr txBox="1"/>
          <p:nvPr/>
        </p:nvSpPr>
        <p:spPr>
          <a:xfrm>
            <a:off x="8431598" y="6121184"/>
            <a:ext cx="30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F8015D-76C5-4E44-907D-2A3225FDD978}"/>
              </a:ext>
            </a:extLst>
          </p:cNvPr>
          <p:cNvSpPr/>
          <p:nvPr/>
        </p:nvSpPr>
        <p:spPr>
          <a:xfrm>
            <a:off x="5247418" y="4217585"/>
            <a:ext cx="630936" cy="630936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DCA5887-CBAB-B249-B6B6-543908FF389F}"/>
              </a:ext>
            </a:extLst>
          </p:cNvPr>
          <p:cNvSpPr/>
          <p:nvPr/>
        </p:nvSpPr>
        <p:spPr>
          <a:xfrm>
            <a:off x="8848510" y="3264480"/>
            <a:ext cx="630936" cy="630936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B73D67F-713C-B34F-B242-5E105C1316AD}"/>
              </a:ext>
            </a:extLst>
          </p:cNvPr>
          <p:cNvSpPr/>
          <p:nvPr/>
        </p:nvSpPr>
        <p:spPr>
          <a:xfrm>
            <a:off x="7254487" y="4062876"/>
            <a:ext cx="630936" cy="630936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9B271A7-A8B9-784C-872D-E75D09DDABF9}"/>
              </a:ext>
            </a:extLst>
          </p:cNvPr>
          <p:cNvSpPr/>
          <p:nvPr/>
        </p:nvSpPr>
        <p:spPr>
          <a:xfrm>
            <a:off x="10427776" y="4773720"/>
            <a:ext cx="630936" cy="630936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E181C3F-478F-E841-A028-4E3C60B0080D}"/>
              </a:ext>
            </a:extLst>
          </p:cNvPr>
          <p:cNvSpPr/>
          <p:nvPr/>
        </p:nvSpPr>
        <p:spPr>
          <a:xfrm>
            <a:off x="9333040" y="5805716"/>
            <a:ext cx="630936" cy="630936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06E17AC-9A7A-314C-81BE-6BBDAF8F69CD}"/>
              </a:ext>
            </a:extLst>
          </p:cNvPr>
          <p:cNvSpPr/>
          <p:nvPr/>
        </p:nvSpPr>
        <p:spPr>
          <a:xfrm>
            <a:off x="7323769" y="5760628"/>
            <a:ext cx="630936" cy="630936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8EEB2F7-8396-EC44-AC74-BE948FA027C8}"/>
              </a:ext>
            </a:extLst>
          </p:cNvPr>
          <p:cNvSpPr/>
          <p:nvPr/>
        </p:nvSpPr>
        <p:spPr>
          <a:xfrm>
            <a:off x="10204706" y="2500642"/>
            <a:ext cx="630936" cy="630936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65FAB2-DC9F-3146-941C-683498D60A4B}"/>
              </a:ext>
            </a:extLst>
          </p:cNvPr>
          <p:cNvSpPr txBox="1"/>
          <p:nvPr/>
        </p:nvSpPr>
        <p:spPr>
          <a:xfrm>
            <a:off x="832154" y="2451677"/>
            <a:ext cx="3575434" cy="230832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TSP-</a:t>
            </a:r>
            <a:r>
              <a:rPr lang="en-US" dirty="0" err="1">
                <a:solidFill>
                  <a:sysClr val="windowText" lastClr="000000"/>
                </a:solidFill>
              </a:rPr>
              <a:t>Approx</a:t>
            </a:r>
            <a:r>
              <a:rPr lang="en-US" dirty="0">
                <a:solidFill>
                  <a:sysClr val="windowText" lastClr="000000"/>
                </a:solidFill>
              </a:rPr>
              <a:t>(G, s):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Select any vertex R in G.V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MST T = prims-</a:t>
            </a:r>
            <a:r>
              <a:rPr lang="en-US" b="1" dirty="0" err="1">
                <a:solidFill>
                  <a:sysClr val="windowText" lastClr="000000"/>
                </a:solidFill>
              </a:rPr>
              <a:t>mst</a:t>
            </a:r>
            <a:r>
              <a:rPr lang="en-US" b="1" dirty="0">
                <a:solidFill>
                  <a:sysClr val="windowText" lastClr="000000"/>
                </a:solidFill>
              </a:rPr>
              <a:t>(G, r)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dirty="0" err="1">
                <a:solidFill>
                  <a:sysClr val="windowText" lastClr="000000"/>
                </a:solidFill>
              </a:rPr>
              <a:t>prev</a:t>
            </a:r>
            <a:r>
              <a:rPr lang="en-US" dirty="0">
                <a:solidFill>
                  <a:sysClr val="windowText" lastClr="000000"/>
                </a:solidFill>
              </a:rPr>
              <a:t> = </a:t>
            </a:r>
            <a:r>
              <a:rPr lang="en-US" dirty="0" err="1">
                <a:solidFill>
                  <a:sysClr val="windowText" lastClr="000000"/>
                </a:solidFill>
              </a:rPr>
              <a:t>T.preorder</a:t>
            </a:r>
            <a:r>
              <a:rPr lang="en-US" dirty="0">
                <a:solidFill>
                  <a:sysClr val="windowText" lastClr="000000"/>
                </a:solidFill>
              </a:rPr>
              <a:t>().first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for </a:t>
            </a:r>
            <a:r>
              <a:rPr lang="en-US" dirty="0">
                <a:solidFill>
                  <a:sysClr val="windowText" lastClr="000000"/>
                </a:solidFill>
              </a:rPr>
              <a:t>v in </a:t>
            </a:r>
            <a:r>
              <a:rPr lang="en-US" dirty="0" err="1">
                <a:solidFill>
                  <a:sysClr val="windowText" lastClr="000000"/>
                </a:solidFill>
              </a:rPr>
              <a:t>T.preorder</a:t>
            </a:r>
            <a:r>
              <a:rPr lang="en-US" dirty="0">
                <a:solidFill>
                  <a:sysClr val="windowText" lastClr="000000"/>
                </a:solidFill>
              </a:rPr>
              <a:t>().second : …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add (</a:t>
            </a:r>
            <a:r>
              <a:rPr lang="en-US" dirty="0" err="1">
                <a:solidFill>
                  <a:sysClr val="windowText" lastClr="000000"/>
                </a:solidFill>
              </a:rPr>
              <a:t>prev</a:t>
            </a:r>
            <a:r>
              <a:rPr lang="en-US" dirty="0">
                <a:solidFill>
                  <a:sysClr val="windowText" lastClr="000000"/>
                </a:solidFill>
              </a:rPr>
              <a:t>, v) to solution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add (</a:t>
            </a:r>
            <a:r>
              <a:rPr lang="en-US" dirty="0" err="1">
                <a:solidFill>
                  <a:sysClr val="windowText" lastClr="000000"/>
                </a:solidFill>
              </a:rPr>
              <a:t>prev</a:t>
            </a:r>
            <a:r>
              <a:rPr lang="en-US" dirty="0">
                <a:solidFill>
                  <a:sysClr val="windowText" lastClr="000000"/>
                </a:solidFill>
              </a:rPr>
              <a:t>, s) to solution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return</a:t>
            </a:r>
            <a:r>
              <a:rPr lang="en-US" dirty="0">
                <a:solidFill>
                  <a:sysClr val="windowText" lastClr="000000"/>
                </a:solidFill>
              </a:rPr>
              <a:t> solution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13C36D-9E03-674B-AA21-836361305480}"/>
              </a:ext>
            </a:extLst>
          </p:cNvPr>
          <p:cNvCxnSpPr>
            <a:cxnSpLocks/>
            <a:stCxn id="39" idx="1"/>
            <a:endCxn id="34" idx="5"/>
          </p:cNvCxnSpPr>
          <p:nvPr/>
        </p:nvCxnSpPr>
        <p:spPr>
          <a:xfrm flipH="1" flipV="1">
            <a:off x="5785956" y="4756123"/>
            <a:ext cx="1630211" cy="1096903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E328ED-2020-B24E-8593-2149688AE716}"/>
              </a:ext>
            </a:extLst>
          </p:cNvPr>
          <p:cNvCxnSpPr>
            <a:cxnSpLocks/>
            <a:stCxn id="38" idx="2"/>
            <a:endCxn id="39" idx="6"/>
          </p:cNvCxnSpPr>
          <p:nvPr/>
        </p:nvCxnSpPr>
        <p:spPr>
          <a:xfrm flipH="1" flipV="1">
            <a:off x="7954705" y="6076096"/>
            <a:ext cx="1378335" cy="45088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647EC7F-5600-E94D-88FF-D8B3927F36AC}"/>
              </a:ext>
            </a:extLst>
          </p:cNvPr>
          <p:cNvCxnSpPr>
            <a:cxnSpLocks/>
            <a:stCxn id="37" idx="2"/>
            <a:endCxn id="36" idx="6"/>
          </p:cNvCxnSpPr>
          <p:nvPr/>
        </p:nvCxnSpPr>
        <p:spPr>
          <a:xfrm flipH="1" flipV="1">
            <a:off x="7885423" y="4378344"/>
            <a:ext cx="2542353" cy="710844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29B3EAC-B97A-0B4D-8BAD-C10348AC08B0}"/>
              </a:ext>
            </a:extLst>
          </p:cNvPr>
          <p:cNvCxnSpPr>
            <a:cxnSpLocks/>
            <a:stCxn id="33" idx="2"/>
            <a:endCxn id="35" idx="7"/>
          </p:cNvCxnSpPr>
          <p:nvPr/>
        </p:nvCxnSpPr>
        <p:spPr>
          <a:xfrm flipH="1">
            <a:off x="9387048" y="2816110"/>
            <a:ext cx="817658" cy="540768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014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Approximation for TSP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5121348" y="1233840"/>
            <a:ext cx="6420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Step 2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Tour is just the pre-order traversal of the MST. Note that graph needs to be complete to ensure gray edges definitely exist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D0BE3-DBDC-2A4F-888F-DB09AF72307E}"/>
              </a:ext>
            </a:extLst>
          </p:cNvPr>
          <p:cNvSpPr txBox="1"/>
          <p:nvPr/>
        </p:nvSpPr>
        <p:spPr>
          <a:xfrm>
            <a:off x="832154" y="2451677"/>
            <a:ext cx="3575434" cy="230832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TSP-</a:t>
            </a:r>
            <a:r>
              <a:rPr lang="en-US" dirty="0" err="1">
                <a:solidFill>
                  <a:sysClr val="windowText" lastClr="000000"/>
                </a:solidFill>
              </a:rPr>
              <a:t>Approx</a:t>
            </a:r>
            <a:r>
              <a:rPr lang="en-US" dirty="0">
                <a:solidFill>
                  <a:sysClr val="windowText" lastClr="000000"/>
                </a:solidFill>
              </a:rPr>
              <a:t>(G, s):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Select any vertex R in G.V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MST T = prims-</a:t>
            </a:r>
            <a:r>
              <a:rPr lang="en-US" dirty="0" err="1">
                <a:solidFill>
                  <a:sysClr val="windowText" lastClr="000000"/>
                </a:solidFill>
              </a:rPr>
              <a:t>mst</a:t>
            </a:r>
            <a:r>
              <a:rPr lang="en-US" dirty="0">
                <a:solidFill>
                  <a:sysClr val="windowText" lastClr="000000"/>
                </a:solidFill>
              </a:rPr>
              <a:t>(G, r)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 err="1">
                <a:solidFill>
                  <a:sysClr val="windowText" lastClr="000000"/>
                </a:solidFill>
              </a:rPr>
              <a:t>prev</a:t>
            </a:r>
            <a:r>
              <a:rPr lang="en-US" b="1" dirty="0">
                <a:solidFill>
                  <a:sysClr val="windowText" lastClr="000000"/>
                </a:solidFill>
              </a:rPr>
              <a:t> = </a:t>
            </a:r>
            <a:r>
              <a:rPr lang="en-US" b="1" dirty="0" err="1">
                <a:solidFill>
                  <a:sysClr val="windowText" lastClr="000000"/>
                </a:solidFill>
              </a:rPr>
              <a:t>T.preorder</a:t>
            </a:r>
            <a:r>
              <a:rPr lang="en-US" b="1" dirty="0">
                <a:solidFill>
                  <a:sysClr val="windowText" lastClr="000000"/>
                </a:solidFill>
              </a:rPr>
              <a:t>().first</a:t>
            </a:r>
          </a:p>
          <a:p>
            <a:r>
              <a:rPr lang="en-US" b="1" dirty="0">
                <a:solidFill>
                  <a:sysClr val="windowText" lastClr="000000"/>
                </a:solidFill>
              </a:rPr>
              <a:t>   for v in </a:t>
            </a:r>
            <a:r>
              <a:rPr lang="en-US" b="1" dirty="0" err="1">
                <a:solidFill>
                  <a:sysClr val="windowText" lastClr="000000"/>
                </a:solidFill>
              </a:rPr>
              <a:t>T.preorder</a:t>
            </a:r>
            <a:r>
              <a:rPr lang="en-US" b="1" dirty="0">
                <a:solidFill>
                  <a:sysClr val="windowText" lastClr="000000"/>
                </a:solidFill>
              </a:rPr>
              <a:t>().second : …</a:t>
            </a:r>
          </a:p>
          <a:p>
            <a:r>
              <a:rPr lang="en-US" b="1" dirty="0">
                <a:solidFill>
                  <a:sysClr val="windowText" lastClr="000000"/>
                </a:solidFill>
              </a:rPr>
              <a:t>      add (</a:t>
            </a:r>
            <a:r>
              <a:rPr lang="en-US" b="1" dirty="0" err="1">
                <a:solidFill>
                  <a:sysClr val="windowText" lastClr="000000"/>
                </a:solidFill>
              </a:rPr>
              <a:t>prev</a:t>
            </a:r>
            <a:r>
              <a:rPr lang="en-US" b="1" dirty="0">
                <a:solidFill>
                  <a:sysClr val="windowText" lastClr="000000"/>
                </a:solidFill>
              </a:rPr>
              <a:t>, v) to solution</a:t>
            </a:r>
          </a:p>
          <a:p>
            <a:r>
              <a:rPr lang="en-US" b="1" dirty="0">
                <a:solidFill>
                  <a:sysClr val="windowText" lastClr="000000"/>
                </a:solidFill>
              </a:rPr>
              <a:t>   add (</a:t>
            </a:r>
            <a:r>
              <a:rPr lang="en-US" b="1" dirty="0" err="1">
                <a:solidFill>
                  <a:sysClr val="windowText" lastClr="000000"/>
                </a:solidFill>
              </a:rPr>
              <a:t>prev</a:t>
            </a:r>
            <a:r>
              <a:rPr lang="en-US" b="1" dirty="0">
                <a:solidFill>
                  <a:sysClr val="windowText" lastClr="000000"/>
                </a:solidFill>
              </a:rPr>
              <a:t>, s) to solution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</a:t>
            </a:r>
            <a:r>
              <a:rPr lang="en-US" b="1" dirty="0">
                <a:solidFill>
                  <a:sysClr val="windowText" lastClr="000000"/>
                </a:solidFill>
              </a:rPr>
              <a:t>return</a:t>
            </a:r>
            <a:r>
              <a:rPr lang="en-US" dirty="0">
                <a:solidFill>
                  <a:sysClr val="windowText" lastClr="000000"/>
                </a:solidFill>
              </a:rPr>
              <a:t> solution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70D1D69-DE9B-6A4C-9C69-4436E3866C06}"/>
              </a:ext>
            </a:extLst>
          </p:cNvPr>
          <p:cNvGrpSpPr/>
          <p:nvPr/>
        </p:nvGrpSpPr>
        <p:grpSpPr>
          <a:xfrm>
            <a:off x="5121348" y="2445688"/>
            <a:ext cx="6420464" cy="4126562"/>
            <a:chOff x="5121348" y="2445688"/>
            <a:chExt cx="6420464" cy="412656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6EFD26-107D-7948-A9D6-BC1E751AEA6F}"/>
                </a:ext>
              </a:extLst>
            </p:cNvPr>
            <p:cNvSpPr/>
            <p:nvPr/>
          </p:nvSpPr>
          <p:spPr>
            <a:xfrm>
              <a:off x="5121348" y="2445688"/>
              <a:ext cx="6420464" cy="412656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E25C566-9E30-C145-95A4-5471D9C1031A}"/>
                </a:ext>
              </a:extLst>
            </p:cNvPr>
            <p:cNvCxnSpPr>
              <a:cxnSpLocks/>
              <a:stCxn id="35" idx="2"/>
              <a:endCxn id="36" idx="7"/>
            </p:cNvCxnSpPr>
            <p:nvPr/>
          </p:nvCxnSpPr>
          <p:spPr>
            <a:xfrm flipH="1">
              <a:off x="7793025" y="3579948"/>
              <a:ext cx="1055485" cy="575326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732440-D5FA-EC46-A3AE-7F7455F845AF}"/>
                </a:ext>
              </a:extLst>
            </p:cNvPr>
            <p:cNvCxnSpPr>
              <a:cxnSpLocks/>
              <a:stCxn id="36" idx="2"/>
              <a:endCxn id="34" idx="6"/>
            </p:cNvCxnSpPr>
            <p:nvPr/>
          </p:nvCxnSpPr>
          <p:spPr>
            <a:xfrm flipH="1">
              <a:off x="5878354" y="4378344"/>
              <a:ext cx="1376133" cy="154709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502F35-DF35-5241-A348-EACDA193A5FE}"/>
                </a:ext>
              </a:extLst>
            </p:cNvPr>
            <p:cNvSpPr txBox="1"/>
            <p:nvPr/>
          </p:nvSpPr>
          <p:spPr>
            <a:xfrm>
              <a:off x="9794842" y="3171798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81EFE0C-242B-F747-9F3D-3FD30A3C5F68}"/>
                </a:ext>
              </a:extLst>
            </p:cNvPr>
            <p:cNvSpPr txBox="1"/>
            <p:nvPr/>
          </p:nvSpPr>
          <p:spPr>
            <a:xfrm>
              <a:off x="6463350" y="4099827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A7D4AA7-3AA2-564E-BBF7-64AB7F4BF4B9}"/>
                </a:ext>
              </a:extLst>
            </p:cNvPr>
            <p:cNvSpPr txBox="1"/>
            <p:nvPr/>
          </p:nvSpPr>
          <p:spPr>
            <a:xfrm>
              <a:off x="8075246" y="3498279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34C93A4-E7DE-094B-99F7-4DD201351BB3}"/>
                </a:ext>
              </a:extLst>
            </p:cNvPr>
            <p:cNvSpPr txBox="1"/>
            <p:nvPr/>
          </p:nvSpPr>
          <p:spPr>
            <a:xfrm>
              <a:off x="9120275" y="4386791"/>
              <a:ext cx="429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0F4458-59B1-A748-97AE-7A5750F566A6}"/>
                </a:ext>
              </a:extLst>
            </p:cNvPr>
            <p:cNvSpPr txBox="1"/>
            <p:nvPr/>
          </p:nvSpPr>
          <p:spPr>
            <a:xfrm>
              <a:off x="6617392" y="5534026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B955C5-D197-7D4A-AD08-20099F0B71D1}"/>
                </a:ext>
              </a:extLst>
            </p:cNvPr>
            <p:cNvSpPr txBox="1"/>
            <p:nvPr/>
          </p:nvSpPr>
          <p:spPr>
            <a:xfrm>
              <a:off x="8431598" y="612118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0F8015D-76C5-4E44-907D-2A3225FDD978}"/>
                </a:ext>
              </a:extLst>
            </p:cNvPr>
            <p:cNvSpPr/>
            <p:nvPr/>
          </p:nvSpPr>
          <p:spPr>
            <a:xfrm>
              <a:off x="5247418" y="4217585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CA5887-CBAB-B249-B6B6-543908FF389F}"/>
                </a:ext>
              </a:extLst>
            </p:cNvPr>
            <p:cNvSpPr/>
            <p:nvPr/>
          </p:nvSpPr>
          <p:spPr>
            <a:xfrm>
              <a:off x="8848510" y="3264480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B73D67F-713C-B34F-B242-5E105C1316AD}"/>
                </a:ext>
              </a:extLst>
            </p:cNvPr>
            <p:cNvSpPr/>
            <p:nvPr/>
          </p:nvSpPr>
          <p:spPr>
            <a:xfrm>
              <a:off x="7254487" y="4062876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9B271A7-A8B9-784C-872D-E75D09DDABF9}"/>
                </a:ext>
              </a:extLst>
            </p:cNvPr>
            <p:cNvSpPr/>
            <p:nvPr/>
          </p:nvSpPr>
          <p:spPr>
            <a:xfrm>
              <a:off x="10427776" y="4773720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E181C3F-478F-E841-A028-4E3C60B0080D}"/>
                </a:ext>
              </a:extLst>
            </p:cNvPr>
            <p:cNvSpPr/>
            <p:nvPr/>
          </p:nvSpPr>
          <p:spPr>
            <a:xfrm>
              <a:off x="9333040" y="5805716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06E17AC-9A7A-314C-81BE-6BBDAF8F69CD}"/>
                </a:ext>
              </a:extLst>
            </p:cNvPr>
            <p:cNvSpPr/>
            <p:nvPr/>
          </p:nvSpPr>
          <p:spPr>
            <a:xfrm>
              <a:off x="7323769" y="5760628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AAAA670-5AF8-3748-9A0A-0F21D3FE581B}"/>
                </a:ext>
              </a:extLst>
            </p:cNvPr>
            <p:cNvCxnSpPr>
              <a:stCxn id="34" idx="5"/>
              <a:endCxn id="39" idx="1"/>
            </p:cNvCxnSpPr>
            <p:nvPr/>
          </p:nvCxnSpPr>
          <p:spPr>
            <a:xfrm>
              <a:off x="5785956" y="4756123"/>
              <a:ext cx="1630211" cy="1096903"/>
            </a:xfrm>
            <a:prstGeom prst="straightConnector1">
              <a:avLst/>
            </a:prstGeom>
            <a:ln w="603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F277525-DAFD-E241-B7D7-607DA25C5EE0}"/>
                </a:ext>
              </a:extLst>
            </p:cNvPr>
            <p:cNvCxnSpPr>
              <a:cxnSpLocks/>
              <a:stCxn id="39" idx="6"/>
              <a:endCxn id="38" idx="2"/>
            </p:cNvCxnSpPr>
            <p:nvPr/>
          </p:nvCxnSpPr>
          <p:spPr>
            <a:xfrm>
              <a:off x="7954705" y="6076096"/>
              <a:ext cx="1378335" cy="45088"/>
            </a:xfrm>
            <a:prstGeom prst="straightConnector1">
              <a:avLst/>
            </a:prstGeom>
            <a:ln w="603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5088D0B-488A-E740-BF14-16616E555F3C}"/>
                </a:ext>
              </a:extLst>
            </p:cNvPr>
            <p:cNvCxnSpPr>
              <a:cxnSpLocks/>
              <a:stCxn id="38" idx="1"/>
              <a:endCxn id="36" idx="5"/>
            </p:cNvCxnSpPr>
            <p:nvPr/>
          </p:nvCxnSpPr>
          <p:spPr>
            <a:xfrm flipH="1" flipV="1">
              <a:off x="7793025" y="4601414"/>
              <a:ext cx="1632413" cy="1296700"/>
            </a:xfrm>
            <a:prstGeom prst="straightConnector1">
              <a:avLst/>
            </a:prstGeom>
            <a:ln w="60325">
              <a:solidFill>
                <a:schemeClr val="tx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3D13EA97-7E6E-E849-B4CC-1FCAEB7C6668}"/>
                </a:ext>
              </a:extLst>
            </p:cNvPr>
            <p:cNvCxnSpPr>
              <a:cxnSpLocks/>
              <a:stCxn id="36" idx="6"/>
              <a:endCxn id="37" idx="2"/>
            </p:cNvCxnSpPr>
            <p:nvPr/>
          </p:nvCxnSpPr>
          <p:spPr>
            <a:xfrm>
              <a:off x="7885423" y="4378344"/>
              <a:ext cx="2542353" cy="710844"/>
            </a:xfrm>
            <a:prstGeom prst="straightConnector1">
              <a:avLst/>
            </a:prstGeom>
            <a:ln w="603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055C9C2-FCE9-6045-A17D-78C88F20CF33}"/>
                </a:ext>
              </a:extLst>
            </p:cNvPr>
            <p:cNvCxnSpPr>
              <a:cxnSpLocks/>
              <a:stCxn id="37" idx="1"/>
              <a:endCxn id="35" idx="5"/>
            </p:cNvCxnSpPr>
            <p:nvPr/>
          </p:nvCxnSpPr>
          <p:spPr>
            <a:xfrm flipH="1" flipV="1">
              <a:off x="9387048" y="3803018"/>
              <a:ext cx="1133126" cy="1063100"/>
            </a:xfrm>
            <a:prstGeom prst="straightConnector1">
              <a:avLst/>
            </a:prstGeom>
            <a:ln w="60325">
              <a:solidFill>
                <a:schemeClr val="tx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51B9141-843B-C54A-BEB1-D2E4EA1DA813}"/>
                </a:ext>
              </a:extLst>
            </p:cNvPr>
            <p:cNvCxnSpPr>
              <a:cxnSpLocks/>
              <a:stCxn id="35" idx="6"/>
              <a:endCxn id="33" idx="2"/>
            </p:cNvCxnSpPr>
            <p:nvPr/>
          </p:nvCxnSpPr>
          <p:spPr>
            <a:xfrm flipV="1">
              <a:off x="9479446" y="2816110"/>
              <a:ext cx="725260" cy="763838"/>
            </a:xfrm>
            <a:prstGeom prst="straightConnector1">
              <a:avLst/>
            </a:prstGeom>
            <a:ln w="603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4CE9401-3771-8544-8134-A3DB5315F397}"/>
                </a:ext>
              </a:extLst>
            </p:cNvPr>
            <p:cNvCxnSpPr>
              <a:cxnSpLocks/>
              <a:stCxn id="33" idx="1"/>
              <a:endCxn id="34" idx="0"/>
            </p:cNvCxnSpPr>
            <p:nvPr/>
          </p:nvCxnSpPr>
          <p:spPr>
            <a:xfrm flipH="1">
              <a:off x="5562886" y="2593040"/>
              <a:ext cx="4734218" cy="1624545"/>
            </a:xfrm>
            <a:prstGeom prst="straightConnector1">
              <a:avLst/>
            </a:prstGeom>
            <a:ln w="60325">
              <a:solidFill>
                <a:schemeClr val="tx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8EEB2F7-8396-EC44-AC74-BE948FA027C8}"/>
                </a:ext>
              </a:extLst>
            </p:cNvPr>
            <p:cNvSpPr/>
            <p:nvPr/>
          </p:nvSpPr>
          <p:spPr>
            <a:xfrm>
              <a:off x="10204706" y="2500642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6930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Approximation for TSP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1879248" y="1423111"/>
            <a:ext cx="6420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Rearrange to show tour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Cost is 3 + 4 + 8 + 3 + 3 + 2 + 3 = 26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72F028D-330E-6B41-8DF7-F9775D0A48CF}"/>
              </a:ext>
            </a:extLst>
          </p:cNvPr>
          <p:cNvGrpSpPr/>
          <p:nvPr/>
        </p:nvGrpSpPr>
        <p:grpSpPr>
          <a:xfrm>
            <a:off x="1879248" y="2355150"/>
            <a:ext cx="6420464" cy="4126562"/>
            <a:chOff x="2884179" y="2038283"/>
            <a:chExt cx="6420464" cy="412656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6EFD26-107D-7948-A9D6-BC1E751AEA6F}"/>
                </a:ext>
              </a:extLst>
            </p:cNvPr>
            <p:cNvSpPr/>
            <p:nvPr/>
          </p:nvSpPr>
          <p:spPr>
            <a:xfrm>
              <a:off x="2884179" y="2038283"/>
              <a:ext cx="6420464" cy="412656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502F35-DF35-5241-A348-EACDA193A5FE}"/>
                </a:ext>
              </a:extLst>
            </p:cNvPr>
            <p:cNvSpPr txBox="1"/>
            <p:nvPr/>
          </p:nvSpPr>
          <p:spPr>
            <a:xfrm>
              <a:off x="7281257" y="2649405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34C93A4-E7DE-094B-99F7-4DD201351BB3}"/>
                </a:ext>
              </a:extLst>
            </p:cNvPr>
            <p:cNvSpPr txBox="1"/>
            <p:nvPr/>
          </p:nvSpPr>
          <p:spPr>
            <a:xfrm>
              <a:off x="8125271" y="5165434"/>
              <a:ext cx="429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0F4458-59B1-A748-97AE-7A5750F566A6}"/>
                </a:ext>
              </a:extLst>
            </p:cNvPr>
            <p:cNvSpPr txBox="1"/>
            <p:nvPr/>
          </p:nvSpPr>
          <p:spPr>
            <a:xfrm>
              <a:off x="3406916" y="406743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B955C5-D197-7D4A-AD08-20099F0B71D1}"/>
                </a:ext>
              </a:extLst>
            </p:cNvPr>
            <p:cNvSpPr txBox="1"/>
            <p:nvPr/>
          </p:nvSpPr>
          <p:spPr>
            <a:xfrm>
              <a:off x="4564873" y="5637240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AAAA670-5AF8-3748-9A0A-0F21D3FE581B}"/>
                </a:ext>
              </a:extLst>
            </p:cNvPr>
            <p:cNvCxnSpPr>
              <a:cxnSpLocks/>
              <a:stCxn id="34" idx="4"/>
              <a:endCxn id="39" idx="0"/>
            </p:cNvCxnSpPr>
            <p:nvPr/>
          </p:nvCxnSpPr>
          <p:spPr>
            <a:xfrm>
              <a:off x="3438726" y="3001338"/>
              <a:ext cx="539294" cy="2004966"/>
            </a:xfrm>
            <a:prstGeom prst="straightConnector1">
              <a:avLst/>
            </a:prstGeom>
            <a:ln w="603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F277525-DAFD-E241-B7D7-607DA25C5EE0}"/>
                </a:ext>
              </a:extLst>
            </p:cNvPr>
            <p:cNvCxnSpPr>
              <a:cxnSpLocks/>
              <a:stCxn id="39" idx="6"/>
              <a:endCxn id="38" idx="2"/>
            </p:cNvCxnSpPr>
            <p:nvPr/>
          </p:nvCxnSpPr>
          <p:spPr>
            <a:xfrm>
              <a:off x="4293488" y="5321772"/>
              <a:ext cx="1140374" cy="421122"/>
            </a:xfrm>
            <a:prstGeom prst="straightConnector1">
              <a:avLst/>
            </a:prstGeom>
            <a:ln w="603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5088D0B-488A-E740-BF14-16616E555F3C}"/>
                </a:ext>
              </a:extLst>
            </p:cNvPr>
            <p:cNvCxnSpPr>
              <a:cxnSpLocks/>
              <a:stCxn id="38" idx="6"/>
              <a:endCxn id="36" idx="2"/>
            </p:cNvCxnSpPr>
            <p:nvPr/>
          </p:nvCxnSpPr>
          <p:spPr>
            <a:xfrm flipV="1">
              <a:off x="6064798" y="5689519"/>
              <a:ext cx="1364201" cy="53375"/>
            </a:xfrm>
            <a:prstGeom prst="straightConnector1">
              <a:avLst/>
            </a:prstGeom>
            <a:ln w="60325">
              <a:solidFill>
                <a:schemeClr val="tx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3D13EA97-7E6E-E849-B4CC-1FCAEB7C6668}"/>
                </a:ext>
              </a:extLst>
            </p:cNvPr>
            <p:cNvCxnSpPr>
              <a:cxnSpLocks/>
              <a:stCxn id="36" idx="7"/>
              <a:endCxn id="37" idx="3"/>
            </p:cNvCxnSpPr>
            <p:nvPr/>
          </p:nvCxnSpPr>
          <p:spPr>
            <a:xfrm flipV="1">
              <a:off x="7967537" y="4598438"/>
              <a:ext cx="471381" cy="868011"/>
            </a:xfrm>
            <a:prstGeom prst="straightConnector1">
              <a:avLst/>
            </a:prstGeom>
            <a:ln w="603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055C9C2-FCE9-6045-A17D-78C88F20CF33}"/>
                </a:ext>
              </a:extLst>
            </p:cNvPr>
            <p:cNvCxnSpPr>
              <a:cxnSpLocks/>
              <a:stCxn id="37" idx="0"/>
              <a:endCxn id="35" idx="4"/>
            </p:cNvCxnSpPr>
            <p:nvPr/>
          </p:nvCxnSpPr>
          <p:spPr>
            <a:xfrm flipH="1" flipV="1">
              <a:off x="8375403" y="3053618"/>
              <a:ext cx="286585" cy="1006282"/>
            </a:xfrm>
            <a:prstGeom prst="straightConnector1">
              <a:avLst/>
            </a:prstGeom>
            <a:ln w="60325">
              <a:solidFill>
                <a:schemeClr val="tx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51B9141-843B-C54A-BEB1-D2E4EA1DA813}"/>
                </a:ext>
              </a:extLst>
            </p:cNvPr>
            <p:cNvCxnSpPr>
              <a:cxnSpLocks/>
              <a:stCxn id="35" idx="2"/>
              <a:endCxn id="33" idx="6"/>
            </p:cNvCxnSpPr>
            <p:nvPr/>
          </p:nvCxnSpPr>
          <p:spPr>
            <a:xfrm flipH="1" flipV="1">
              <a:off x="6622786" y="2435124"/>
              <a:ext cx="1437149" cy="303026"/>
            </a:xfrm>
            <a:prstGeom prst="straightConnector1">
              <a:avLst/>
            </a:prstGeom>
            <a:ln w="6032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4CE9401-3771-8544-8134-A3DB5315F397}"/>
                </a:ext>
              </a:extLst>
            </p:cNvPr>
            <p:cNvCxnSpPr>
              <a:cxnSpLocks/>
              <a:stCxn id="33" idx="2"/>
              <a:endCxn id="34" idx="6"/>
            </p:cNvCxnSpPr>
            <p:nvPr/>
          </p:nvCxnSpPr>
          <p:spPr>
            <a:xfrm flipH="1">
              <a:off x="3754194" y="2435124"/>
              <a:ext cx="2237656" cy="250746"/>
            </a:xfrm>
            <a:prstGeom prst="straightConnector1">
              <a:avLst/>
            </a:prstGeom>
            <a:ln w="60325">
              <a:solidFill>
                <a:schemeClr val="tx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8EEB2F7-8396-EC44-AC74-BE948FA027C8}"/>
                </a:ext>
              </a:extLst>
            </p:cNvPr>
            <p:cNvSpPr/>
            <p:nvPr/>
          </p:nvSpPr>
          <p:spPr>
            <a:xfrm>
              <a:off x="5991850" y="2119656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0F8015D-76C5-4E44-907D-2A3225FDD978}"/>
                </a:ext>
              </a:extLst>
            </p:cNvPr>
            <p:cNvSpPr/>
            <p:nvPr/>
          </p:nvSpPr>
          <p:spPr>
            <a:xfrm>
              <a:off x="3123258" y="2370402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CA5887-CBAB-B249-B6B6-543908FF389F}"/>
                </a:ext>
              </a:extLst>
            </p:cNvPr>
            <p:cNvSpPr/>
            <p:nvPr/>
          </p:nvSpPr>
          <p:spPr>
            <a:xfrm>
              <a:off x="8059935" y="2422682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B73D67F-713C-B34F-B242-5E105C1316AD}"/>
                </a:ext>
              </a:extLst>
            </p:cNvPr>
            <p:cNvSpPr/>
            <p:nvPr/>
          </p:nvSpPr>
          <p:spPr>
            <a:xfrm>
              <a:off x="7428999" y="5374051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9B271A7-A8B9-784C-872D-E75D09DDABF9}"/>
                </a:ext>
              </a:extLst>
            </p:cNvPr>
            <p:cNvSpPr/>
            <p:nvPr/>
          </p:nvSpPr>
          <p:spPr>
            <a:xfrm>
              <a:off x="8346520" y="4059900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E181C3F-478F-E841-A028-4E3C60B0080D}"/>
                </a:ext>
              </a:extLst>
            </p:cNvPr>
            <p:cNvSpPr/>
            <p:nvPr/>
          </p:nvSpPr>
          <p:spPr>
            <a:xfrm>
              <a:off x="5433862" y="5427426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06E17AC-9A7A-314C-81BE-6BBDAF8F69CD}"/>
                </a:ext>
              </a:extLst>
            </p:cNvPr>
            <p:cNvSpPr/>
            <p:nvPr/>
          </p:nvSpPr>
          <p:spPr>
            <a:xfrm>
              <a:off x="3662552" y="5006304"/>
              <a:ext cx="630936" cy="63093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25B5378-7BC6-4B47-A137-C71B85A9FD6E}"/>
                </a:ext>
              </a:extLst>
            </p:cNvPr>
            <p:cNvSpPr txBox="1"/>
            <p:nvPr/>
          </p:nvSpPr>
          <p:spPr>
            <a:xfrm>
              <a:off x="4760081" y="219116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488FDF1-6AAB-434D-92E9-DA2F955CEFB0}"/>
                </a:ext>
              </a:extLst>
            </p:cNvPr>
            <p:cNvSpPr txBox="1"/>
            <p:nvPr/>
          </p:nvSpPr>
          <p:spPr>
            <a:xfrm>
              <a:off x="8548425" y="3407070"/>
              <a:ext cx="429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6B1DE3D-D644-9843-B8B9-9AEA8A6281AD}"/>
                </a:ext>
              </a:extLst>
            </p:cNvPr>
            <p:cNvSpPr txBox="1"/>
            <p:nvPr/>
          </p:nvSpPr>
          <p:spPr>
            <a:xfrm>
              <a:off x="6468743" y="5330117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75FAF68C-75A6-AC44-859E-E70472F72282}"/>
              </a:ext>
            </a:extLst>
          </p:cNvPr>
          <p:cNvSpPr txBox="1"/>
          <p:nvPr/>
        </p:nvSpPr>
        <p:spPr>
          <a:xfrm>
            <a:off x="9535061" y="3107700"/>
            <a:ext cx="2656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How good / bad can this approximation be though?</a:t>
            </a:r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6510519-0512-FC4E-BB93-625C70428991}"/>
              </a:ext>
            </a:extLst>
          </p:cNvPr>
          <p:cNvCxnSpPr/>
          <p:nvPr/>
        </p:nvCxnSpPr>
        <p:spPr>
          <a:xfrm>
            <a:off x="8527828" y="3197258"/>
            <a:ext cx="890712" cy="27669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556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Approximation for TSP: Analysis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831ABE2-E09F-E04F-80C3-38FDC29F6117}"/>
              </a:ext>
            </a:extLst>
          </p:cNvPr>
          <p:cNvGrpSpPr/>
          <p:nvPr/>
        </p:nvGrpSpPr>
        <p:grpSpPr>
          <a:xfrm>
            <a:off x="1384235" y="1504783"/>
            <a:ext cx="6420464" cy="3615379"/>
            <a:chOff x="693568" y="2319076"/>
            <a:chExt cx="6420464" cy="361537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A75CD1-EB46-D840-87A2-F0B000ED1C00}"/>
                </a:ext>
              </a:extLst>
            </p:cNvPr>
            <p:cNvSpPr/>
            <p:nvPr/>
          </p:nvSpPr>
          <p:spPr>
            <a:xfrm>
              <a:off x="693568" y="2319076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EA1B2D5-09FF-E04B-BD7B-954692EC9C8C}"/>
                </a:ext>
              </a:extLst>
            </p:cNvPr>
            <p:cNvCxnSpPr>
              <a:cxnSpLocks/>
              <a:stCxn id="57" idx="7"/>
              <a:endCxn id="59" idx="2"/>
            </p:cNvCxnSpPr>
            <p:nvPr/>
          </p:nvCxnSpPr>
          <p:spPr>
            <a:xfrm flipV="1">
              <a:off x="1503278" y="2759946"/>
              <a:ext cx="1517196" cy="505017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04DF5A-8128-F246-B1B0-E88BDEBDC671}"/>
                </a:ext>
              </a:extLst>
            </p:cNvPr>
            <p:cNvCxnSpPr>
              <a:cxnSpLocks/>
              <a:stCxn id="59" idx="4"/>
              <a:endCxn id="60" idx="1"/>
            </p:cNvCxnSpPr>
            <p:nvPr/>
          </p:nvCxnSpPr>
          <p:spPr>
            <a:xfrm>
              <a:off x="3335942" y="3075414"/>
              <a:ext cx="195599" cy="1039718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86FA0D8-EFD9-5D47-B974-6D92D5DEBD13}"/>
                </a:ext>
              </a:extLst>
            </p:cNvPr>
            <p:cNvCxnSpPr>
              <a:stCxn id="61" idx="3"/>
              <a:endCxn id="60" idx="7"/>
            </p:cNvCxnSpPr>
            <p:nvPr/>
          </p:nvCxnSpPr>
          <p:spPr>
            <a:xfrm flipH="1">
              <a:off x="3977681" y="3112378"/>
              <a:ext cx="1362059" cy="1002754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2B4B395-6536-A94C-804C-D39493FCD9AB}"/>
                </a:ext>
              </a:extLst>
            </p:cNvPr>
            <p:cNvCxnSpPr>
              <a:cxnSpLocks/>
              <a:stCxn id="60" idx="2"/>
              <a:endCxn id="58" idx="6"/>
            </p:cNvCxnSpPr>
            <p:nvPr/>
          </p:nvCxnSpPr>
          <p:spPr>
            <a:xfrm flipH="1">
              <a:off x="1818746" y="4338202"/>
              <a:ext cx="1620397" cy="105325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F2FFDA4-B7C5-3D41-BC77-2739EF1737BE}"/>
                </a:ext>
              </a:extLst>
            </p:cNvPr>
            <p:cNvCxnSpPr>
              <a:cxnSpLocks/>
              <a:stCxn id="63" idx="6"/>
              <a:endCxn id="62" idx="2"/>
            </p:cNvCxnSpPr>
            <p:nvPr/>
          </p:nvCxnSpPr>
          <p:spPr>
            <a:xfrm flipV="1">
              <a:off x="5339740" y="4561272"/>
              <a:ext cx="1007147" cy="83018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0A4A33F-061F-494E-B29D-507F31797788}"/>
                </a:ext>
              </a:extLst>
            </p:cNvPr>
            <p:cNvCxnSpPr>
              <a:cxnSpLocks/>
              <a:stCxn id="63" idx="2"/>
              <a:endCxn id="58" idx="6"/>
            </p:cNvCxnSpPr>
            <p:nvPr/>
          </p:nvCxnSpPr>
          <p:spPr>
            <a:xfrm flipH="1">
              <a:off x="1818746" y="5391457"/>
              <a:ext cx="2890058" cy="0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CD6E22-AD42-2343-807A-2388992AF5DF}"/>
                </a:ext>
              </a:extLst>
            </p:cNvPr>
            <p:cNvSpPr txBox="1"/>
            <p:nvPr/>
          </p:nvSpPr>
          <p:spPr>
            <a:xfrm>
              <a:off x="1932064" y="2603914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E1287EC-796A-4E41-B1F1-4AAED0C127BC}"/>
                </a:ext>
              </a:extLst>
            </p:cNvPr>
            <p:cNvSpPr txBox="1"/>
            <p:nvPr/>
          </p:nvSpPr>
          <p:spPr>
            <a:xfrm>
              <a:off x="2557706" y="44204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E09463D-F290-0A42-9AE2-FA52A680CA21}"/>
                </a:ext>
              </a:extLst>
            </p:cNvPr>
            <p:cNvSpPr txBox="1"/>
            <p:nvPr/>
          </p:nvSpPr>
          <p:spPr>
            <a:xfrm>
              <a:off x="3442747" y="335698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A21E423-A5CB-E64C-B25E-5238DC93DCD7}"/>
                </a:ext>
              </a:extLst>
            </p:cNvPr>
            <p:cNvSpPr txBox="1"/>
            <p:nvPr/>
          </p:nvSpPr>
          <p:spPr>
            <a:xfrm>
              <a:off x="4638326" y="357323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9F4AD15-F53D-1A4B-9553-EDA9B2F61F3A}"/>
                </a:ext>
              </a:extLst>
            </p:cNvPr>
            <p:cNvSpPr txBox="1"/>
            <p:nvPr/>
          </p:nvSpPr>
          <p:spPr>
            <a:xfrm>
              <a:off x="3377498" y="541531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C5652B7-BB1B-4047-AE3C-DA67920B7E42}"/>
                </a:ext>
              </a:extLst>
            </p:cNvPr>
            <p:cNvSpPr txBox="1"/>
            <p:nvPr/>
          </p:nvSpPr>
          <p:spPr>
            <a:xfrm>
              <a:off x="5591735" y="465757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2E7EB09-1178-E14E-8C04-4799AB3D30A4}"/>
                </a:ext>
              </a:extLst>
            </p:cNvPr>
            <p:cNvSpPr/>
            <p:nvPr/>
          </p:nvSpPr>
          <p:spPr>
            <a:xfrm>
              <a:off x="964740" y="3172565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3B92A97-A216-3849-9E09-06BBE862968E}"/>
                </a:ext>
              </a:extLst>
            </p:cNvPr>
            <p:cNvSpPr/>
            <p:nvPr/>
          </p:nvSpPr>
          <p:spPr>
            <a:xfrm>
              <a:off x="1187810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CC51B31-965E-9A41-A954-7A2740737873}"/>
                </a:ext>
              </a:extLst>
            </p:cNvPr>
            <p:cNvSpPr/>
            <p:nvPr/>
          </p:nvSpPr>
          <p:spPr>
            <a:xfrm>
              <a:off x="3020474" y="244447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B4528C4-15BD-0B40-889D-2AB289E77703}"/>
                </a:ext>
              </a:extLst>
            </p:cNvPr>
            <p:cNvSpPr/>
            <p:nvPr/>
          </p:nvSpPr>
          <p:spPr>
            <a:xfrm>
              <a:off x="3439143" y="4022734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7E3FFB7-47E5-8447-9898-C9D77CE66F14}"/>
                </a:ext>
              </a:extLst>
            </p:cNvPr>
            <p:cNvSpPr/>
            <p:nvPr/>
          </p:nvSpPr>
          <p:spPr>
            <a:xfrm>
              <a:off x="5247342" y="2573840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D136AEE-A7A6-E144-8516-155875F5F278}"/>
                </a:ext>
              </a:extLst>
            </p:cNvPr>
            <p:cNvSpPr/>
            <p:nvPr/>
          </p:nvSpPr>
          <p:spPr>
            <a:xfrm>
              <a:off x="6346887" y="4245804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7176B93-6F79-3C46-9161-32A1A1586B7D}"/>
                </a:ext>
              </a:extLst>
            </p:cNvPr>
            <p:cNvSpPr/>
            <p:nvPr/>
          </p:nvSpPr>
          <p:spPr>
            <a:xfrm>
              <a:off x="4708804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F5DA012-4759-BE4B-AF23-7C03FC0C8264}"/>
              </a:ext>
            </a:extLst>
          </p:cNvPr>
          <p:cNvSpPr txBox="1"/>
          <p:nvPr/>
        </p:nvSpPr>
        <p:spPr>
          <a:xfrm>
            <a:off x="1347731" y="5314951"/>
            <a:ext cx="6420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Observation 1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minimum spanning tree is a lower bound for the optimal tour. Why?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C454DBC-4A04-0044-9A24-FF4021B72183}"/>
                  </a:ext>
                </a:extLst>
              </p:cNvPr>
              <p:cNvSpPr txBox="1"/>
              <p:nvPr/>
            </p:nvSpPr>
            <p:spPr>
              <a:xfrm>
                <a:off x="8031548" y="2528105"/>
                <a:ext cx="378939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b="1" i="1" u="sng" dirty="0"/>
                  <a:t>So we get the inequality</a:t>
                </a:r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C454DBC-4A04-0044-9A24-FF4021B72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548" y="2528105"/>
                <a:ext cx="3789391" cy="1200329"/>
              </a:xfrm>
              <a:prstGeom prst="rect">
                <a:avLst/>
              </a:prstGeom>
              <a:blipFill>
                <a:blip r:embed="rId2"/>
                <a:stretch>
                  <a:fillRect l="-1000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046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Approximation for TSP: Analysis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A75CD1-EB46-D840-87A2-F0B000ED1C00}"/>
              </a:ext>
            </a:extLst>
          </p:cNvPr>
          <p:cNvSpPr/>
          <p:nvPr/>
        </p:nvSpPr>
        <p:spPr>
          <a:xfrm>
            <a:off x="1384235" y="1504783"/>
            <a:ext cx="6420464" cy="361537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EA1B2D5-09FF-E04B-BD7B-954692EC9C8C}"/>
              </a:ext>
            </a:extLst>
          </p:cNvPr>
          <p:cNvCxnSpPr>
            <a:cxnSpLocks/>
            <a:stCxn id="57" idx="7"/>
            <a:endCxn id="59" idx="2"/>
          </p:cNvCxnSpPr>
          <p:nvPr/>
        </p:nvCxnSpPr>
        <p:spPr>
          <a:xfrm flipV="1">
            <a:off x="2193945" y="1945653"/>
            <a:ext cx="1517196" cy="505017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E04DF5A-8128-F246-B1B0-E88BDEBDC671}"/>
              </a:ext>
            </a:extLst>
          </p:cNvPr>
          <p:cNvCxnSpPr>
            <a:cxnSpLocks/>
            <a:stCxn id="59" idx="4"/>
            <a:endCxn id="60" idx="1"/>
          </p:cNvCxnSpPr>
          <p:nvPr/>
        </p:nvCxnSpPr>
        <p:spPr>
          <a:xfrm>
            <a:off x="4026609" y="2261121"/>
            <a:ext cx="195599" cy="1039718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6FA0D8-EFD9-5D47-B974-6D92D5DEBD13}"/>
              </a:ext>
            </a:extLst>
          </p:cNvPr>
          <p:cNvCxnSpPr>
            <a:stCxn id="61" idx="3"/>
            <a:endCxn id="60" idx="7"/>
          </p:cNvCxnSpPr>
          <p:nvPr/>
        </p:nvCxnSpPr>
        <p:spPr>
          <a:xfrm flipH="1">
            <a:off x="4668348" y="2298085"/>
            <a:ext cx="1362059" cy="1002754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2B4B395-6536-A94C-804C-D39493FCD9AB}"/>
              </a:ext>
            </a:extLst>
          </p:cNvPr>
          <p:cNvCxnSpPr>
            <a:cxnSpLocks/>
            <a:stCxn id="60" idx="2"/>
            <a:endCxn id="58" idx="6"/>
          </p:cNvCxnSpPr>
          <p:nvPr/>
        </p:nvCxnSpPr>
        <p:spPr>
          <a:xfrm flipH="1">
            <a:off x="2509413" y="3523909"/>
            <a:ext cx="1620397" cy="1053255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2FFDA4-B7C5-3D41-BC77-2739EF1737BE}"/>
              </a:ext>
            </a:extLst>
          </p:cNvPr>
          <p:cNvCxnSpPr>
            <a:cxnSpLocks/>
            <a:stCxn id="63" idx="6"/>
            <a:endCxn id="62" idx="2"/>
          </p:cNvCxnSpPr>
          <p:nvPr/>
        </p:nvCxnSpPr>
        <p:spPr>
          <a:xfrm flipV="1">
            <a:off x="6030407" y="3746979"/>
            <a:ext cx="1007147" cy="830185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0A4A33F-061F-494E-B29D-507F31797788}"/>
              </a:ext>
            </a:extLst>
          </p:cNvPr>
          <p:cNvCxnSpPr>
            <a:cxnSpLocks/>
            <a:stCxn id="63" idx="2"/>
            <a:endCxn id="58" idx="6"/>
          </p:cNvCxnSpPr>
          <p:nvPr/>
        </p:nvCxnSpPr>
        <p:spPr>
          <a:xfrm flipH="1">
            <a:off x="2509413" y="4577164"/>
            <a:ext cx="2890058" cy="0"/>
          </a:xfrm>
          <a:prstGeom prst="lin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0CD6E22-AD42-2343-807A-2388992AF5DF}"/>
              </a:ext>
            </a:extLst>
          </p:cNvPr>
          <p:cNvSpPr txBox="1"/>
          <p:nvPr/>
        </p:nvSpPr>
        <p:spPr>
          <a:xfrm>
            <a:off x="2622731" y="1789621"/>
            <a:ext cx="329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1287EC-796A-4E41-B1F1-4AAED0C127BC}"/>
              </a:ext>
            </a:extLst>
          </p:cNvPr>
          <p:cNvSpPr txBox="1"/>
          <p:nvPr/>
        </p:nvSpPr>
        <p:spPr>
          <a:xfrm>
            <a:off x="3248373" y="3606118"/>
            <a:ext cx="30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09463D-F290-0A42-9AE2-FA52A680CA21}"/>
              </a:ext>
            </a:extLst>
          </p:cNvPr>
          <p:cNvSpPr txBox="1"/>
          <p:nvPr/>
        </p:nvSpPr>
        <p:spPr>
          <a:xfrm>
            <a:off x="4133414" y="2542695"/>
            <a:ext cx="30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21E423-A5CB-E64C-B25E-5238DC93DCD7}"/>
              </a:ext>
            </a:extLst>
          </p:cNvPr>
          <p:cNvSpPr txBox="1"/>
          <p:nvPr/>
        </p:nvSpPr>
        <p:spPr>
          <a:xfrm>
            <a:off x="5328993" y="2758938"/>
            <a:ext cx="30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F4AD15-F53D-1A4B-9553-EDA9B2F61F3A}"/>
              </a:ext>
            </a:extLst>
          </p:cNvPr>
          <p:cNvSpPr txBox="1"/>
          <p:nvPr/>
        </p:nvSpPr>
        <p:spPr>
          <a:xfrm>
            <a:off x="4068165" y="4601022"/>
            <a:ext cx="30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5652B7-BB1B-4047-AE3C-DA67920B7E42}"/>
              </a:ext>
            </a:extLst>
          </p:cNvPr>
          <p:cNvSpPr txBox="1"/>
          <p:nvPr/>
        </p:nvSpPr>
        <p:spPr>
          <a:xfrm>
            <a:off x="6282402" y="3843281"/>
            <a:ext cx="30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2E7EB09-1178-E14E-8C04-4799AB3D30A4}"/>
              </a:ext>
            </a:extLst>
          </p:cNvPr>
          <p:cNvSpPr/>
          <p:nvPr/>
        </p:nvSpPr>
        <p:spPr>
          <a:xfrm>
            <a:off x="1655407" y="2358272"/>
            <a:ext cx="630936" cy="63093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3B92A97-A216-3849-9E09-06BBE862968E}"/>
              </a:ext>
            </a:extLst>
          </p:cNvPr>
          <p:cNvSpPr/>
          <p:nvPr/>
        </p:nvSpPr>
        <p:spPr>
          <a:xfrm>
            <a:off x="1878477" y="4261696"/>
            <a:ext cx="630936" cy="630936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CC51B31-965E-9A41-A954-7A2740737873}"/>
              </a:ext>
            </a:extLst>
          </p:cNvPr>
          <p:cNvSpPr/>
          <p:nvPr/>
        </p:nvSpPr>
        <p:spPr>
          <a:xfrm>
            <a:off x="3711141" y="1630185"/>
            <a:ext cx="630936" cy="63093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B4528C4-15BD-0B40-889D-2AB289E77703}"/>
              </a:ext>
            </a:extLst>
          </p:cNvPr>
          <p:cNvSpPr/>
          <p:nvPr/>
        </p:nvSpPr>
        <p:spPr>
          <a:xfrm>
            <a:off x="4129810" y="3208441"/>
            <a:ext cx="630936" cy="63093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7E3FFB7-47E5-8447-9898-C9D77CE66F14}"/>
              </a:ext>
            </a:extLst>
          </p:cNvPr>
          <p:cNvSpPr/>
          <p:nvPr/>
        </p:nvSpPr>
        <p:spPr>
          <a:xfrm>
            <a:off x="5938009" y="1759547"/>
            <a:ext cx="630936" cy="63093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D136AEE-A7A6-E144-8516-155875F5F278}"/>
              </a:ext>
            </a:extLst>
          </p:cNvPr>
          <p:cNvSpPr/>
          <p:nvPr/>
        </p:nvSpPr>
        <p:spPr>
          <a:xfrm>
            <a:off x="7037554" y="3431511"/>
            <a:ext cx="630936" cy="63093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7176B93-6F79-3C46-9161-32A1A1586B7D}"/>
              </a:ext>
            </a:extLst>
          </p:cNvPr>
          <p:cNvSpPr/>
          <p:nvPr/>
        </p:nvSpPr>
        <p:spPr>
          <a:xfrm>
            <a:off x="5399471" y="4261696"/>
            <a:ext cx="630936" cy="63093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5DA012-4759-BE4B-AF23-7C03FC0C8264}"/>
              </a:ext>
            </a:extLst>
          </p:cNvPr>
          <p:cNvSpPr txBox="1"/>
          <p:nvPr/>
        </p:nvSpPr>
        <p:spPr>
          <a:xfrm>
            <a:off x="1347731" y="5182431"/>
            <a:ext cx="6420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Observation 2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Consider the FULL WALK of T. Notice that the full walk traverses each edge exactly twice. </a:t>
            </a:r>
            <a:br>
              <a:rPr lang="en-US" dirty="0"/>
            </a:br>
            <a:r>
              <a:rPr lang="en-US" dirty="0"/>
              <a:t>Full walk is (a f g f a e d e c b c e 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C454DBC-4A04-0044-9A24-FF4021B72183}"/>
                  </a:ext>
                </a:extLst>
              </p:cNvPr>
              <p:cNvSpPr txBox="1"/>
              <p:nvPr/>
            </p:nvSpPr>
            <p:spPr>
              <a:xfrm>
                <a:off x="8031548" y="2528105"/>
                <a:ext cx="378939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b="1" i="1" u="sng" dirty="0"/>
                  <a:t>So we get the inequality</a:t>
                </a:r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C454DBC-4A04-0044-9A24-FF4021B72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548" y="2528105"/>
                <a:ext cx="3789391" cy="1477328"/>
              </a:xfrm>
              <a:prstGeom prst="rect">
                <a:avLst/>
              </a:prstGeom>
              <a:blipFill>
                <a:blip r:embed="rId2"/>
                <a:stretch>
                  <a:fillRect l="-1000"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CB192AD-A56C-5641-871F-4CE011DB114D}"/>
              </a:ext>
            </a:extLst>
          </p:cNvPr>
          <p:cNvSpPr txBox="1"/>
          <p:nvPr/>
        </p:nvSpPr>
        <p:spPr>
          <a:xfrm>
            <a:off x="8920465" y="4584152"/>
            <a:ext cx="2580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But this walk is not a tour (it is an </a:t>
            </a:r>
            <a:r>
              <a:rPr lang="en-US" i="1" dirty="0" err="1"/>
              <a:t>mst</a:t>
            </a:r>
            <a:r>
              <a:rPr lang="en-US" i="1" dirty="0"/>
              <a:t> full walk), what about the tour that gets returned by the algorithm?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16059E-5C27-7649-9DD8-7B3C0DF15F11}"/>
              </a:ext>
            </a:extLst>
          </p:cNvPr>
          <p:cNvCxnSpPr>
            <a:cxnSpLocks/>
          </p:cNvCxnSpPr>
          <p:nvPr/>
        </p:nvCxnSpPr>
        <p:spPr>
          <a:xfrm flipH="1" flipV="1">
            <a:off x="9496540" y="3839377"/>
            <a:ext cx="208756" cy="62245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947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Approximation for TSP: Analysis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5DA012-4759-BE4B-AF23-7C03FC0C8264}"/>
              </a:ext>
            </a:extLst>
          </p:cNvPr>
          <p:cNvSpPr txBox="1"/>
          <p:nvPr/>
        </p:nvSpPr>
        <p:spPr>
          <a:xfrm>
            <a:off x="1347731" y="5303617"/>
            <a:ext cx="6420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Observation 3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cross edges never increase the cost of the “walk”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B192AD-A56C-5641-871F-4CE011DB114D}"/>
                  </a:ext>
                </a:extLst>
              </p:cNvPr>
              <p:cNvSpPr txBox="1"/>
              <p:nvPr/>
            </p:nvSpPr>
            <p:spPr>
              <a:xfrm>
                <a:off x="8023992" y="2165442"/>
                <a:ext cx="371256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Consider the edge (</a:t>
                </a:r>
                <a:r>
                  <a:rPr lang="en-US" i="1" dirty="0" err="1"/>
                  <a:t>g,e</a:t>
                </a:r>
                <a:r>
                  <a:rPr lang="en-US" i="1" dirty="0"/>
                  <a:t>) with cost 8</a:t>
                </a:r>
              </a:p>
              <a:p>
                <a:endParaRPr lang="en-US" i="1" dirty="0"/>
              </a:p>
              <a:p>
                <a:pPr/>
                <a:r>
                  <a:rPr lang="en-US" i="1" dirty="0"/>
                  <a:t>The full walk goes from (g f a e)</a:t>
                </a:r>
                <a:br>
                  <a:rPr lang="en-US" i="1" dirty="0"/>
                </a:br>
                <a:r>
                  <a:rPr lang="en-US" i="1" dirty="0"/>
                  <a:t>Direct edge goes from (g e)</a:t>
                </a:r>
                <a:br>
                  <a:rPr lang="en-US" i="1" dirty="0"/>
                </a:br>
                <a:br>
                  <a:rPr lang="en-US" i="1" dirty="0"/>
                </a:br>
                <a:r>
                  <a:rPr lang="en-US" i="1" dirty="0"/>
                  <a:t>Due to triangle inequality:</a:t>
                </a:r>
                <a:br>
                  <a:rPr lang="en-US" i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8≤10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B192AD-A56C-5641-871F-4CE011DB1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992" y="2165442"/>
                <a:ext cx="3712562" cy="2308324"/>
              </a:xfrm>
              <a:prstGeom prst="rect">
                <a:avLst/>
              </a:prstGeom>
              <a:blipFill>
                <a:blip r:embed="rId2"/>
                <a:stretch>
                  <a:fillRect l="-1365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FF3C79B-290D-D44C-97CC-F7D4E3D5F9B4}"/>
              </a:ext>
            </a:extLst>
          </p:cNvPr>
          <p:cNvGrpSpPr/>
          <p:nvPr/>
        </p:nvGrpSpPr>
        <p:grpSpPr>
          <a:xfrm>
            <a:off x="1384235" y="1625969"/>
            <a:ext cx="6420464" cy="3615379"/>
            <a:chOff x="1384235" y="1504783"/>
            <a:chExt cx="6420464" cy="361537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A75CD1-EB46-D840-87A2-F0B000ED1C00}"/>
                </a:ext>
              </a:extLst>
            </p:cNvPr>
            <p:cNvSpPr/>
            <p:nvPr/>
          </p:nvSpPr>
          <p:spPr>
            <a:xfrm>
              <a:off x="1384235" y="1504783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EA1B2D5-09FF-E04B-BD7B-954692EC9C8C}"/>
                </a:ext>
              </a:extLst>
            </p:cNvPr>
            <p:cNvCxnSpPr>
              <a:cxnSpLocks/>
              <a:stCxn id="57" idx="7"/>
              <a:endCxn id="59" idx="2"/>
            </p:cNvCxnSpPr>
            <p:nvPr/>
          </p:nvCxnSpPr>
          <p:spPr>
            <a:xfrm flipV="1">
              <a:off x="2193945" y="1945653"/>
              <a:ext cx="1517196" cy="505017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04DF5A-8128-F246-B1B0-E88BDEBDC671}"/>
                </a:ext>
              </a:extLst>
            </p:cNvPr>
            <p:cNvCxnSpPr>
              <a:cxnSpLocks/>
              <a:stCxn id="59" idx="4"/>
              <a:endCxn id="60" idx="1"/>
            </p:cNvCxnSpPr>
            <p:nvPr/>
          </p:nvCxnSpPr>
          <p:spPr>
            <a:xfrm>
              <a:off x="4026609" y="2261121"/>
              <a:ext cx="195599" cy="1039718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86FA0D8-EFD9-5D47-B974-6D92D5DEBD13}"/>
                </a:ext>
              </a:extLst>
            </p:cNvPr>
            <p:cNvCxnSpPr>
              <a:stCxn id="61" idx="3"/>
              <a:endCxn id="60" idx="7"/>
            </p:cNvCxnSpPr>
            <p:nvPr/>
          </p:nvCxnSpPr>
          <p:spPr>
            <a:xfrm flipH="1">
              <a:off x="4668348" y="2298085"/>
              <a:ext cx="1362059" cy="1002754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2B4B395-6536-A94C-804C-D39493FCD9AB}"/>
                </a:ext>
              </a:extLst>
            </p:cNvPr>
            <p:cNvCxnSpPr>
              <a:cxnSpLocks/>
              <a:stCxn id="60" idx="2"/>
              <a:endCxn id="58" idx="6"/>
            </p:cNvCxnSpPr>
            <p:nvPr/>
          </p:nvCxnSpPr>
          <p:spPr>
            <a:xfrm flipH="1">
              <a:off x="2509413" y="3523909"/>
              <a:ext cx="1620397" cy="105325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F2FFDA4-B7C5-3D41-BC77-2739EF1737BE}"/>
                </a:ext>
              </a:extLst>
            </p:cNvPr>
            <p:cNvCxnSpPr>
              <a:cxnSpLocks/>
              <a:stCxn id="63" idx="6"/>
              <a:endCxn id="62" idx="2"/>
            </p:cNvCxnSpPr>
            <p:nvPr/>
          </p:nvCxnSpPr>
          <p:spPr>
            <a:xfrm flipV="1">
              <a:off x="6030407" y="3746979"/>
              <a:ext cx="1007147" cy="83018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0A4A33F-061F-494E-B29D-507F31797788}"/>
                </a:ext>
              </a:extLst>
            </p:cNvPr>
            <p:cNvCxnSpPr>
              <a:cxnSpLocks/>
              <a:stCxn id="63" idx="2"/>
              <a:endCxn id="58" idx="6"/>
            </p:cNvCxnSpPr>
            <p:nvPr/>
          </p:nvCxnSpPr>
          <p:spPr>
            <a:xfrm flipH="1">
              <a:off x="2509413" y="4577164"/>
              <a:ext cx="2890058" cy="0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CD6E22-AD42-2343-807A-2388992AF5DF}"/>
                </a:ext>
              </a:extLst>
            </p:cNvPr>
            <p:cNvSpPr txBox="1"/>
            <p:nvPr/>
          </p:nvSpPr>
          <p:spPr>
            <a:xfrm>
              <a:off x="2622731" y="1789621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E1287EC-796A-4E41-B1F1-4AAED0C127BC}"/>
                </a:ext>
              </a:extLst>
            </p:cNvPr>
            <p:cNvSpPr txBox="1"/>
            <p:nvPr/>
          </p:nvSpPr>
          <p:spPr>
            <a:xfrm>
              <a:off x="3248373" y="360611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E09463D-F290-0A42-9AE2-FA52A680CA21}"/>
                </a:ext>
              </a:extLst>
            </p:cNvPr>
            <p:cNvSpPr txBox="1"/>
            <p:nvPr/>
          </p:nvSpPr>
          <p:spPr>
            <a:xfrm>
              <a:off x="4133414" y="254269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A21E423-A5CB-E64C-B25E-5238DC93DCD7}"/>
                </a:ext>
              </a:extLst>
            </p:cNvPr>
            <p:cNvSpPr txBox="1"/>
            <p:nvPr/>
          </p:nvSpPr>
          <p:spPr>
            <a:xfrm>
              <a:off x="5328993" y="275893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9F4AD15-F53D-1A4B-9553-EDA9B2F61F3A}"/>
                </a:ext>
              </a:extLst>
            </p:cNvPr>
            <p:cNvSpPr txBox="1"/>
            <p:nvPr/>
          </p:nvSpPr>
          <p:spPr>
            <a:xfrm>
              <a:off x="4068165" y="4601022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C5652B7-BB1B-4047-AE3C-DA67920B7E42}"/>
                </a:ext>
              </a:extLst>
            </p:cNvPr>
            <p:cNvSpPr txBox="1"/>
            <p:nvPr/>
          </p:nvSpPr>
          <p:spPr>
            <a:xfrm>
              <a:off x="6282402" y="384328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2E7EB09-1178-E14E-8C04-4799AB3D30A4}"/>
                </a:ext>
              </a:extLst>
            </p:cNvPr>
            <p:cNvSpPr/>
            <p:nvPr/>
          </p:nvSpPr>
          <p:spPr>
            <a:xfrm>
              <a:off x="1655407" y="2358272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3B92A97-A216-3849-9E09-06BBE862968E}"/>
                </a:ext>
              </a:extLst>
            </p:cNvPr>
            <p:cNvSpPr/>
            <p:nvPr/>
          </p:nvSpPr>
          <p:spPr>
            <a:xfrm>
              <a:off x="1878477" y="4261696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CC51B31-965E-9A41-A954-7A2740737873}"/>
                </a:ext>
              </a:extLst>
            </p:cNvPr>
            <p:cNvSpPr/>
            <p:nvPr/>
          </p:nvSpPr>
          <p:spPr>
            <a:xfrm>
              <a:off x="3711141" y="1630185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B4528C4-15BD-0B40-889D-2AB289E77703}"/>
                </a:ext>
              </a:extLst>
            </p:cNvPr>
            <p:cNvSpPr/>
            <p:nvPr/>
          </p:nvSpPr>
          <p:spPr>
            <a:xfrm>
              <a:off x="4129810" y="3208441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7E3FFB7-47E5-8447-9898-C9D77CE66F14}"/>
                </a:ext>
              </a:extLst>
            </p:cNvPr>
            <p:cNvSpPr/>
            <p:nvPr/>
          </p:nvSpPr>
          <p:spPr>
            <a:xfrm>
              <a:off x="5938009" y="1759547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D136AEE-A7A6-E144-8516-155875F5F278}"/>
                </a:ext>
              </a:extLst>
            </p:cNvPr>
            <p:cNvSpPr/>
            <p:nvPr/>
          </p:nvSpPr>
          <p:spPr>
            <a:xfrm>
              <a:off x="7037554" y="3431511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7176B93-6F79-3C46-9161-32A1A1586B7D}"/>
                </a:ext>
              </a:extLst>
            </p:cNvPr>
            <p:cNvSpPr/>
            <p:nvPr/>
          </p:nvSpPr>
          <p:spPr>
            <a:xfrm>
              <a:off x="5399471" y="4261696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319A54C-D1B1-E84B-BCDA-E6E1E9DDD465}"/>
                </a:ext>
              </a:extLst>
            </p:cNvPr>
            <p:cNvCxnSpPr>
              <a:cxnSpLocks/>
              <a:stCxn id="62" idx="1"/>
              <a:endCxn id="60" idx="6"/>
            </p:cNvCxnSpPr>
            <p:nvPr/>
          </p:nvCxnSpPr>
          <p:spPr>
            <a:xfrm flipH="1">
              <a:off x="4760746" y="3523909"/>
              <a:ext cx="2369206" cy="0"/>
            </a:xfrm>
            <a:prstGeom prst="straightConnector1">
              <a:avLst/>
            </a:prstGeom>
            <a:ln w="60325">
              <a:solidFill>
                <a:schemeClr val="tx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5AA59E5-AAB6-7B40-B85B-4AC7B58299A8}"/>
                </a:ext>
              </a:extLst>
            </p:cNvPr>
            <p:cNvSpPr txBox="1"/>
            <p:nvPr/>
          </p:nvSpPr>
          <p:spPr>
            <a:xfrm>
              <a:off x="5655567" y="318378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30F7E2-E15C-7641-908D-6E35FFE9C6EE}"/>
                  </a:ext>
                </a:extLst>
              </p:cNvPr>
              <p:cNvSpPr txBox="1"/>
              <p:nvPr/>
            </p:nvSpPr>
            <p:spPr>
              <a:xfrm>
                <a:off x="8023992" y="5011105"/>
                <a:ext cx="3712562" cy="92333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ysClr val="windowText" lastClr="000000"/>
                    </a:solidFill>
                  </a:rPr>
                  <a:t>Thus,</a:t>
                </a:r>
              </a:p>
              <a:p>
                <a:endParaRPr lang="en-US" i="1" dirty="0">
                  <a:solidFill>
                    <a:sysClr val="windowText" lastClr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≤2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30F7E2-E15C-7641-908D-6E35FFE9C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992" y="5011105"/>
                <a:ext cx="3712562" cy="923330"/>
              </a:xfrm>
              <a:prstGeom prst="rect">
                <a:avLst/>
              </a:prstGeom>
              <a:blipFill>
                <a:blip r:embed="rId3"/>
                <a:stretch>
                  <a:fillRect l="-1361" t="-2703" b="-270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845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EA35-F6A3-A6FC-DCBC-301BD966E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7E2BA-0674-7D06-D31C-7345C168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Improving The Traveling Salesperson Bound</a:t>
            </a:r>
          </a:p>
        </p:txBody>
      </p:sp>
    </p:spTree>
    <p:extLst>
      <p:ext uri="{BB962C8B-B14F-4D97-AF65-F5344CB8AC3E}">
        <p14:creationId xmlns:p14="http://schemas.microsoft.com/office/powerpoint/2010/main" val="2548180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A2C0D-0DD8-67D4-8FEF-6D88CD20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B5D034-5C81-5CA8-9DC2-FA3CDB51BE0C}"/>
                  </a:ext>
                </a:extLst>
              </p:cNvPr>
              <p:cNvSpPr txBox="1"/>
              <p:nvPr/>
            </p:nvSpPr>
            <p:spPr>
              <a:xfrm>
                <a:off x="3276600" y="1084730"/>
                <a:ext cx="5638800" cy="113249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There exists an algorithm that improves the approximation ratio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B5D034-5C81-5CA8-9DC2-FA3CDB51B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084730"/>
                <a:ext cx="5638800" cy="1132490"/>
              </a:xfrm>
              <a:prstGeom prst="rect">
                <a:avLst/>
              </a:prstGeom>
              <a:blipFill>
                <a:blip r:embed="rId2"/>
                <a:stretch>
                  <a:fillRect l="-2018" t="-4348" b="-543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916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B60B9A-ED14-DD92-C149-B0EB72135D2B}"/>
                  </a:ext>
                </a:extLst>
              </p:cNvPr>
              <p:cNvSpPr txBox="1"/>
              <p:nvPr/>
            </p:nvSpPr>
            <p:spPr>
              <a:xfrm>
                <a:off x="3276600" y="794959"/>
                <a:ext cx="5638800" cy="113249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There exists an algorithm that improves the approximation ratio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B60B9A-ED14-DD92-C149-B0EB72135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794959"/>
                <a:ext cx="5638800" cy="1132490"/>
              </a:xfrm>
              <a:prstGeom prst="rect">
                <a:avLst/>
              </a:prstGeom>
              <a:blipFill>
                <a:blip r:embed="rId2"/>
                <a:stretch>
                  <a:fillRect l="-2018" t="-4348" b="-543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7C1077-F9D9-52A3-4856-14A0ED9A8694}"/>
                  </a:ext>
                </a:extLst>
              </p:cNvPr>
              <p:cNvSpPr txBox="1"/>
              <p:nvPr/>
            </p:nvSpPr>
            <p:spPr>
              <a:xfrm>
                <a:off x="1217874" y="2711394"/>
                <a:ext cx="9756252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Christofides-TSP(</a:t>
                </a:r>
                <a:r>
                  <a:rPr lang="en-US" b="1" i="1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G,c</a:t>
                </a:r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spanning tree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5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cost perfect matching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on the odd-degree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doubling edges as needed.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Perform a </a:t>
                </a:r>
                <a:r>
                  <a:rPr lang="en-US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Eulerian Tour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Construct a Hamiltonian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by listing the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in the order of their first appearance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7C1077-F9D9-52A3-4856-14A0ED9A8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874" y="2711394"/>
                <a:ext cx="9756252" cy="2308324"/>
              </a:xfrm>
              <a:prstGeom prst="rect">
                <a:avLst/>
              </a:prstGeom>
              <a:blipFill>
                <a:blip r:embed="rId3"/>
                <a:stretch>
                  <a:fillRect l="-519" t="-1093" r="-1429" b="-327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D5BA562-6608-7B4B-D8C1-63B688436D15}"/>
              </a:ext>
            </a:extLst>
          </p:cNvPr>
          <p:cNvSpPr txBox="1"/>
          <p:nvPr/>
        </p:nvSpPr>
        <p:spPr>
          <a:xfrm>
            <a:off x="6342490" y="5803663"/>
            <a:ext cx="452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 is not obvious if / why this works. We need to define some terms and ANALYZE!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91646B-9A6D-1CB5-C720-C0AB9EE88429}"/>
              </a:ext>
            </a:extLst>
          </p:cNvPr>
          <p:cNvCxnSpPr/>
          <p:nvPr/>
        </p:nvCxnSpPr>
        <p:spPr>
          <a:xfrm>
            <a:off x="6901732" y="5168348"/>
            <a:ext cx="397565" cy="57249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597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4B28-8C95-0710-4E22-89B73885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1D95E1-2BB4-2AB0-B888-F8545B8B104A}"/>
                  </a:ext>
                </a:extLst>
              </p:cNvPr>
              <p:cNvSpPr txBox="1"/>
              <p:nvPr/>
            </p:nvSpPr>
            <p:spPr>
              <a:xfrm>
                <a:off x="1217874" y="408005"/>
                <a:ext cx="9756252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Christofides-TSP(</a:t>
                </a:r>
                <a:r>
                  <a:rPr lang="en-US" b="1" i="1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G,c</a:t>
                </a:r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spanning tree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5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cost perfect matching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on the odd-degree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doubling edges as needed.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Perform a </a:t>
                </a:r>
                <a:r>
                  <a:rPr lang="en-US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Eulerian Tour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Construct a Hamiltonian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by listing the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in the order of their first appearance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1D95E1-2BB4-2AB0-B888-F8545B8B1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874" y="408005"/>
                <a:ext cx="9756252" cy="2308324"/>
              </a:xfrm>
              <a:prstGeom prst="rect">
                <a:avLst/>
              </a:prstGeom>
              <a:blipFill>
                <a:blip r:embed="rId2"/>
                <a:stretch>
                  <a:fillRect l="-519" t="-1087" r="-1429" b="-271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0FE35D0-E034-255F-F163-3DDFCD182C34}"/>
              </a:ext>
            </a:extLst>
          </p:cNvPr>
          <p:cNvSpPr txBox="1"/>
          <p:nvPr/>
        </p:nvSpPr>
        <p:spPr>
          <a:xfrm>
            <a:off x="1217874" y="3248851"/>
            <a:ext cx="7870467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Eulerian Tour</a:t>
            </a:r>
            <a:r>
              <a:rPr lang="en-US" dirty="0"/>
              <a:t>: Traversal of a graph that visits every edge of the graph exactly once, potentially visiting nodes multiple times, and returning back to the starting node.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1D54F6-7260-7090-C450-A3F1E120E262}"/>
              </a:ext>
            </a:extLst>
          </p:cNvPr>
          <p:cNvSpPr txBox="1"/>
          <p:nvPr/>
        </p:nvSpPr>
        <p:spPr>
          <a:xfrm>
            <a:off x="1217874" y="4323602"/>
            <a:ext cx="7870467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Minimum Cost Perfect Matching</a:t>
            </a:r>
            <a:r>
              <a:rPr lang="en-US" dirty="0"/>
              <a:t>: Given a set of nodes, choose edges such that each node is incident to exactly one chosen edge. Minimize total cost of chosen edges.</a:t>
            </a:r>
          </a:p>
        </p:txBody>
      </p:sp>
    </p:spTree>
    <p:extLst>
      <p:ext uri="{BB962C8B-B14F-4D97-AF65-F5344CB8AC3E}">
        <p14:creationId xmlns:p14="http://schemas.microsoft.com/office/powerpoint/2010/main" val="384670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5217-2F56-1DDD-C0F0-E8ACC7108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E80AFA-187F-1EC3-C5B0-B3AB58236679}"/>
                  </a:ext>
                </a:extLst>
              </p:cNvPr>
              <p:cNvSpPr txBox="1"/>
              <p:nvPr/>
            </p:nvSpPr>
            <p:spPr>
              <a:xfrm>
                <a:off x="1168486" y="333353"/>
                <a:ext cx="9756252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Christofides-TSP(</a:t>
                </a:r>
                <a:r>
                  <a:rPr lang="en-US" b="1" i="1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G,c</a:t>
                </a:r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spanning tree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5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cost perfect matching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on the odd-degree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doubling edges as needed.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Perform a </a:t>
                </a:r>
                <a:r>
                  <a:rPr lang="en-US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Eulerian Tour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Construct a Hamiltonian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by listing the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in the order of their first appearance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E80AFA-187F-1EC3-C5B0-B3AB58236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86" y="333353"/>
                <a:ext cx="9756252" cy="2308324"/>
              </a:xfrm>
              <a:prstGeom prst="rect">
                <a:avLst/>
              </a:prstGeom>
              <a:blipFill>
                <a:blip r:embed="rId2"/>
                <a:stretch>
                  <a:fillRect l="-519" t="-543" r="-1429" b="-32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B08B431F-A012-47D0-B360-BCCF06AB7F2E}"/>
              </a:ext>
            </a:extLst>
          </p:cNvPr>
          <p:cNvGrpSpPr/>
          <p:nvPr/>
        </p:nvGrpSpPr>
        <p:grpSpPr>
          <a:xfrm>
            <a:off x="2836380" y="2925170"/>
            <a:ext cx="6420464" cy="3615379"/>
            <a:chOff x="693568" y="2319076"/>
            <a:chExt cx="6420464" cy="361537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261B60A-F246-E2D2-0F41-22ECCE3F2E70}"/>
                </a:ext>
              </a:extLst>
            </p:cNvPr>
            <p:cNvSpPr/>
            <p:nvPr/>
          </p:nvSpPr>
          <p:spPr>
            <a:xfrm>
              <a:off x="693568" y="2319076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D01694C-0A9F-7DCD-78C7-27C6AFF07C6C}"/>
                </a:ext>
              </a:extLst>
            </p:cNvPr>
            <p:cNvCxnSpPr>
              <a:cxnSpLocks/>
              <a:stCxn id="64" idx="4"/>
              <a:endCxn id="65" idx="0"/>
            </p:cNvCxnSpPr>
            <p:nvPr/>
          </p:nvCxnSpPr>
          <p:spPr>
            <a:xfrm>
              <a:off x="1280208" y="3803501"/>
              <a:ext cx="223070" cy="12724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46E2A9C-F62E-068C-1D58-F9E4ACC83D1F}"/>
                </a:ext>
              </a:extLst>
            </p:cNvPr>
            <p:cNvCxnSpPr>
              <a:cxnSpLocks/>
              <a:stCxn id="64" idx="7"/>
              <a:endCxn id="66" idx="2"/>
            </p:cNvCxnSpPr>
            <p:nvPr/>
          </p:nvCxnSpPr>
          <p:spPr>
            <a:xfrm flipV="1">
              <a:off x="1503278" y="2759946"/>
              <a:ext cx="1517196" cy="505017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4445527-C14D-9FCF-EF9F-4317A66A30E5}"/>
                </a:ext>
              </a:extLst>
            </p:cNvPr>
            <p:cNvCxnSpPr>
              <a:cxnSpLocks/>
              <a:stCxn id="66" idx="4"/>
              <a:endCxn id="67" idx="1"/>
            </p:cNvCxnSpPr>
            <p:nvPr/>
          </p:nvCxnSpPr>
          <p:spPr>
            <a:xfrm>
              <a:off x="3335942" y="3075414"/>
              <a:ext cx="195599" cy="103971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85FE1CB-27ED-AAD2-7A3D-846F25A48BD1}"/>
                </a:ext>
              </a:extLst>
            </p:cNvPr>
            <p:cNvCxnSpPr>
              <a:cxnSpLocks/>
              <a:stCxn id="66" idx="6"/>
              <a:endCxn id="68" idx="2"/>
            </p:cNvCxnSpPr>
            <p:nvPr/>
          </p:nvCxnSpPr>
          <p:spPr>
            <a:xfrm>
              <a:off x="3651410" y="2759946"/>
              <a:ext cx="1595932" cy="12936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C16A0D1-B4B8-44F5-1B27-D0B399731AA6}"/>
                </a:ext>
              </a:extLst>
            </p:cNvPr>
            <p:cNvCxnSpPr>
              <a:stCxn id="68" idx="3"/>
              <a:endCxn id="67" idx="7"/>
            </p:cNvCxnSpPr>
            <p:nvPr/>
          </p:nvCxnSpPr>
          <p:spPr>
            <a:xfrm flipH="1">
              <a:off x="3977681" y="3112378"/>
              <a:ext cx="1362059" cy="100275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ABEF38C-79F8-6649-EB21-66F82E4947B6}"/>
                </a:ext>
              </a:extLst>
            </p:cNvPr>
            <p:cNvCxnSpPr>
              <a:stCxn id="68" idx="4"/>
              <a:endCxn id="70" idx="0"/>
            </p:cNvCxnSpPr>
            <p:nvPr/>
          </p:nvCxnSpPr>
          <p:spPr>
            <a:xfrm flipH="1">
              <a:off x="5024272" y="3204776"/>
              <a:ext cx="538538" cy="187121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7651775-A596-E7F8-B6B8-6D198302907E}"/>
                </a:ext>
              </a:extLst>
            </p:cNvPr>
            <p:cNvCxnSpPr>
              <a:cxnSpLocks/>
              <a:stCxn id="67" idx="5"/>
              <a:endCxn id="70" idx="2"/>
            </p:cNvCxnSpPr>
            <p:nvPr/>
          </p:nvCxnSpPr>
          <p:spPr>
            <a:xfrm>
              <a:off x="3977681" y="4561272"/>
              <a:ext cx="731123" cy="83018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6E01191-7D84-9816-517E-CE890970F04D}"/>
                </a:ext>
              </a:extLst>
            </p:cNvPr>
            <p:cNvCxnSpPr>
              <a:stCxn id="68" idx="5"/>
              <a:endCxn id="69" idx="1"/>
            </p:cNvCxnSpPr>
            <p:nvPr/>
          </p:nvCxnSpPr>
          <p:spPr>
            <a:xfrm>
              <a:off x="5785880" y="3112378"/>
              <a:ext cx="653405" cy="122582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92FC92E-8342-5165-E202-177FD5CA8A90}"/>
                </a:ext>
              </a:extLst>
            </p:cNvPr>
            <p:cNvCxnSpPr>
              <a:cxnSpLocks/>
              <a:stCxn id="67" idx="1"/>
              <a:endCxn id="64" idx="6"/>
            </p:cNvCxnSpPr>
            <p:nvPr/>
          </p:nvCxnSpPr>
          <p:spPr>
            <a:xfrm flipH="1" flipV="1">
              <a:off x="1595676" y="3488033"/>
              <a:ext cx="1935865" cy="62709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57D57DF-DE4B-361A-DB6F-761EC068BE38}"/>
                </a:ext>
              </a:extLst>
            </p:cNvPr>
            <p:cNvCxnSpPr>
              <a:cxnSpLocks/>
              <a:stCxn id="67" idx="2"/>
              <a:endCxn id="65" idx="6"/>
            </p:cNvCxnSpPr>
            <p:nvPr/>
          </p:nvCxnSpPr>
          <p:spPr>
            <a:xfrm flipH="1">
              <a:off x="1818746" y="4338202"/>
              <a:ext cx="1620397" cy="105325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F84C258-98E1-0544-AAF4-FA0A00237EE1}"/>
                </a:ext>
              </a:extLst>
            </p:cNvPr>
            <p:cNvCxnSpPr>
              <a:cxnSpLocks/>
              <a:stCxn id="70" idx="6"/>
              <a:endCxn id="69" idx="2"/>
            </p:cNvCxnSpPr>
            <p:nvPr/>
          </p:nvCxnSpPr>
          <p:spPr>
            <a:xfrm flipV="1">
              <a:off x="5339740" y="4561272"/>
              <a:ext cx="1007147" cy="83018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B40639A-AA4F-CBEC-DC65-5F4D45AF4A62}"/>
                </a:ext>
              </a:extLst>
            </p:cNvPr>
            <p:cNvCxnSpPr>
              <a:cxnSpLocks/>
              <a:stCxn id="70" idx="2"/>
              <a:endCxn id="65" idx="6"/>
            </p:cNvCxnSpPr>
            <p:nvPr/>
          </p:nvCxnSpPr>
          <p:spPr>
            <a:xfrm flipH="1">
              <a:off x="1818746" y="5391457"/>
              <a:ext cx="289005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66BF714-A252-84E3-B702-B8D58A0CCDFF}"/>
                </a:ext>
              </a:extLst>
            </p:cNvPr>
            <p:cNvSpPr txBox="1"/>
            <p:nvPr/>
          </p:nvSpPr>
          <p:spPr>
            <a:xfrm>
              <a:off x="1022030" y="4115132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5E73683-43B3-30C6-FE51-E59CA0302B65}"/>
                </a:ext>
              </a:extLst>
            </p:cNvPr>
            <p:cNvSpPr txBox="1"/>
            <p:nvPr/>
          </p:nvSpPr>
          <p:spPr>
            <a:xfrm>
              <a:off x="1932064" y="2603914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80B3169-6682-50C4-9CE9-9171DF57BD00}"/>
                </a:ext>
              </a:extLst>
            </p:cNvPr>
            <p:cNvSpPr txBox="1"/>
            <p:nvPr/>
          </p:nvSpPr>
          <p:spPr>
            <a:xfrm>
              <a:off x="2149386" y="37301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4D9AD66-4B4F-745A-8C69-AC8C86047681}"/>
                </a:ext>
              </a:extLst>
            </p:cNvPr>
            <p:cNvSpPr txBox="1"/>
            <p:nvPr/>
          </p:nvSpPr>
          <p:spPr>
            <a:xfrm>
              <a:off x="2557706" y="44204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E263C9E-A201-3696-96D8-3369FCFB7E66}"/>
                </a:ext>
              </a:extLst>
            </p:cNvPr>
            <p:cNvSpPr txBox="1"/>
            <p:nvPr/>
          </p:nvSpPr>
          <p:spPr>
            <a:xfrm>
              <a:off x="3442747" y="335698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FFE64B4-E992-C833-0B38-15B7CFC77FBC}"/>
                </a:ext>
              </a:extLst>
            </p:cNvPr>
            <p:cNvSpPr txBox="1"/>
            <p:nvPr/>
          </p:nvSpPr>
          <p:spPr>
            <a:xfrm>
              <a:off x="4326335" y="241544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02CFE93-904F-8211-384B-7921EED3138E}"/>
                </a:ext>
              </a:extLst>
            </p:cNvPr>
            <p:cNvSpPr txBox="1"/>
            <p:nvPr/>
          </p:nvSpPr>
          <p:spPr>
            <a:xfrm>
              <a:off x="4638326" y="357323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2C4740-FAAA-BE78-FB76-AB289A015829}"/>
                </a:ext>
              </a:extLst>
            </p:cNvPr>
            <p:cNvSpPr txBox="1"/>
            <p:nvPr/>
          </p:nvSpPr>
          <p:spPr>
            <a:xfrm>
              <a:off x="4334767" y="4532180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E8F45CD-D82F-2365-4035-9247FF06842B}"/>
                </a:ext>
              </a:extLst>
            </p:cNvPr>
            <p:cNvSpPr txBox="1"/>
            <p:nvPr/>
          </p:nvSpPr>
          <p:spPr>
            <a:xfrm>
              <a:off x="3377498" y="541531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687E8D8-B58C-B3AE-C3E4-310A6921D31C}"/>
                </a:ext>
              </a:extLst>
            </p:cNvPr>
            <p:cNvSpPr txBox="1"/>
            <p:nvPr/>
          </p:nvSpPr>
          <p:spPr>
            <a:xfrm>
              <a:off x="5403448" y="361375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6CC8CDB-9DE6-FCCE-D925-94ECAC25AE92}"/>
                </a:ext>
              </a:extLst>
            </p:cNvPr>
            <p:cNvSpPr txBox="1"/>
            <p:nvPr/>
          </p:nvSpPr>
          <p:spPr>
            <a:xfrm>
              <a:off x="5591735" y="465757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267D981-87FE-EDB0-9573-FA33AA3D10D2}"/>
                </a:ext>
              </a:extLst>
            </p:cNvPr>
            <p:cNvSpPr txBox="1"/>
            <p:nvPr/>
          </p:nvSpPr>
          <p:spPr>
            <a:xfrm>
              <a:off x="6139890" y="3420273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90ED502-1168-6200-C4C6-372C1F7E0D33}"/>
                </a:ext>
              </a:extLst>
            </p:cNvPr>
            <p:cNvSpPr/>
            <p:nvPr/>
          </p:nvSpPr>
          <p:spPr>
            <a:xfrm>
              <a:off x="964740" y="3172565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3584CEB-3057-7E18-615A-808FD6D033C2}"/>
                </a:ext>
              </a:extLst>
            </p:cNvPr>
            <p:cNvSpPr/>
            <p:nvPr/>
          </p:nvSpPr>
          <p:spPr>
            <a:xfrm>
              <a:off x="1187810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9323477-36FE-0C44-1747-6DA3C255841A}"/>
                </a:ext>
              </a:extLst>
            </p:cNvPr>
            <p:cNvSpPr/>
            <p:nvPr/>
          </p:nvSpPr>
          <p:spPr>
            <a:xfrm>
              <a:off x="3020474" y="2444478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98BFA16-2048-4BFD-6444-0984226C2FBD}"/>
                </a:ext>
              </a:extLst>
            </p:cNvPr>
            <p:cNvSpPr/>
            <p:nvPr/>
          </p:nvSpPr>
          <p:spPr>
            <a:xfrm>
              <a:off x="3439143" y="4022734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DFE7FA1-3A6A-AB03-B767-1E36A5B8C3C8}"/>
                </a:ext>
              </a:extLst>
            </p:cNvPr>
            <p:cNvSpPr/>
            <p:nvPr/>
          </p:nvSpPr>
          <p:spPr>
            <a:xfrm>
              <a:off x="5247342" y="2573840"/>
              <a:ext cx="630936" cy="63093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4495048-5444-3159-D943-FCFBD6929551}"/>
                </a:ext>
              </a:extLst>
            </p:cNvPr>
            <p:cNvSpPr/>
            <p:nvPr/>
          </p:nvSpPr>
          <p:spPr>
            <a:xfrm>
              <a:off x="6346887" y="4245804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D666184-3E63-6C45-23EC-4DECC7629199}"/>
                </a:ext>
              </a:extLst>
            </p:cNvPr>
            <p:cNvSpPr/>
            <p:nvPr/>
          </p:nvSpPr>
          <p:spPr>
            <a:xfrm>
              <a:off x="4708804" y="5075989"/>
              <a:ext cx="630936" cy="630936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E2886226-7487-8BED-ABC9-311967A90FB4}"/>
              </a:ext>
            </a:extLst>
          </p:cNvPr>
          <p:cNvSpPr txBox="1"/>
          <p:nvPr/>
        </p:nvSpPr>
        <p:spPr>
          <a:xfrm>
            <a:off x="481536" y="3493962"/>
            <a:ext cx="2196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Assume missing edges have very high cost and graph is actually complete</a:t>
            </a:r>
          </a:p>
        </p:txBody>
      </p:sp>
    </p:spTree>
    <p:extLst>
      <p:ext uri="{BB962C8B-B14F-4D97-AF65-F5344CB8AC3E}">
        <p14:creationId xmlns:p14="http://schemas.microsoft.com/office/powerpoint/2010/main" val="3021455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E97C-6F50-0AE8-AE5D-07FC066E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81C634-F9D6-B481-3D2D-62B51AE25608}"/>
                  </a:ext>
                </a:extLst>
              </p:cNvPr>
              <p:cNvSpPr txBox="1"/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Christofides-TSP(</a:t>
                </a:r>
                <a:r>
                  <a:rPr lang="en-US" b="1" i="1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G,c</a:t>
                </a:r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spanning tree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5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cost perfect matching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on the odd-degree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doubling edges as needed.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Perform a </a:t>
                </a:r>
                <a:r>
                  <a:rPr lang="en-US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Eulerian Tour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Construct a Hamiltonian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by listing the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in the order of their first appearance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81C634-F9D6-B481-3D2D-62B51AE25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blipFill>
                <a:blip r:embed="rId2"/>
                <a:stretch>
                  <a:fillRect l="-519" t="-543" r="-1429" b="-32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ight Arrow 68">
            <a:extLst>
              <a:ext uri="{FF2B5EF4-FFF2-40B4-BE49-F238E27FC236}">
                <a16:creationId xmlns:a16="http://schemas.microsoft.com/office/drawing/2014/main" id="{5B84B17F-53DE-EF6D-BBE2-8E8AB9069405}"/>
              </a:ext>
            </a:extLst>
          </p:cNvPr>
          <p:cNvSpPr/>
          <p:nvPr/>
        </p:nvSpPr>
        <p:spPr>
          <a:xfrm>
            <a:off x="826938" y="620202"/>
            <a:ext cx="922351" cy="310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A1C6222-4E48-13BB-84F8-178EB7660D5B}"/>
              </a:ext>
            </a:extLst>
          </p:cNvPr>
          <p:cNvGrpSpPr/>
          <p:nvPr/>
        </p:nvGrpSpPr>
        <p:grpSpPr>
          <a:xfrm>
            <a:off x="2838060" y="2925171"/>
            <a:ext cx="6420464" cy="3615379"/>
            <a:chOff x="693568" y="2319076"/>
            <a:chExt cx="6420464" cy="3615379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FACA89B-6D62-DC40-D531-8D85F3F65A87}"/>
                </a:ext>
              </a:extLst>
            </p:cNvPr>
            <p:cNvSpPr/>
            <p:nvPr/>
          </p:nvSpPr>
          <p:spPr>
            <a:xfrm>
              <a:off x="693568" y="2319076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D20B36F-13F9-B937-F7ED-5D358C4981EC}"/>
                </a:ext>
              </a:extLst>
            </p:cNvPr>
            <p:cNvCxnSpPr>
              <a:cxnSpLocks/>
              <a:stCxn id="96" idx="4"/>
              <a:endCxn id="97" idx="0"/>
            </p:cNvCxnSpPr>
            <p:nvPr/>
          </p:nvCxnSpPr>
          <p:spPr>
            <a:xfrm>
              <a:off x="1280208" y="3803501"/>
              <a:ext cx="223070" cy="1272488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B67B11C-2D32-9F40-27A2-0B67291E3FD6}"/>
                </a:ext>
              </a:extLst>
            </p:cNvPr>
            <p:cNvCxnSpPr>
              <a:cxnSpLocks/>
              <a:stCxn id="96" idx="7"/>
              <a:endCxn id="98" idx="2"/>
            </p:cNvCxnSpPr>
            <p:nvPr/>
          </p:nvCxnSpPr>
          <p:spPr>
            <a:xfrm flipV="1">
              <a:off x="1503278" y="2759946"/>
              <a:ext cx="1517196" cy="505017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8D60395-C46C-1548-2982-4E2B7C29E6F6}"/>
                </a:ext>
              </a:extLst>
            </p:cNvPr>
            <p:cNvCxnSpPr>
              <a:cxnSpLocks/>
              <a:stCxn id="98" idx="4"/>
              <a:endCxn id="99" idx="1"/>
            </p:cNvCxnSpPr>
            <p:nvPr/>
          </p:nvCxnSpPr>
          <p:spPr>
            <a:xfrm>
              <a:off x="3335942" y="3075414"/>
              <a:ext cx="195599" cy="1039718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54CA71D-A27B-3FB1-5A07-79B9D7FE3B04}"/>
                </a:ext>
              </a:extLst>
            </p:cNvPr>
            <p:cNvCxnSpPr>
              <a:cxnSpLocks/>
              <a:stCxn id="98" idx="6"/>
              <a:endCxn id="100" idx="2"/>
            </p:cNvCxnSpPr>
            <p:nvPr/>
          </p:nvCxnSpPr>
          <p:spPr>
            <a:xfrm>
              <a:off x="3651410" y="2759946"/>
              <a:ext cx="1595932" cy="129362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F50004B-BF73-415C-165B-F45B5FA31E8C}"/>
                </a:ext>
              </a:extLst>
            </p:cNvPr>
            <p:cNvCxnSpPr>
              <a:stCxn id="100" idx="3"/>
              <a:endCxn id="99" idx="7"/>
            </p:cNvCxnSpPr>
            <p:nvPr/>
          </p:nvCxnSpPr>
          <p:spPr>
            <a:xfrm flipH="1">
              <a:off x="3977681" y="3112378"/>
              <a:ext cx="1362059" cy="1002754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22742F-9B7E-E1F0-E07D-C0FFA5AAA3BB}"/>
                </a:ext>
              </a:extLst>
            </p:cNvPr>
            <p:cNvCxnSpPr>
              <a:stCxn id="100" idx="4"/>
              <a:endCxn id="102" idx="0"/>
            </p:cNvCxnSpPr>
            <p:nvPr/>
          </p:nvCxnSpPr>
          <p:spPr>
            <a:xfrm flipH="1">
              <a:off x="5024272" y="3204776"/>
              <a:ext cx="538538" cy="1871213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42153FC-9992-924D-F298-F1B06FA64AC2}"/>
                </a:ext>
              </a:extLst>
            </p:cNvPr>
            <p:cNvCxnSpPr>
              <a:cxnSpLocks/>
              <a:stCxn id="99" idx="5"/>
              <a:endCxn id="102" idx="2"/>
            </p:cNvCxnSpPr>
            <p:nvPr/>
          </p:nvCxnSpPr>
          <p:spPr>
            <a:xfrm>
              <a:off x="3977681" y="4561272"/>
              <a:ext cx="731123" cy="830185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4B32B75-6C7A-752A-E8B1-06E80CE0B14A}"/>
                </a:ext>
              </a:extLst>
            </p:cNvPr>
            <p:cNvCxnSpPr>
              <a:stCxn id="100" idx="5"/>
              <a:endCxn id="101" idx="1"/>
            </p:cNvCxnSpPr>
            <p:nvPr/>
          </p:nvCxnSpPr>
          <p:spPr>
            <a:xfrm>
              <a:off x="5785880" y="3112378"/>
              <a:ext cx="653405" cy="1225824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6D97274-C46C-7D93-35A2-2D2CB4FE458F}"/>
                </a:ext>
              </a:extLst>
            </p:cNvPr>
            <p:cNvCxnSpPr>
              <a:cxnSpLocks/>
              <a:stCxn id="99" idx="1"/>
              <a:endCxn id="96" idx="6"/>
            </p:cNvCxnSpPr>
            <p:nvPr/>
          </p:nvCxnSpPr>
          <p:spPr>
            <a:xfrm flipH="1" flipV="1">
              <a:off x="1595676" y="3488033"/>
              <a:ext cx="1935865" cy="627099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50C9854-534F-2B18-8E81-BE3D4CFB19ED}"/>
                </a:ext>
              </a:extLst>
            </p:cNvPr>
            <p:cNvCxnSpPr>
              <a:cxnSpLocks/>
              <a:stCxn id="99" idx="2"/>
              <a:endCxn id="97" idx="6"/>
            </p:cNvCxnSpPr>
            <p:nvPr/>
          </p:nvCxnSpPr>
          <p:spPr>
            <a:xfrm flipH="1">
              <a:off x="1818746" y="4338202"/>
              <a:ext cx="1620397" cy="105325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D553579-928D-4BB7-F36D-DED9F36258DB}"/>
                </a:ext>
              </a:extLst>
            </p:cNvPr>
            <p:cNvCxnSpPr>
              <a:cxnSpLocks/>
              <a:stCxn id="102" idx="6"/>
              <a:endCxn id="101" idx="2"/>
            </p:cNvCxnSpPr>
            <p:nvPr/>
          </p:nvCxnSpPr>
          <p:spPr>
            <a:xfrm flipV="1">
              <a:off x="5339740" y="4561272"/>
              <a:ext cx="1007147" cy="83018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6632688-FC2D-A34A-BAD3-DC16A7B2828A}"/>
                </a:ext>
              </a:extLst>
            </p:cNvPr>
            <p:cNvCxnSpPr>
              <a:cxnSpLocks/>
              <a:stCxn id="102" idx="2"/>
              <a:endCxn id="97" idx="6"/>
            </p:cNvCxnSpPr>
            <p:nvPr/>
          </p:nvCxnSpPr>
          <p:spPr>
            <a:xfrm flipH="1">
              <a:off x="1818746" y="5391457"/>
              <a:ext cx="2890058" cy="0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167A916-7C14-0BB0-52AB-BED436A9F390}"/>
                </a:ext>
              </a:extLst>
            </p:cNvPr>
            <p:cNvSpPr txBox="1"/>
            <p:nvPr/>
          </p:nvSpPr>
          <p:spPr>
            <a:xfrm>
              <a:off x="1022030" y="4115132"/>
              <a:ext cx="3298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9989B3F-5542-0414-E465-8B813402ABC2}"/>
                </a:ext>
              </a:extLst>
            </p:cNvPr>
            <p:cNvSpPr txBox="1"/>
            <p:nvPr/>
          </p:nvSpPr>
          <p:spPr>
            <a:xfrm>
              <a:off x="1932064" y="2603914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5C8BA9B-A982-AB58-90A0-1E945EE90010}"/>
                </a:ext>
              </a:extLst>
            </p:cNvPr>
            <p:cNvSpPr txBox="1"/>
            <p:nvPr/>
          </p:nvSpPr>
          <p:spPr>
            <a:xfrm>
              <a:off x="2149386" y="3730111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5908F44-1F12-A199-3705-F49EDCB71D21}"/>
                </a:ext>
              </a:extLst>
            </p:cNvPr>
            <p:cNvSpPr txBox="1"/>
            <p:nvPr/>
          </p:nvSpPr>
          <p:spPr>
            <a:xfrm>
              <a:off x="2557706" y="44204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511A67D-542F-9813-5743-F933679EB5FE}"/>
                </a:ext>
              </a:extLst>
            </p:cNvPr>
            <p:cNvSpPr txBox="1"/>
            <p:nvPr/>
          </p:nvSpPr>
          <p:spPr>
            <a:xfrm>
              <a:off x="3442747" y="335698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EBFF623-6194-6A56-714D-2ABA016BAF6E}"/>
                </a:ext>
              </a:extLst>
            </p:cNvPr>
            <p:cNvSpPr txBox="1"/>
            <p:nvPr/>
          </p:nvSpPr>
          <p:spPr>
            <a:xfrm>
              <a:off x="4326335" y="2415444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BD6B59D-5036-4697-7F69-BD8FF61E7B09}"/>
                </a:ext>
              </a:extLst>
            </p:cNvPr>
            <p:cNvSpPr txBox="1"/>
            <p:nvPr/>
          </p:nvSpPr>
          <p:spPr>
            <a:xfrm>
              <a:off x="4638326" y="357323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F614C36-3722-3C26-807A-9542D463C00E}"/>
                </a:ext>
              </a:extLst>
            </p:cNvPr>
            <p:cNvSpPr txBox="1"/>
            <p:nvPr/>
          </p:nvSpPr>
          <p:spPr>
            <a:xfrm>
              <a:off x="4334767" y="4532180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D81C3B0-7442-6087-E731-122A5B1752D3}"/>
                </a:ext>
              </a:extLst>
            </p:cNvPr>
            <p:cNvSpPr txBox="1"/>
            <p:nvPr/>
          </p:nvSpPr>
          <p:spPr>
            <a:xfrm>
              <a:off x="3377498" y="541531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1B4AF09-E812-4ADD-F3C8-1CA1671EFA02}"/>
                </a:ext>
              </a:extLst>
            </p:cNvPr>
            <p:cNvSpPr txBox="1"/>
            <p:nvPr/>
          </p:nvSpPr>
          <p:spPr>
            <a:xfrm>
              <a:off x="5385665" y="3596647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8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81D4058-291C-D044-FF37-93EEE581A7CE}"/>
                </a:ext>
              </a:extLst>
            </p:cNvPr>
            <p:cNvSpPr txBox="1"/>
            <p:nvPr/>
          </p:nvSpPr>
          <p:spPr>
            <a:xfrm>
              <a:off x="5591735" y="465757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3DC8A38-4501-4AFB-FBB4-B2BE48E07E59}"/>
                </a:ext>
              </a:extLst>
            </p:cNvPr>
            <p:cNvSpPr txBox="1"/>
            <p:nvPr/>
          </p:nvSpPr>
          <p:spPr>
            <a:xfrm>
              <a:off x="6139890" y="3420273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57A3251-7871-EB01-5445-38FF696E3A78}"/>
                </a:ext>
              </a:extLst>
            </p:cNvPr>
            <p:cNvSpPr/>
            <p:nvPr/>
          </p:nvSpPr>
          <p:spPr>
            <a:xfrm>
              <a:off x="964740" y="3172565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7570DCE-0075-BBB1-F6DF-E89294B7A874}"/>
                </a:ext>
              </a:extLst>
            </p:cNvPr>
            <p:cNvSpPr/>
            <p:nvPr/>
          </p:nvSpPr>
          <p:spPr>
            <a:xfrm>
              <a:off x="1187810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36F9720-7295-1C54-A111-E9A49B0168A9}"/>
                </a:ext>
              </a:extLst>
            </p:cNvPr>
            <p:cNvSpPr/>
            <p:nvPr/>
          </p:nvSpPr>
          <p:spPr>
            <a:xfrm>
              <a:off x="3020474" y="244447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4CD94C3-A194-8B4F-1C44-CE03552FC164}"/>
                </a:ext>
              </a:extLst>
            </p:cNvPr>
            <p:cNvSpPr/>
            <p:nvPr/>
          </p:nvSpPr>
          <p:spPr>
            <a:xfrm>
              <a:off x="3439143" y="4022734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9CFF4542-6382-8447-5E71-621C6CA8CC2B}"/>
                </a:ext>
              </a:extLst>
            </p:cNvPr>
            <p:cNvSpPr/>
            <p:nvPr/>
          </p:nvSpPr>
          <p:spPr>
            <a:xfrm>
              <a:off x="5247342" y="2573840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B0583319-8209-8CAD-6B10-42D29CFE1FE9}"/>
                </a:ext>
              </a:extLst>
            </p:cNvPr>
            <p:cNvSpPr/>
            <p:nvPr/>
          </p:nvSpPr>
          <p:spPr>
            <a:xfrm>
              <a:off x="6346887" y="4245804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23FB73A-5E8C-F59D-751F-C73B6723B334}"/>
                </a:ext>
              </a:extLst>
            </p:cNvPr>
            <p:cNvSpPr/>
            <p:nvPr/>
          </p:nvSpPr>
          <p:spPr>
            <a:xfrm>
              <a:off x="4708804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561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019F-62B9-7682-65C8-77E85E44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9F86C2-DECA-719F-D1AB-39AF4761DE1E}"/>
                  </a:ext>
                </a:extLst>
              </p:cNvPr>
              <p:cNvSpPr txBox="1"/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Christofides-TSP(</a:t>
                </a:r>
                <a:r>
                  <a:rPr lang="en-US" b="1" i="1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G,c</a:t>
                </a:r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spanning tree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5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cost perfect matching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on the odd-degree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doubling edges as needed.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Perform a </a:t>
                </a:r>
                <a:r>
                  <a:rPr lang="en-US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Eulerian Tour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Construct a Hamiltonian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by listing the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in the order of their first appearance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9F86C2-DECA-719F-D1AB-39AF4761D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blipFill>
                <a:blip r:embed="rId2"/>
                <a:stretch>
                  <a:fillRect l="-519" t="-543" r="-1429" b="-32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ight Arrow 68">
            <a:extLst>
              <a:ext uri="{FF2B5EF4-FFF2-40B4-BE49-F238E27FC236}">
                <a16:creationId xmlns:a16="http://schemas.microsoft.com/office/drawing/2014/main" id="{53481CDC-525F-F8BF-E5E8-AEBFB90C520D}"/>
              </a:ext>
            </a:extLst>
          </p:cNvPr>
          <p:cNvSpPr/>
          <p:nvPr/>
        </p:nvSpPr>
        <p:spPr>
          <a:xfrm>
            <a:off x="826938" y="914400"/>
            <a:ext cx="922351" cy="310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9F7A48E-BAD0-1235-D41D-DDAE8D463295}"/>
              </a:ext>
            </a:extLst>
          </p:cNvPr>
          <p:cNvGrpSpPr/>
          <p:nvPr/>
        </p:nvGrpSpPr>
        <p:grpSpPr>
          <a:xfrm>
            <a:off x="2838060" y="2925171"/>
            <a:ext cx="6420464" cy="3615379"/>
            <a:chOff x="693568" y="2319076"/>
            <a:chExt cx="6420464" cy="361537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02B09EC-67B7-7FDE-A5BA-E3A6D42EAEDF}"/>
                </a:ext>
              </a:extLst>
            </p:cNvPr>
            <p:cNvSpPr/>
            <p:nvPr/>
          </p:nvSpPr>
          <p:spPr>
            <a:xfrm>
              <a:off x="693568" y="2319076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5104322-2D00-4779-270D-B7C584B123A5}"/>
                </a:ext>
              </a:extLst>
            </p:cNvPr>
            <p:cNvCxnSpPr>
              <a:cxnSpLocks/>
              <a:stCxn id="97" idx="4"/>
              <a:endCxn id="98" idx="0"/>
            </p:cNvCxnSpPr>
            <p:nvPr/>
          </p:nvCxnSpPr>
          <p:spPr>
            <a:xfrm>
              <a:off x="1280208" y="3803501"/>
              <a:ext cx="223070" cy="1272488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B5CEF89-69E3-F062-04FD-2015B8F62BC6}"/>
                </a:ext>
              </a:extLst>
            </p:cNvPr>
            <p:cNvCxnSpPr>
              <a:cxnSpLocks/>
              <a:stCxn id="97" idx="7"/>
              <a:endCxn id="99" idx="2"/>
            </p:cNvCxnSpPr>
            <p:nvPr/>
          </p:nvCxnSpPr>
          <p:spPr>
            <a:xfrm flipV="1">
              <a:off x="1503278" y="2759946"/>
              <a:ext cx="1517196" cy="505017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C2BBA64-B6F1-1AE3-1247-3721320D78A9}"/>
                </a:ext>
              </a:extLst>
            </p:cNvPr>
            <p:cNvCxnSpPr>
              <a:cxnSpLocks/>
              <a:stCxn id="99" idx="4"/>
              <a:endCxn id="100" idx="1"/>
            </p:cNvCxnSpPr>
            <p:nvPr/>
          </p:nvCxnSpPr>
          <p:spPr>
            <a:xfrm>
              <a:off x="3335942" y="3075414"/>
              <a:ext cx="195599" cy="1039718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01EBEED-FFD9-330E-7081-5E825B0C4317}"/>
                </a:ext>
              </a:extLst>
            </p:cNvPr>
            <p:cNvCxnSpPr>
              <a:cxnSpLocks/>
              <a:stCxn id="99" idx="6"/>
              <a:endCxn id="101" idx="2"/>
            </p:cNvCxnSpPr>
            <p:nvPr/>
          </p:nvCxnSpPr>
          <p:spPr>
            <a:xfrm>
              <a:off x="3651410" y="2759946"/>
              <a:ext cx="1595932" cy="129362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2FB477F-EDEC-D3BD-04EA-E66A6B6468A5}"/>
                </a:ext>
              </a:extLst>
            </p:cNvPr>
            <p:cNvCxnSpPr>
              <a:stCxn id="101" idx="3"/>
              <a:endCxn id="100" idx="7"/>
            </p:cNvCxnSpPr>
            <p:nvPr/>
          </p:nvCxnSpPr>
          <p:spPr>
            <a:xfrm flipH="1">
              <a:off x="3977681" y="3112378"/>
              <a:ext cx="1362059" cy="1002754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D6055A0-1886-0D9C-2208-E60EB427DF91}"/>
                </a:ext>
              </a:extLst>
            </p:cNvPr>
            <p:cNvCxnSpPr>
              <a:stCxn id="101" idx="4"/>
              <a:endCxn id="103" idx="0"/>
            </p:cNvCxnSpPr>
            <p:nvPr/>
          </p:nvCxnSpPr>
          <p:spPr>
            <a:xfrm flipH="1">
              <a:off x="5024272" y="3204776"/>
              <a:ext cx="538538" cy="1871213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BC9C9F3-ED74-3EB2-8A18-B1B5152C62E8}"/>
                </a:ext>
              </a:extLst>
            </p:cNvPr>
            <p:cNvCxnSpPr>
              <a:cxnSpLocks/>
              <a:stCxn id="100" idx="5"/>
              <a:endCxn id="103" idx="2"/>
            </p:cNvCxnSpPr>
            <p:nvPr/>
          </p:nvCxnSpPr>
          <p:spPr>
            <a:xfrm>
              <a:off x="3977681" y="4561272"/>
              <a:ext cx="731123" cy="830185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9EB6386-0D1A-3DFB-8DB0-D915BBFDAD9C}"/>
                </a:ext>
              </a:extLst>
            </p:cNvPr>
            <p:cNvCxnSpPr>
              <a:stCxn id="101" idx="5"/>
              <a:endCxn id="102" idx="1"/>
            </p:cNvCxnSpPr>
            <p:nvPr/>
          </p:nvCxnSpPr>
          <p:spPr>
            <a:xfrm>
              <a:off x="5785880" y="3112378"/>
              <a:ext cx="653405" cy="1225824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108B2CA-468E-28FB-72F7-F79609538196}"/>
                </a:ext>
              </a:extLst>
            </p:cNvPr>
            <p:cNvCxnSpPr>
              <a:cxnSpLocks/>
              <a:stCxn id="100" idx="1"/>
              <a:endCxn id="97" idx="6"/>
            </p:cNvCxnSpPr>
            <p:nvPr/>
          </p:nvCxnSpPr>
          <p:spPr>
            <a:xfrm flipH="1" flipV="1">
              <a:off x="1595676" y="3488033"/>
              <a:ext cx="1935865" cy="627099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2F1E933-23CE-2A25-61C0-2762FF8E4A7D}"/>
                </a:ext>
              </a:extLst>
            </p:cNvPr>
            <p:cNvCxnSpPr>
              <a:cxnSpLocks/>
              <a:stCxn id="100" idx="2"/>
              <a:endCxn id="98" idx="6"/>
            </p:cNvCxnSpPr>
            <p:nvPr/>
          </p:nvCxnSpPr>
          <p:spPr>
            <a:xfrm flipH="1">
              <a:off x="1818746" y="4338202"/>
              <a:ext cx="1620397" cy="105325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1A6B722-9063-5901-5A3F-DD6D4CD7FD33}"/>
                </a:ext>
              </a:extLst>
            </p:cNvPr>
            <p:cNvCxnSpPr>
              <a:cxnSpLocks/>
              <a:stCxn id="103" idx="6"/>
              <a:endCxn id="102" idx="2"/>
            </p:cNvCxnSpPr>
            <p:nvPr/>
          </p:nvCxnSpPr>
          <p:spPr>
            <a:xfrm flipV="1">
              <a:off x="5339740" y="4561272"/>
              <a:ext cx="1007147" cy="830185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7DF4D3E-D681-1BE8-DD31-3394B81418DF}"/>
                </a:ext>
              </a:extLst>
            </p:cNvPr>
            <p:cNvCxnSpPr>
              <a:cxnSpLocks/>
              <a:stCxn id="103" idx="2"/>
              <a:endCxn id="98" idx="6"/>
            </p:cNvCxnSpPr>
            <p:nvPr/>
          </p:nvCxnSpPr>
          <p:spPr>
            <a:xfrm flipH="1">
              <a:off x="1818746" y="5391457"/>
              <a:ext cx="2890058" cy="0"/>
            </a:xfrm>
            <a:prstGeom prst="line">
              <a:avLst/>
            </a:prstGeom>
            <a:solidFill>
              <a:schemeClr val="accent3"/>
            </a:solidFill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D0F8DA6-3E16-D484-4585-B711C5601773}"/>
                </a:ext>
              </a:extLst>
            </p:cNvPr>
            <p:cNvSpPr txBox="1"/>
            <p:nvPr/>
          </p:nvSpPr>
          <p:spPr>
            <a:xfrm>
              <a:off x="1022030" y="4115132"/>
              <a:ext cx="3298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65C538A-3370-10FB-545D-2D308A894C32}"/>
                </a:ext>
              </a:extLst>
            </p:cNvPr>
            <p:cNvSpPr txBox="1"/>
            <p:nvPr/>
          </p:nvSpPr>
          <p:spPr>
            <a:xfrm>
              <a:off x="1932064" y="2603914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28BC1CA-8708-D8B1-B8C1-8BD83D4374BF}"/>
                </a:ext>
              </a:extLst>
            </p:cNvPr>
            <p:cNvSpPr txBox="1"/>
            <p:nvPr/>
          </p:nvSpPr>
          <p:spPr>
            <a:xfrm>
              <a:off x="2149386" y="3730111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51B76DB-38C3-E55E-25A1-5F0118B6552B}"/>
                </a:ext>
              </a:extLst>
            </p:cNvPr>
            <p:cNvSpPr txBox="1"/>
            <p:nvPr/>
          </p:nvSpPr>
          <p:spPr>
            <a:xfrm>
              <a:off x="2557706" y="442041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215938D-CB1E-0275-17C3-9C575D392E3E}"/>
                </a:ext>
              </a:extLst>
            </p:cNvPr>
            <p:cNvSpPr txBox="1"/>
            <p:nvPr/>
          </p:nvSpPr>
          <p:spPr>
            <a:xfrm>
              <a:off x="3442747" y="335698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A461584-05FE-B02B-24E3-9C458616115A}"/>
                </a:ext>
              </a:extLst>
            </p:cNvPr>
            <p:cNvSpPr txBox="1"/>
            <p:nvPr/>
          </p:nvSpPr>
          <p:spPr>
            <a:xfrm>
              <a:off x="4326335" y="2415444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21088FE-7253-A1EA-D02F-6C007A80DB6F}"/>
                </a:ext>
              </a:extLst>
            </p:cNvPr>
            <p:cNvSpPr txBox="1"/>
            <p:nvPr/>
          </p:nvSpPr>
          <p:spPr>
            <a:xfrm>
              <a:off x="4638326" y="357323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E4E7B61-3035-E686-08C0-54C9C41DF84F}"/>
                </a:ext>
              </a:extLst>
            </p:cNvPr>
            <p:cNvSpPr txBox="1"/>
            <p:nvPr/>
          </p:nvSpPr>
          <p:spPr>
            <a:xfrm>
              <a:off x="4334767" y="4532180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3F45340-AECC-191A-C8F8-358FC571E242}"/>
                </a:ext>
              </a:extLst>
            </p:cNvPr>
            <p:cNvSpPr txBox="1"/>
            <p:nvPr/>
          </p:nvSpPr>
          <p:spPr>
            <a:xfrm>
              <a:off x="3377498" y="541531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9109072-A091-CF73-C83A-E2C03C6BE3AB}"/>
                </a:ext>
              </a:extLst>
            </p:cNvPr>
            <p:cNvSpPr txBox="1"/>
            <p:nvPr/>
          </p:nvSpPr>
          <p:spPr>
            <a:xfrm>
              <a:off x="5385665" y="3596647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8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E616DB1-E084-78C9-B923-16EFC26523A6}"/>
                </a:ext>
              </a:extLst>
            </p:cNvPr>
            <p:cNvSpPr txBox="1"/>
            <p:nvPr/>
          </p:nvSpPr>
          <p:spPr>
            <a:xfrm>
              <a:off x="5591735" y="465757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FDCF099-FC8B-2021-AB80-A1A753222302}"/>
                </a:ext>
              </a:extLst>
            </p:cNvPr>
            <p:cNvSpPr txBox="1"/>
            <p:nvPr/>
          </p:nvSpPr>
          <p:spPr>
            <a:xfrm>
              <a:off x="6139890" y="3420273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4D5431BC-1683-940A-9C23-5AF405F72328}"/>
                </a:ext>
              </a:extLst>
            </p:cNvPr>
            <p:cNvSpPr/>
            <p:nvPr/>
          </p:nvSpPr>
          <p:spPr>
            <a:xfrm>
              <a:off x="964740" y="3172565"/>
              <a:ext cx="630936" cy="63093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5140A73-2722-6CEA-9A53-5731AC253C34}"/>
                </a:ext>
              </a:extLst>
            </p:cNvPr>
            <p:cNvSpPr/>
            <p:nvPr/>
          </p:nvSpPr>
          <p:spPr>
            <a:xfrm>
              <a:off x="1187810" y="5075989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98A8167-C32A-8583-2494-9B5ACC29D690}"/>
                </a:ext>
              </a:extLst>
            </p:cNvPr>
            <p:cNvSpPr/>
            <p:nvPr/>
          </p:nvSpPr>
          <p:spPr>
            <a:xfrm>
              <a:off x="3020474" y="2444478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08F877AD-EA7F-86FC-9AA8-8CBD8A5C868A}"/>
                </a:ext>
              </a:extLst>
            </p:cNvPr>
            <p:cNvSpPr/>
            <p:nvPr/>
          </p:nvSpPr>
          <p:spPr>
            <a:xfrm>
              <a:off x="3439143" y="4022734"/>
              <a:ext cx="630936" cy="63093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867CFFD-A5D4-9400-31FB-179B7357F6C4}"/>
                </a:ext>
              </a:extLst>
            </p:cNvPr>
            <p:cNvSpPr/>
            <p:nvPr/>
          </p:nvSpPr>
          <p:spPr>
            <a:xfrm>
              <a:off x="5247342" y="2573840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D30EF9D-0AB4-100B-5BB9-AE51A6E1DC32}"/>
                </a:ext>
              </a:extLst>
            </p:cNvPr>
            <p:cNvSpPr/>
            <p:nvPr/>
          </p:nvSpPr>
          <p:spPr>
            <a:xfrm>
              <a:off x="6346887" y="4245804"/>
              <a:ext cx="630936" cy="63093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CB9A161-B602-19CF-C1A1-45390D3A7986}"/>
                </a:ext>
              </a:extLst>
            </p:cNvPr>
            <p:cNvSpPr/>
            <p:nvPr/>
          </p:nvSpPr>
          <p:spPr>
            <a:xfrm>
              <a:off x="4708804" y="5075989"/>
              <a:ext cx="630936" cy="63093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5748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4E29-DADA-781E-D07D-0B402FE7C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F80C39-AD6B-FF09-2E61-FDD9E94058D6}"/>
                  </a:ext>
                </a:extLst>
              </p:cNvPr>
              <p:cNvSpPr txBox="1"/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Christofides-TSP(</a:t>
                </a:r>
                <a:r>
                  <a:rPr lang="en-US" b="1" i="1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G,c</a:t>
                </a:r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spanning tree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5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cost perfect matching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on the odd-degree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doubling edges as needed.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Perform a </a:t>
                </a:r>
                <a:r>
                  <a:rPr lang="en-US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Eulerian Tour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Construct a Hamiltonian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by listing the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in the order of their first appearance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F80C39-AD6B-FF09-2E61-FDD9E940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blipFill>
                <a:blip r:embed="rId2"/>
                <a:stretch>
                  <a:fillRect l="-519" t="-543" r="-1429" b="-32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ight Arrow 68">
            <a:extLst>
              <a:ext uri="{FF2B5EF4-FFF2-40B4-BE49-F238E27FC236}">
                <a16:creationId xmlns:a16="http://schemas.microsoft.com/office/drawing/2014/main" id="{3DA4CFDC-7F39-E170-701A-1870BF448DD0}"/>
              </a:ext>
            </a:extLst>
          </p:cNvPr>
          <p:cNvSpPr/>
          <p:nvPr/>
        </p:nvSpPr>
        <p:spPr>
          <a:xfrm>
            <a:off x="826938" y="1455089"/>
            <a:ext cx="922351" cy="310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5A0A4D9-70D0-27F8-A8DB-CE7C67159994}"/>
              </a:ext>
            </a:extLst>
          </p:cNvPr>
          <p:cNvGrpSpPr/>
          <p:nvPr/>
        </p:nvGrpSpPr>
        <p:grpSpPr>
          <a:xfrm>
            <a:off x="2838060" y="2909269"/>
            <a:ext cx="6420464" cy="3615379"/>
            <a:chOff x="2838060" y="2909269"/>
            <a:chExt cx="6420464" cy="361537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D8934BF-08F4-3555-BBCA-FAB2BA5C2F62}"/>
                </a:ext>
              </a:extLst>
            </p:cNvPr>
            <p:cNvSpPr/>
            <p:nvPr/>
          </p:nvSpPr>
          <p:spPr>
            <a:xfrm>
              <a:off x="2838060" y="2909269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9160E9-B022-E5AE-33E4-50096BD27363}"/>
                </a:ext>
              </a:extLst>
            </p:cNvPr>
            <p:cNvCxnSpPr>
              <a:cxnSpLocks/>
              <a:stCxn id="52" idx="4"/>
              <a:endCxn id="56" idx="0"/>
            </p:cNvCxnSpPr>
            <p:nvPr/>
          </p:nvCxnSpPr>
          <p:spPr>
            <a:xfrm>
              <a:off x="3424700" y="4393694"/>
              <a:ext cx="223070" cy="1272488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6F130A7-BA7C-4324-D339-A632A4AC0AF6}"/>
                </a:ext>
              </a:extLst>
            </p:cNvPr>
            <p:cNvCxnSpPr>
              <a:cxnSpLocks/>
              <a:stCxn id="70" idx="6"/>
              <a:endCxn id="72" idx="2"/>
            </p:cNvCxnSpPr>
            <p:nvPr/>
          </p:nvCxnSpPr>
          <p:spPr>
            <a:xfrm>
              <a:off x="5795902" y="3350139"/>
              <a:ext cx="1595932" cy="129362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814F8A5-69A1-B931-6BA6-A5CEC662B41C}"/>
                </a:ext>
              </a:extLst>
            </p:cNvPr>
            <p:cNvCxnSpPr>
              <a:stCxn id="72" idx="4"/>
              <a:endCxn id="74" idx="0"/>
            </p:cNvCxnSpPr>
            <p:nvPr/>
          </p:nvCxnSpPr>
          <p:spPr>
            <a:xfrm flipH="1">
              <a:off x="7168764" y="3794969"/>
              <a:ext cx="538538" cy="1871213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D997B38-B139-805B-BCAD-0C16BC1273A2}"/>
                </a:ext>
              </a:extLst>
            </p:cNvPr>
            <p:cNvCxnSpPr>
              <a:cxnSpLocks/>
              <a:stCxn id="71" idx="5"/>
              <a:endCxn id="74" idx="2"/>
            </p:cNvCxnSpPr>
            <p:nvPr/>
          </p:nvCxnSpPr>
          <p:spPr>
            <a:xfrm>
              <a:off x="6122173" y="5151465"/>
              <a:ext cx="731123" cy="830185"/>
            </a:xfrm>
            <a:prstGeom prst="line">
              <a:avLst/>
            </a:prstGeom>
            <a:ln w="254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0D9FDE8-1DC0-BD35-DBD1-2EF90A995B5A}"/>
                </a:ext>
              </a:extLst>
            </p:cNvPr>
            <p:cNvSpPr txBox="1"/>
            <p:nvPr/>
          </p:nvSpPr>
          <p:spPr>
            <a:xfrm>
              <a:off x="3166522" y="4705325"/>
              <a:ext cx="3298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E43D22-00B0-864C-B570-C151BFB30AFA}"/>
                </a:ext>
              </a:extLst>
            </p:cNvPr>
            <p:cNvSpPr txBox="1"/>
            <p:nvPr/>
          </p:nvSpPr>
          <p:spPr>
            <a:xfrm>
              <a:off x="4076556" y="3194107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CA99675-023D-92D5-1FF6-F47008A3474D}"/>
                </a:ext>
              </a:extLst>
            </p:cNvPr>
            <p:cNvSpPr txBox="1"/>
            <p:nvPr/>
          </p:nvSpPr>
          <p:spPr>
            <a:xfrm>
              <a:off x="4293878" y="4320304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B6AADA-6178-7255-1C92-DC74A0AEC944}"/>
                </a:ext>
              </a:extLst>
            </p:cNvPr>
            <p:cNvSpPr txBox="1"/>
            <p:nvPr/>
          </p:nvSpPr>
          <p:spPr>
            <a:xfrm>
              <a:off x="4702198" y="501060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F147594-B723-D4F0-BF9F-DE61CAE370C5}"/>
                </a:ext>
              </a:extLst>
            </p:cNvPr>
            <p:cNvSpPr txBox="1"/>
            <p:nvPr/>
          </p:nvSpPr>
          <p:spPr>
            <a:xfrm>
              <a:off x="5656812" y="3947181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31E3310-92C4-A1D0-C62B-33B5DE24B1E7}"/>
                </a:ext>
              </a:extLst>
            </p:cNvPr>
            <p:cNvSpPr txBox="1"/>
            <p:nvPr/>
          </p:nvSpPr>
          <p:spPr>
            <a:xfrm>
              <a:off x="6470827" y="3005637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6B6360-E074-DF5D-A9B5-9F208AFBF173}"/>
                </a:ext>
              </a:extLst>
            </p:cNvPr>
            <p:cNvSpPr txBox="1"/>
            <p:nvPr/>
          </p:nvSpPr>
          <p:spPr>
            <a:xfrm>
              <a:off x="6782818" y="4163424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C6860F3-C099-195D-FF9A-1EA50A099805}"/>
                </a:ext>
              </a:extLst>
            </p:cNvPr>
            <p:cNvSpPr txBox="1"/>
            <p:nvPr/>
          </p:nvSpPr>
          <p:spPr>
            <a:xfrm>
              <a:off x="6479259" y="5122373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52054A-2308-EA5C-DD59-1E5AB05769C6}"/>
                </a:ext>
              </a:extLst>
            </p:cNvPr>
            <p:cNvSpPr txBox="1"/>
            <p:nvPr/>
          </p:nvSpPr>
          <p:spPr>
            <a:xfrm>
              <a:off x="5521990" y="600550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F506F40-D42D-B5B5-2669-FE5D5FE1C49D}"/>
                </a:ext>
              </a:extLst>
            </p:cNvPr>
            <p:cNvSpPr txBox="1"/>
            <p:nvPr/>
          </p:nvSpPr>
          <p:spPr>
            <a:xfrm>
              <a:off x="7530157" y="4186840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</a:schemeClr>
                  </a:solidFill>
                </a:rPr>
                <a:t>8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32183F-1C1E-34FC-FF60-28CB845A3EF7}"/>
                </a:ext>
              </a:extLst>
            </p:cNvPr>
            <p:cNvSpPr txBox="1"/>
            <p:nvPr/>
          </p:nvSpPr>
          <p:spPr>
            <a:xfrm>
              <a:off x="7736227" y="5247767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075A61-89AF-D6D3-2AC0-1FA14230D1AC}"/>
                </a:ext>
              </a:extLst>
            </p:cNvPr>
            <p:cNvSpPr txBox="1"/>
            <p:nvPr/>
          </p:nvSpPr>
          <p:spPr>
            <a:xfrm>
              <a:off x="8284382" y="4010466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5217EF8-4DC6-A93D-F408-4D5F7DE97881}"/>
                </a:ext>
              </a:extLst>
            </p:cNvPr>
            <p:cNvSpPr/>
            <p:nvPr/>
          </p:nvSpPr>
          <p:spPr>
            <a:xfrm>
              <a:off x="3109232" y="3762758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2DC1E1D-7071-FAA7-19B3-B8D36C946F57}"/>
                </a:ext>
              </a:extLst>
            </p:cNvPr>
            <p:cNvSpPr/>
            <p:nvPr/>
          </p:nvSpPr>
          <p:spPr>
            <a:xfrm>
              <a:off x="3332302" y="5666182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701C275-08B6-516B-6C1C-4672D0FF899E}"/>
                </a:ext>
              </a:extLst>
            </p:cNvPr>
            <p:cNvSpPr/>
            <p:nvPr/>
          </p:nvSpPr>
          <p:spPr>
            <a:xfrm>
              <a:off x="5164966" y="3034671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70634C0-8B75-D208-0B3A-5BEA7ED5F46E}"/>
                </a:ext>
              </a:extLst>
            </p:cNvPr>
            <p:cNvSpPr/>
            <p:nvPr/>
          </p:nvSpPr>
          <p:spPr>
            <a:xfrm>
              <a:off x="5583635" y="4612927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4D4F6F5-65D0-0DD9-E595-38B527B78144}"/>
                </a:ext>
              </a:extLst>
            </p:cNvPr>
            <p:cNvSpPr/>
            <p:nvPr/>
          </p:nvSpPr>
          <p:spPr>
            <a:xfrm>
              <a:off x="7391834" y="3164033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31D3A7F-402B-B01F-FDC0-41AA2DDCB4CB}"/>
                </a:ext>
              </a:extLst>
            </p:cNvPr>
            <p:cNvSpPr/>
            <p:nvPr/>
          </p:nvSpPr>
          <p:spPr>
            <a:xfrm>
              <a:off x="8491379" y="4835997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E9E67BF-D377-FD40-CD58-2A7ADF8C2A4B}"/>
                </a:ext>
              </a:extLst>
            </p:cNvPr>
            <p:cNvSpPr/>
            <p:nvPr/>
          </p:nvSpPr>
          <p:spPr>
            <a:xfrm>
              <a:off x="6853296" y="5666182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C494A42-B1AE-10FB-7E35-ED9CCFA0E4EB}"/>
                </a:ext>
              </a:extLst>
            </p:cNvPr>
            <p:cNvCxnSpPr>
              <a:endCxn id="74" idx="2"/>
            </p:cNvCxnSpPr>
            <p:nvPr/>
          </p:nvCxnSpPr>
          <p:spPr>
            <a:xfrm flipV="1">
              <a:off x="3963238" y="5981650"/>
              <a:ext cx="2890058" cy="23858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6CC5125-DD41-D52C-1371-22013609C10E}"/>
                </a:ext>
              </a:extLst>
            </p:cNvPr>
            <p:cNvCxnSpPr>
              <a:cxnSpLocks/>
              <a:stCxn id="74" idx="6"/>
              <a:endCxn id="73" idx="3"/>
            </p:cNvCxnSpPr>
            <p:nvPr/>
          </p:nvCxnSpPr>
          <p:spPr>
            <a:xfrm flipV="1">
              <a:off x="7484232" y="5374535"/>
              <a:ext cx="1099545" cy="607115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E691F53F-FBEF-5C3D-EE05-7AC6D0F87833}"/>
                </a:ext>
              </a:extLst>
            </p:cNvPr>
            <p:cNvCxnSpPr>
              <a:cxnSpLocks/>
              <a:stCxn id="73" idx="1"/>
              <a:endCxn id="72" idx="5"/>
            </p:cNvCxnSpPr>
            <p:nvPr/>
          </p:nvCxnSpPr>
          <p:spPr>
            <a:xfrm flipH="1" flipV="1">
              <a:off x="7930372" y="3702571"/>
              <a:ext cx="653405" cy="1225824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1C5B49B-EAB0-B62D-2044-CBB1F2563DF3}"/>
                </a:ext>
              </a:extLst>
            </p:cNvPr>
            <p:cNvCxnSpPr>
              <a:cxnSpLocks/>
              <a:stCxn id="72" idx="3"/>
              <a:endCxn id="71" idx="7"/>
            </p:cNvCxnSpPr>
            <p:nvPr/>
          </p:nvCxnSpPr>
          <p:spPr>
            <a:xfrm flipH="1">
              <a:off x="6122173" y="3702571"/>
              <a:ext cx="1362059" cy="1002754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D782D7C-2B24-3D54-1A53-204068B77CBA}"/>
                </a:ext>
              </a:extLst>
            </p:cNvPr>
            <p:cNvCxnSpPr>
              <a:cxnSpLocks/>
              <a:stCxn id="71" idx="0"/>
              <a:endCxn id="70" idx="4"/>
            </p:cNvCxnSpPr>
            <p:nvPr/>
          </p:nvCxnSpPr>
          <p:spPr>
            <a:xfrm flipH="1" flipV="1">
              <a:off x="5480434" y="3665607"/>
              <a:ext cx="418669" cy="947320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6DAFB221-4639-84B0-6A00-33FEA3E42BD8}"/>
                </a:ext>
              </a:extLst>
            </p:cNvPr>
            <p:cNvCxnSpPr>
              <a:cxnSpLocks/>
              <a:stCxn id="70" idx="2"/>
              <a:endCxn id="52" idx="7"/>
            </p:cNvCxnSpPr>
            <p:nvPr/>
          </p:nvCxnSpPr>
          <p:spPr>
            <a:xfrm flipH="1">
              <a:off x="3647770" y="3350139"/>
              <a:ext cx="1517196" cy="505017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D3B88D9-2192-C2E8-1EE2-DDA63BB7E31E}"/>
                </a:ext>
              </a:extLst>
            </p:cNvPr>
            <p:cNvCxnSpPr>
              <a:cxnSpLocks/>
              <a:stCxn id="52" idx="6"/>
              <a:endCxn id="71" idx="1"/>
            </p:cNvCxnSpPr>
            <p:nvPr/>
          </p:nvCxnSpPr>
          <p:spPr>
            <a:xfrm>
              <a:off x="3740168" y="4078226"/>
              <a:ext cx="1935865" cy="627099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0DD6CC2A-C168-2ABA-8F2E-1BDED9A17E05}"/>
                </a:ext>
              </a:extLst>
            </p:cNvPr>
            <p:cNvCxnSpPr>
              <a:cxnSpLocks/>
              <a:stCxn id="71" idx="3"/>
              <a:endCxn id="56" idx="7"/>
            </p:cNvCxnSpPr>
            <p:nvPr/>
          </p:nvCxnSpPr>
          <p:spPr>
            <a:xfrm flipH="1">
              <a:off x="3870840" y="5151465"/>
              <a:ext cx="1805193" cy="607115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0597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D0E4D-D5CA-CAA8-67F2-8CA2C636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684200-739C-11B9-B6DD-C4DBE5779DCD}"/>
                  </a:ext>
                </a:extLst>
              </p:cNvPr>
              <p:cNvSpPr txBox="1"/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Christofides-TSP(</a:t>
                </a:r>
                <a:r>
                  <a:rPr lang="en-US" b="1" i="1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G,c</a:t>
                </a:r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spanning tree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5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cost perfect matching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on the odd-degree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doubling edges as needed.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Perform a </a:t>
                </a:r>
                <a:r>
                  <a:rPr lang="en-US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Eulerian Tour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Construct a Hamiltonian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by listing the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in the order of their first appearance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684200-739C-11B9-B6DD-C4DBE5779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blipFill>
                <a:blip r:embed="rId2"/>
                <a:stretch>
                  <a:fillRect l="-519" t="-543" r="-1429" b="-32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ight Arrow 68">
            <a:extLst>
              <a:ext uri="{FF2B5EF4-FFF2-40B4-BE49-F238E27FC236}">
                <a16:creationId xmlns:a16="http://schemas.microsoft.com/office/drawing/2014/main" id="{915FDE97-D5DD-09D3-2C0F-11639E669D81}"/>
              </a:ext>
            </a:extLst>
          </p:cNvPr>
          <p:cNvSpPr/>
          <p:nvPr/>
        </p:nvSpPr>
        <p:spPr>
          <a:xfrm>
            <a:off x="826938" y="1717481"/>
            <a:ext cx="922351" cy="310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04608E6-4226-7F13-E47C-401D24F4BBA8}"/>
              </a:ext>
            </a:extLst>
          </p:cNvPr>
          <p:cNvGrpSpPr/>
          <p:nvPr/>
        </p:nvGrpSpPr>
        <p:grpSpPr>
          <a:xfrm>
            <a:off x="2838060" y="2909269"/>
            <a:ext cx="6420464" cy="3615379"/>
            <a:chOff x="2838060" y="2909269"/>
            <a:chExt cx="6420464" cy="361537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7F3058E-B345-29E3-13CD-8E9ADAEB7F70}"/>
                </a:ext>
              </a:extLst>
            </p:cNvPr>
            <p:cNvSpPr/>
            <p:nvPr/>
          </p:nvSpPr>
          <p:spPr>
            <a:xfrm>
              <a:off x="2838060" y="2909269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Total Cost: 3+4+2+3+2+2+3 = 19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A7CBA44-E168-99AE-557D-0821937722B1}"/>
                </a:ext>
              </a:extLst>
            </p:cNvPr>
            <p:cNvSpPr txBox="1"/>
            <p:nvPr/>
          </p:nvSpPr>
          <p:spPr>
            <a:xfrm>
              <a:off x="4076556" y="3194107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44DA308-923E-DCCF-5028-36784A8A9C81}"/>
                </a:ext>
              </a:extLst>
            </p:cNvPr>
            <p:cNvSpPr txBox="1"/>
            <p:nvPr/>
          </p:nvSpPr>
          <p:spPr>
            <a:xfrm>
              <a:off x="3562754" y="4743729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9FDAAE-47BE-FC26-CC27-8D43CD1AEC3D}"/>
                </a:ext>
              </a:extLst>
            </p:cNvPr>
            <p:cNvSpPr txBox="1"/>
            <p:nvPr/>
          </p:nvSpPr>
          <p:spPr>
            <a:xfrm>
              <a:off x="5742872" y="314719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CE639B1-B54B-BE8F-2177-6887E01FE28D}"/>
                </a:ext>
              </a:extLst>
            </p:cNvPr>
            <p:cNvSpPr txBox="1"/>
            <p:nvPr/>
          </p:nvSpPr>
          <p:spPr>
            <a:xfrm>
              <a:off x="7271205" y="300464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FE4477-54FA-A7B6-978E-5E2E4729CE3D}"/>
                </a:ext>
              </a:extLst>
            </p:cNvPr>
            <p:cNvSpPr txBox="1"/>
            <p:nvPr/>
          </p:nvSpPr>
          <p:spPr>
            <a:xfrm>
              <a:off x="4502232" y="5655993"/>
              <a:ext cx="3378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3654EB2-0305-EFE7-DE6E-0DA336316D6D}"/>
                </a:ext>
              </a:extLst>
            </p:cNvPr>
            <p:cNvSpPr txBox="1"/>
            <p:nvPr/>
          </p:nvSpPr>
          <p:spPr>
            <a:xfrm>
              <a:off x="6719475" y="554824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F1147C5-92C2-4E7A-98F0-AC33A8385C80}"/>
                </a:ext>
              </a:extLst>
            </p:cNvPr>
            <p:cNvSpPr txBox="1"/>
            <p:nvPr/>
          </p:nvSpPr>
          <p:spPr>
            <a:xfrm>
              <a:off x="8189487" y="4675354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DEE646F-8634-A90F-437C-A6D6C8546510}"/>
                </a:ext>
              </a:extLst>
            </p:cNvPr>
            <p:cNvSpPr/>
            <p:nvPr/>
          </p:nvSpPr>
          <p:spPr>
            <a:xfrm>
              <a:off x="3109232" y="3762758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30E314C-8C65-FE61-1456-132FA7D2EDD8}"/>
                </a:ext>
              </a:extLst>
            </p:cNvPr>
            <p:cNvSpPr/>
            <p:nvPr/>
          </p:nvSpPr>
          <p:spPr>
            <a:xfrm>
              <a:off x="3332302" y="5666182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8FBA02C-5197-B054-A56A-6FC018DC97E1}"/>
                </a:ext>
              </a:extLst>
            </p:cNvPr>
            <p:cNvSpPr/>
            <p:nvPr/>
          </p:nvSpPr>
          <p:spPr>
            <a:xfrm>
              <a:off x="4765227" y="3069116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33E9781-3B4A-B701-04FD-6129718A7413}"/>
                </a:ext>
              </a:extLst>
            </p:cNvPr>
            <p:cNvSpPr/>
            <p:nvPr/>
          </p:nvSpPr>
          <p:spPr>
            <a:xfrm>
              <a:off x="6417199" y="3281582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1187507-9101-4224-2CE3-70E944006FEA}"/>
                </a:ext>
              </a:extLst>
            </p:cNvPr>
            <p:cNvSpPr/>
            <p:nvPr/>
          </p:nvSpPr>
          <p:spPr>
            <a:xfrm>
              <a:off x="8028062" y="3058512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AC1B49C-6B8A-BF68-3EE2-454EE9E36063}"/>
                </a:ext>
              </a:extLst>
            </p:cNvPr>
            <p:cNvSpPr/>
            <p:nvPr/>
          </p:nvSpPr>
          <p:spPr>
            <a:xfrm>
              <a:off x="7807488" y="5507245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69427DD-2C4E-0EEE-7796-D19C03968958}"/>
                </a:ext>
              </a:extLst>
            </p:cNvPr>
            <p:cNvSpPr/>
            <p:nvPr/>
          </p:nvSpPr>
          <p:spPr>
            <a:xfrm>
              <a:off x="5491237" y="5655993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232803A-C972-B234-EC63-83F8549D8F99}"/>
                </a:ext>
              </a:extLst>
            </p:cNvPr>
            <p:cNvCxnSpPr>
              <a:cxnSpLocks/>
              <a:stCxn id="56" idx="6"/>
              <a:endCxn id="74" idx="2"/>
            </p:cNvCxnSpPr>
            <p:nvPr/>
          </p:nvCxnSpPr>
          <p:spPr>
            <a:xfrm flipV="1">
              <a:off x="3963238" y="5971461"/>
              <a:ext cx="1527999" cy="10189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939DD7F9-CAE4-81E2-32E9-113B448A6388}"/>
                </a:ext>
              </a:extLst>
            </p:cNvPr>
            <p:cNvCxnSpPr>
              <a:cxnSpLocks/>
              <a:stCxn id="74" idx="6"/>
              <a:endCxn id="73" idx="2"/>
            </p:cNvCxnSpPr>
            <p:nvPr/>
          </p:nvCxnSpPr>
          <p:spPr>
            <a:xfrm flipV="1">
              <a:off x="6122173" y="5822713"/>
              <a:ext cx="1685315" cy="148748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5B3BA96D-2CC3-8A8C-7195-4A6CBE183A9E}"/>
                </a:ext>
              </a:extLst>
            </p:cNvPr>
            <p:cNvCxnSpPr>
              <a:cxnSpLocks/>
              <a:stCxn id="73" idx="0"/>
              <a:endCxn id="72" idx="4"/>
            </p:cNvCxnSpPr>
            <p:nvPr/>
          </p:nvCxnSpPr>
          <p:spPr>
            <a:xfrm flipV="1">
              <a:off x="8122956" y="3689448"/>
              <a:ext cx="220574" cy="1817797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410373CE-C7AC-E784-C092-3188916FA5CA}"/>
                </a:ext>
              </a:extLst>
            </p:cNvPr>
            <p:cNvCxnSpPr>
              <a:cxnSpLocks/>
              <a:stCxn id="72" idx="2"/>
              <a:endCxn id="71" idx="6"/>
            </p:cNvCxnSpPr>
            <p:nvPr/>
          </p:nvCxnSpPr>
          <p:spPr>
            <a:xfrm flipH="1">
              <a:off x="7048135" y="3373980"/>
              <a:ext cx="979927" cy="223070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3E43912A-FDAE-3B92-3103-6CA376849F62}"/>
                </a:ext>
              </a:extLst>
            </p:cNvPr>
            <p:cNvCxnSpPr>
              <a:cxnSpLocks/>
              <a:stCxn id="71" idx="2"/>
              <a:endCxn id="70" idx="6"/>
            </p:cNvCxnSpPr>
            <p:nvPr/>
          </p:nvCxnSpPr>
          <p:spPr>
            <a:xfrm flipH="1" flipV="1">
              <a:off x="5396163" y="3384584"/>
              <a:ext cx="1021036" cy="212466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0277731-FA68-8777-76D7-312D4A11033D}"/>
                </a:ext>
              </a:extLst>
            </p:cNvPr>
            <p:cNvCxnSpPr>
              <a:cxnSpLocks/>
              <a:stCxn id="70" idx="2"/>
              <a:endCxn id="52" idx="7"/>
            </p:cNvCxnSpPr>
            <p:nvPr/>
          </p:nvCxnSpPr>
          <p:spPr>
            <a:xfrm flipH="1">
              <a:off x="3647770" y="3384584"/>
              <a:ext cx="1117457" cy="470572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EE1BB73-CED1-4250-E559-9ECF54CDB969}"/>
                </a:ext>
              </a:extLst>
            </p:cNvPr>
            <p:cNvCxnSpPr>
              <a:cxnSpLocks/>
              <a:stCxn id="52" idx="4"/>
              <a:endCxn id="56" idx="0"/>
            </p:cNvCxnSpPr>
            <p:nvPr/>
          </p:nvCxnSpPr>
          <p:spPr>
            <a:xfrm>
              <a:off x="3424700" y="4393694"/>
              <a:ext cx="223070" cy="1272488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15345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134BE-8CBE-14DD-CEDD-76EEE9AC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D91CF-8611-14D3-767A-72EC595E731D}"/>
                  </a:ext>
                </a:extLst>
              </p:cNvPr>
              <p:cNvSpPr txBox="1"/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Christofides-TSP(</a:t>
                </a:r>
                <a:r>
                  <a:rPr lang="en-US" b="1" i="1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G,c</a:t>
                </a:r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spanning tree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5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cost perfect matching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on the odd-degree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doubling edges as needed.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Perform a </a:t>
                </a:r>
                <a:r>
                  <a:rPr lang="en-US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Eulerian Tour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Construct a Hamiltonian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by listing the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in the order of their first appearance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D91CF-8611-14D3-767A-72EC595E7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544" y="333353"/>
                <a:ext cx="9756252" cy="2308324"/>
              </a:xfrm>
              <a:prstGeom prst="rect">
                <a:avLst/>
              </a:prstGeom>
              <a:blipFill>
                <a:blip r:embed="rId2"/>
                <a:stretch>
                  <a:fillRect l="-519" t="-543" r="-1429" b="-32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ight Arrow 68">
            <a:extLst>
              <a:ext uri="{FF2B5EF4-FFF2-40B4-BE49-F238E27FC236}">
                <a16:creationId xmlns:a16="http://schemas.microsoft.com/office/drawing/2014/main" id="{2F72AAB2-C15C-56AD-3CDD-7723F73B1CBE}"/>
              </a:ext>
            </a:extLst>
          </p:cNvPr>
          <p:cNvSpPr/>
          <p:nvPr/>
        </p:nvSpPr>
        <p:spPr>
          <a:xfrm>
            <a:off x="826938" y="2250219"/>
            <a:ext cx="922351" cy="310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46E5BD-B50A-BB25-6960-BE6BFDDDD2E0}"/>
              </a:ext>
            </a:extLst>
          </p:cNvPr>
          <p:cNvGrpSpPr/>
          <p:nvPr/>
        </p:nvGrpSpPr>
        <p:grpSpPr>
          <a:xfrm>
            <a:off x="2838060" y="2909269"/>
            <a:ext cx="6420464" cy="3615379"/>
            <a:chOff x="2838060" y="2909269"/>
            <a:chExt cx="6420464" cy="361537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5C23C09-B0C3-2900-3B4E-0F886A65F1BE}"/>
                </a:ext>
              </a:extLst>
            </p:cNvPr>
            <p:cNvSpPr/>
            <p:nvPr/>
          </p:nvSpPr>
          <p:spPr>
            <a:xfrm>
              <a:off x="2838060" y="2909269"/>
              <a:ext cx="6420464" cy="36153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Total Cost: 3+4+2+3+2+2+3 = 19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C058601-FE78-7DFA-D6FD-D661DB7B20DC}"/>
                </a:ext>
              </a:extLst>
            </p:cNvPr>
            <p:cNvSpPr txBox="1"/>
            <p:nvPr/>
          </p:nvSpPr>
          <p:spPr>
            <a:xfrm>
              <a:off x="4076556" y="3194107"/>
              <a:ext cx="32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6AF87B-BEC2-9220-1FB5-76DFF499D68A}"/>
                </a:ext>
              </a:extLst>
            </p:cNvPr>
            <p:cNvSpPr txBox="1"/>
            <p:nvPr/>
          </p:nvSpPr>
          <p:spPr>
            <a:xfrm>
              <a:off x="3562754" y="4743729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4BEDBAF-AF39-A564-B09F-4C16DD0302C6}"/>
                </a:ext>
              </a:extLst>
            </p:cNvPr>
            <p:cNvSpPr txBox="1"/>
            <p:nvPr/>
          </p:nvSpPr>
          <p:spPr>
            <a:xfrm>
              <a:off x="5742872" y="314719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7474C40-BB9D-BD20-ED23-488A210BB0E3}"/>
                </a:ext>
              </a:extLst>
            </p:cNvPr>
            <p:cNvSpPr txBox="1"/>
            <p:nvPr/>
          </p:nvSpPr>
          <p:spPr>
            <a:xfrm>
              <a:off x="7271205" y="3004648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1915D48-F57E-32A8-BE2F-69D72FBF5ED0}"/>
                </a:ext>
              </a:extLst>
            </p:cNvPr>
            <p:cNvSpPr txBox="1"/>
            <p:nvPr/>
          </p:nvSpPr>
          <p:spPr>
            <a:xfrm>
              <a:off x="4502232" y="5655993"/>
              <a:ext cx="3378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26A62C0-297D-1650-E333-EA37BD39434C}"/>
                </a:ext>
              </a:extLst>
            </p:cNvPr>
            <p:cNvSpPr txBox="1"/>
            <p:nvPr/>
          </p:nvSpPr>
          <p:spPr>
            <a:xfrm>
              <a:off x="6719475" y="5548245"/>
              <a:ext cx="30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D110C5F-7C9D-24C3-E905-26FD5B9D6619}"/>
                </a:ext>
              </a:extLst>
            </p:cNvPr>
            <p:cNvSpPr txBox="1"/>
            <p:nvPr/>
          </p:nvSpPr>
          <p:spPr>
            <a:xfrm>
              <a:off x="8189487" y="4675354"/>
              <a:ext cx="3080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A39536A-2453-EF3C-76DA-7B44CBF0365A}"/>
                </a:ext>
              </a:extLst>
            </p:cNvPr>
            <p:cNvSpPr/>
            <p:nvPr/>
          </p:nvSpPr>
          <p:spPr>
            <a:xfrm>
              <a:off x="3109232" y="3762758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9DAE565-8E0C-0659-E337-E8E02EEF0CDF}"/>
                </a:ext>
              </a:extLst>
            </p:cNvPr>
            <p:cNvSpPr/>
            <p:nvPr/>
          </p:nvSpPr>
          <p:spPr>
            <a:xfrm>
              <a:off x="3332302" y="5666182"/>
              <a:ext cx="630936" cy="63093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B442887-F6BE-20B8-4842-22B9AF150049}"/>
                </a:ext>
              </a:extLst>
            </p:cNvPr>
            <p:cNvSpPr/>
            <p:nvPr/>
          </p:nvSpPr>
          <p:spPr>
            <a:xfrm>
              <a:off x="4765227" y="3069116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09F2DC2-ED56-F214-5D4C-4045D2B03B03}"/>
                </a:ext>
              </a:extLst>
            </p:cNvPr>
            <p:cNvSpPr/>
            <p:nvPr/>
          </p:nvSpPr>
          <p:spPr>
            <a:xfrm>
              <a:off x="6417199" y="3281582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C615D06-5EE7-F84B-68A9-1D2C79C19764}"/>
                </a:ext>
              </a:extLst>
            </p:cNvPr>
            <p:cNvSpPr/>
            <p:nvPr/>
          </p:nvSpPr>
          <p:spPr>
            <a:xfrm>
              <a:off x="8028062" y="3058512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7988186-8CDC-1B30-2722-C0A2C40292A9}"/>
                </a:ext>
              </a:extLst>
            </p:cNvPr>
            <p:cNvSpPr/>
            <p:nvPr/>
          </p:nvSpPr>
          <p:spPr>
            <a:xfrm>
              <a:off x="7807488" y="5507245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g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3941337-B484-F496-7853-3CBF734ECAFD}"/>
                </a:ext>
              </a:extLst>
            </p:cNvPr>
            <p:cNvSpPr/>
            <p:nvPr/>
          </p:nvSpPr>
          <p:spPr>
            <a:xfrm>
              <a:off x="5491237" y="5655993"/>
              <a:ext cx="630936" cy="63093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6B092476-9259-798C-E2EC-4958425B6784}"/>
                </a:ext>
              </a:extLst>
            </p:cNvPr>
            <p:cNvCxnSpPr>
              <a:cxnSpLocks/>
              <a:stCxn id="56" idx="6"/>
              <a:endCxn id="74" idx="2"/>
            </p:cNvCxnSpPr>
            <p:nvPr/>
          </p:nvCxnSpPr>
          <p:spPr>
            <a:xfrm flipV="1">
              <a:off x="3963238" y="5971461"/>
              <a:ext cx="1527999" cy="10189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C654C06-BD7F-E976-EAD3-975D4578DB77}"/>
                </a:ext>
              </a:extLst>
            </p:cNvPr>
            <p:cNvCxnSpPr>
              <a:cxnSpLocks/>
              <a:stCxn id="74" idx="6"/>
              <a:endCxn id="73" idx="2"/>
            </p:cNvCxnSpPr>
            <p:nvPr/>
          </p:nvCxnSpPr>
          <p:spPr>
            <a:xfrm flipV="1">
              <a:off x="6122173" y="5822713"/>
              <a:ext cx="1685315" cy="148748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FBE7438-ECF7-BA4B-E4D9-9A3420A9BE92}"/>
                </a:ext>
              </a:extLst>
            </p:cNvPr>
            <p:cNvCxnSpPr>
              <a:cxnSpLocks/>
              <a:stCxn id="73" idx="0"/>
              <a:endCxn id="72" idx="4"/>
            </p:cNvCxnSpPr>
            <p:nvPr/>
          </p:nvCxnSpPr>
          <p:spPr>
            <a:xfrm flipV="1">
              <a:off x="8122956" y="3689448"/>
              <a:ext cx="220574" cy="1817797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990355E4-E6BD-F492-F4F3-8EC1883D5C65}"/>
                </a:ext>
              </a:extLst>
            </p:cNvPr>
            <p:cNvCxnSpPr>
              <a:cxnSpLocks/>
              <a:stCxn id="72" idx="2"/>
              <a:endCxn id="71" idx="6"/>
            </p:cNvCxnSpPr>
            <p:nvPr/>
          </p:nvCxnSpPr>
          <p:spPr>
            <a:xfrm flipH="1">
              <a:off x="7048135" y="3373980"/>
              <a:ext cx="979927" cy="223070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D14A2914-DC88-8C1E-CFAF-6F03055B51E8}"/>
                </a:ext>
              </a:extLst>
            </p:cNvPr>
            <p:cNvCxnSpPr>
              <a:cxnSpLocks/>
              <a:stCxn id="71" idx="2"/>
              <a:endCxn id="70" idx="6"/>
            </p:cNvCxnSpPr>
            <p:nvPr/>
          </p:nvCxnSpPr>
          <p:spPr>
            <a:xfrm flipH="1" flipV="1">
              <a:off x="5396163" y="3384584"/>
              <a:ext cx="1021036" cy="212466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D96D79E-551C-A983-7953-7147A2467437}"/>
                </a:ext>
              </a:extLst>
            </p:cNvPr>
            <p:cNvCxnSpPr>
              <a:cxnSpLocks/>
              <a:stCxn id="70" idx="2"/>
              <a:endCxn id="52" idx="7"/>
            </p:cNvCxnSpPr>
            <p:nvPr/>
          </p:nvCxnSpPr>
          <p:spPr>
            <a:xfrm flipH="1">
              <a:off x="3647770" y="3384584"/>
              <a:ext cx="1117457" cy="470572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B637632-55C3-AD23-B5B5-1674039370B8}"/>
                </a:ext>
              </a:extLst>
            </p:cNvPr>
            <p:cNvCxnSpPr>
              <a:cxnSpLocks/>
              <a:stCxn id="52" idx="4"/>
              <a:endCxn id="56" idx="0"/>
            </p:cNvCxnSpPr>
            <p:nvPr/>
          </p:nvCxnSpPr>
          <p:spPr>
            <a:xfrm>
              <a:off x="3424700" y="4393694"/>
              <a:ext cx="223070" cy="1272488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3555088-3078-0C02-0569-983AF5DFD46D}"/>
              </a:ext>
            </a:extLst>
          </p:cNvPr>
          <p:cNvSpPr txBox="1"/>
          <p:nvPr/>
        </p:nvSpPr>
        <p:spPr>
          <a:xfrm>
            <a:off x="9325055" y="3807806"/>
            <a:ext cx="1960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happens to be the optimal solution for this particular graph</a:t>
            </a:r>
          </a:p>
        </p:txBody>
      </p:sp>
    </p:spTree>
    <p:extLst>
      <p:ext uri="{BB962C8B-B14F-4D97-AF65-F5344CB8AC3E}">
        <p14:creationId xmlns:p14="http://schemas.microsoft.com/office/powerpoint/2010/main" val="2261706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9E3E-4E46-D67B-1B9E-FA054CD7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FD6265-65CC-1F66-B4FF-5D4F6642A732}"/>
              </a:ext>
            </a:extLst>
          </p:cNvPr>
          <p:cNvSpPr txBox="1"/>
          <p:nvPr/>
        </p:nvSpPr>
        <p:spPr>
          <a:xfrm>
            <a:off x="3082958" y="2497719"/>
            <a:ext cx="6026082" cy="83099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>
                <a:solidFill>
                  <a:schemeClr val="bg1"/>
                </a:solidFill>
              </a:rPr>
              <a:t>Lemma 1</a:t>
            </a:r>
            <a:r>
              <a:rPr lang="en-US" sz="2400" dirty="0">
                <a:solidFill>
                  <a:schemeClr val="bg1"/>
                </a:solidFill>
              </a:rPr>
              <a:t>: The number of odd degree vertices in any undirected graph must be even.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E99D0E-0B7C-A93A-A375-D32BA7D7D9A4}"/>
                  </a:ext>
                </a:extLst>
              </p:cNvPr>
              <p:cNvSpPr txBox="1"/>
              <p:nvPr/>
            </p:nvSpPr>
            <p:spPr>
              <a:xfrm>
                <a:off x="2057068" y="631505"/>
                <a:ext cx="8077863" cy="70160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</a:t>
                </a:r>
                <a:r>
                  <a:rPr lang="en-US" sz="2800" dirty="0" err="1">
                    <a:solidFill>
                      <a:schemeClr val="bg1"/>
                    </a:solidFill>
                  </a:rPr>
                  <a:t>Christofides</a:t>
                </a:r>
                <a:r>
                  <a:rPr lang="en-US" sz="2800" dirty="0">
                    <a:solidFill>
                      <a:schemeClr val="bg1"/>
                    </a:solidFill>
                  </a:rPr>
                  <a:t>-TSP has an approximation ratio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E99D0E-0B7C-A93A-A375-D32BA7D7D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068" y="631505"/>
                <a:ext cx="8077863" cy="701602"/>
              </a:xfrm>
              <a:prstGeom prst="rect">
                <a:avLst/>
              </a:prstGeom>
              <a:blipFill>
                <a:blip r:embed="rId2"/>
                <a:stretch>
                  <a:fillRect l="-1411" b="-877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88AF096-68B9-70BC-39C7-79461F3DD1EA}"/>
              </a:ext>
            </a:extLst>
          </p:cNvPr>
          <p:cNvSpPr txBox="1"/>
          <p:nvPr/>
        </p:nvSpPr>
        <p:spPr>
          <a:xfrm>
            <a:off x="7983111" y="4334302"/>
            <a:ext cx="2417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you see why? I will argue this verbally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F76D1A-6056-E2BD-8869-3F0F0E47159C}"/>
              </a:ext>
            </a:extLst>
          </p:cNvPr>
          <p:cNvCxnSpPr/>
          <p:nvPr/>
        </p:nvCxnSpPr>
        <p:spPr>
          <a:xfrm>
            <a:off x="7975158" y="3484659"/>
            <a:ext cx="564542" cy="79314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736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8D568-CEE0-A304-1A42-1AD3435AC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D55E57-6F07-6477-6901-49D2BD68B291}"/>
              </a:ext>
            </a:extLst>
          </p:cNvPr>
          <p:cNvSpPr txBox="1"/>
          <p:nvPr/>
        </p:nvSpPr>
        <p:spPr>
          <a:xfrm>
            <a:off x="1217873" y="4000516"/>
            <a:ext cx="6026082" cy="83099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>
                <a:solidFill>
                  <a:schemeClr val="bg1"/>
                </a:solidFill>
              </a:rPr>
              <a:t>Lemma 1</a:t>
            </a:r>
            <a:r>
              <a:rPr lang="en-US" sz="2400" dirty="0">
                <a:solidFill>
                  <a:schemeClr val="bg1"/>
                </a:solidFill>
              </a:rPr>
              <a:t>: The number of odd degree vertices in any undirected graph must be even.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75F28F-FD00-0A53-F150-B8E68C30A158}"/>
                  </a:ext>
                </a:extLst>
              </p:cNvPr>
              <p:cNvSpPr txBox="1"/>
              <p:nvPr/>
            </p:nvSpPr>
            <p:spPr>
              <a:xfrm>
                <a:off x="2057068" y="162377"/>
                <a:ext cx="8077863" cy="70160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</a:t>
                </a:r>
                <a:r>
                  <a:rPr lang="en-US" sz="2800" dirty="0" err="1">
                    <a:solidFill>
                      <a:schemeClr val="bg1"/>
                    </a:solidFill>
                  </a:rPr>
                  <a:t>Christofides</a:t>
                </a:r>
                <a:r>
                  <a:rPr lang="en-US" sz="2800" dirty="0">
                    <a:solidFill>
                      <a:schemeClr val="bg1"/>
                    </a:solidFill>
                  </a:rPr>
                  <a:t>-TSP has an approximation ratio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75F28F-FD00-0A53-F150-B8E68C30A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068" y="162377"/>
                <a:ext cx="8077863" cy="701602"/>
              </a:xfrm>
              <a:prstGeom prst="rect">
                <a:avLst/>
              </a:prstGeom>
              <a:blipFill>
                <a:blip r:embed="rId2"/>
                <a:stretch>
                  <a:fillRect l="-1411" b="-877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E2EB65E-3144-66FB-F911-0E23FBBEC1B7}"/>
              </a:ext>
            </a:extLst>
          </p:cNvPr>
          <p:cNvSpPr txBox="1"/>
          <p:nvPr/>
        </p:nvSpPr>
        <p:spPr>
          <a:xfrm>
            <a:off x="7347004" y="4000516"/>
            <a:ext cx="39915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this means: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The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MST T</a:t>
            </a:r>
            <a:r>
              <a:rPr lang="en-US" dirty="0"/>
              <a:t> is guaranteed to have an even number of odd-degree nodes.</a:t>
            </a:r>
          </a:p>
          <a:p>
            <a:pPr marL="342900" indent="-342900">
              <a:buAutoNum type="arabicPeriod"/>
            </a:pPr>
            <a:r>
              <a:rPr lang="en-US" dirty="0"/>
              <a:t>Since the graph is complete, the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least-cost perfect matching M </a:t>
            </a:r>
            <a:r>
              <a:rPr lang="en-US" dirty="0"/>
              <a:t>of these nodes must exist.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957DEA-CB95-C8DF-9D15-875591651657}"/>
                  </a:ext>
                </a:extLst>
              </p:cNvPr>
              <p:cNvSpPr txBox="1"/>
              <p:nvPr/>
            </p:nvSpPr>
            <p:spPr>
              <a:xfrm>
                <a:off x="1217873" y="1001261"/>
                <a:ext cx="9756252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Christofides-TSP(</a:t>
                </a:r>
                <a:r>
                  <a:rPr lang="en-US" b="1" i="1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G,c</a:t>
                </a:r>
                <a:r>
                  <a:rPr lang="en-US" b="1" i="1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 a </a:t>
                </a:r>
                <a:r>
                  <a:rPr lang="en-US" dirty="0">
                    <a:solidFill>
                      <a:schemeClr val="accent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spanning tree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</a:t>
                </a: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a </a:t>
                </a:r>
                <a:r>
                  <a:rPr lang="en-US" dirty="0">
                    <a:solidFill>
                      <a:schemeClr val="accent5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minimum cost perfect matching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on the odd-degree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and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doubling edges as needed.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Perform a </a:t>
                </a:r>
                <a:r>
                  <a:rPr lang="en-US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Eulerian Tour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Construct a Hamiltonian Cycle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by listing the vertices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in the order of their first appearance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957DEA-CB95-C8DF-9D15-875591651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873" y="1001261"/>
                <a:ext cx="9756252" cy="2308324"/>
              </a:xfrm>
              <a:prstGeom prst="rect">
                <a:avLst/>
              </a:prstGeom>
              <a:blipFill>
                <a:blip r:embed="rId3"/>
                <a:stretch>
                  <a:fillRect l="-519" t="-1087" r="-1688" b="-271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9928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07C26-9A95-E081-0FBD-3C41BDDA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14DF85-7B0D-028C-51B4-8ACBFD780611}"/>
                  </a:ext>
                </a:extLst>
              </p:cNvPr>
              <p:cNvSpPr txBox="1"/>
              <p:nvPr/>
            </p:nvSpPr>
            <p:spPr>
              <a:xfrm>
                <a:off x="1264799" y="2839638"/>
                <a:ext cx="9662399" cy="101091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i="1" u="sng" dirty="0">
                    <a:solidFill>
                      <a:schemeClr val="bg1"/>
                    </a:solidFill>
                  </a:rPr>
                  <a:t>Lemma 2</a:t>
                </a:r>
                <a:r>
                  <a:rPr lang="en-US" sz="2400" dirty="0">
                    <a:solidFill>
                      <a:schemeClr val="bg1"/>
                    </a:solidFill>
                  </a:rPr>
                  <a:t>: For any 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perfect min-cost matching M on an even number of nodes</a:t>
                </a:r>
                <a:r>
                  <a:rPr lang="en-US" sz="2400" dirty="0">
                    <a:solidFill>
                      <a:schemeClr val="bg1"/>
                    </a:solidFill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14DF85-7B0D-028C-51B4-8ACBFD780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799" y="2839638"/>
                <a:ext cx="9662399" cy="1010918"/>
              </a:xfrm>
              <a:prstGeom prst="rect">
                <a:avLst/>
              </a:prstGeom>
              <a:blipFill>
                <a:blip r:embed="rId2"/>
                <a:stretch>
                  <a:fillRect t="-4938" r="-393" b="-617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1F1BA0-47D6-1B60-EA22-794D60C757A9}"/>
                  </a:ext>
                </a:extLst>
              </p:cNvPr>
              <p:cNvSpPr txBox="1"/>
              <p:nvPr/>
            </p:nvSpPr>
            <p:spPr>
              <a:xfrm>
                <a:off x="2057068" y="631505"/>
                <a:ext cx="8077863" cy="70160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</a:t>
                </a:r>
                <a:r>
                  <a:rPr lang="en-US" sz="2800" dirty="0" err="1">
                    <a:solidFill>
                      <a:schemeClr val="bg1"/>
                    </a:solidFill>
                  </a:rPr>
                  <a:t>Christofides</a:t>
                </a:r>
                <a:r>
                  <a:rPr lang="en-US" sz="2800" dirty="0">
                    <a:solidFill>
                      <a:schemeClr val="bg1"/>
                    </a:solidFill>
                  </a:rPr>
                  <a:t>-TSP has an approximation ratio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1F1BA0-47D6-1B60-EA22-794D60C75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068" y="631505"/>
                <a:ext cx="8077863" cy="701602"/>
              </a:xfrm>
              <a:prstGeom prst="rect">
                <a:avLst/>
              </a:prstGeom>
              <a:blipFill>
                <a:blip r:embed="rId3"/>
                <a:stretch>
                  <a:fillRect l="-1411" b="-877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944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6510-FE3E-1C76-A7E9-97357F83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F91CE3-8F66-DDE3-8503-3C0B4352D60F}"/>
                  </a:ext>
                </a:extLst>
              </p:cNvPr>
              <p:cNvSpPr txBox="1"/>
              <p:nvPr/>
            </p:nvSpPr>
            <p:spPr>
              <a:xfrm>
                <a:off x="2598645" y="1525757"/>
                <a:ext cx="6994707" cy="101091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i="1" u="sng" dirty="0">
                    <a:solidFill>
                      <a:schemeClr val="bg1"/>
                    </a:solidFill>
                  </a:rPr>
                  <a:t>Lemma 2</a:t>
                </a:r>
                <a:r>
                  <a:rPr lang="en-US" sz="2400" dirty="0">
                    <a:solidFill>
                      <a:schemeClr val="bg1"/>
                    </a:solidFill>
                  </a:rPr>
                  <a:t>: For 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min-cost perfect matching M</a:t>
                </a:r>
                <a:r>
                  <a:rPr lang="en-US" sz="2400" dirty="0">
                    <a:solidFill>
                      <a:schemeClr val="bg1"/>
                    </a:solidFill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F91CE3-8F66-DDE3-8503-3C0B4352D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645" y="1525757"/>
                <a:ext cx="6994707" cy="1010918"/>
              </a:xfrm>
              <a:prstGeom prst="rect">
                <a:avLst/>
              </a:prstGeom>
              <a:blipFill>
                <a:blip r:embed="rId2"/>
                <a:stretch>
                  <a:fillRect t="-3659" b="-122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AA63BA-76D7-6CB9-D085-7FE0B76366AE}"/>
                  </a:ext>
                </a:extLst>
              </p:cNvPr>
              <p:cNvSpPr txBox="1"/>
              <p:nvPr/>
            </p:nvSpPr>
            <p:spPr>
              <a:xfrm>
                <a:off x="2057068" y="631505"/>
                <a:ext cx="8077863" cy="70160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</a:t>
                </a:r>
                <a:r>
                  <a:rPr lang="en-US" sz="2800" dirty="0" err="1">
                    <a:solidFill>
                      <a:schemeClr val="bg1"/>
                    </a:solidFill>
                  </a:rPr>
                  <a:t>Christofides</a:t>
                </a:r>
                <a:r>
                  <a:rPr lang="en-US" sz="2800" dirty="0">
                    <a:solidFill>
                      <a:schemeClr val="bg1"/>
                    </a:solidFill>
                  </a:rPr>
                  <a:t>-TSP has an approximation ratio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AA63BA-76D7-6CB9-D085-7FE0B7636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068" y="631505"/>
                <a:ext cx="8077863" cy="701602"/>
              </a:xfrm>
              <a:prstGeom prst="rect">
                <a:avLst/>
              </a:prstGeom>
              <a:blipFill>
                <a:blip r:embed="rId3"/>
                <a:stretch>
                  <a:fillRect l="-1411" b="-877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A0F08C-1F9C-0F88-E8EF-01DE6FBCF4BF}"/>
                  </a:ext>
                </a:extLst>
              </p:cNvPr>
              <p:cNvSpPr txBox="1"/>
              <p:nvPr/>
            </p:nvSpPr>
            <p:spPr>
              <a:xfrm>
                <a:off x="6859406" y="2924833"/>
                <a:ext cx="4810539" cy="3027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dirty="0"/>
                  <a:t>Take optimal tour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and create tour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by taking the nodes in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nodes with odd-degree </a:t>
                </a:r>
                <a:r>
                  <a:rPr lang="en-US" dirty="0"/>
                  <a:t>in the order they appear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note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Split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into two matchings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with alternating edges.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both matchings, but may not be the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least cost one</a:t>
                </a:r>
                <a:r>
                  <a:rPr lang="en-US" dirty="0"/>
                  <a:t>.</a:t>
                </a: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2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A0F08C-1F9C-0F88-E8EF-01DE6FBCF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406" y="2924833"/>
                <a:ext cx="4810539" cy="3027239"/>
              </a:xfrm>
              <a:prstGeom prst="rect">
                <a:avLst/>
              </a:prstGeom>
              <a:blipFill>
                <a:blip r:embed="rId4"/>
                <a:stretch>
                  <a:fillRect l="-792" t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6145B0C2-511D-0F4E-233E-3BB5A7506503}"/>
              </a:ext>
            </a:extLst>
          </p:cNvPr>
          <p:cNvGrpSpPr/>
          <p:nvPr/>
        </p:nvGrpSpPr>
        <p:grpSpPr>
          <a:xfrm>
            <a:off x="1326621" y="2683565"/>
            <a:ext cx="5486401" cy="4057838"/>
            <a:chOff x="1326621" y="2683565"/>
            <a:chExt cx="5486401" cy="405783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2532D7-136C-8B19-7950-E427F144497C}"/>
                </a:ext>
              </a:extLst>
            </p:cNvPr>
            <p:cNvSpPr/>
            <p:nvPr/>
          </p:nvSpPr>
          <p:spPr>
            <a:xfrm>
              <a:off x="1326621" y="2683565"/>
              <a:ext cx="5486401" cy="4057838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0811707-48DE-3D99-65FB-20E0E309EE06}"/>
                </a:ext>
              </a:extLst>
            </p:cNvPr>
            <p:cNvSpPr/>
            <p:nvPr/>
          </p:nvSpPr>
          <p:spPr>
            <a:xfrm>
              <a:off x="1607172" y="3937883"/>
              <a:ext cx="588396" cy="58839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BDCCC81-B74C-FB5B-33C6-D83D8B167C0D}"/>
                </a:ext>
              </a:extLst>
            </p:cNvPr>
            <p:cNvSpPr/>
            <p:nvPr/>
          </p:nvSpPr>
          <p:spPr>
            <a:xfrm>
              <a:off x="2634215" y="4734339"/>
              <a:ext cx="588396" cy="58839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F1020E5-2B37-5FED-A9B2-629ABD405560}"/>
                </a:ext>
              </a:extLst>
            </p:cNvPr>
            <p:cNvSpPr/>
            <p:nvPr/>
          </p:nvSpPr>
          <p:spPr>
            <a:xfrm>
              <a:off x="4659823" y="4950350"/>
              <a:ext cx="588396" cy="58839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44E29B-5D11-1408-30A5-59F043D68C0C}"/>
                </a:ext>
              </a:extLst>
            </p:cNvPr>
            <p:cNvSpPr/>
            <p:nvPr/>
          </p:nvSpPr>
          <p:spPr>
            <a:xfrm>
              <a:off x="5716419" y="3937883"/>
              <a:ext cx="588396" cy="58839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E40BF41-4640-DEA0-E593-85F2C437EA91}"/>
                </a:ext>
              </a:extLst>
            </p:cNvPr>
            <p:cNvSpPr/>
            <p:nvPr/>
          </p:nvSpPr>
          <p:spPr>
            <a:xfrm>
              <a:off x="4548903" y="2826959"/>
              <a:ext cx="588396" cy="58839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84EEC4C-F7A6-9A02-0DD0-3A5E5DD9463C}"/>
                </a:ext>
              </a:extLst>
            </p:cNvPr>
            <p:cNvSpPr/>
            <p:nvPr/>
          </p:nvSpPr>
          <p:spPr>
            <a:xfrm>
              <a:off x="2829021" y="2849150"/>
              <a:ext cx="588396" cy="58839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v6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A8DDA50-578F-40F5-DA24-5F4A26857145}"/>
                </a:ext>
              </a:extLst>
            </p:cNvPr>
            <p:cNvSpPr/>
            <p:nvPr/>
          </p:nvSpPr>
          <p:spPr>
            <a:xfrm>
              <a:off x="3208033" y="5862723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  <a:alpha val="19766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2B2BE6-3CA4-08CC-4A15-21A61E1D0A4C}"/>
                </a:ext>
              </a:extLst>
            </p:cNvPr>
            <p:cNvSpPr/>
            <p:nvPr/>
          </p:nvSpPr>
          <p:spPr>
            <a:xfrm>
              <a:off x="4254705" y="6031149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  <a:alpha val="19766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45D921F-9B55-3B2C-4FFD-E6091DF5A122}"/>
                </a:ext>
              </a:extLst>
            </p:cNvPr>
            <p:cNvSpPr/>
            <p:nvPr/>
          </p:nvSpPr>
          <p:spPr>
            <a:xfrm>
              <a:off x="6097035" y="5239208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  <a:alpha val="19766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AD8E2FA-F07A-23FF-63DB-D4B1EAB62AE2}"/>
                </a:ext>
              </a:extLst>
            </p:cNvPr>
            <p:cNvSpPr/>
            <p:nvPr/>
          </p:nvSpPr>
          <p:spPr>
            <a:xfrm>
              <a:off x="5839611" y="2780969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  <a:alpha val="19766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9D2CEF-076C-F71D-AA38-13412DC8091A}"/>
                </a:ext>
              </a:extLst>
            </p:cNvPr>
            <p:cNvCxnSpPr>
              <a:stCxn id="8" idx="5"/>
              <a:endCxn id="9" idx="1"/>
            </p:cNvCxnSpPr>
            <p:nvPr/>
          </p:nvCxnSpPr>
          <p:spPr>
            <a:xfrm>
              <a:off x="2109399" y="4440110"/>
              <a:ext cx="610985" cy="380398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9DB19AF-3326-91F3-AA22-024D3F491D63}"/>
                </a:ext>
              </a:extLst>
            </p:cNvPr>
            <p:cNvCxnSpPr>
              <a:cxnSpLocks/>
              <a:stCxn id="10" idx="7"/>
              <a:endCxn id="11" idx="3"/>
            </p:cNvCxnSpPr>
            <p:nvPr/>
          </p:nvCxnSpPr>
          <p:spPr>
            <a:xfrm flipV="1">
              <a:off x="5162050" y="4440110"/>
              <a:ext cx="640538" cy="596409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01A1585-A824-3011-B1F3-8F39FD505C98}"/>
                </a:ext>
              </a:extLst>
            </p:cNvPr>
            <p:cNvCxnSpPr>
              <a:cxnSpLocks/>
              <a:stCxn id="12" idx="2"/>
              <a:endCxn id="13" idx="6"/>
            </p:cNvCxnSpPr>
            <p:nvPr/>
          </p:nvCxnSpPr>
          <p:spPr>
            <a:xfrm flipH="1">
              <a:off x="3417417" y="3121157"/>
              <a:ext cx="1131486" cy="22191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43A093-97DF-A128-BAF1-6B0A73EF9959}"/>
                </a:ext>
              </a:extLst>
            </p:cNvPr>
            <p:cNvCxnSpPr>
              <a:cxnSpLocks/>
              <a:stCxn id="13" idx="3"/>
              <a:endCxn id="8" idx="7"/>
            </p:cNvCxnSpPr>
            <p:nvPr/>
          </p:nvCxnSpPr>
          <p:spPr>
            <a:xfrm flipH="1">
              <a:off x="2109399" y="3351377"/>
              <a:ext cx="805791" cy="672675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EFB9B7-4532-7DE1-FFEF-0807D0110898}"/>
                </a:ext>
              </a:extLst>
            </p:cNvPr>
            <p:cNvCxnSpPr>
              <a:cxnSpLocks/>
              <a:stCxn id="10" idx="2"/>
              <a:endCxn id="9" idx="6"/>
            </p:cNvCxnSpPr>
            <p:nvPr/>
          </p:nvCxnSpPr>
          <p:spPr>
            <a:xfrm flipH="1" flipV="1">
              <a:off x="3222611" y="5028537"/>
              <a:ext cx="1437212" cy="216011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84375CA-3C5F-5EBF-76B2-4CE4E2633718}"/>
                </a:ext>
              </a:extLst>
            </p:cNvPr>
            <p:cNvCxnSpPr>
              <a:cxnSpLocks/>
              <a:stCxn id="11" idx="1"/>
              <a:endCxn id="12" idx="5"/>
            </p:cNvCxnSpPr>
            <p:nvPr/>
          </p:nvCxnSpPr>
          <p:spPr>
            <a:xfrm flipH="1" flipV="1">
              <a:off x="5051130" y="3329186"/>
              <a:ext cx="751458" cy="694866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45B0A69-864A-1D45-F8D3-42AB46B7E9CD}"/>
                </a:ext>
              </a:extLst>
            </p:cNvPr>
            <p:cNvCxnSpPr>
              <a:cxnSpLocks/>
              <a:stCxn id="9" idx="4"/>
              <a:endCxn id="14" idx="1"/>
            </p:cNvCxnSpPr>
            <p:nvPr/>
          </p:nvCxnSpPr>
          <p:spPr>
            <a:xfrm>
              <a:off x="2928413" y="5322735"/>
              <a:ext cx="365789" cy="626157"/>
            </a:xfrm>
            <a:prstGeom prst="line">
              <a:avLst/>
            </a:prstGeom>
            <a:ln w="31750">
              <a:solidFill>
                <a:schemeClr val="tx1">
                  <a:lumMod val="75000"/>
                  <a:alpha val="39982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7479C0C-D3ED-004E-FE52-DB37276E17BB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3796429" y="6156921"/>
              <a:ext cx="458276" cy="168426"/>
            </a:xfrm>
            <a:prstGeom prst="line">
              <a:avLst/>
            </a:prstGeom>
            <a:ln w="31750">
              <a:solidFill>
                <a:schemeClr val="tx1">
                  <a:lumMod val="75000"/>
                  <a:alpha val="39982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276C08E-B3D1-CBBA-50B6-244F2F968221}"/>
                </a:ext>
              </a:extLst>
            </p:cNvPr>
            <p:cNvCxnSpPr>
              <a:cxnSpLocks/>
              <a:stCxn id="15" idx="7"/>
              <a:endCxn id="10" idx="4"/>
            </p:cNvCxnSpPr>
            <p:nvPr/>
          </p:nvCxnSpPr>
          <p:spPr>
            <a:xfrm flipV="1">
              <a:off x="4756932" y="5538746"/>
              <a:ext cx="197089" cy="578572"/>
            </a:xfrm>
            <a:prstGeom prst="line">
              <a:avLst/>
            </a:prstGeom>
            <a:ln w="31750">
              <a:solidFill>
                <a:schemeClr val="tx1">
                  <a:lumMod val="75000"/>
                  <a:alpha val="39982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8EA10B-6647-5426-A98F-AAE3D11CDB2B}"/>
                </a:ext>
              </a:extLst>
            </p:cNvPr>
            <p:cNvCxnSpPr>
              <a:cxnSpLocks/>
              <a:stCxn id="10" idx="6"/>
              <a:endCxn id="16" idx="2"/>
            </p:cNvCxnSpPr>
            <p:nvPr/>
          </p:nvCxnSpPr>
          <p:spPr>
            <a:xfrm>
              <a:off x="5248219" y="5244548"/>
              <a:ext cx="848816" cy="288858"/>
            </a:xfrm>
            <a:prstGeom prst="line">
              <a:avLst/>
            </a:prstGeom>
            <a:ln w="31750">
              <a:solidFill>
                <a:schemeClr val="tx1">
                  <a:lumMod val="75000"/>
                  <a:alpha val="39982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D80F459-EC4A-8E4C-7D5B-71748467D384}"/>
                </a:ext>
              </a:extLst>
            </p:cNvPr>
            <p:cNvCxnSpPr>
              <a:cxnSpLocks/>
              <a:stCxn id="11" idx="4"/>
              <a:endCxn id="16" idx="0"/>
            </p:cNvCxnSpPr>
            <p:nvPr/>
          </p:nvCxnSpPr>
          <p:spPr>
            <a:xfrm>
              <a:off x="6010617" y="4526279"/>
              <a:ext cx="380616" cy="712929"/>
            </a:xfrm>
            <a:prstGeom prst="line">
              <a:avLst/>
            </a:prstGeom>
            <a:ln w="31750">
              <a:solidFill>
                <a:schemeClr val="tx1">
                  <a:lumMod val="75000"/>
                  <a:alpha val="39982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02DF34-2460-62C1-2871-896E3D7B339A}"/>
                </a:ext>
              </a:extLst>
            </p:cNvPr>
            <p:cNvCxnSpPr>
              <a:cxnSpLocks/>
              <a:stCxn id="17" idx="4"/>
              <a:endCxn id="11" idx="0"/>
            </p:cNvCxnSpPr>
            <p:nvPr/>
          </p:nvCxnSpPr>
          <p:spPr>
            <a:xfrm flipH="1">
              <a:off x="6010617" y="3369365"/>
              <a:ext cx="123192" cy="568518"/>
            </a:xfrm>
            <a:prstGeom prst="line">
              <a:avLst/>
            </a:prstGeom>
            <a:ln w="31750">
              <a:solidFill>
                <a:schemeClr val="tx1">
                  <a:lumMod val="75000"/>
                  <a:alpha val="39982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616F7EF-4E7F-17F9-918E-82619712F332}"/>
                </a:ext>
              </a:extLst>
            </p:cNvPr>
            <p:cNvCxnSpPr>
              <a:cxnSpLocks/>
              <a:stCxn id="12" idx="6"/>
              <a:endCxn id="17" idx="2"/>
            </p:cNvCxnSpPr>
            <p:nvPr/>
          </p:nvCxnSpPr>
          <p:spPr>
            <a:xfrm flipV="1">
              <a:off x="5137299" y="3075167"/>
              <a:ext cx="702312" cy="45990"/>
            </a:xfrm>
            <a:prstGeom prst="line">
              <a:avLst/>
            </a:prstGeom>
            <a:ln w="31750">
              <a:solidFill>
                <a:schemeClr val="tx1">
                  <a:lumMod val="75000"/>
                  <a:alpha val="39982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C1C71EA4-59A3-29E1-09EB-E134E0AD2D6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278293" y="4615923"/>
              <a:ext cx="1885238" cy="1533609"/>
            </a:xfrm>
            <a:prstGeom prst="curvedConnector3">
              <a:avLst>
                <a:gd name="adj1" fmla="val 102194"/>
              </a:avLst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32A050C-7B8F-3A00-F09B-49B602A1CF55}"/>
                    </a:ext>
                  </a:extLst>
                </p:cNvPr>
                <p:cNvSpPr txBox="1"/>
                <p:nvPr/>
              </p:nvSpPr>
              <p:spPr>
                <a:xfrm>
                  <a:off x="1594132" y="5271781"/>
                  <a:ext cx="5151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32A050C-7B8F-3A00-F09B-49B602A1C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4132" y="5271781"/>
                  <a:ext cx="51514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4C814EDB-0FEB-8CCC-2F07-F6EFCC242067}"/>
                </a:ext>
              </a:extLst>
            </p:cNvPr>
            <p:cNvCxnSpPr>
              <a:cxnSpLocks/>
            </p:cNvCxnSpPr>
            <p:nvPr/>
          </p:nvCxnSpPr>
          <p:spPr>
            <a:xfrm>
              <a:off x="2302913" y="4207781"/>
              <a:ext cx="2429617" cy="612729"/>
            </a:xfrm>
            <a:prstGeom prst="curvedConnector3">
              <a:avLst>
                <a:gd name="adj1" fmla="val 7455"/>
              </a:avLst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5B92C7-18B7-839D-FF38-437BE9546D0A}"/>
                    </a:ext>
                  </a:extLst>
                </p:cNvPr>
                <p:cNvSpPr txBox="1"/>
                <p:nvPr/>
              </p:nvSpPr>
              <p:spPr>
                <a:xfrm>
                  <a:off x="2967641" y="4305606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5B92C7-18B7-839D-FF38-437BE9546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7641" y="4305606"/>
                  <a:ext cx="47641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0EC271C-FC40-A380-1BD1-9FD623754BCA}"/>
                    </a:ext>
                  </a:extLst>
                </p:cNvPr>
                <p:cNvSpPr txBox="1"/>
                <p:nvPr/>
              </p:nvSpPr>
              <p:spPr>
                <a:xfrm>
                  <a:off x="2035692" y="3281032"/>
                  <a:ext cx="5344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0EC271C-FC40-A380-1BD1-9FD623754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692" y="3281032"/>
                  <a:ext cx="53444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6031B34-0405-CD36-FB4F-762A84EC0EC9}"/>
                    </a:ext>
                  </a:extLst>
                </p:cNvPr>
                <p:cNvSpPr txBox="1"/>
                <p:nvPr/>
              </p:nvSpPr>
              <p:spPr>
                <a:xfrm>
                  <a:off x="3699831" y="2727260"/>
                  <a:ext cx="5397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6031B34-0405-CD36-FB4F-762A84EC0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9831" y="2727260"/>
                  <a:ext cx="53976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08509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A405-EA24-A7B5-810E-C2D79C66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D15535-851C-6DF4-04D0-889DCEEAB4D9}"/>
                  </a:ext>
                </a:extLst>
              </p:cNvPr>
              <p:cNvSpPr txBox="1"/>
              <p:nvPr/>
            </p:nvSpPr>
            <p:spPr>
              <a:xfrm>
                <a:off x="2914403" y="2622838"/>
                <a:ext cx="6363192" cy="64158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i="1" u="sng" dirty="0">
                    <a:solidFill>
                      <a:schemeClr val="bg1"/>
                    </a:solidFill>
                  </a:rPr>
                  <a:t>Lemma 2</a:t>
                </a:r>
                <a:r>
                  <a:rPr lang="en-US" sz="2400" dirty="0">
                    <a:solidFill>
                      <a:schemeClr val="bg1"/>
                    </a:solidFill>
                  </a:rPr>
                  <a:t>: For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m.c.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perf. M</a:t>
                </a:r>
                <a:r>
                  <a:rPr lang="en-US" sz="2400" dirty="0">
                    <a:solidFill>
                      <a:schemeClr val="bg1"/>
                    </a:solidFill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D15535-851C-6DF4-04D0-889DCEEAB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403" y="2622838"/>
                <a:ext cx="6363192" cy="641586"/>
              </a:xfrm>
              <a:prstGeom prst="rect">
                <a:avLst/>
              </a:prstGeom>
              <a:blipFill>
                <a:blip r:embed="rId2"/>
                <a:stretch>
                  <a:fillRect l="-198" b="-943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F1F759-691F-D3F0-7A82-FA7472831CB5}"/>
                  </a:ext>
                </a:extLst>
              </p:cNvPr>
              <p:cNvSpPr txBox="1"/>
              <p:nvPr/>
            </p:nvSpPr>
            <p:spPr>
              <a:xfrm>
                <a:off x="2057068" y="631505"/>
                <a:ext cx="8077863" cy="70160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</a:t>
                </a:r>
                <a:r>
                  <a:rPr lang="en-US" sz="2800" dirty="0" err="1">
                    <a:solidFill>
                      <a:schemeClr val="bg1"/>
                    </a:solidFill>
                  </a:rPr>
                  <a:t>Christofides</a:t>
                </a:r>
                <a:r>
                  <a:rPr lang="en-US" sz="2800" dirty="0">
                    <a:solidFill>
                      <a:schemeClr val="bg1"/>
                    </a:solidFill>
                  </a:rPr>
                  <a:t>-TSP has an approximation ratio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F1F759-691F-D3F0-7A82-FA7472831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068" y="631505"/>
                <a:ext cx="8077863" cy="701602"/>
              </a:xfrm>
              <a:prstGeom prst="rect">
                <a:avLst/>
              </a:prstGeom>
              <a:blipFill>
                <a:blip r:embed="rId3"/>
                <a:stretch>
                  <a:fillRect l="-1411" b="-877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F945E87-1ABC-05AC-5948-66344943B498}"/>
              </a:ext>
            </a:extLst>
          </p:cNvPr>
          <p:cNvSpPr txBox="1"/>
          <p:nvPr/>
        </p:nvSpPr>
        <p:spPr>
          <a:xfrm>
            <a:off x="2914402" y="1591271"/>
            <a:ext cx="6363191" cy="83099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>
                <a:solidFill>
                  <a:schemeClr val="bg1"/>
                </a:solidFill>
              </a:rPr>
              <a:t>Lemma 1</a:t>
            </a:r>
            <a:r>
              <a:rPr lang="en-US" sz="2400" dirty="0">
                <a:solidFill>
                  <a:schemeClr val="bg1"/>
                </a:solidFill>
              </a:rPr>
              <a:t>: The number of odd degree vertices in any undirected graph must be even.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1D633-636B-B80C-06C7-04E9AB2C2D94}"/>
                  </a:ext>
                </a:extLst>
              </p:cNvPr>
              <p:cNvSpPr txBox="1"/>
              <p:nvPr/>
            </p:nvSpPr>
            <p:spPr>
              <a:xfrm>
                <a:off x="1802292" y="3881311"/>
                <a:ext cx="8587409" cy="806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1D633-636B-B80C-06C7-04E9AB2C2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292" y="3881311"/>
                <a:ext cx="8587409" cy="806696"/>
              </a:xfrm>
              <a:prstGeom prst="rect">
                <a:avLst/>
              </a:prstGeom>
              <a:blipFill>
                <a:blip r:embed="rId4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>
            <a:extLst>
              <a:ext uri="{FF2B5EF4-FFF2-40B4-BE49-F238E27FC236}">
                <a16:creationId xmlns:a16="http://schemas.microsoft.com/office/drawing/2014/main" id="{9BECABAF-4B55-3E7D-4949-9D036F4E7A98}"/>
              </a:ext>
            </a:extLst>
          </p:cNvPr>
          <p:cNvSpPr/>
          <p:nvPr/>
        </p:nvSpPr>
        <p:spPr>
          <a:xfrm rot="5400000">
            <a:off x="3073304" y="4136836"/>
            <a:ext cx="349858" cy="17569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8F75EC-17D9-18FD-0FE3-878D99D8A750}"/>
              </a:ext>
            </a:extLst>
          </p:cNvPr>
          <p:cNvSpPr txBox="1"/>
          <p:nvPr/>
        </p:nvSpPr>
        <p:spPr>
          <a:xfrm>
            <a:off x="2556594" y="5244420"/>
            <a:ext cx="1383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By triangle inequality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4A6C594D-147A-C8B2-B75A-235C05990866}"/>
              </a:ext>
            </a:extLst>
          </p:cNvPr>
          <p:cNvSpPr/>
          <p:nvPr/>
        </p:nvSpPr>
        <p:spPr>
          <a:xfrm rot="5400000">
            <a:off x="5002157" y="4016588"/>
            <a:ext cx="349858" cy="19862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BB4EF-4ADB-F7A1-8D83-C8DC3E8C6245}"/>
              </a:ext>
            </a:extLst>
          </p:cNvPr>
          <p:cNvSpPr txBox="1"/>
          <p:nvPr/>
        </p:nvSpPr>
        <p:spPr>
          <a:xfrm>
            <a:off x="4490086" y="5244419"/>
            <a:ext cx="1383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By how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T’</a:t>
            </a:r>
            <a:r>
              <a:rPr lang="en-US" dirty="0"/>
              <a:t> is constructed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72B61D3-67B2-D905-8BD1-41F494EF1996}"/>
              </a:ext>
            </a:extLst>
          </p:cNvPr>
          <p:cNvSpPr/>
          <p:nvPr/>
        </p:nvSpPr>
        <p:spPr>
          <a:xfrm rot="5400000">
            <a:off x="7172862" y="3889759"/>
            <a:ext cx="349858" cy="224069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0AAFF-64B5-68E0-C9D1-EF3148A556E6}"/>
              </a:ext>
            </a:extLst>
          </p:cNvPr>
          <p:cNvSpPr txBox="1"/>
          <p:nvPr/>
        </p:nvSpPr>
        <p:spPr>
          <a:xfrm>
            <a:off x="6648201" y="5244418"/>
            <a:ext cx="1383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MST less than optimal tour + by lemma 2</a:t>
            </a:r>
          </a:p>
        </p:txBody>
      </p:sp>
    </p:spTree>
    <p:extLst>
      <p:ext uri="{BB962C8B-B14F-4D97-AF65-F5344CB8AC3E}">
        <p14:creationId xmlns:p14="http://schemas.microsoft.com/office/powerpoint/2010/main" val="3479806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8E45B-EBFD-FAEF-CA31-8AA225CD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4F6F-D230-6A86-00E0-66B2BD93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Approximating The General Traveling-Salesperson Problem</a:t>
            </a:r>
          </a:p>
        </p:txBody>
      </p:sp>
    </p:spTree>
    <p:extLst>
      <p:ext uri="{BB962C8B-B14F-4D97-AF65-F5344CB8AC3E}">
        <p14:creationId xmlns:p14="http://schemas.microsoft.com/office/powerpoint/2010/main" val="42933740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D85A-24F4-E780-C2CB-BA28E706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BA1B4C-A98F-9F1D-6AB6-BD89676B53E7}"/>
              </a:ext>
            </a:extLst>
          </p:cNvPr>
          <p:cNvSpPr txBox="1"/>
          <p:nvPr/>
        </p:nvSpPr>
        <p:spPr>
          <a:xfrm>
            <a:off x="1203569" y="2303931"/>
            <a:ext cx="9784862" cy="138499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chemeClr val="bg1"/>
                </a:solidFill>
              </a:rPr>
              <a:t>Question</a:t>
            </a:r>
            <a:r>
              <a:rPr lang="en-US" sz="2800" dirty="0">
                <a:solidFill>
                  <a:schemeClr val="bg1"/>
                </a:solidFill>
              </a:rPr>
              <a:t>: Our TSP approximations assume connected graphs and triangle inequality. Can we approximate the general TSP without these assumptions?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D8428-D5C6-C779-E56D-35BF7BD85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Approximating the General TSP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D14FAF-9B17-E2AF-7A88-BB2D530CCA71}"/>
              </a:ext>
            </a:extLst>
          </p:cNvPr>
          <p:cNvSpPr txBox="1"/>
          <p:nvPr/>
        </p:nvSpPr>
        <p:spPr>
          <a:xfrm>
            <a:off x="7299569" y="4814277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do you think?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E5CECD-9B0F-FCFC-9269-81EF7C4A15BD}"/>
              </a:ext>
            </a:extLst>
          </p:cNvPr>
          <p:cNvCxnSpPr/>
          <p:nvPr/>
        </p:nvCxnSpPr>
        <p:spPr>
          <a:xfrm>
            <a:off x="7408985" y="3852984"/>
            <a:ext cx="523630" cy="93003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626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8475-AE84-7911-A343-31FD3105B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651932-3545-01E1-57C2-67A0A83F745F}"/>
                  </a:ext>
                </a:extLst>
              </p:cNvPr>
              <p:cNvSpPr txBox="1"/>
              <p:nvPr/>
            </p:nvSpPr>
            <p:spPr>
              <a:xfrm>
                <a:off x="1780318" y="2241408"/>
                <a:ext cx="8628185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 general TSP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approximatable if and only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651932-3545-01E1-57C2-67A0A83F7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18" y="2241408"/>
                <a:ext cx="8628185" cy="954107"/>
              </a:xfrm>
              <a:prstGeom prst="rect">
                <a:avLst/>
              </a:prstGeom>
              <a:blipFill>
                <a:blip r:embed="rId2"/>
                <a:stretch>
                  <a:fillRect l="-1322" t="-6494" r="-1909" b="-1558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72F1234-282A-E8A6-2609-36DA67F8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Approximating the General TSP</a:t>
            </a:r>
          </a:p>
        </p:txBody>
      </p:sp>
    </p:spTree>
    <p:extLst>
      <p:ext uri="{BB962C8B-B14F-4D97-AF65-F5344CB8AC3E}">
        <p14:creationId xmlns:p14="http://schemas.microsoft.com/office/powerpoint/2010/main" val="38335153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F1D0-CA83-87C3-79AC-EA67A5A3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429BBB-0ACA-6B10-A374-0C929AEC1886}"/>
                  </a:ext>
                </a:extLst>
              </p:cNvPr>
              <p:cNvSpPr txBox="1"/>
              <p:nvPr/>
            </p:nvSpPr>
            <p:spPr>
              <a:xfrm>
                <a:off x="1780318" y="631438"/>
                <a:ext cx="8628185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 general TSP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approximatable if and only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429BBB-0ACA-6B10-A374-0C929AEC1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18" y="631438"/>
                <a:ext cx="8628185" cy="954107"/>
              </a:xfrm>
              <a:prstGeom prst="rect">
                <a:avLst/>
              </a:prstGeom>
              <a:blipFill>
                <a:blip r:embed="rId2"/>
                <a:stretch>
                  <a:fillRect l="-1322" t="-6494" r="-1909" b="-1558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7F0915-1EF5-213F-91D0-6653E091BFD4}"/>
              </a:ext>
            </a:extLst>
          </p:cNvPr>
          <p:cNvCxnSpPr>
            <a:cxnSpLocks/>
          </p:cNvCxnSpPr>
          <p:nvPr/>
        </p:nvCxnSpPr>
        <p:spPr>
          <a:xfrm>
            <a:off x="890954" y="2250831"/>
            <a:ext cx="1047261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880759-C410-D5E9-C68E-7BC465CA4FCB}"/>
              </a:ext>
            </a:extLst>
          </p:cNvPr>
          <p:cNvSpPr txBox="1"/>
          <p:nvPr/>
        </p:nvSpPr>
        <p:spPr>
          <a:xfrm>
            <a:off x="1566984" y="2729467"/>
            <a:ext cx="169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Proof Overview: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C307CC8-9FEA-A777-CD6B-0F4F14122D73}"/>
                  </a:ext>
                </a:extLst>
              </p:cNvPr>
              <p:cNvSpPr/>
              <p:nvPr/>
            </p:nvSpPr>
            <p:spPr>
              <a:xfrm>
                <a:off x="1566984" y="3425094"/>
                <a:ext cx="2454032" cy="186201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Assume there exists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approximation for the general TSP problem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C307CC8-9FEA-A777-CD6B-0F4F14122D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984" y="3425094"/>
                <a:ext cx="2454032" cy="1862015"/>
              </a:xfrm>
              <a:prstGeom prst="rect">
                <a:avLst/>
              </a:prstGeom>
              <a:blipFill>
                <a:blip r:embed="rId3"/>
                <a:stretch>
                  <a:fillRect l="-1020" r="-204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E8D5111-D1AA-BC27-C652-D77A71AF65CC}"/>
              </a:ext>
            </a:extLst>
          </p:cNvPr>
          <p:cNvSpPr/>
          <p:nvPr/>
        </p:nvSpPr>
        <p:spPr>
          <a:xfrm>
            <a:off x="4868984" y="3425093"/>
            <a:ext cx="2454032" cy="1862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Choose / find a known NP-Complete Problem 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18191A4-6A57-F477-BC47-B7B51F296816}"/>
                  </a:ext>
                </a:extLst>
              </p:cNvPr>
              <p:cNvSpPr/>
              <p:nvPr/>
            </p:nvSpPr>
            <p:spPr>
              <a:xfrm>
                <a:off x="8170984" y="3425092"/>
                <a:ext cx="2454032" cy="186201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𝐴𝑇𝑆𝑃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: that an approximation to TSP (ATSP) can be used to solve K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18191A4-6A57-F477-BC47-B7B51F2968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984" y="3425092"/>
                <a:ext cx="2454032" cy="1862015"/>
              </a:xfrm>
              <a:prstGeom prst="rect">
                <a:avLst/>
              </a:prstGeom>
              <a:blipFill>
                <a:blip r:embed="rId4"/>
                <a:stretch>
                  <a:fillRect l="-1531" r="-408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>
            <a:extLst>
              <a:ext uri="{FF2B5EF4-FFF2-40B4-BE49-F238E27FC236}">
                <a16:creationId xmlns:a16="http://schemas.microsoft.com/office/drawing/2014/main" id="{BC5D7C96-EC85-3A44-EAD0-843BD44BBD0B}"/>
              </a:ext>
            </a:extLst>
          </p:cNvPr>
          <p:cNvSpPr/>
          <p:nvPr/>
        </p:nvSpPr>
        <p:spPr>
          <a:xfrm>
            <a:off x="4021016" y="4189043"/>
            <a:ext cx="847968" cy="24520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DFCD1CA-850C-2DB3-B4D4-FEB7FBE59835}"/>
              </a:ext>
            </a:extLst>
          </p:cNvPr>
          <p:cNvSpPr/>
          <p:nvPr/>
        </p:nvSpPr>
        <p:spPr>
          <a:xfrm>
            <a:off x="7321064" y="4189043"/>
            <a:ext cx="847968" cy="24520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79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6CE7B-EDE5-6332-EEF1-69AED6E58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F42583-B5E7-BB71-1F8D-E07B738B68F4}"/>
                  </a:ext>
                </a:extLst>
              </p:cNvPr>
              <p:cNvSpPr txBox="1"/>
              <p:nvPr/>
            </p:nvSpPr>
            <p:spPr>
              <a:xfrm>
                <a:off x="1780318" y="631438"/>
                <a:ext cx="8628185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 general TSP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approximatable if and only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F42583-B5E7-BB71-1F8D-E07B738B6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18" y="631438"/>
                <a:ext cx="8628185" cy="954107"/>
              </a:xfrm>
              <a:prstGeom prst="rect">
                <a:avLst/>
              </a:prstGeom>
              <a:blipFill>
                <a:blip r:embed="rId2"/>
                <a:stretch>
                  <a:fillRect l="-1322" t="-6494" r="-1909" b="-1558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4E9B18-FA22-52BC-984A-22B7DD444C80}"/>
              </a:ext>
            </a:extLst>
          </p:cNvPr>
          <p:cNvCxnSpPr>
            <a:cxnSpLocks/>
          </p:cNvCxnSpPr>
          <p:nvPr/>
        </p:nvCxnSpPr>
        <p:spPr>
          <a:xfrm>
            <a:off x="890954" y="2250831"/>
            <a:ext cx="1047261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2905116-F25A-963C-FEA8-BB303CD7BF96}"/>
                  </a:ext>
                </a:extLst>
              </p:cNvPr>
              <p:cNvSpPr/>
              <p:nvPr/>
            </p:nvSpPr>
            <p:spPr>
              <a:xfrm>
                <a:off x="1566984" y="3425094"/>
                <a:ext cx="2454032" cy="186201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Assume there exists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approximation for the general TSP problem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2905116-F25A-963C-FEA8-BB303CD7B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984" y="3425094"/>
                <a:ext cx="2454032" cy="1862015"/>
              </a:xfrm>
              <a:prstGeom prst="rect">
                <a:avLst/>
              </a:prstGeom>
              <a:blipFill>
                <a:blip r:embed="rId3"/>
                <a:stretch>
                  <a:fillRect l="-1020" r="-204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A96BFF2A-C36F-6270-38D9-B5840BEC7661}"/>
              </a:ext>
            </a:extLst>
          </p:cNvPr>
          <p:cNvGrpSpPr/>
          <p:nvPr/>
        </p:nvGrpSpPr>
        <p:grpSpPr>
          <a:xfrm>
            <a:off x="5513756" y="2471764"/>
            <a:ext cx="5486401" cy="4057838"/>
            <a:chOff x="5662246" y="2471764"/>
            <a:chExt cx="5486401" cy="40578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6B3409-5CFF-73C5-415A-8F76FC09F52C}"/>
                </a:ext>
              </a:extLst>
            </p:cNvPr>
            <p:cNvSpPr/>
            <p:nvPr/>
          </p:nvSpPr>
          <p:spPr>
            <a:xfrm>
              <a:off x="5662246" y="2471764"/>
              <a:ext cx="5486401" cy="4057838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048AB26-BD26-5682-413E-913B44C5D71F}"/>
                </a:ext>
              </a:extLst>
            </p:cNvPr>
            <p:cNvSpPr/>
            <p:nvPr/>
          </p:nvSpPr>
          <p:spPr>
            <a:xfrm>
              <a:off x="5942797" y="3726082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49E95C3-F1CA-C8AB-6EE4-C27E89A6BB94}"/>
                </a:ext>
              </a:extLst>
            </p:cNvPr>
            <p:cNvSpPr/>
            <p:nvPr/>
          </p:nvSpPr>
          <p:spPr>
            <a:xfrm>
              <a:off x="6969840" y="4522538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v2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421DF76-32B6-7C8E-7CA3-C1EF53A5AEAF}"/>
                </a:ext>
              </a:extLst>
            </p:cNvPr>
            <p:cNvSpPr/>
            <p:nvPr/>
          </p:nvSpPr>
          <p:spPr>
            <a:xfrm>
              <a:off x="8995448" y="4738549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71AB7E9-9FE3-6CE5-7C0C-2B327BED9A7C}"/>
                </a:ext>
              </a:extLst>
            </p:cNvPr>
            <p:cNvSpPr/>
            <p:nvPr/>
          </p:nvSpPr>
          <p:spPr>
            <a:xfrm>
              <a:off x="10052044" y="3726082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v4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A431F2F-CCEC-E60D-A62F-E7BD55CDB150}"/>
                </a:ext>
              </a:extLst>
            </p:cNvPr>
            <p:cNvSpPr/>
            <p:nvPr/>
          </p:nvSpPr>
          <p:spPr>
            <a:xfrm>
              <a:off x="8884528" y="2615158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v5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7F8B940-98D8-35B0-D3C7-72DC8BC17F1C}"/>
                </a:ext>
              </a:extLst>
            </p:cNvPr>
            <p:cNvSpPr/>
            <p:nvPr/>
          </p:nvSpPr>
          <p:spPr>
            <a:xfrm>
              <a:off x="7164646" y="2637349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v6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E23D539-6963-3E7A-65A2-44B3A2DDD145}"/>
                </a:ext>
              </a:extLst>
            </p:cNvPr>
            <p:cNvSpPr/>
            <p:nvPr/>
          </p:nvSpPr>
          <p:spPr>
            <a:xfrm>
              <a:off x="7543658" y="5650922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FB6782B-E001-8C32-E068-4DE510BF037A}"/>
                </a:ext>
              </a:extLst>
            </p:cNvPr>
            <p:cNvSpPr/>
            <p:nvPr/>
          </p:nvSpPr>
          <p:spPr>
            <a:xfrm>
              <a:off x="8590330" y="5819348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8786EFA-A0B7-D80B-134B-DE12BD9D2E5B}"/>
                </a:ext>
              </a:extLst>
            </p:cNvPr>
            <p:cNvSpPr/>
            <p:nvPr/>
          </p:nvSpPr>
          <p:spPr>
            <a:xfrm>
              <a:off x="10432660" y="5027407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E2B940-1084-8C26-7D90-4E3E36B98E4D}"/>
                </a:ext>
              </a:extLst>
            </p:cNvPr>
            <p:cNvSpPr/>
            <p:nvPr/>
          </p:nvSpPr>
          <p:spPr>
            <a:xfrm>
              <a:off x="10175236" y="2569168"/>
              <a:ext cx="588396" cy="588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FEC002-CCAF-0935-851D-6644084B7082}"/>
                </a:ext>
              </a:extLst>
            </p:cNvPr>
            <p:cNvCxnSpPr>
              <a:stCxn id="15" idx="5"/>
              <a:endCxn id="16" idx="1"/>
            </p:cNvCxnSpPr>
            <p:nvPr/>
          </p:nvCxnSpPr>
          <p:spPr>
            <a:xfrm>
              <a:off x="6445024" y="4228309"/>
              <a:ext cx="610985" cy="380398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C078255-0D4F-E9EC-6609-0D87DEA41DD6}"/>
                </a:ext>
              </a:extLst>
            </p:cNvPr>
            <p:cNvCxnSpPr>
              <a:cxnSpLocks/>
              <a:stCxn id="19" idx="2"/>
              <a:endCxn id="20" idx="6"/>
            </p:cNvCxnSpPr>
            <p:nvPr/>
          </p:nvCxnSpPr>
          <p:spPr>
            <a:xfrm flipH="1">
              <a:off x="7753042" y="2909356"/>
              <a:ext cx="1131486" cy="22191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FAE7DA5-E4DB-FBC1-827F-0E0CF5992517}"/>
                </a:ext>
              </a:extLst>
            </p:cNvPr>
            <p:cNvCxnSpPr>
              <a:cxnSpLocks/>
              <a:stCxn id="20" idx="3"/>
              <a:endCxn id="15" idx="7"/>
            </p:cNvCxnSpPr>
            <p:nvPr/>
          </p:nvCxnSpPr>
          <p:spPr>
            <a:xfrm flipH="1">
              <a:off x="6445024" y="3139576"/>
              <a:ext cx="805791" cy="672675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1F739C2-834A-5F20-B72F-33A380A9A194}"/>
                </a:ext>
              </a:extLst>
            </p:cNvPr>
            <p:cNvCxnSpPr>
              <a:cxnSpLocks/>
              <a:stCxn id="16" idx="4"/>
              <a:endCxn id="21" idx="1"/>
            </p:cNvCxnSpPr>
            <p:nvPr/>
          </p:nvCxnSpPr>
          <p:spPr>
            <a:xfrm>
              <a:off x="7264038" y="5110934"/>
              <a:ext cx="365789" cy="626157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CA6A5C0-6DE4-6F92-DD1C-0DFC01B76642}"/>
                </a:ext>
              </a:extLst>
            </p:cNvPr>
            <p:cNvCxnSpPr>
              <a:cxnSpLocks/>
              <a:stCxn id="21" idx="6"/>
              <a:endCxn id="22" idx="2"/>
            </p:cNvCxnSpPr>
            <p:nvPr/>
          </p:nvCxnSpPr>
          <p:spPr>
            <a:xfrm>
              <a:off x="8132054" y="5945120"/>
              <a:ext cx="458276" cy="168426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51A677C-46E4-F132-4433-6A325FC5944E}"/>
                </a:ext>
              </a:extLst>
            </p:cNvPr>
            <p:cNvCxnSpPr>
              <a:cxnSpLocks/>
              <a:stCxn id="22" idx="0"/>
              <a:endCxn id="17" idx="4"/>
            </p:cNvCxnSpPr>
            <p:nvPr/>
          </p:nvCxnSpPr>
          <p:spPr>
            <a:xfrm flipV="1">
              <a:off x="8884528" y="5326945"/>
              <a:ext cx="405118" cy="492403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C50FD20-94F5-C8C9-C4B6-901AA973234F}"/>
                </a:ext>
              </a:extLst>
            </p:cNvPr>
            <p:cNvCxnSpPr>
              <a:cxnSpLocks/>
              <a:stCxn id="23" idx="2"/>
              <a:endCxn id="17" idx="6"/>
            </p:cNvCxnSpPr>
            <p:nvPr/>
          </p:nvCxnSpPr>
          <p:spPr>
            <a:xfrm flipH="1" flipV="1">
              <a:off x="9583844" y="5032747"/>
              <a:ext cx="848816" cy="288858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242FC01-20DC-7D8C-6307-195D80953632}"/>
                </a:ext>
              </a:extLst>
            </p:cNvPr>
            <p:cNvCxnSpPr>
              <a:cxnSpLocks/>
              <a:stCxn id="18" idx="4"/>
              <a:endCxn id="23" idx="0"/>
            </p:cNvCxnSpPr>
            <p:nvPr/>
          </p:nvCxnSpPr>
          <p:spPr>
            <a:xfrm>
              <a:off x="10346242" y="4314478"/>
              <a:ext cx="380616" cy="712929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E1B9EA5-2DD5-148C-6261-83625B460E1F}"/>
                </a:ext>
              </a:extLst>
            </p:cNvPr>
            <p:cNvCxnSpPr>
              <a:cxnSpLocks/>
              <a:stCxn id="24" idx="4"/>
              <a:endCxn id="18" idx="0"/>
            </p:cNvCxnSpPr>
            <p:nvPr/>
          </p:nvCxnSpPr>
          <p:spPr>
            <a:xfrm flipH="1">
              <a:off x="10346242" y="3157564"/>
              <a:ext cx="123192" cy="568518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7AB8966-F929-846C-9809-64F78E931F1B}"/>
                </a:ext>
              </a:extLst>
            </p:cNvPr>
            <p:cNvCxnSpPr>
              <a:cxnSpLocks/>
              <a:stCxn id="19" idx="6"/>
              <a:endCxn id="24" idx="2"/>
            </p:cNvCxnSpPr>
            <p:nvPr/>
          </p:nvCxnSpPr>
          <p:spPr>
            <a:xfrm flipV="1">
              <a:off x="9472924" y="2863366"/>
              <a:ext cx="702312" cy="45990"/>
            </a:xfrm>
            <a:prstGeom prst="line">
              <a:avLst/>
            </a:prstGeom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28B1A1A-0909-894A-69C0-E55253552FB6}"/>
                    </a:ext>
                  </a:extLst>
                </p:cNvPr>
                <p:cNvSpPr txBox="1"/>
                <p:nvPr/>
              </p:nvSpPr>
              <p:spPr>
                <a:xfrm>
                  <a:off x="7831195" y="3518876"/>
                  <a:ext cx="1425684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28B1A1A-0909-894A-69C0-E55253552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1195" y="3518876"/>
                  <a:ext cx="1425684" cy="923330"/>
                </a:xfrm>
                <a:prstGeom prst="rect">
                  <a:avLst/>
                </a:prstGeom>
                <a:blipFill>
                  <a:blip r:embed="rId4"/>
                  <a:stretch>
                    <a:fillRect r="-877" b="-54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15163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19A0-9407-A716-1FD7-5114EBC4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93EFBA-013E-585E-14D7-A9943F8E17F3}"/>
                  </a:ext>
                </a:extLst>
              </p:cNvPr>
              <p:cNvSpPr txBox="1"/>
              <p:nvPr/>
            </p:nvSpPr>
            <p:spPr>
              <a:xfrm>
                <a:off x="1780318" y="631438"/>
                <a:ext cx="8628185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 general TSP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approximatable if and only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93EFBA-013E-585E-14D7-A9943F8E1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18" y="631438"/>
                <a:ext cx="8628185" cy="954107"/>
              </a:xfrm>
              <a:prstGeom prst="rect">
                <a:avLst/>
              </a:prstGeom>
              <a:blipFill>
                <a:blip r:embed="rId2"/>
                <a:stretch>
                  <a:fillRect l="-1322" t="-6494" r="-1909" b="-1558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1D8DB-8206-12D2-712F-C96E4576759D}"/>
              </a:ext>
            </a:extLst>
          </p:cNvPr>
          <p:cNvCxnSpPr>
            <a:cxnSpLocks/>
          </p:cNvCxnSpPr>
          <p:nvPr/>
        </p:nvCxnSpPr>
        <p:spPr>
          <a:xfrm>
            <a:off x="890954" y="2250831"/>
            <a:ext cx="1047261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BB3DA-DCA1-149E-7B9C-B1EC02C2B501}"/>
              </a:ext>
            </a:extLst>
          </p:cNvPr>
          <p:cNvSpPr/>
          <p:nvPr/>
        </p:nvSpPr>
        <p:spPr>
          <a:xfrm>
            <a:off x="4868984" y="3425093"/>
            <a:ext cx="2454032" cy="1862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Choose / find a known NP-Complete Problem 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620B0E-CEA7-1DDB-AA29-5DE335DB39CB}"/>
              </a:ext>
            </a:extLst>
          </p:cNvPr>
          <p:cNvSpPr txBox="1"/>
          <p:nvPr/>
        </p:nvSpPr>
        <p:spPr>
          <a:xfrm>
            <a:off x="1398953" y="3617436"/>
            <a:ext cx="3266831" cy="147732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Hamiltonian Cycle</a:t>
            </a:r>
            <a:r>
              <a:rPr lang="en-US" dirty="0"/>
              <a:t>: Given a graph G, does there exist a path that starts at some vertex, visits every node exactly once, and returns to the original starting vertex?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279DA5B-D5F5-0AE3-AB02-2EED58B34E4A}"/>
              </a:ext>
            </a:extLst>
          </p:cNvPr>
          <p:cNvGrpSpPr/>
          <p:nvPr/>
        </p:nvGrpSpPr>
        <p:grpSpPr>
          <a:xfrm>
            <a:off x="7867280" y="2532461"/>
            <a:ext cx="3183673" cy="1977013"/>
            <a:chOff x="7921988" y="2446491"/>
            <a:chExt cx="3183673" cy="197701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70D1FCA-945D-8A15-49FC-E7A4DD083B81}"/>
                </a:ext>
              </a:extLst>
            </p:cNvPr>
            <p:cNvGrpSpPr/>
            <p:nvPr/>
          </p:nvGrpSpPr>
          <p:grpSpPr>
            <a:xfrm>
              <a:off x="8081107" y="2643826"/>
              <a:ext cx="2813540" cy="1374964"/>
              <a:chOff x="7682523" y="2703580"/>
              <a:chExt cx="2813540" cy="1374964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B8378913-4240-30A0-1102-E06CF88F72C2}"/>
                  </a:ext>
                </a:extLst>
              </p:cNvPr>
              <p:cNvSpPr/>
              <p:nvPr/>
            </p:nvSpPr>
            <p:spPr>
              <a:xfrm>
                <a:off x="7682523" y="2703580"/>
                <a:ext cx="461108" cy="46110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8B4F49E-C12C-5A53-EDEC-8BF8824E46AA}"/>
                  </a:ext>
                </a:extLst>
              </p:cNvPr>
              <p:cNvSpPr/>
              <p:nvPr/>
            </p:nvSpPr>
            <p:spPr>
              <a:xfrm>
                <a:off x="8858739" y="2703580"/>
                <a:ext cx="461108" cy="46110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06A784B-B15E-7095-E114-9A5DC7497084}"/>
                  </a:ext>
                </a:extLst>
              </p:cNvPr>
              <p:cNvSpPr/>
              <p:nvPr/>
            </p:nvSpPr>
            <p:spPr>
              <a:xfrm>
                <a:off x="10034955" y="2703580"/>
                <a:ext cx="461108" cy="46110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6DA7C6D-F63C-E6A1-B286-5BC275B6EF18}"/>
                  </a:ext>
                </a:extLst>
              </p:cNvPr>
              <p:cNvSpPr/>
              <p:nvPr/>
            </p:nvSpPr>
            <p:spPr>
              <a:xfrm>
                <a:off x="7682523" y="3617436"/>
                <a:ext cx="461108" cy="46110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40849AE-0F82-C168-B4D9-65DD8EAFF122}"/>
                  </a:ext>
                </a:extLst>
              </p:cNvPr>
              <p:cNvSpPr/>
              <p:nvPr/>
            </p:nvSpPr>
            <p:spPr>
              <a:xfrm>
                <a:off x="10034955" y="3617436"/>
                <a:ext cx="461108" cy="46110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79A0921-1FE3-F051-0A3A-5503086D081B}"/>
                  </a:ext>
                </a:extLst>
              </p:cNvPr>
              <p:cNvCxnSpPr>
                <a:stCxn id="3" idx="6"/>
                <a:endCxn id="4" idx="2"/>
              </p:cNvCxnSpPr>
              <p:nvPr/>
            </p:nvCxnSpPr>
            <p:spPr>
              <a:xfrm>
                <a:off x="8143631" y="2934134"/>
                <a:ext cx="71510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343D60C-BF7A-73D2-52E9-EC26DC1C60CA}"/>
                  </a:ext>
                </a:extLst>
              </p:cNvPr>
              <p:cNvCxnSpPr>
                <a:cxnSpLocks/>
                <a:stCxn id="4" idx="6"/>
                <a:endCxn id="6" idx="2"/>
              </p:cNvCxnSpPr>
              <p:nvPr/>
            </p:nvCxnSpPr>
            <p:spPr>
              <a:xfrm>
                <a:off x="9319847" y="2934134"/>
                <a:ext cx="71510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3988AC8-AFEA-5F6A-89AF-40DBF0104A69}"/>
                  </a:ext>
                </a:extLst>
              </p:cNvPr>
              <p:cNvCxnSpPr>
                <a:cxnSpLocks/>
                <a:stCxn id="6" idx="4"/>
                <a:endCxn id="15" idx="0"/>
              </p:cNvCxnSpPr>
              <p:nvPr/>
            </p:nvCxnSpPr>
            <p:spPr>
              <a:xfrm>
                <a:off x="10265509" y="3164688"/>
                <a:ext cx="0" cy="452748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CD80B8B-639E-11E4-565A-BC343AB2787A}"/>
                  </a:ext>
                </a:extLst>
              </p:cNvPr>
              <p:cNvCxnSpPr>
                <a:cxnSpLocks/>
                <a:stCxn id="4" idx="5"/>
                <a:endCxn id="15" idx="1"/>
              </p:cNvCxnSpPr>
              <p:nvPr/>
            </p:nvCxnSpPr>
            <p:spPr>
              <a:xfrm>
                <a:off x="9252319" y="3097160"/>
                <a:ext cx="850164" cy="587804"/>
              </a:xfrm>
              <a:prstGeom prst="line">
                <a:avLst/>
              </a:prstGeom>
              <a:ln w="25400"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AB62C61-B55B-FF3A-3FEA-BF41DAF48CE4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>
                <a:off x="8143631" y="3847990"/>
                <a:ext cx="1891324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878711D-5D75-2AFD-B1C2-8370A09DA794}"/>
                  </a:ext>
                </a:extLst>
              </p:cNvPr>
              <p:cNvCxnSpPr>
                <a:cxnSpLocks/>
                <a:stCxn id="8" idx="7"/>
                <a:endCxn id="4" idx="3"/>
              </p:cNvCxnSpPr>
              <p:nvPr/>
            </p:nvCxnSpPr>
            <p:spPr>
              <a:xfrm flipV="1">
                <a:off x="8076103" y="3097160"/>
                <a:ext cx="850164" cy="587804"/>
              </a:xfrm>
              <a:prstGeom prst="line">
                <a:avLst/>
              </a:prstGeom>
              <a:ln w="25400"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B9A7C1E-0E35-9EDD-AE50-DF5D74F83CD0}"/>
                  </a:ext>
                </a:extLst>
              </p:cNvPr>
              <p:cNvCxnSpPr>
                <a:cxnSpLocks/>
                <a:stCxn id="8" idx="0"/>
                <a:endCxn id="3" idx="4"/>
              </p:cNvCxnSpPr>
              <p:nvPr/>
            </p:nvCxnSpPr>
            <p:spPr>
              <a:xfrm flipV="1">
                <a:off x="7913077" y="3164688"/>
                <a:ext cx="0" cy="452748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89024D4-96E5-5B83-F152-514A398D9EB4}"/>
                </a:ext>
              </a:extLst>
            </p:cNvPr>
            <p:cNvSpPr/>
            <p:nvPr/>
          </p:nvSpPr>
          <p:spPr>
            <a:xfrm>
              <a:off x="7921988" y="2446491"/>
              <a:ext cx="3183673" cy="1977013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A674D08-12D4-5E71-04E1-C3081B2B918E}"/>
                </a:ext>
              </a:extLst>
            </p:cNvPr>
            <p:cNvSpPr txBox="1"/>
            <p:nvPr/>
          </p:nvSpPr>
          <p:spPr>
            <a:xfrm>
              <a:off x="9346264" y="4029783"/>
              <a:ext cx="115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Cycle: Yes!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11FE625-A2F7-A501-154E-51EE8CFCA479}"/>
              </a:ext>
            </a:extLst>
          </p:cNvPr>
          <p:cNvGrpSpPr/>
          <p:nvPr/>
        </p:nvGrpSpPr>
        <p:grpSpPr>
          <a:xfrm>
            <a:off x="7867279" y="4672499"/>
            <a:ext cx="3183673" cy="1977013"/>
            <a:chOff x="7921988" y="2446491"/>
            <a:chExt cx="3183673" cy="197701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322C83D-F21A-E72B-3C6B-71BBA10905D3}"/>
                </a:ext>
              </a:extLst>
            </p:cNvPr>
            <p:cNvGrpSpPr/>
            <p:nvPr/>
          </p:nvGrpSpPr>
          <p:grpSpPr>
            <a:xfrm>
              <a:off x="8081107" y="2643826"/>
              <a:ext cx="2813540" cy="1374964"/>
              <a:chOff x="7682523" y="2703580"/>
              <a:chExt cx="2813540" cy="1374964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2ED7A07-273B-807E-D468-EF16F5C7CA21}"/>
                  </a:ext>
                </a:extLst>
              </p:cNvPr>
              <p:cNvSpPr/>
              <p:nvPr/>
            </p:nvSpPr>
            <p:spPr>
              <a:xfrm>
                <a:off x="7682523" y="2703580"/>
                <a:ext cx="461108" cy="46110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E2667A-A6E7-8D36-CF5B-017C31D84497}"/>
                  </a:ext>
                </a:extLst>
              </p:cNvPr>
              <p:cNvSpPr/>
              <p:nvPr/>
            </p:nvSpPr>
            <p:spPr>
              <a:xfrm>
                <a:off x="8858739" y="2703580"/>
                <a:ext cx="461108" cy="46110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7A8A49B-4315-1B99-7079-88B5329CC5D1}"/>
                  </a:ext>
                </a:extLst>
              </p:cNvPr>
              <p:cNvSpPr/>
              <p:nvPr/>
            </p:nvSpPr>
            <p:spPr>
              <a:xfrm>
                <a:off x="10034955" y="2703580"/>
                <a:ext cx="461108" cy="46110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541382F-554C-60B1-DA48-1190969FE149}"/>
                  </a:ext>
                </a:extLst>
              </p:cNvPr>
              <p:cNvSpPr/>
              <p:nvPr/>
            </p:nvSpPr>
            <p:spPr>
              <a:xfrm>
                <a:off x="7682523" y="3617436"/>
                <a:ext cx="461108" cy="46110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1012B4A-10FE-A96F-FC9E-EDBA48FB9BB9}"/>
                  </a:ext>
                </a:extLst>
              </p:cNvPr>
              <p:cNvSpPr/>
              <p:nvPr/>
            </p:nvSpPr>
            <p:spPr>
              <a:xfrm>
                <a:off x="10034955" y="3617436"/>
                <a:ext cx="461108" cy="46110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42CDEA3-3822-EF6F-8286-DBBA12397349}"/>
                  </a:ext>
                </a:extLst>
              </p:cNvPr>
              <p:cNvCxnSpPr>
                <a:stCxn id="46" idx="6"/>
                <a:endCxn id="47" idx="2"/>
              </p:cNvCxnSpPr>
              <p:nvPr/>
            </p:nvCxnSpPr>
            <p:spPr>
              <a:xfrm>
                <a:off x="8143631" y="2934134"/>
                <a:ext cx="715108" cy="0"/>
              </a:xfrm>
              <a:prstGeom prst="line">
                <a:avLst/>
              </a:prstGeom>
              <a:ln w="25400"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D00CBB5-EB18-A06E-E938-F37AECEDA3BC}"/>
                  </a:ext>
                </a:extLst>
              </p:cNvPr>
              <p:cNvCxnSpPr>
                <a:cxnSpLocks/>
                <a:stCxn id="47" idx="6"/>
                <a:endCxn id="48" idx="2"/>
              </p:cNvCxnSpPr>
              <p:nvPr/>
            </p:nvCxnSpPr>
            <p:spPr>
              <a:xfrm>
                <a:off x="9319847" y="2934134"/>
                <a:ext cx="715108" cy="0"/>
              </a:xfrm>
              <a:prstGeom prst="line">
                <a:avLst/>
              </a:prstGeom>
              <a:ln w="254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3BA7EFB-F8C0-3D61-60A9-9542D5AE6E38}"/>
                  </a:ext>
                </a:extLst>
              </p:cNvPr>
              <p:cNvCxnSpPr>
                <a:cxnSpLocks/>
                <a:stCxn id="48" idx="4"/>
                <a:endCxn id="50" idx="0"/>
              </p:cNvCxnSpPr>
              <p:nvPr/>
            </p:nvCxnSpPr>
            <p:spPr>
              <a:xfrm>
                <a:off x="10265509" y="3164688"/>
                <a:ext cx="0" cy="452748"/>
              </a:xfrm>
              <a:prstGeom prst="line">
                <a:avLst/>
              </a:prstGeom>
              <a:ln w="25400"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7D41369-D212-812F-D262-CB2AEB41BFD0}"/>
                  </a:ext>
                </a:extLst>
              </p:cNvPr>
              <p:cNvCxnSpPr>
                <a:cxnSpLocks/>
                <a:stCxn id="47" idx="5"/>
                <a:endCxn id="50" idx="1"/>
              </p:cNvCxnSpPr>
              <p:nvPr/>
            </p:nvCxnSpPr>
            <p:spPr>
              <a:xfrm>
                <a:off x="9252319" y="3097160"/>
                <a:ext cx="850164" cy="587804"/>
              </a:xfrm>
              <a:prstGeom prst="line">
                <a:avLst/>
              </a:prstGeom>
              <a:ln w="25400">
                <a:solidFill>
                  <a:schemeClr val="tx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9EAE057-E806-9961-ED93-C7D2CEF26704}"/>
                  </a:ext>
                </a:extLst>
              </p:cNvPr>
              <p:cNvCxnSpPr>
                <a:cxnSpLocks/>
                <a:stCxn id="49" idx="7"/>
                <a:endCxn id="47" idx="3"/>
              </p:cNvCxnSpPr>
              <p:nvPr/>
            </p:nvCxnSpPr>
            <p:spPr>
              <a:xfrm flipV="1">
                <a:off x="8076103" y="3097160"/>
                <a:ext cx="850164" cy="587804"/>
              </a:xfrm>
              <a:prstGeom prst="line">
                <a:avLst/>
              </a:prstGeom>
              <a:ln w="254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8912F01D-1195-455E-CA85-85DBCEF3C5FE}"/>
                  </a:ext>
                </a:extLst>
              </p:cNvPr>
              <p:cNvCxnSpPr>
                <a:cxnSpLocks/>
                <a:stCxn id="49" idx="0"/>
                <a:endCxn id="46" idx="4"/>
              </p:cNvCxnSpPr>
              <p:nvPr/>
            </p:nvCxnSpPr>
            <p:spPr>
              <a:xfrm flipV="1">
                <a:off x="7913077" y="3164688"/>
                <a:ext cx="0" cy="452748"/>
              </a:xfrm>
              <a:prstGeom prst="line">
                <a:avLst/>
              </a:prstGeom>
              <a:ln w="254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F16BA11-4A7E-7377-9FCE-B7EC95D5D1BF}"/>
                </a:ext>
              </a:extLst>
            </p:cNvPr>
            <p:cNvSpPr/>
            <p:nvPr/>
          </p:nvSpPr>
          <p:spPr>
            <a:xfrm>
              <a:off x="7921988" y="2446491"/>
              <a:ext cx="3183673" cy="1977013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F11219B-320E-3C60-0E8A-877ED45E1736}"/>
                </a:ext>
              </a:extLst>
            </p:cNvPr>
            <p:cNvSpPr txBox="1"/>
            <p:nvPr/>
          </p:nvSpPr>
          <p:spPr>
            <a:xfrm>
              <a:off x="8119250" y="4029783"/>
              <a:ext cx="2972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Cycle: No (one attempt shown)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7485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6D0E4-F115-704F-5741-712308E8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F2B476-811E-A0C4-F87D-4E4A6BDA1BFB}"/>
                  </a:ext>
                </a:extLst>
              </p:cNvPr>
              <p:cNvSpPr txBox="1"/>
              <p:nvPr/>
            </p:nvSpPr>
            <p:spPr>
              <a:xfrm>
                <a:off x="1780318" y="631438"/>
                <a:ext cx="8628185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 general TSP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approximatable if and only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F2B476-811E-A0C4-F87D-4E4A6BDA1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18" y="631438"/>
                <a:ext cx="8628185" cy="954107"/>
              </a:xfrm>
              <a:prstGeom prst="rect">
                <a:avLst/>
              </a:prstGeom>
              <a:blipFill>
                <a:blip r:embed="rId2"/>
                <a:stretch>
                  <a:fillRect l="-1322" t="-6494" r="-1909" b="-1558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59BC8B-5280-1778-A46F-E7875E839E19}"/>
              </a:ext>
            </a:extLst>
          </p:cNvPr>
          <p:cNvCxnSpPr>
            <a:cxnSpLocks/>
          </p:cNvCxnSpPr>
          <p:nvPr/>
        </p:nvCxnSpPr>
        <p:spPr>
          <a:xfrm>
            <a:off x="890954" y="2250831"/>
            <a:ext cx="1047261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E27E30-D475-692A-0483-087F30131D0C}"/>
                  </a:ext>
                </a:extLst>
              </p:cNvPr>
              <p:cNvSpPr/>
              <p:nvPr/>
            </p:nvSpPr>
            <p:spPr>
              <a:xfrm>
                <a:off x="8170984" y="3425092"/>
                <a:ext cx="2454032" cy="186201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Show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HC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𝐴𝑇𝑆𝑃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: that an approximation to TSP (ATSP) can be used to solve K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E27E30-D475-692A-0483-087F30131D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984" y="3425092"/>
                <a:ext cx="2454032" cy="1862015"/>
              </a:xfrm>
              <a:prstGeom prst="rect">
                <a:avLst/>
              </a:prstGeom>
              <a:blipFill>
                <a:blip r:embed="rId3"/>
                <a:stretch>
                  <a:fillRect l="-1531" r="-408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EF73995-C029-0E94-C5E5-A50F644FA71E}"/>
                  </a:ext>
                </a:extLst>
              </p:cNvPr>
              <p:cNvSpPr txBox="1"/>
              <p:nvPr/>
            </p:nvSpPr>
            <p:spPr>
              <a:xfrm>
                <a:off x="3548186" y="3340436"/>
                <a:ext cx="3735754" cy="2031325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Approach: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Given an instance of Hamiltonian Cycle (HC), construct a graph that has a Hamiltonian Cycle if and only if that graph is </a:t>
                </a:r>
                <a:r>
                  <a:rPr lang="en-US" dirty="0" err="1"/>
                  <a:t>approximatable</a:t>
                </a:r>
                <a:r>
                  <a:rPr lang="en-US" dirty="0"/>
                  <a:t> within a factor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EF73995-C029-0E94-C5E5-A50F644FA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186" y="3340436"/>
                <a:ext cx="3735754" cy="2031325"/>
              </a:xfrm>
              <a:prstGeom prst="rect">
                <a:avLst/>
              </a:prstGeom>
              <a:blipFill>
                <a:blip r:embed="rId4"/>
                <a:stretch>
                  <a:fillRect l="-1010" t="-617" r="-1010" b="-4321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4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92FA-850B-C9BC-F546-814D3316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9C757A-0514-414A-1CFD-3D39397E8E2D}"/>
                  </a:ext>
                </a:extLst>
              </p:cNvPr>
              <p:cNvSpPr txBox="1"/>
              <p:nvPr/>
            </p:nvSpPr>
            <p:spPr>
              <a:xfrm>
                <a:off x="1780318" y="264115"/>
                <a:ext cx="8628185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 general TSP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approximatable if and only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9C757A-0514-414A-1CFD-3D39397E8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18" y="264115"/>
                <a:ext cx="8628185" cy="954107"/>
              </a:xfrm>
              <a:prstGeom prst="rect">
                <a:avLst/>
              </a:prstGeom>
              <a:blipFill>
                <a:blip r:embed="rId2"/>
                <a:stretch>
                  <a:fillRect l="-1322" t="-6494" r="-1909" b="-1558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403425-6C1F-8A4D-1EFC-39A126225160}"/>
              </a:ext>
            </a:extLst>
          </p:cNvPr>
          <p:cNvCxnSpPr>
            <a:cxnSpLocks/>
          </p:cNvCxnSpPr>
          <p:nvPr/>
        </p:nvCxnSpPr>
        <p:spPr>
          <a:xfrm>
            <a:off x="890954" y="1352064"/>
            <a:ext cx="1047261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1C30040-B145-8F96-A4A2-6643B3BC8648}"/>
                  </a:ext>
                </a:extLst>
              </p:cNvPr>
              <p:cNvSpPr/>
              <p:nvPr/>
            </p:nvSpPr>
            <p:spPr>
              <a:xfrm>
                <a:off x="4867394" y="1455619"/>
                <a:ext cx="2454032" cy="50604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Show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HC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𝐴𝑇𝑆𝑃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1C30040-B145-8F96-A4A2-6643B3BC8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394" y="1455619"/>
                <a:ext cx="2454032" cy="5060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FD5A14E-33AC-C970-6B84-70501F475893}"/>
              </a:ext>
            </a:extLst>
          </p:cNvPr>
          <p:cNvGrpSpPr/>
          <p:nvPr/>
        </p:nvGrpSpPr>
        <p:grpSpPr>
          <a:xfrm>
            <a:off x="1506779" y="2377979"/>
            <a:ext cx="5486401" cy="4057838"/>
            <a:chOff x="3351209" y="2432687"/>
            <a:chExt cx="5486401" cy="40578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2FAEBFB-2344-9C1A-8A75-A76D117274F3}"/>
                </a:ext>
              </a:extLst>
            </p:cNvPr>
            <p:cNvSpPr/>
            <p:nvPr/>
          </p:nvSpPr>
          <p:spPr>
            <a:xfrm>
              <a:off x="3351209" y="2432687"/>
              <a:ext cx="5486401" cy="4057838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AA37996-9601-42D9-A398-B45961F39E83}"/>
                </a:ext>
              </a:extLst>
            </p:cNvPr>
            <p:cNvSpPr/>
            <p:nvPr/>
          </p:nvSpPr>
          <p:spPr>
            <a:xfrm>
              <a:off x="3631760" y="3687005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3A58E1F-D4C8-31E1-74B9-F8F442CC23A7}"/>
                </a:ext>
              </a:extLst>
            </p:cNvPr>
            <p:cNvSpPr/>
            <p:nvPr/>
          </p:nvSpPr>
          <p:spPr>
            <a:xfrm>
              <a:off x="4658803" y="448346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F586F6C-2864-8144-DDCE-192548F47C50}"/>
                </a:ext>
              </a:extLst>
            </p:cNvPr>
            <p:cNvSpPr/>
            <p:nvPr/>
          </p:nvSpPr>
          <p:spPr>
            <a:xfrm>
              <a:off x="6684411" y="4699472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0F24344-523F-80F2-2A3D-28A46330B4A0}"/>
                </a:ext>
              </a:extLst>
            </p:cNvPr>
            <p:cNvSpPr/>
            <p:nvPr/>
          </p:nvSpPr>
          <p:spPr>
            <a:xfrm>
              <a:off x="7741007" y="3687005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C85D093-05CA-9085-7785-8BACF31383DF}"/>
                </a:ext>
              </a:extLst>
            </p:cNvPr>
            <p:cNvSpPr/>
            <p:nvPr/>
          </p:nvSpPr>
          <p:spPr>
            <a:xfrm>
              <a:off x="6573491" y="257608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v9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43D702-089E-D8D9-7188-24D2F2568E3B}"/>
                </a:ext>
              </a:extLst>
            </p:cNvPr>
            <p:cNvSpPr/>
            <p:nvPr/>
          </p:nvSpPr>
          <p:spPr>
            <a:xfrm>
              <a:off x="4853609" y="2598272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v2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27E4EC8-C8BF-A3BF-949E-12DEDD012A35}"/>
                </a:ext>
              </a:extLst>
            </p:cNvPr>
            <p:cNvSpPr/>
            <p:nvPr/>
          </p:nvSpPr>
          <p:spPr>
            <a:xfrm>
              <a:off x="5232621" y="5611845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v4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56980C9-9707-7D50-F58D-0385160C6EC3}"/>
                </a:ext>
              </a:extLst>
            </p:cNvPr>
            <p:cNvSpPr/>
            <p:nvPr/>
          </p:nvSpPr>
          <p:spPr>
            <a:xfrm>
              <a:off x="6279293" y="578027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v5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EF601EF-4F51-227B-3D4C-5332AD538897}"/>
                </a:ext>
              </a:extLst>
            </p:cNvPr>
            <p:cNvSpPr/>
            <p:nvPr/>
          </p:nvSpPr>
          <p:spPr>
            <a:xfrm>
              <a:off x="8121623" y="4988330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v7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DC7E901-6812-0235-33C7-9A4BB367C9ED}"/>
                </a:ext>
              </a:extLst>
            </p:cNvPr>
            <p:cNvSpPr/>
            <p:nvPr/>
          </p:nvSpPr>
          <p:spPr>
            <a:xfrm>
              <a:off x="7864198" y="2530091"/>
              <a:ext cx="800089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v10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7D57ECE-2878-3285-29E0-ABB16BFE68EE}"/>
                </a:ext>
              </a:extLst>
            </p:cNvPr>
            <p:cNvCxnSpPr>
              <a:stCxn id="6" idx="5"/>
              <a:endCxn id="8" idx="1"/>
            </p:cNvCxnSpPr>
            <p:nvPr/>
          </p:nvCxnSpPr>
          <p:spPr>
            <a:xfrm>
              <a:off x="4133987" y="4189232"/>
              <a:ext cx="610985" cy="380398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7973DEA-DEFD-2506-BD29-93F27F76CAFB}"/>
                </a:ext>
              </a:extLst>
            </p:cNvPr>
            <p:cNvCxnSpPr>
              <a:cxnSpLocks/>
              <a:stCxn id="15" idx="1"/>
              <a:endCxn id="13" idx="5"/>
            </p:cNvCxnSpPr>
            <p:nvPr/>
          </p:nvCxnSpPr>
          <p:spPr>
            <a:xfrm flipH="1" flipV="1">
              <a:off x="5355836" y="3100499"/>
              <a:ext cx="1009626" cy="2765941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19F693E-23C6-1EC5-E55F-55660A20DA55}"/>
                </a:ext>
              </a:extLst>
            </p:cNvPr>
            <p:cNvCxnSpPr>
              <a:cxnSpLocks/>
              <a:stCxn id="13" idx="3"/>
              <a:endCxn id="6" idx="7"/>
            </p:cNvCxnSpPr>
            <p:nvPr/>
          </p:nvCxnSpPr>
          <p:spPr>
            <a:xfrm flipH="1">
              <a:off x="4133987" y="3100499"/>
              <a:ext cx="805791" cy="672675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8D20D-03D4-D8C7-7403-7D1AD05B3547}"/>
                </a:ext>
              </a:extLst>
            </p:cNvPr>
            <p:cNvCxnSpPr>
              <a:cxnSpLocks/>
              <a:stCxn id="8" idx="4"/>
              <a:endCxn id="14" idx="1"/>
            </p:cNvCxnSpPr>
            <p:nvPr/>
          </p:nvCxnSpPr>
          <p:spPr>
            <a:xfrm>
              <a:off x="4953001" y="5071857"/>
              <a:ext cx="365789" cy="626157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B246195-83BE-BBC9-9D0E-B736E37667D3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5821017" y="5906043"/>
              <a:ext cx="458276" cy="168426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CDFBA3C-BDD6-73BF-5251-48C46F46E4D2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V="1">
              <a:off x="6573491" y="5287868"/>
              <a:ext cx="405118" cy="492403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21B204-0AC9-D548-EAD4-70130602E954}"/>
                </a:ext>
              </a:extLst>
            </p:cNvPr>
            <p:cNvCxnSpPr>
              <a:cxnSpLocks/>
              <a:stCxn id="16" idx="2"/>
              <a:endCxn id="9" idx="6"/>
            </p:cNvCxnSpPr>
            <p:nvPr/>
          </p:nvCxnSpPr>
          <p:spPr>
            <a:xfrm flipH="1" flipV="1">
              <a:off x="7272807" y="4993670"/>
              <a:ext cx="848816" cy="288858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5AB6B8F-DAFB-3F4F-542D-ADCD05E64442}"/>
                </a:ext>
              </a:extLst>
            </p:cNvPr>
            <p:cNvCxnSpPr>
              <a:cxnSpLocks/>
              <a:stCxn id="10" idx="3"/>
              <a:endCxn id="9" idx="7"/>
            </p:cNvCxnSpPr>
            <p:nvPr/>
          </p:nvCxnSpPr>
          <p:spPr>
            <a:xfrm flipH="1">
              <a:off x="7186638" y="4189232"/>
              <a:ext cx="640538" cy="596409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63EB94-AEE6-37A4-25A6-25C83F627890}"/>
                </a:ext>
              </a:extLst>
            </p:cNvPr>
            <p:cNvCxnSpPr>
              <a:cxnSpLocks/>
              <a:stCxn id="17" idx="4"/>
              <a:endCxn id="10" idx="0"/>
            </p:cNvCxnSpPr>
            <p:nvPr/>
          </p:nvCxnSpPr>
          <p:spPr>
            <a:xfrm flipH="1">
              <a:off x="8035205" y="3118487"/>
              <a:ext cx="229038" cy="568518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88A3671-7AC3-C472-C5D8-9B8E9AC103E9}"/>
                </a:ext>
              </a:extLst>
            </p:cNvPr>
            <p:cNvCxnSpPr>
              <a:cxnSpLocks/>
              <a:stCxn id="11" idx="6"/>
              <a:endCxn id="17" idx="2"/>
            </p:cNvCxnSpPr>
            <p:nvPr/>
          </p:nvCxnSpPr>
          <p:spPr>
            <a:xfrm flipV="1">
              <a:off x="7161887" y="2824289"/>
              <a:ext cx="702311" cy="45990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CFA8331-1260-2F70-7879-EAE78AC3B92A}"/>
                </a:ext>
              </a:extLst>
            </p:cNvPr>
            <p:cNvCxnSpPr>
              <a:cxnSpLocks/>
              <a:stCxn id="11" idx="5"/>
              <a:endCxn id="10" idx="1"/>
            </p:cNvCxnSpPr>
            <p:nvPr/>
          </p:nvCxnSpPr>
          <p:spPr>
            <a:xfrm>
              <a:off x="7075718" y="3078308"/>
              <a:ext cx="751458" cy="694866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728E8B-B01F-2FCC-E547-C176DEA27400}"/>
                </a:ext>
              </a:extLst>
            </p:cNvPr>
            <p:cNvCxnSpPr>
              <a:cxnSpLocks/>
              <a:stCxn id="16" idx="3"/>
              <a:endCxn id="15" idx="6"/>
            </p:cNvCxnSpPr>
            <p:nvPr/>
          </p:nvCxnSpPr>
          <p:spPr>
            <a:xfrm flipH="1">
              <a:off x="6867689" y="5490557"/>
              <a:ext cx="1340103" cy="583912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A6606A4-4CED-A024-CB1E-BD85844DA53D}"/>
              </a:ext>
            </a:extLst>
          </p:cNvPr>
          <p:cNvSpPr txBox="1"/>
          <p:nvPr/>
        </p:nvSpPr>
        <p:spPr>
          <a:xfrm>
            <a:off x="7321426" y="2570397"/>
            <a:ext cx="4042143" cy="92333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are given a graph G, for which we want to find a Hamiltonian cycle. Note the answer to this one is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51B946-D751-618D-9090-6596B2CD5CA6}"/>
                  </a:ext>
                </a:extLst>
              </p:cNvPr>
              <p:cNvSpPr txBox="1"/>
              <p:nvPr/>
            </p:nvSpPr>
            <p:spPr>
              <a:xfrm>
                <a:off x="7321425" y="4053257"/>
                <a:ext cx="4042143" cy="92333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Our target TSP tour cost is going to be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, this means each edge incurred exactly cost 1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D51B946-D751-618D-9090-6596B2CD5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425" y="4053257"/>
                <a:ext cx="4042143" cy="923330"/>
              </a:xfrm>
              <a:prstGeom prst="rect">
                <a:avLst/>
              </a:prstGeom>
              <a:blipFill>
                <a:blip r:embed="rId4"/>
                <a:stretch>
                  <a:fillRect l="-1250" t="-2667" b="-8000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0015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394A-3210-5EDF-F548-74A84093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A0E64A-81B1-371C-B5CE-6D77F920EE59}"/>
                  </a:ext>
                </a:extLst>
              </p:cNvPr>
              <p:cNvSpPr txBox="1"/>
              <p:nvPr/>
            </p:nvSpPr>
            <p:spPr>
              <a:xfrm>
                <a:off x="1780318" y="264115"/>
                <a:ext cx="8628185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 general TSP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approximatable if and only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A0E64A-81B1-371C-B5CE-6D77F920E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18" y="264115"/>
                <a:ext cx="8628185" cy="954107"/>
              </a:xfrm>
              <a:prstGeom prst="rect">
                <a:avLst/>
              </a:prstGeom>
              <a:blipFill>
                <a:blip r:embed="rId2"/>
                <a:stretch>
                  <a:fillRect l="-1322" t="-6494" r="-1909" b="-1558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2BBE44-C017-3D91-C2BA-3739B02CA3DF}"/>
              </a:ext>
            </a:extLst>
          </p:cNvPr>
          <p:cNvCxnSpPr>
            <a:cxnSpLocks/>
          </p:cNvCxnSpPr>
          <p:nvPr/>
        </p:nvCxnSpPr>
        <p:spPr>
          <a:xfrm>
            <a:off x="890954" y="1352064"/>
            <a:ext cx="1047261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5E897B-3DE8-5FDD-B1E1-D78A638CF549}"/>
              </a:ext>
            </a:extLst>
          </p:cNvPr>
          <p:cNvGrpSpPr/>
          <p:nvPr/>
        </p:nvGrpSpPr>
        <p:grpSpPr>
          <a:xfrm>
            <a:off x="287586" y="2424869"/>
            <a:ext cx="5486401" cy="4057838"/>
            <a:chOff x="3351209" y="2432687"/>
            <a:chExt cx="5486401" cy="40578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FA8FC6-825A-9A6E-0A0D-F7069A125872}"/>
                </a:ext>
              </a:extLst>
            </p:cNvPr>
            <p:cNvSpPr/>
            <p:nvPr/>
          </p:nvSpPr>
          <p:spPr>
            <a:xfrm>
              <a:off x="3351209" y="2432687"/>
              <a:ext cx="5486401" cy="4057838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1AA0B2-863D-7A2A-532A-2FEC7CC90026}"/>
                </a:ext>
              </a:extLst>
            </p:cNvPr>
            <p:cNvSpPr/>
            <p:nvPr/>
          </p:nvSpPr>
          <p:spPr>
            <a:xfrm>
              <a:off x="3631760" y="3687005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3892278-AC27-80BD-4EFC-64E5F73FA242}"/>
                </a:ext>
              </a:extLst>
            </p:cNvPr>
            <p:cNvSpPr/>
            <p:nvPr/>
          </p:nvSpPr>
          <p:spPr>
            <a:xfrm>
              <a:off x="4658803" y="448346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490C4E5-6105-F708-52EA-80CC5A4ED805}"/>
                </a:ext>
              </a:extLst>
            </p:cNvPr>
            <p:cNvSpPr/>
            <p:nvPr/>
          </p:nvSpPr>
          <p:spPr>
            <a:xfrm>
              <a:off x="6684411" y="4699472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C02CEE6-C0E2-0AD5-4D51-2501CAD3C76F}"/>
                </a:ext>
              </a:extLst>
            </p:cNvPr>
            <p:cNvSpPr/>
            <p:nvPr/>
          </p:nvSpPr>
          <p:spPr>
            <a:xfrm>
              <a:off x="7741007" y="3687005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282248E-A9AB-8332-AB4D-F1D92FB9FED8}"/>
                </a:ext>
              </a:extLst>
            </p:cNvPr>
            <p:cNvSpPr/>
            <p:nvPr/>
          </p:nvSpPr>
          <p:spPr>
            <a:xfrm>
              <a:off x="6573491" y="257608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v9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ADE8BA8-1E58-026A-03C8-198AB43F933E}"/>
                </a:ext>
              </a:extLst>
            </p:cNvPr>
            <p:cNvSpPr/>
            <p:nvPr/>
          </p:nvSpPr>
          <p:spPr>
            <a:xfrm>
              <a:off x="4853609" y="2598272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v2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A3702D-AD5F-5337-F89B-647F3D85B4A7}"/>
                </a:ext>
              </a:extLst>
            </p:cNvPr>
            <p:cNvSpPr/>
            <p:nvPr/>
          </p:nvSpPr>
          <p:spPr>
            <a:xfrm>
              <a:off x="5232621" y="5611845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v4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589F9CC-8979-20D5-82AF-E83E41990444}"/>
                </a:ext>
              </a:extLst>
            </p:cNvPr>
            <p:cNvSpPr/>
            <p:nvPr/>
          </p:nvSpPr>
          <p:spPr>
            <a:xfrm>
              <a:off x="6279293" y="578027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v5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BE54F33-EC6B-E0BC-1E35-16DB0E5AF7E9}"/>
                </a:ext>
              </a:extLst>
            </p:cNvPr>
            <p:cNvSpPr/>
            <p:nvPr/>
          </p:nvSpPr>
          <p:spPr>
            <a:xfrm>
              <a:off x="8121623" y="4988330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v7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A6A9F78-C947-A4F6-F281-50B412FBDA06}"/>
                </a:ext>
              </a:extLst>
            </p:cNvPr>
            <p:cNvSpPr/>
            <p:nvPr/>
          </p:nvSpPr>
          <p:spPr>
            <a:xfrm>
              <a:off x="7864198" y="2530091"/>
              <a:ext cx="800089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v10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0F8777-0798-2B44-E341-6CE8E945494D}"/>
                </a:ext>
              </a:extLst>
            </p:cNvPr>
            <p:cNvCxnSpPr>
              <a:stCxn id="6" idx="5"/>
              <a:endCxn id="8" idx="1"/>
            </p:cNvCxnSpPr>
            <p:nvPr/>
          </p:nvCxnSpPr>
          <p:spPr>
            <a:xfrm>
              <a:off x="4133987" y="4189232"/>
              <a:ext cx="610985" cy="380398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BF35E4-3BC2-685E-A138-308AE029620C}"/>
                </a:ext>
              </a:extLst>
            </p:cNvPr>
            <p:cNvCxnSpPr>
              <a:cxnSpLocks/>
              <a:stCxn id="15" idx="1"/>
              <a:endCxn id="13" idx="5"/>
            </p:cNvCxnSpPr>
            <p:nvPr/>
          </p:nvCxnSpPr>
          <p:spPr>
            <a:xfrm flipH="1" flipV="1">
              <a:off x="5355836" y="3100499"/>
              <a:ext cx="1009626" cy="2765941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EAA999-00FA-2E6E-7C2A-F85CE615A2CC}"/>
                </a:ext>
              </a:extLst>
            </p:cNvPr>
            <p:cNvCxnSpPr>
              <a:cxnSpLocks/>
              <a:stCxn id="13" idx="3"/>
              <a:endCxn id="6" idx="7"/>
            </p:cNvCxnSpPr>
            <p:nvPr/>
          </p:nvCxnSpPr>
          <p:spPr>
            <a:xfrm flipH="1">
              <a:off x="4133987" y="3100499"/>
              <a:ext cx="805791" cy="672675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DFECF80-3C38-5D7F-ABCF-3F5CAC7BCABC}"/>
                </a:ext>
              </a:extLst>
            </p:cNvPr>
            <p:cNvCxnSpPr>
              <a:cxnSpLocks/>
              <a:stCxn id="8" idx="4"/>
              <a:endCxn id="14" idx="1"/>
            </p:cNvCxnSpPr>
            <p:nvPr/>
          </p:nvCxnSpPr>
          <p:spPr>
            <a:xfrm>
              <a:off x="4953001" y="5071857"/>
              <a:ext cx="365789" cy="626157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B69CAC-20E0-32CE-10BE-5D1ED17C82D8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5821017" y="5906043"/>
              <a:ext cx="458276" cy="168426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7329C2C-155F-BE47-7D52-F18FC3575A4D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V="1">
              <a:off x="6573491" y="5287868"/>
              <a:ext cx="405118" cy="492403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8562BFB-B1AD-EB9D-AE4A-47F9E7A78DBE}"/>
                </a:ext>
              </a:extLst>
            </p:cNvPr>
            <p:cNvCxnSpPr>
              <a:cxnSpLocks/>
              <a:stCxn id="16" idx="2"/>
              <a:endCxn id="9" idx="6"/>
            </p:cNvCxnSpPr>
            <p:nvPr/>
          </p:nvCxnSpPr>
          <p:spPr>
            <a:xfrm flipH="1" flipV="1">
              <a:off x="7272807" y="4993670"/>
              <a:ext cx="848816" cy="288858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D60BD9-0482-2ECD-E9DD-200E20EE22A1}"/>
                </a:ext>
              </a:extLst>
            </p:cNvPr>
            <p:cNvCxnSpPr>
              <a:cxnSpLocks/>
              <a:stCxn id="10" idx="3"/>
              <a:endCxn id="9" idx="7"/>
            </p:cNvCxnSpPr>
            <p:nvPr/>
          </p:nvCxnSpPr>
          <p:spPr>
            <a:xfrm flipH="1">
              <a:off x="7186638" y="4189232"/>
              <a:ext cx="640538" cy="596409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FF63484-803E-A926-5C48-6310A0F82F57}"/>
                </a:ext>
              </a:extLst>
            </p:cNvPr>
            <p:cNvCxnSpPr>
              <a:cxnSpLocks/>
              <a:stCxn id="17" idx="4"/>
              <a:endCxn id="10" idx="0"/>
            </p:cNvCxnSpPr>
            <p:nvPr/>
          </p:nvCxnSpPr>
          <p:spPr>
            <a:xfrm flipH="1">
              <a:off x="8035205" y="3118487"/>
              <a:ext cx="229038" cy="568518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E0BC04F-4330-A007-BAEE-67A9512D4516}"/>
                </a:ext>
              </a:extLst>
            </p:cNvPr>
            <p:cNvCxnSpPr>
              <a:cxnSpLocks/>
              <a:stCxn id="11" idx="6"/>
              <a:endCxn id="17" idx="2"/>
            </p:cNvCxnSpPr>
            <p:nvPr/>
          </p:nvCxnSpPr>
          <p:spPr>
            <a:xfrm flipV="1">
              <a:off x="7161887" y="2824289"/>
              <a:ext cx="702311" cy="45990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D02601-035E-78CE-1D34-A29420F030CC}"/>
                </a:ext>
              </a:extLst>
            </p:cNvPr>
            <p:cNvCxnSpPr>
              <a:cxnSpLocks/>
              <a:stCxn id="11" idx="5"/>
              <a:endCxn id="10" idx="1"/>
            </p:cNvCxnSpPr>
            <p:nvPr/>
          </p:nvCxnSpPr>
          <p:spPr>
            <a:xfrm>
              <a:off x="7075718" y="3078308"/>
              <a:ext cx="751458" cy="694866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4534143-91B3-E8E2-D30B-83C5AE93C33E}"/>
                </a:ext>
              </a:extLst>
            </p:cNvPr>
            <p:cNvCxnSpPr>
              <a:cxnSpLocks/>
              <a:stCxn id="16" idx="3"/>
              <a:endCxn id="15" idx="6"/>
            </p:cNvCxnSpPr>
            <p:nvPr/>
          </p:nvCxnSpPr>
          <p:spPr>
            <a:xfrm flipH="1">
              <a:off x="6867689" y="5490557"/>
              <a:ext cx="1340103" cy="583912"/>
            </a:xfrm>
            <a:prstGeom prst="line">
              <a:avLst/>
            </a:prstGeom>
            <a:ln w="31750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8CECA8A-D921-69FC-953D-008C1EE8CEE6}"/>
                  </a:ext>
                </a:extLst>
              </p:cNvPr>
              <p:cNvSpPr txBox="1"/>
              <p:nvPr/>
            </p:nvSpPr>
            <p:spPr>
              <a:xfrm>
                <a:off x="6096000" y="1477581"/>
                <a:ext cx="5504997" cy="811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ρ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 ∉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8CECA8A-D921-69FC-953D-008C1EE8C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77581"/>
                <a:ext cx="5504997" cy="811761"/>
              </a:xfrm>
              <a:prstGeom prst="rect">
                <a:avLst/>
              </a:prstGeom>
              <a:blipFill>
                <a:blip r:embed="rId3"/>
                <a:stretch>
                  <a:fillRect t="-193846" b="-2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65515520-50F6-7990-D9D9-9B299F41350C}"/>
              </a:ext>
            </a:extLst>
          </p:cNvPr>
          <p:cNvGrpSpPr/>
          <p:nvPr/>
        </p:nvGrpSpPr>
        <p:grpSpPr>
          <a:xfrm>
            <a:off x="6114596" y="2424113"/>
            <a:ext cx="6025604" cy="4057838"/>
            <a:chOff x="6114596" y="2424113"/>
            <a:chExt cx="6025604" cy="405783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B460D24-7BC8-9D4B-E52D-0F882CF41D1C}"/>
                </a:ext>
              </a:extLst>
            </p:cNvPr>
            <p:cNvSpPr/>
            <p:nvPr/>
          </p:nvSpPr>
          <p:spPr>
            <a:xfrm>
              <a:off x="6114596" y="2424113"/>
              <a:ext cx="5947533" cy="4057838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B02D164-2F0A-7CE6-96BD-EA9769B7DE64}"/>
                </a:ext>
              </a:extLst>
            </p:cNvPr>
            <p:cNvSpPr/>
            <p:nvPr/>
          </p:nvSpPr>
          <p:spPr>
            <a:xfrm>
              <a:off x="6395147" y="367843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7704A0E-F6F3-B91F-B42D-16DC250FC6A7}"/>
                </a:ext>
              </a:extLst>
            </p:cNvPr>
            <p:cNvSpPr/>
            <p:nvPr/>
          </p:nvSpPr>
          <p:spPr>
            <a:xfrm>
              <a:off x="7422190" y="4474887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v3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149E110-4DAA-A3E2-0943-6DA78876A3C3}"/>
                </a:ext>
              </a:extLst>
            </p:cNvPr>
            <p:cNvSpPr/>
            <p:nvPr/>
          </p:nvSpPr>
          <p:spPr>
            <a:xfrm>
              <a:off x="9447798" y="4690898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v6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CACAEB7-BE0B-CFED-D057-EBEF70548447}"/>
                </a:ext>
              </a:extLst>
            </p:cNvPr>
            <p:cNvSpPr/>
            <p:nvPr/>
          </p:nvSpPr>
          <p:spPr>
            <a:xfrm>
              <a:off x="10504394" y="367843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v8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FC6605C-0300-61A6-D6EE-7F1F8726D9B8}"/>
                </a:ext>
              </a:extLst>
            </p:cNvPr>
            <p:cNvSpPr/>
            <p:nvPr/>
          </p:nvSpPr>
          <p:spPr>
            <a:xfrm>
              <a:off x="9336878" y="2567507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v9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A0FCD61-F330-F774-3433-EC861E0B9210}"/>
                </a:ext>
              </a:extLst>
            </p:cNvPr>
            <p:cNvSpPr/>
            <p:nvPr/>
          </p:nvSpPr>
          <p:spPr>
            <a:xfrm>
              <a:off x="7616996" y="2589698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v2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A55F818-3139-B8C8-3301-F722F7C5612E}"/>
                </a:ext>
              </a:extLst>
            </p:cNvPr>
            <p:cNvSpPr/>
            <p:nvPr/>
          </p:nvSpPr>
          <p:spPr>
            <a:xfrm>
              <a:off x="7996008" y="560327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v4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5E04567-6350-2C55-E9C6-C7662C446BB3}"/>
                </a:ext>
              </a:extLst>
            </p:cNvPr>
            <p:cNvSpPr/>
            <p:nvPr/>
          </p:nvSpPr>
          <p:spPr>
            <a:xfrm>
              <a:off x="9042680" y="5771697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v5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9ABE931-FB9E-ED67-7E5C-120A2BEB95A3}"/>
                </a:ext>
              </a:extLst>
            </p:cNvPr>
            <p:cNvSpPr/>
            <p:nvPr/>
          </p:nvSpPr>
          <p:spPr>
            <a:xfrm>
              <a:off x="10885010" y="4979756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v7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99B9A47-E7FB-E4C9-2411-82B142D17D7A}"/>
                </a:ext>
              </a:extLst>
            </p:cNvPr>
            <p:cNvSpPr/>
            <p:nvPr/>
          </p:nvSpPr>
          <p:spPr>
            <a:xfrm>
              <a:off x="10627585" y="2521517"/>
              <a:ext cx="800089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v10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150287E-1D9C-C4DB-DA06-9063E4F51688}"/>
                </a:ext>
              </a:extLst>
            </p:cNvPr>
            <p:cNvCxnSpPr>
              <a:stCxn id="28" idx="5"/>
              <a:endCxn id="29" idx="1"/>
            </p:cNvCxnSpPr>
            <p:nvPr/>
          </p:nvCxnSpPr>
          <p:spPr>
            <a:xfrm>
              <a:off x="6897374" y="4180658"/>
              <a:ext cx="610985" cy="380398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5E11AF9-9821-36A9-E134-6C9F8BD5AD58}"/>
                </a:ext>
              </a:extLst>
            </p:cNvPr>
            <p:cNvCxnSpPr>
              <a:cxnSpLocks/>
              <a:stCxn id="36" idx="1"/>
              <a:endCxn id="34" idx="5"/>
            </p:cNvCxnSpPr>
            <p:nvPr/>
          </p:nvCxnSpPr>
          <p:spPr>
            <a:xfrm flipH="1" flipV="1">
              <a:off x="8119223" y="3091925"/>
              <a:ext cx="1009626" cy="2765941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D1DBF31-7FE9-35D6-AF6D-B629E800C31E}"/>
                </a:ext>
              </a:extLst>
            </p:cNvPr>
            <p:cNvCxnSpPr>
              <a:cxnSpLocks/>
              <a:stCxn id="34" idx="3"/>
              <a:endCxn id="28" idx="7"/>
            </p:cNvCxnSpPr>
            <p:nvPr/>
          </p:nvCxnSpPr>
          <p:spPr>
            <a:xfrm flipH="1">
              <a:off x="6897374" y="3091925"/>
              <a:ext cx="805791" cy="672675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56A3743-0750-2029-E55D-8295FFF43D7F}"/>
                </a:ext>
              </a:extLst>
            </p:cNvPr>
            <p:cNvCxnSpPr>
              <a:cxnSpLocks/>
              <a:stCxn id="29" idx="4"/>
              <a:endCxn id="35" idx="1"/>
            </p:cNvCxnSpPr>
            <p:nvPr/>
          </p:nvCxnSpPr>
          <p:spPr>
            <a:xfrm>
              <a:off x="7716388" y="5063283"/>
              <a:ext cx="365789" cy="626157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2462B01-EEC9-5389-71DE-1EB2DC52CEC5}"/>
                </a:ext>
              </a:extLst>
            </p:cNvPr>
            <p:cNvCxnSpPr>
              <a:cxnSpLocks/>
              <a:stCxn id="35" idx="6"/>
              <a:endCxn id="36" idx="2"/>
            </p:cNvCxnSpPr>
            <p:nvPr/>
          </p:nvCxnSpPr>
          <p:spPr>
            <a:xfrm>
              <a:off x="8584404" y="5897469"/>
              <a:ext cx="458276" cy="168426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256417E-B714-14E3-A546-3689450614E2}"/>
                </a:ext>
              </a:extLst>
            </p:cNvPr>
            <p:cNvCxnSpPr>
              <a:cxnSpLocks/>
              <a:stCxn id="36" idx="0"/>
              <a:endCxn id="30" idx="4"/>
            </p:cNvCxnSpPr>
            <p:nvPr/>
          </p:nvCxnSpPr>
          <p:spPr>
            <a:xfrm flipV="1">
              <a:off x="9336878" y="5279294"/>
              <a:ext cx="405118" cy="492403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DA5D45F-ED37-ABBC-A9F1-D73F05B1CE7A}"/>
                </a:ext>
              </a:extLst>
            </p:cNvPr>
            <p:cNvCxnSpPr>
              <a:cxnSpLocks/>
              <a:stCxn id="37" idx="2"/>
              <a:endCxn id="30" idx="6"/>
            </p:cNvCxnSpPr>
            <p:nvPr/>
          </p:nvCxnSpPr>
          <p:spPr>
            <a:xfrm flipH="1" flipV="1">
              <a:off x="10036194" y="4985096"/>
              <a:ext cx="848816" cy="288858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34F9FE9-5825-74A4-CBE0-6764E3948B3E}"/>
                </a:ext>
              </a:extLst>
            </p:cNvPr>
            <p:cNvCxnSpPr>
              <a:cxnSpLocks/>
              <a:stCxn id="31" idx="3"/>
              <a:endCxn id="30" idx="7"/>
            </p:cNvCxnSpPr>
            <p:nvPr/>
          </p:nvCxnSpPr>
          <p:spPr>
            <a:xfrm flipH="1">
              <a:off x="9950025" y="4180658"/>
              <a:ext cx="640538" cy="596409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23C9E17-6DD4-1811-985C-FE4F83C6297E}"/>
                </a:ext>
              </a:extLst>
            </p:cNvPr>
            <p:cNvCxnSpPr>
              <a:cxnSpLocks/>
              <a:stCxn id="39" idx="4"/>
              <a:endCxn id="31" idx="0"/>
            </p:cNvCxnSpPr>
            <p:nvPr/>
          </p:nvCxnSpPr>
          <p:spPr>
            <a:xfrm flipH="1">
              <a:off x="10798592" y="3109913"/>
              <a:ext cx="229038" cy="568518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C556EA0-4C58-2DAD-E382-373BB7D4DA2E}"/>
                </a:ext>
              </a:extLst>
            </p:cNvPr>
            <p:cNvCxnSpPr>
              <a:cxnSpLocks/>
              <a:stCxn id="32" idx="6"/>
              <a:endCxn id="39" idx="2"/>
            </p:cNvCxnSpPr>
            <p:nvPr/>
          </p:nvCxnSpPr>
          <p:spPr>
            <a:xfrm flipV="1">
              <a:off x="9925274" y="2815715"/>
              <a:ext cx="702311" cy="45990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555526F-6580-C131-839D-A94C5EBA94D4}"/>
                </a:ext>
              </a:extLst>
            </p:cNvPr>
            <p:cNvCxnSpPr>
              <a:cxnSpLocks/>
              <a:stCxn id="32" idx="5"/>
              <a:endCxn id="31" idx="1"/>
            </p:cNvCxnSpPr>
            <p:nvPr/>
          </p:nvCxnSpPr>
          <p:spPr>
            <a:xfrm>
              <a:off x="9839105" y="3069734"/>
              <a:ext cx="751458" cy="694866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1CE3FAE-D0BB-8360-4D47-39FC12895E4F}"/>
                </a:ext>
              </a:extLst>
            </p:cNvPr>
            <p:cNvCxnSpPr>
              <a:cxnSpLocks/>
              <a:stCxn id="37" idx="3"/>
              <a:endCxn id="36" idx="6"/>
            </p:cNvCxnSpPr>
            <p:nvPr/>
          </p:nvCxnSpPr>
          <p:spPr>
            <a:xfrm flipH="1">
              <a:off x="9631076" y="5481983"/>
              <a:ext cx="1340103" cy="583912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BCB032E-551E-48A8-4BD4-77D1327FC29F}"/>
                </a:ext>
              </a:extLst>
            </p:cNvPr>
            <p:cNvCxnSpPr>
              <a:cxnSpLocks/>
              <a:stCxn id="32" idx="2"/>
              <a:endCxn id="34" idx="6"/>
            </p:cNvCxnSpPr>
            <p:nvPr/>
          </p:nvCxnSpPr>
          <p:spPr>
            <a:xfrm flipH="1">
              <a:off x="8205392" y="2861705"/>
              <a:ext cx="1131486" cy="22191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379680C-9892-ECAA-2A2D-90A71CEC9A94}"/>
                </a:ext>
              </a:extLst>
            </p:cNvPr>
            <p:cNvCxnSpPr>
              <a:cxnSpLocks/>
              <a:stCxn id="34" idx="4"/>
              <a:endCxn id="29" idx="0"/>
            </p:cNvCxnSpPr>
            <p:nvPr/>
          </p:nvCxnSpPr>
          <p:spPr>
            <a:xfrm flipH="1">
              <a:off x="7716388" y="3178094"/>
              <a:ext cx="194806" cy="1296793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E86E918-08CC-B6E6-D444-F1D906D39719}"/>
                </a:ext>
              </a:extLst>
            </p:cNvPr>
            <p:cNvCxnSpPr>
              <a:cxnSpLocks/>
              <a:stCxn id="32" idx="4"/>
              <a:endCxn id="30" idx="0"/>
            </p:cNvCxnSpPr>
            <p:nvPr/>
          </p:nvCxnSpPr>
          <p:spPr>
            <a:xfrm>
              <a:off x="9631076" y="3155903"/>
              <a:ext cx="110920" cy="1534995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1227D43-7EA0-8CDB-93FC-F68321E620E1}"/>
                </a:ext>
              </a:extLst>
            </p:cNvPr>
            <p:cNvCxnSpPr>
              <a:cxnSpLocks/>
              <a:stCxn id="32" idx="3"/>
              <a:endCxn id="35" idx="0"/>
            </p:cNvCxnSpPr>
            <p:nvPr/>
          </p:nvCxnSpPr>
          <p:spPr>
            <a:xfrm flipH="1">
              <a:off x="8290206" y="3069734"/>
              <a:ext cx="1132841" cy="2533537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4E9682A-1EA2-2361-9C47-7A7122B996D6}"/>
                </a:ext>
              </a:extLst>
            </p:cNvPr>
            <p:cNvCxnSpPr>
              <a:cxnSpLocks/>
              <a:stCxn id="31" idx="4"/>
              <a:endCxn id="37" idx="0"/>
            </p:cNvCxnSpPr>
            <p:nvPr/>
          </p:nvCxnSpPr>
          <p:spPr>
            <a:xfrm>
              <a:off x="10798592" y="4266827"/>
              <a:ext cx="380616" cy="712929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E148AA3-3298-255E-FF5A-995C890F8D71}"/>
                </a:ext>
              </a:extLst>
            </p:cNvPr>
            <p:cNvCxnSpPr>
              <a:cxnSpLocks/>
              <a:stCxn id="39" idx="5"/>
              <a:endCxn id="37" idx="7"/>
            </p:cNvCxnSpPr>
            <p:nvPr/>
          </p:nvCxnSpPr>
          <p:spPr>
            <a:xfrm>
              <a:off x="11310504" y="3023744"/>
              <a:ext cx="76733" cy="2042181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11650E-1E60-A102-AE23-CEC04EC13FFE}"/>
                </a:ext>
              </a:extLst>
            </p:cNvPr>
            <p:cNvSpPr txBox="1"/>
            <p:nvPr/>
          </p:nvSpPr>
          <p:spPr>
            <a:xfrm>
              <a:off x="6145827" y="5481983"/>
              <a:ext cx="1429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u="sng" dirty="0"/>
                <a:t>Note</a:t>
              </a:r>
              <a:r>
                <a:rPr lang="en-US" sz="1400" i="1" dirty="0"/>
                <a:t>: Not drawing all missing edges for space reasons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5E54F51-F768-A080-3139-2DDD33895BDD}"/>
                </a:ext>
              </a:extLst>
            </p:cNvPr>
            <p:cNvSpPr txBox="1"/>
            <p:nvPr/>
          </p:nvSpPr>
          <p:spPr>
            <a:xfrm>
              <a:off x="6975592" y="315424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E9B3BAB-2EA9-702D-3DE4-63B340025CE9}"/>
                </a:ext>
              </a:extLst>
            </p:cNvPr>
            <p:cNvSpPr txBox="1"/>
            <p:nvPr/>
          </p:nvSpPr>
          <p:spPr>
            <a:xfrm>
              <a:off x="7032050" y="399599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64BA774-CE38-7A21-7FAA-014332ABC6AC}"/>
                </a:ext>
              </a:extLst>
            </p:cNvPr>
            <p:cNvSpPr txBox="1"/>
            <p:nvPr/>
          </p:nvSpPr>
          <p:spPr>
            <a:xfrm>
              <a:off x="7614217" y="523393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F44C41C-A290-9C99-5FD4-25383BB1C21C}"/>
                </a:ext>
              </a:extLst>
            </p:cNvPr>
            <p:cNvSpPr txBox="1"/>
            <p:nvPr/>
          </p:nvSpPr>
          <p:spPr>
            <a:xfrm>
              <a:off x="8596482" y="592083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C3A1294-5EF9-7B11-A37E-7BAA476351E4}"/>
                </a:ext>
              </a:extLst>
            </p:cNvPr>
            <p:cNvSpPr txBox="1"/>
            <p:nvPr/>
          </p:nvSpPr>
          <p:spPr>
            <a:xfrm>
              <a:off x="8312732" y="342388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B561F3D-AC2D-0A3C-5ACD-2CC112DF7480}"/>
                </a:ext>
              </a:extLst>
            </p:cNvPr>
            <p:cNvSpPr txBox="1"/>
            <p:nvPr/>
          </p:nvSpPr>
          <p:spPr>
            <a:xfrm>
              <a:off x="10214834" y="573616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9DC64FB-EDEE-1F4E-E83C-8EEA565EFBB0}"/>
                </a:ext>
              </a:extLst>
            </p:cNvPr>
            <p:cNvSpPr txBox="1"/>
            <p:nvPr/>
          </p:nvSpPr>
          <p:spPr>
            <a:xfrm>
              <a:off x="9510626" y="542020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F57A027-67FA-45EF-7F3E-7AD99CF45795}"/>
                </a:ext>
              </a:extLst>
            </p:cNvPr>
            <p:cNvSpPr txBox="1"/>
            <p:nvPr/>
          </p:nvSpPr>
          <p:spPr>
            <a:xfrm>
              <a:off x="10319068" y="477706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17F5623-5ACB-3B66-0722-BBBA0B21FE49}"/>
                </a:ext>
              </a:extLst>
            </p:cNvPr>
            <p:cNvSpPr txBox="1"/>
            <p:nvPr/>
          </p:nvSpPr>
          <p:spPr>
            <a:xfrm>
              <a:off x="10059182" y="413197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6EA747C-6E3D-157F-68F2-4901ADB12EF2}"/>
                </a:ext>
              </a:extLst>
            </p:cNvPr>
            <p:cNvSpPr txBox="1"/>
            <p:nvPr/>
          </p:nvSpPr>
          <p:spPr>
            <a:xfrm>
              <a:off x="10651672" y="319391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2140D0E-2875-41C2-2E86-C8738EF9C161}"/>
                </a:ext>
              </a:extLst>
            </p:cNvPr>
            <p:cNvSpPr txBox="1"/>
            <p:nvPr/>
          </p:nvSpPr>
          <p:spPr>
            <a:xfrm>
              <a:off x="10127621" y="310991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0F3DD62-4A7A-B5B4-A62A-52FF51FF7483}"/>
                </a:ext>
              </a:extLst>
            </p:cNvPr>
            <p:cNvSpPr txBox="1"/>
            <p:nvPr/>
          </p:nvSpPr>
          <p:spPr>
            <a:xfrm>
              <a:off x="10097199" y="249921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031C32A-ED0D-7F19-1DBB-DD153F2A6CD9}"/>
                    </a:ext>
                  </a:extLst>
                </p:cNvPr>
                <p:cNvSpPr txBox="1"/>
                <p:nvPr/>
              </p:nvSpPr>
              <p:spPr>
                <a:xfrm>
                  <a:off x="8400895" y="2532045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031C32A-ED0D-7F19-1DBB-DD153F2A6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0895" y="2532045"/>
                  <a:ext cx="861133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EFD27A7-1513-38A6-A89A-56C572834946}"/>
                    </a:ext>
                  </a:extLst>
                </p:cNvPr>
                <p:cNvSpPr txBox="1"/>
                <p:nvPr/>
              </p:nvSpPr>
              <p:spPr>
                <a:xfrm>
                  <a:off x="8527299" y="3107063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EFD27A7-1513-38A6-A89A-56C5728349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7299" y="3107063"/>
                  <a:ext cx="861133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2139385-09B4-CDBB-2854-8BF57BF01F9F}"/>
                    </a:ext>
                  </a:extLst>
                </p:cNvPr>
                <p:cNvSpPr txBox="1"/>
                <p:nvPr/>
              </p:nvSpPr>
              <p:spPr>
                <a:xfrm>
                  <a:off x="9594030" y="3661463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2139385-09B4-CDBB-2854-8BF57BF01F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030" y="3661463"/>
                  <a:ext cx="861133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F797A88-F6C0-A040-51DF-D03BE457A125}"/>
                    </a:ext>
                  </a:extLst>
                </p:cNvPr>
                <p:cNvSpPr txBox="1"/>
                <p:nvPr/>
              </p:nvSpPr>
              <p:spPr>
                <a:xfrm>
                  <a:off x="10236624" y="4481491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F797A88-F6C0-A040-51DF-D03BE457A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6624" y="4481491"/>
                  <a:ext cx="86113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BD2B1DF-63B8-5E7B-5DEC-78C7548A2827}"/>
                    </a:ext>
                  </a:extLst>
                </p:cNvPr>
                <p:cNvSpPr txBox="1"/>
                <p:nvPr/>
              </p:nvSpPr>
              <p:spPr>
                <a:xfrm>
                  <a:off x="11279067" y="3479245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BD2B1DF-63B8-5E7B-5DEC-78C7548A2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9067" y="3479245"/>
                  <a:ext cx="861133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EA522A8-B8D2-B70C-6A2F-8D64D93F1A8F}"/>
                    </a:ext>
                  </a:extLst>
                </p:cNvPr>
                <p:cNvSpPr txBox="1"/>
                <p:nvPr/>
              </p:nvSpPr>
              <p:spPr>
                <a:xfrm>
                  <a:off x="7660540" y="4039659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EA522A8-B8D2-B70C-6A2F-8D64D93F1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0540" y="4039659"/>
                  <a:ext cx="861133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C526F5E-71C5-0425-E44E-3A0C5C5999AF}"/>
                  </a:ext>
                </a:extLst>
              </p:cNvPr>
              <p:cNvSpPr txBox="1"/>
              <p:nvPr/>
            </p:nvSpPr>
            <p:spPr>
              <a:xfrm>
                <a:off x="932982" y="1421002"/>
                <a:ext cx="4841005" cy="92333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Convert the graph into an instance of TSP as shown here. For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each edge, add cost of 1</a:t>
                </a:r>
                <a:r>
                  <a:rPr lang="en-US" dirty="0"/>
                  <a:t>, for each </a:t>
                </a:r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missing edge, add cost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C526F5E-71C5-0425-E44E-3A0C5C599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82" y="1421002"/>
                <a:ext cx="4841005" cy="923330"/>
              </a:xfrm>
              <a:prstGeom prst="rect">
                <a:avLst/>
              </a:prstGeom>
              <a:blipFill>
                <a:blip r:embed="rId10"/>
                <a:stretch>
                  <a:fillRect l="-781" t="-2667" r="-1563" b="-8000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7850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DE81-2E9F-2948-5169-4E611A28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4057EBD7-DC76-FE00-20A7-60C98DA82026}"/>
              </a:ext>
            </a:extLst>
          </p:cNvPr>
          <p:cNvSpPr/>
          <p:nvPr/>
        </p:nvSpPr>
        <p:spPr>
          <a:xfrm>
            <a:off x="9183637" y="4270688"/>
            <a:ext cx="2768495" cy="1581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61B0C0-33C7-9ADA-00D3-C70118103DD9}"/>
                  </a:ext>
                </a:extLst>
              </p:cNvPr>
              <p:cNvSpPr txBox="1"/>
              <p:nvPr/>
            </p:nvSpPr>
            <p:spPr>
              <a:xfrm>
                <a:off x="1780318" y="73284"/>
                <a:ext cx="8628185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Claim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 general TSP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approximatable if and only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61B0C0-33C7-9ADA-00D3-C70118103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18" y="73284"/>
                <a:ext cx="8628185" cy="954107"/>
              </a:xfrm>
              <a:prstGeom prst="rect">
                <a:avLst/>
              </a:prstGeom>
              <a:blipFill>
                <a:blip r:embed="rId2"/>
                <a:stretch>
                  <a:fillRect l="-1322" t="-6494" r="-1909" b="-1558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27A8A4-C37B-57F0-494C-7BF3198090FF}"/>
              </a:ext>
            </a:extLst>
          </p:cNvPr>
          <p:cNvCxnSpPr>
            <a:cxnSpLocks/>
          </p:cNvCxnSpPr>
          <p:nvPr/>
        </p:nvCxnSpPr>
        <p:spPr>
          <a:xfrm>
            <a:off x="890954" y="1161233"/>
            <a:ext cx="1047261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B9D301E-F1F8-EF69-AFFE-B8656EDE3417}"/>
                  </a:ext>
                </a:extLst>
              </p:cNvPr>
              <p:cNvSpPr txBox="1"/>
              <p:nvPr/>
            </p:nvSpPr>
            <p:spPr>
              <a:xfrm>
                <a:off x="-50358" y="1215561"/>
                <a:ext cx="5504997" cy="811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ρ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 ∉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B9D301E-F1F8-EF69-AFFE-B8656EDE3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358" y="1215561"/>
                <a:ext cx="5504997" cy="811761"/>
              </a:xfrm>
              <a:prstGeom prst="rect">
                <a:avLst/>
              </a:prstGeom>
              <a:blipFill>
                <a:blip r:embed="rId3"/>
                <a:stretch>
                  <a:fillRect t="-192308" b="-2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9D609AA2-012B-B027-900C-63D547CB646F}"/>
              </a:ext>
            </a:extLst>
          </p:cNvPr>
          <p:cNvGrpSpPr/>
          <p:nvPr/>
        </p:nvGrpSpPr>
        <p:grpSpPr>
          <a:xfrm>
            <a:off x="182882" y="2162093"/>
            <a:ext cx="5810960" cy="4057838"/>
            <a:chOff x="6329240" y="2424113"/>
            <a:chExt cx="5810960" cy="405783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C3600FD-C100-3EDC-C3AD-9C5EBB9E9370}"/>
                </a:ext>
              </a:extLst>
            </p:cNvPr>
            <p:cNvSpPr/>
            <p:nvPr/>
          </p:nvSpPr>
          <p:spPr>
            <a:xfrm>
              <a:off x="6329240" y="2424113"/>
              <a:ext cx="5732889" cy="4057838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81DFF2F-EBFA-F17C-59D6-CA87F9C940A5}"/>
                </a:ext>
              </a:extLst>
            </p:cNvPr>
            <p:cNvSpPr/>
            <p:nvPr/>
          </p:nvSpPr>
          <p:spPr>
            <a:xfrm>
              <a:off x="6395147" y="367843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534E449-F324-0888-2161-812C5CAB55D5}"/>
                </a:ext>
              </a:extLst>
            </p:cNvPr>
            <p:cNvSpPr/>
            <p:nvPr/>
          </p:nvSpPr>
          <p:spPr>
            <a:xfrm>
              <a:off x="7422190" y="4474887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v3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098370F-318C-1F79-AFD0-2A726B38465C}"/>
                </a:ext>
              </a:extLst>
            </p:cNvPr>
            <p:cNvSpPr/>
            <p:nvPr/>
          </p:nvSpPr>
          <p:spPr>
            <a:xfrm>
              <a:off x="9447798" y="4690898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v6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F995C5E-19FF-071A-5D70-1F662A0F6FB3}"/>
                </a:ext>
              </a:extLst>
            </p:cNvPr>
            <p:cNvSpPr/>
            <p:nvPr/>
          </p:nvSpPr>
          <p:spPr>
            <a:xfrm>
              <a:off x="10504394" y="367843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v8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109848A-FBE2-A8DB-ACB7-0FC7B66A8A41}"/>
                </a:ext>
              </a:extLst>
            </p:cNvPr>
            <p:cNvSpPr/>
            <p:nvPr/>
          </p:nvSpPr>
          <p:spPr>
            <a:xfrm>
              <a:off x="9336878" y="2567507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v9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85801C3-74B6-5833-9F4D-B074AD86E227}"/>
                </a:ext>
              </a:extLst>
            </p:cNvPr>
            <p:cNvSpPr/>
            <p:nvPr/>
          </p:nvSpPr>
          <p:spPr>
            <a:xfrm>
              <a:off x="7616996" y="2589698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v2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D6CBD14-2805-1CE9-3851-284B8C2F5FD4}"/>
                </a:ext>
              </a:extLst>
            </p:cNvPr>
            <p:cNvSpPr/>
            <p:nvPr/>
          </p:nvSpPr>
          <p:spPr>
            <a:xfrm>
              <a:off x="7996008" y="5603271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v4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0F8CF67-8C59-E2C7-78A5-FC314BE81090}"/>
                </a:ext>
              </a:extLst>
            </p:cNvPr>
            <p:cNvSpPr/>
            <p:nvPr/>
          </p:nvSpPr>
          <p:spPr>
            <a:xfrm>
              <a:off x="9042680" y="5771697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v5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35A3A22-5574-F3BD-8D3D-AA681886D232}"/>
                </a:ext>
              </a:extLst>
            </p:cNvPr>
            <p:cNvSpPr/>
            <p:nvPr/>
          </p:nvSpPr>
          <p:spPr>
            <a:xfrm>
              <a:off x="10885010" y="4979756"/>
              <a:ext cx="588396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v7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7076B30-E6C9-8459-ABE0-6565B1F75504}"/>
                </a:ext>
              </a:extLst>
            </p:cNvPr>
            <p:cNvSpPr/>
            <p:nvPr/>
          </p:nvSpPr>
          <p:spPr>
            <a:xfrm>
              <a:off x="10627585" y="2521517"/>
              <a:ext cx="800089" cy="588396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v10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C9AD7AA-D171-2E92-9E26-E346F278F567}"/>
                </a:ext>
              </a:extLst>
            </p:cNvPr>
            <p:cNvCxnSpPr>
              <a:stCxn id="28" idx="5"/>
              <a:endCxn id="29" idx="1"/>
            </p:cNvCxnSpPr>
            <p:nvPr/>
          </p:nvCxnSpPr>
          <p:spPr>
            <a:xfrm>
              <a:off x="6897374" y="4180658"/>
              <a:ext cx="610985" cy="380398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95F1469-5A39-77F2-AA64-B91D71952D27}"/>
                </a:ext>
              </a:extLst>
            </p:cNvPr>
            <p:cNvCxnSpPr>
              <a:cxnSpLocks/>
              <a:stCxn id="36" idx="1"/>
              <a:endCxn id="34" idx="5"/>
            </p:cNvCxnSpPr>
            <p:nvPr/>
          </p:nvCxnSpPr>
          <p:spPr>
            <a:xfrm flipH="1" flipV="1">
              <a:off x="8119223" y="3091925"/>
              <a:ext cx="1009626" cy="2765941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CFE6DFF-C4AF-7BF9-BE24-7CC9869B16E8}"/>
                </a:ext>
              </a:extLst>
            </p:cNvPr>
            <p:cNvCxnSpPr>
              <a:cxnSpLocks/>
              <a:stCxn id="34" idx="3"/>
              <a:endCxn id="28" idx="7"/>
            </p:cNvCxnSpPr>
            <p:nvPr/>
          </p:nvCxnSpPr>
          <p:spPr>
            <a:xfrm flipH="1">
              <a:off x="6897374" y="3091925"/>
              <a:ext cx="805791" cy="672675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96E503E-DDAD-ABAF-1330-969226503FC5}"/>
                </a:ext>
              </a:extLst>
            </p:cNvPr>
            <p:cNvCxnSpPr>
              <a:cxnSpLocks/>
              <a:stCxn id="29" idx="4"/>
              <a:endCxn id="35" idx="1"/>
            </p:cNvCxnSpPr>
            <p:nvPr/>
          </p:nvCxnSpPr>
          <p:spPr>
            <a:xfrm>
              <a:off x="7716388" y="5063283"/>
              <a:ext cx="365789" cy="626157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4DCEAC5-CC46-8959-CBFF-568ED2B55A69}"/>
                </a:ext>
              </a:extLst>
            </p:cNvPr>
            <p:cNvCxnSpPr>
              <a:cxnSpLocks/>
              <a:stCxn id="35" idx="6"/>
              <a:endCxn id="36" idx="2"/>
            </p:cNvCxnSpPr>
            <p:nvPr/>
          </p:nvCxnSpPr>
          <p:spPr>
            <a:xfrm>
              <a:off x="8584404" y="5897469"/>
              <a:ext cx="458276" cy="168426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481EC42-FD46-C9C4-DF52-0AA8ECD883C4}"/>
                </a:ext>
              </a:extLst>
            </p:cNvPr>
            <p:cNvCxnSpPr>
              <a:cxnSpLocks/>
              <a:stCxn id="36" idx="0"/>
              <a:endCxn id="30" idx="4"/>
            </p:cNvCxnSpPr>
            <p:nvPr/>
          </p:nvCxnSpPr>
          <p:spPr>
            <a:xfrm flipV="1">
              <a:off x="9336878" y="5279294"/>
              <a:ext cx="405118" cy="492403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D710D2B-4499-7607-655F-AE614CAF1C8C}"/>
                </a:ext>
              </a:extLst>
            </p:cNvPr>
            <p:cNvCxnSpPr>
              <a:cxnSpLocks/>
              <a:stCxn id="37" idx="2"/>
              <a:endCxn id="30" idx="6"/>
            </p:cNvCxnSpPr>
            <p:nvPr/>
          </p:nvCxnSpPr>
          <p:spPr>
            <a:xfrm flipH="1" flipV="1">
              <a:off x="10036194" y="4985096"/>
              <a:ext cx="848816" cy="288858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89E2DF6-7801-9197-D56B-3BF9F7CDF0B0}"/>
                </a:ext>
              </a:extLst>
            </p:cNvPr>
            <p:cNvCxnSpPr>
              <a:cxnSpLocks/>
              <a:stCxn id="31" idx="3"/>
              <a:endCxn id="30" idx="7"/>
            </p:cNvCxnSpPr>
            <p:nvPr/>
          </p:nvCxnSpPr>
          <p:spPr>
            <a:xfrm flipH="1">
              <a:off x="9950025" y="4180658"/>
              <a:ext cx="640538" cy="596409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FA2CBED-F9B2-734E-5CC1-F3DD80C14CBD}"/>
                </a:ext>
              </a:extLst>
            </p:cNvPr>
            <p:cNvCxnSpPr>
              <a:cxnSpLocks/>
              <a:stCxn id="39" idx="4"/>
              <a:endCxn id="31" idx="0"/>
            </p:cNvCxnSpPr>
            <p:nvPr/>
          </p:nvCxnSpPr>
          <p:spPr>
            <a:xfrm flipH="1">
              <a:off x="10798592" y="3109913"/>
              <a:ext cx="229038" cy="568518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DDC56D6-09E4-628D-4624-91CCDEC54F6F}"/>
                </a:ext>
              </a:extLst>
            </p:cNvPr>
            <p:cNvCxnSpPr>
              <a:cxnSpLocks/>
              <a:stCxn id="32" idx="6"/>
              <a:endCxn id="39" idx="2"/>
            </p:cNvCxnSpPr>
            <p:nvPr/>
          </p:nvCxnSpPr>
          <p:spPr>
            <a:xfrm flipV="1">
              <a:off x="9925274" y="2815715"/>
              <a:ext cx="702311" cy="45990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7511E6C-A8A5-D16C-79E1-DAB45AC7C99D}"/>
                </a:ext>
              </a:extLst>
            </p:cNvPr>
            <p:cNvCxnSpPr>
              <a:cxnSpLocks/>
              <a:stCxn id="32" idx="5"/>
              <a:endCxn id="31" idx="1"/>
            </p:cNvCxnSpPr>
            <p:nvPr/>
          </p:nvCxnSpPr>
          <p:spPr>
            <a:xfrm>
              <a:off x="9839105" y="3069734"/>
              <a:ext cx="751458" cy="694866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A121892-3E0F-F91D-624D-6CCE3CDE8E01}"/>
                </a:ext>
              </a:extLst>
            </p:cNvPr>
            <p:cNvCxnSpPr>
              <a:cxnSpLocks/>
              <a:stCxn id="37" idx="3"/>
              <a:endCxn id="36" idx="6"/>
            </p:cNvCxnSpPr>
            <p:nvPr/>
          </p:nvCxnSpPr>
          <p:spPr>
            <a:xfrm flipH="1">
              <a:off x="9631076" y="5481983"/>
              <a:ext cx="1340103" cy="583912"/>
            </a:xfrm>
            <a:prstGeom prst="line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FB45B0B-72D9-863E-2885-7E72290D4C1F}"/>
                </a:ext>
              </a:extLst>
            </p:cNvPr>
            <p:cNvCxnSpPr>
              <a:cxnSpLocks/>
              <a:stCxn id="32" idx="2"/>
              <a:endCxn id="34" idx="6"/>
            </p:cNvCxnSpPr>
            <p:nvPr/>
          </p:nvCxnSpPr>
          <p:spPr>
            <a:xfrm flipH="1">
              <a:off x="8205392" y="2861705"/>
              <a:ext cx="1131486" cy="22191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05B5533-20B4-D63F-73ED-48C15D3BCC44}"/>
                </a:ext>
              </a:extLst>
            </p:cNvPr>
            <p:cNvCxnSpPr>
              <a:cxnSpLocks/>
              <a:stCxn id="34" idx="4"/>
              <a:endCxn id="29" idx="0"/>
            </p:cNvCxnSpPr>
            <p:nvPr/>
          </p:nvCxnSpPr>
          <p:spPr>
            <a:xfrm flipH="1">
              <a:off x="7716388" y="3178094"/>
              <a:ext cx="194806" cy="1296793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29152AD-CFB3-24E9-8ACB-F0D12C5A3F8A}"/>
                </a:ext>
              </a:extLst>
            </p:cNvPr>
            <p:cNvCxnSpPr>
              <a:cxnSpLocks/>
              <a:stCxn id="32" idx="4"/>
              <a:endCxn id="30" idx="0"/>
            </p:cNvCxnSpPr>
            <p:nvPr/>
          </p:nvCxnSpPr>
          <p:spPr>
            <a:xfrm>
              <a:off x="9631076" y="3155903"/>
              <a:ext cx="110920" cy="1534995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3D65E9C-AE8C-2779-AFB8-F51C8414B308}"/>
                </a:ext>
              </a:extLst>
            </p:cNvPr>
            <p:cNvCxnSpPr>
              <a:cxnSpLocks/>
              <a:stCxn id="32" idx="3"/>
              <a:endCxn id="35" idx="0"/>
            </p:cNvCxnSpPr>
            <p:nvPr/>
          </p:nvCxnSpPr>
          <p:spPr>
            <a:xfrm flipH="1">
              <a:off x="8290206" y="3069734"/>
              <a:ext cx="1132841" cy="2533537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B38A801-6AE6-FBCD-D87C-C417D22B3A5D}"/>
                </a:ext>
              </a:extLst>
            </p:cNvPr>
            <p:cNvCxnSpPr>
              <a:cxnSpLocks/>
              <a:stCxn id="31" idx="4"/>
              <a:endCxn id="37" idx="0"/>
            </p:cNvCxnSpPr>
            <p:nvPr/>
          </p:nvCxnSpPr>
          <p:spPr>
            <a:xfrm>
              <a:off x="10798592" y="4266827"/>
              <a:ext cx="380616" cy="712929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E911F66-EF32-427B-704A-F027A792F079}"/>
                </a:ext>
              </a:extLst>
            </p:cNvPr>
            <p:cNvCxnSpPr>
              <a:cxnSpLocks/>
              <a:stCxn id="39" idx="5"/>
              <a:endCxn id="37" idx="7"/>
            </p:cNvCxnSpPr>
            <p:nvPr/>
          </p:nvCxnSpPr>
          <p:spPr>
            <a:xfrm>
              <a:off x="11310504" y="3023744"/>
              <a:ext cx="76733" cy="2042181"/>
            </a:xfrm>
            <a:prstGeom prst="line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ED14BFB-95B2-6941-D88C-519B1E24FE41}"/>
                </a:ext>
              </a:extLst>
            </p:cNvPr>
            <p:cNvSpPr txBox="1"/>
            <p:nvPr/>
          </p:nvSpPr>
          <p:spPr>
            <a:xfrm>
              <a:off x="6975592" y="315424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D7D94EA-A77B-F61D-523F-22A9D5AEA9D8}"/>
                </a:ext>
              </a:extLst>
            </p:cNvPr>
            <p:cNvSpPr txBox="1"/>
            <p:nvPr/>
          </p:nvSpPr>
          <p:spPr>
            <a:xfrm>
              <a:off x="7032050" y="399599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439E3B3-4434-761F-C536-99217A83BD4E}"/>
                </a:ext>
              </a:extLst>
            </p:cNvPr>
            <p:cNvSpPr txBox="1"/>
            <p:nvPr/>
          </p:nvSpPr>
          <p:spPr>
            <a:xfrm>
              <a:off x="7614217" y="523393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EFFA444-5D85-EDE3-2DD0-3CA5607E21E7}"/>
                </a:ext>
              </a:extLst>
            </p:cNvPr>
            <p:cNvSpPr txBox="1"/>
            <p:nvPr/>
          </p:nvSpPr>
          <p:spPr>
            <a:xfrm>
              <a:off x="8596482" y="592083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734ED1C-74FA-24DB-F496-B34B1342AE82}"/>
                </a:ext>
              </a:extLst>
            </p:cNvPr>
            <p:cNvSpPr txBox="1"/>
            <p:nvPr/>
          </p:nvSpPr>
          <p:spPr>
            <a:xfrm>
              <a:off x="8312732" y="342388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909EC6D-7EF3-B2F9-BECF-CBA75BC56C6B}"/>
                </a:ext>
              </a:extLst>
            </p:cNvPr>
            <p:cNvSpPr txBox="1"/>
            <p:nvPr/>
          </p:nvSpPr>
          <p:spPr>
            <a:xfrm>
              <a:off x="10214834" y="573616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7C48AD5-C185-DEB7-3A6D-B270C5961F4A}"/>
                </a:ext>
              </a:extLst>
            </p:cNvPr>
            <p:cNvSpPr txBox="1"/>
            <p:nvPr/>
          </p:nvSpPr>
          <p:spPr>
            <a:xfrm>
              <a:off x="9510626" y="542020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A3BF4DF-87E1-78F7-E852-F86E261C5195}"/>
                </a:ext>
              </a:extLst>
            </p:cNvPr>
            <p:cNvSpPr txBox="1"/>
            <p:nvPr/>
          </p:nvSpPr>
          <p:spPr>
            <a:xfrm>
              <a:off x="10319068" y="477706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BC7914F-2DC9-5D51-E179-9337E0EB8103}"/>
                </a:ext>
              </a:extLst>
            </p:cNvPr>
            <p:cNvSpPr txBox="1"/>
            <p:nvPr/>
          </p:nvSpPr>
          <p:spPr>
            <a:xfrm>
              <a:off x="10059182" y="413197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24FD4C0-8353-F75E-88C7-40253CD7CC2E}"/>
                </a:ext>
              </a:extLst>
            </p:cNvPr>
            <p:cNvSpPr txBox="1"/>
            <p:nvPr/>
          </p:nvSpPr>
          <p:spPr>
            <a:xfrm>
              <a:off x="10651672" y="319391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AF0D301-8848-B798-FA64-F9A131811486}"/>
                </a:ext>
              </a:extLst>
            </p:cNvPr>
            <p:cNvSpPr txBox="1"/>
            <p:nvPr/>
          </p:nvSpPr>
          <p:spPr>
            <a:xfrm>
              <a:off x="10127621" y="310991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26CD235-BBFD-C994-2E10-80A6358F423E}"/>
                </a:ext>
              </a:extLst>
            </p:cNvPr>
            <p:cNvSpPr txBox="1"/>
            <p:nvPr/>
          </p:nvSpPr>
          <p:spPr>
            <a:xfrm>
              <a:off x="10097199" y="249921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3F5A9EB-B6FD-88F7-6ADF-0AD989D331E7}"/>
                    </a:ext>
                  </a:extLst>
                </p:cNvPr>
                <p:cNvSpPr txBox="1"/>
                <p:nvPr/>
              </p:nvSpPr>
              <p:spPr>
                <a:xfrm>
                  <a:off x="8400895" y="2532045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3F5A9EB-B6FD-88F7-6ADF-0AD989D33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0895" y="2532045"/>
                  <a:ext cx="861133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8FC6698-C253-3194-1025-3B00053DCB03}"/>
                    </a:ext>
                  </a:extLst>
                </p:cNvPr>
                <p:cNvSpPr txBox="1"/>
                <p:nvPr/>
              </p:nvSpPr>
              <p:spPr>
                <a:xfrm>
                  <a:off x="8527299" y="3107063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8FC6698-C253-3194-1025-3B00053DCB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7299" y="3107063"/>
                  <a:ext cx="861133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A5A3687-78A8-FDA3-B13F-F67522504CAE}"/>
                    </a:ext>
                  </a:extLst>
                </p:cNvPr>
                <p:cNvSpPr txBox="1"/>
                <p:nvPr/>
              </p:nvSpPr>
              <p:spPr>
                <a:xfrm>
                  <a:off x="9594030" y="3661463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A5A3687-78A8-FDA3-B13F-F67522504C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030" y="3661463"/>
                  <a:ext cx="861133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65BFD4BC-A00B-A598-7ED7-D63DC381B935}"/>
                    </a:ext>
                  </a:extLst>
                </p:cNvPr>
                <p:cNvSpPr txBox="1"/>
                <p:nvPr/>
              </p:nvSpPr>
              <p:spPr>
                <a:xfrm>
                  <a:off x="10236624" y="4481491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65BFD4BC-A00B-A598-7ED7-D63DC381B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6624" y="4481491"/>
                  <a:ext cx="861133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C6C16122-0F2A-51DB-7079-4076F82BDC75}"/>
                    </a:ext>
                  </a:extLst>
                </p:cNvPr>
                <p:cNvSpPr txBox="1"/>
                <p:nvPr/>
              </p:nvSpPr>
              <p:spPr>
                <a:xfrm>
                  <a:off x="11279067" y="3479245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C6C16122-0F2A-51DB-7079-4076F82BD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9067" y="3479245"/>
                  <a:ext cx="86113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4E7D635-78E2-E5DB-03A6-0801B1EC01E1}"/>
                    </a:ext>
                  </a:extLst>
                </p:cNvPr>
                <p:cNvSpPr txBox="1"/>
                <p:nvPr/>
              </p:nvSpPr>
              <p:spPr>
                <a:xfrm>
                  <a:off x="7660540" y="4039659"/>
                  <a:ext cx="861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4E7D635-78E2-E5DB-03A6-0801B1EC0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0540" y="4039659"/>
                  <a:ext cx="861133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BFF03F-9861-37BB-3B06-9BD385AB3236}"/>
                  </a:ext>
                </a:extLst>
              </p:cNvPr>
              <p:cNvSpPr txBox="1"/>
              <p:nvPr/>
            </p:nvSpPr>
            <p:spPr>
              <a:xfrm>
                <a:off x="6618082" y="1639235"/>
                <a:ext cx="4544139" cy="1477328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This new graph has two possible optimal TSP tours: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		if original graph has a HC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	if original graph has no HC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BFF03F-9861-37BB-3B06-9BD385AB3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082" y="1639235"/>
                <a:ext cx="4544139" cy="1477328"/>
              </a:xfrm>
              <a:prstGeom prst="rect">
                <a:avLst/>
              </a:prstGeom>
              <a:blipFill>
                <a:blip r:embed="rId9"/>
                <a:stretch>
                  <a:fillRect l="-1111" t="-1695" b="-5932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B8C53353-BD66-1E48-A316-001661454C53}"/>
              </a:ext>
            </a:extLst>
          </p:cNvPr>
          <p:cNvSpPr/>
          <p:nvPr/>
        </p:nvSpPr>
        <p:spPr>
          <a:xfrm>
            <a:off x="6480313" y="4271779"/>
            <a:ext cx="1278231" cy="1571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5C72678-FB6C-7374-C3B8-5C90178595D8}"/>
              </a:ext>
            </a:extLst>
          </p:cNvPr>
          <p:cNvSpPr/>
          <p:nvPr/>
        </p:nvSpPr>
        <p:spPr>
          <a:xfrm>
            <a:off x="7765056" y="4270687"/>
            <a:ext cx="1418697" cy="158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6D970BD-E7B4-2385-86B3-E1A5C0364132}"/>
              </a:ext>
            </a:extLst>
          </p:cNvPr>
          <p:cNvCxnSpPr/>
          <p:nvPr/>
        </p:nvCxnSpPr>
        <p:spPr>
          <a:xfrm>
            <a:off x="6480313" y="4086972"/>
            <a:ext cx="0" cy="54304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1DF9E89-A1E1-612A-CD9B-FA28CE4148D5}"/>
              </a:ext>
            </a:extLst>
          </p:cNvPr>
          <p:cNvCxnSpPr/>
          <p:nvPr/>
        </p:nvCxnSpPr>
        <p:spPr>
          <a:xfrm>
            <a:off x="7761799" y="4104309"/>
            <a:ext cx="0" cy="543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E3259EB-F60F-3384-D3AE-E27E03AA6DE6}"/>
              </a:ext>
            </a:extLst>
          </p:cNvPr>
          <p:cNvCxnSpPr/>
          <p:nvPr/>
        </p:nvCxnSpPr>
        <p:spPr>
          <a:xfrm>
            <a:off x="9185000" y="4104308"/>
            <a:ext cx="0" cy="543041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4DD205F-8BC7-E194-A171-9F91CB702DEC}"/>
              </a:ext>
            </a:extLst>
          </p:cNvPr>
          <p:cNvSpPr txBox="1"/>
          <p:nvPr/>
        </p:nvSpPr>
        <p:spPr>
          <a:xfrm>
            <a:off x="6321287" y="37458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6511F8-1E65-92DA-A616-3852DBA4C7D3}"/>
              </a:ext>
            </a:extLst>
          </p:cNvPr>
          <p:cNvSpPr txBox="1"/>
          <p:nvPr/>
        </p:nvSpPr>
        <p:spPr>
          <a:xfrm>
            <a:off x="7604876" y="3739111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44C0ED6-354C-C023-B7C9-04CEB9063947}"/>
              </a:ext>
            </a:extLst>
          </p:cNvPr>
          <p:cNvCxnSpPr/>
          <p:nvPr/>
        </p:nvCxnSpPr>
        <p:spPr>
          <a:xfrm flipV="1">
            <a:off x="6989197" y="4558025"/>
            <a:ext cx="174928" cy="116163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2D0D115-8916-DEAA-2A60-76C169E88E60}"/>
              </a:ext>
            </a:extLst>
          </p:cNvPr>
          <p:cNvSpPr txBox="1"/>
          <p:nvPr/>
        </p:nvSpPr>
        <p:spPr>
          <a:xfrm>
            <a:off x="6321287" y="5843478"/>
            <a:ext cx="1475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The optimal solution CANNOT be in this range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E9EAA17-E9D1-7EF4-9443-232F2C042526}"/>
              </a:ext>
            </a:extLst>
          </p:cNvPr>
          <p:cNvCxnSpPr/>
          <p:nvPr/>
        </p:nvCxnSpPr>
        <p:spPr>
          <a:xfrm>
            <a:off x="11945430" y="4104308"/>
            <a:ext cx="0" cy="543041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0AE3B6E-0C4D-426B-8D3A-58D7EC606A5D}"/>
                  </a:ext>
                </a:extLst>
              </p:cNvPr>
              <p:cNvSpPr txBox="1"/>
              <p:nvPr/>
            </p:nvSpPr>
            <p:spPr>
              <a:xfrm>
                <a:off x="8725109" y="3743185"/>
                <a:ext cx="9893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0AE3B6E-0C4D-426B-8D3A-58D7EC606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109" y="3743185"/>
                <a:ext cx="989373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7439F15-1592-866A-A602-A154B8C90F47}"/>
              </a:ext>
            </a:extLst>
          </p:cNvPr>
          <p:cNvCxnSpPr>
            <a:cxnSpLocks/>
          </p:cNvCxnSpPr>
          <p:nvPr/>
        </p:nvCxnSpPr>
        <p:spPr>
          <a:xfrm flipH="1" flipV="1">
            <a:off x="8526550" y="4555359"/>
            <a:ext cx="60775" cy="918787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6DA64A31-BE9F-CA36-483D-D6368CCB11B0}"/>
              </a:ext>
            </a:extLst>
          </p:cNvPr>
          <p:cNvSpPr txBox="1"/>
          <p:nvPr/>
        </p:nvSpPr>
        <p:spPr>
          <a:xfrm>
            <a:off x="7955358" y="5425056"/>
            <a:ext cx="16577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If our approximation is anywhere in this range, then original graph has a HC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DD59C3D-E565-D3D3-BBF0-BD519B3A2D2D}"/>
              </a:ext>
            </a:extLst>
          </p:cNvPr>
          <p:cNvSpPr txBox="1"/>
          <p:nvPr/>
        </p:nvSpPr>
        <p:spPr>
          <a:xfrm>
            <a:off x="9836768" y="5329506"/>
            <a:ext cx="165777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If our approximation is anywhere in this range, then original graph does NOT have an HC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DD38181-6773-45BA-EB09-D17723B21A99}"/>
              </a:ext>
            </a:extLst>
          </p:cNvPr>
          <p:cNvCxnSpPr>
            <a:cxnSpLocks/>
          </p:cNvCxnSpPr>
          <p:nvPr/>
        </p:nvCxnSpPr>
        <p:spPr>
          <a:xfrm flipH="1" flipV="1">
            <a:off x="10511624" y="4555359"/>
            <a:ext cx="121097" cy="674625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0C4D864-975A-A4A5-38E7-08E190586587}"/>
                  </a:ext>
                </a:extLst>
              </p:cNvPr>
              <p:cNvSpPr txBox="1"/>
              <p:nvPr/>
            </p:nvSpPr>
            <p:spPr>
              <a:xfrm>
                <a:off x="11117554" y="3797483"/>
                <a:ext cx="1045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accent4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0C4D864-975A-A4A5-38E7-08E190586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554" y="3797483"/>
                <a:ext cx="1045414" cy="276999"/>
              </a:xfrm>
              <a:prstGeom prst="rect">
                <a:avLst/>
              </a:prstGeom>
              <a:blipFill>
                <a:blip r:embed="rId11"/>
                <a:stretch>
                  <a:fillRect l="-2410" t="-4545" r="-120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4216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13C30-23C4-26BA-C786-B82C12349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D88958-AF90-FEDD-C886-53DEFFFAAA74}"/>
                  </a:ext>
                </a:extLst>
              </p:cNvPr>
              <p:cNvSpPr txBox="1"/>
              <p:nvPr/>
            </p:nvSpPr>
            <p:spPr>
              <a:xfrm>
                <a:off x="1780318" y="2241408"/>
                <a:ext cx="8628185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u="sng" dirty="0">
                    <a:solidFill>
                      <a:schemeClr val="bg1"/>
                    </a:solidFill>
                  </a:rPr>
                  <a:t>Proven</a:t>
                </a:r>
                <a:r>
                  <a:rPr lang="en-US" sz="2800" dirty="0">
                    <a:solidFill>
                      <a:schemeClr val="bg1"/>
                    </a:solidFill>
                  </a:rPr>
                  <a:t>: The general TSP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approximatable if and only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D88958-AF90-FEDD-C886-53DEFFFAA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18" y="2241408"/>
                <a:ext cx="8628185" cy="954107"/>
              </a:xfrm>
              <a:prstGeom prst="rect">
                <a:avLst/>
              </a:prstGeom>
              <a:blipFill>
                <a:blip r:embed="rId2"/>
                <a:stretch>
                  <a:fillRect l="-1322" t="-6494" b="-1558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17EE1DF-B74D-1B98-DC6E-B36CE666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Approximating the General TSP</a:t>
            </a:r>
          </a:p>
        </p:txBody>
      </p:sp>
    </p:spTree>
    <p:extLst>
      <p:ext uri="{BB962C8B-B14F-4D97-AF65-F5344CB8AC3E}">
        <p14:creationId xmlns:p14="http://schemas.microsoft.com/office/powerpoint/2010/main" val="32364102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860330"/>
            <a:ext cx="9906000" cy="2175149"/>
          </a:xfrm>
        </p:spPr>
        <p:txBody>
          <a:bodyPr/>
          <a:lstStyle/>
          <a:p>
            <a:pPr algn="ctr"/>
            <a:r>
              <a:rPr lang="en-US" dirty="0"/>
              <a:t>Set Cover</a:t>
            </a:r>
          </a:p>
        </p:txBody>
      </p:sp>
    </p:spTree>
    <p:extLst>
      <p:ext uri="{BB962C8B-B14F-4D97-AF65-F5344CB8AC3E}">
        <p14:creationId xmlns:p14="http://schemas.microsoft.com/office/powerpoint/2010/main" val="8376616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4312"/>
            <a:ext cx="9905998" cy="733132"/>
          </a:xfrm>
        </p:spPr>
        <p:txBody>
          <a:bodyPr/>
          <a:lstStyle/>
          <a:p>
            <a:pPr algn="ctr"/>
            <a:r>
              <a:rPr lang="en-US" dirty="0"/>
              <a:t>Set Cover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6825258" y="1303275"/>
            <a:ext cx="4732758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Set Cover Problem Statement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D4DE29E-3BC3-C148-957F-F7A1501580D2}"/>
              </a:ext>
            </a:extLst>
          </p:cNvPr>
          <p:cNvGrpSpPr/>
          <p:nvPr/>
        </p:nvGrpSpPr>
        <p:grpSpPr>
          <a:xfrm>
            <a:off x="488022" y="845205"/>
            <a:ext cx="6170674" cy="5801121"/>
            <a:chOff x="488022" y="845205"/>
            <a:chExt cx="6170674" cy="5801121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4FE295E-918B-8B44-BBCF-AC60F2A58A17}"/>
                </a:ext>
              </a:extLst>
            </p:cNvPr>
            <p:cNvSpPr/>
            <p:nvPr/>
          </p:nvSpPr>
          <p:spPr>
            <a:xfrm>
              <a:off x="488022" y="845205"/>
              <a:ext cx="6170674" cy="5801121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51693AD-303D-5247-BA4B-8B44523E924F}"/>
                </a:ext>
              </a:extLst>
            </p:cNvPr>
            <p:cNvSpPr/>
            <p:nvPr/>
          </p:nvSpPr>
          <p:spPr>
            <a:xfrm>
              <a:off x="820266" y="1052731"/>
              <a:ext cx="3618655" cy="5382838"/>
            </a:xfrm>
            <a:custGeom>
              <a:avLst/>
              <a:gdLst>
                <a:gd name="connsiteX0" fmla="*/ 3312822 w 3618655"/>
                <a:gd name="connsiteY0" fmla="*/ 514769 h 6157320"/>
                <a:gd name="connsiteX1" fmla="*/ 2188110 w 3618655"/>
                <a:gd name="connsiteY1" fmla="*/ 478193 h 6157320"/>
                <a:gd name="connsiteX2" fmla="*/ 2032662 w 3618655"/>
                <a:gd name="connsiteY2" fmla="*/ 3075089 h 6157320"/>
                <a:gd name="connsiteX3" fmla="*/ 213006 w 3618655"/>
                <a:gd name="connsiteY3" fmla="*/ 2965361 h 6157320"/>
                <a:gd name="connsiteX4" fmla="*/ 249582 w 3618655"/>
                <a:gd name="connsiteY4" fmla="*/ 4163225 h 6157320"/>
                <a:gd name="connsiteX5" fmla="*/ 2124102 w 3618655"/>
                <a:gd name="connsiteY5" fmla="*/ 4144937 h 6157320"/>
                <a:gd name="connsiteX6" fmla="*/ 2078382 w 3618655"/>
                <a:gd name="connsiteY6" fmla="*/ 5708561 h 6157320"/>
                <a:gd name="connsiteX7" fmla="*/ 3532278 w 3618655"/>
                <a:gd name="connsiteY7" fmla="*/ 5708561 h 6157320"/>
                <a:gd name="connsiteX8" fmla="*/ 3312822 w 3618655"/>
                <a:gd name="connsiteY8" fmla="*/ 514769 h 615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8655" h="6157320">
                  <a:moveTo>
                    <a:pt x="3312822" y="514769"/>
                  </a:moveTo>
                  <a:cubicBezTo>
                    <a:pt x="3088794" y="-356959"/>
                    <a:pt x="2401470" y="51473"/>
                    <a:pt x="2188110" y="478193"/>
                  </a:cubicBezTo>
                  <a:cubicBezTo>
                    <a:pt x="1974750" y="904913"/>
                    <a:pt x="2361846" y="2660561"/>
                    <a:pt x="2032662" y="3075089"/>
                  </a:cubicBezTo>
                  <a:cubicBezTo>
                    <a:pt x="1703478" y="3489617"/>
                    <a:pt x="510186" y="2784005"/>
                    <a:pt x="213006" y="2965361"/>
                  </a:cubicBezTo>
                  <a:cubicBezTo>
                    <a:pt x="-84174" y="3146717"/>
                    <a:pt x="-68934" y="3966629"/>
                    <a:pt x="249582" y="4163225"/>
                  </a:cubicBezTo>
                  <a:cubicBezTo>
                    <a:pt x="568098" y="4359821"/>
                    <a:pt x="1819302" y="3887381"/>
                    <a:pt x="2124102" y="4144937"/>
                  </a:cubicBezTo>
                  <a:cubicBezTo>
                    <a:pt x="2428902" y="4402493"/>
                    <a:pt x="1843686" y="5447957"/>
                    <a:pt x="2078382" y="5708561"/>
                  </a:cubicBezTo>
                  <a:cubicBezTo>
                    <a:pt x="2313078" y="5969165"/>
                    <a:pt x="3325014" y="6572669"/>
                    <a:pt x="3532278" y="5708561"/>
                  </a:cubicBezTo>
                  <a:cubicBezTo>
                    <a:pt x="3739542" y="4844453"/>
                    <a:pt x="3536850" y="1386497"/>
                    <a:pt x="3312822" y="514769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DFE58FC-9EA7-9643-A327-B9197062E72E}"/>
                </a:ext>
              </a:extLst>
            </p:cNvPr>
            <p:cNvSpPr/>
            <p:nvPr/>
          </p:nvSpPr>
          <p:spPr>
            <a:xfrm>
              <a:off x="877824" y="1284204"/>
              <a:ext cx="5431536" cy="2537243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F2E288C-C3E1-994B-B9E1-982FCD83832C}"/>
                </a:ext>
              </a:extLst>
            </p:cNvPr>
            <p:cNvGrpSpPr/>
            <p:nvPr/>
          </p:nvGrpSpPr>
          <p:grpSpPr>
            <a:xfrm>
              <a:off x="1490472" y="1672607"/>
              <a:ext cx="4209288" cy="3991756"/>
              <a:chOff x="1527048" y="1627632"/>
              <a:chExt cx="4209288" cy="3991756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1DF22D9A-25C3-DC49-9FB9-9929B75A2D0A}"/>
                  </a:ext>
                </a:extLst>
              </p:cNvPr>
              <p:cNvSpPr/>
              <p:nvPr/>
            </p:nvSpPr>
            <p:spPr>
              <a:xfrm>
                <a:off x="1527048" y="1627632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E42E551-6382-9D4B-A6A0-AF09C9002525}"/>
                  </a:ext>
                </a:extLst>
              </p:cNvPr>
              <p:cNvSpPr/>
              <p:nvPr/>
            </p:nvSpPr>
            <p:spPr>
              <a:xfrm>
                <a:off x="3334512" y="1627632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EF6C792-8365-864B-8074-685BB1967844}"/>
                  </a:ext>
                </a:extLst>
              </p:cNvPr>
              <p:cNvSpPr/>
              <p:nvPr/>
            </p:nvSpPr>
            <p:spPr>
              <a:xfrm>
                <a:off x="5141976" y="1627632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0A4B58C-28FB-534A-9B2C-90B7FCA3D96D}"/>
                  </a:ext>
                </a:extLst>
              </p:cNvPr>
              <p:cNvSpPr/>
              <p:nvPr/>
            </p:nvSpPr>
            <p:spPr>
              <a:xfrm>
                <a:off x="1527048" y="2760296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BE943D1-75A9-B448-9E4B-E6728C71A7A5}"/>
                  </a:ext>
                </a:extLst>
              </p:cNvPr>
              <p:cNvSpPr/>
              <p:nvPr/>
            </p:nvSpPr>
            <p:spPr>
              <a:xfrm>
                <a:off x="3334512" y="2760296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515881F-FD05-1D42-90DE-93DCBF6A3D39}"/>
                  </a:ext>
                </a:extLst>
              </p:cNvPr>
              <p:cNvSpPr/>
              <p:nvPr/>
            </p:nvSpPr>
            <p:spPr>
              <a:xfrm>
                <a:off x="5141976" y="2760296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3565265-B88B-B841-8F85-CBC43C4D9B73}"/>
                  </a:ext>
                </a:extLst>
              </p:cNvPr>
              <p:cNvSpPr/>
              <p:nvPr/>
            </p:nvSpPr>
            <p:spPr>
              <a:xfrm>
                <a:off x="1527048" y="3892960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D12707A-E7D0-0949-A92D-F5F8F1F34516}"/>
                  </a:ext>
                </a:extLst>
              </p:cNvPr>
              <p:cNvSpPr/>
              <p:nvPr/>
            </p:nvSpPr>
            <p:spPr>
              <a:xfrm>
                <a:off x="3334512" y="3892960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C8D0D4E-F470-0644-9F9B-FD71F8BA233E}"/>
                  </a:ext>
                </a:extLst>
              </p:cNvPr>
              <p:cNvSpPr/>
              <p:nvPr/>
            </p:nvSpPr>
            <p:spPr>
              <a:xfrm>
                <a:off x="5141976" y="3892960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F9A3881-0B39-B84D-8726-EFD1305DA2D6}"/>
                  </a:ext>
                </a:extLst>
              </p:cNvPr>
              <p:cNvSpPr/>
              <p:nvPr/>
            </p:nvSpPr>
            <p:spPr>
              <a:xfrm>
                <a:off x="1527048" y="5025028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3563A96-4D59-C24E-A874-BEB50DFEA6D5}"/>
                  </a:ext>
                </a:extLst>
              </p:cNvPr>
              <p:cNvSpPr/>
              <p:nvPr/>
            </p:nvSpPr>
            <p:spPr>
              <a:xfrm>
                <a:off x="3334512" y="5025028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0C6DFDE-99E1-7B41-BE92-1F69EC2D171E}"/>
                  </a:ext>
                </a:extLst>
              </p:cNvPr>
              <p:cNvSpPr/>
              <p:nvPr/>
            </p:nvSpPr>
            <p:spPr>
              <a:xfrm>
                <a:off x="5141976" y="5025028"/>
                <a:ext cx="594360" cy="59436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E01E7A6-ED55-784B-8071-B6CC2F68B26F}"/>
                </a:ext>
              </a:extLst>
            </p:cNvPr>
            <p:cNvSpPr/>
            <p:nvPr/>
          </p:nvSpPr>
          <p:spPr>
            <a:xfrm>
              <a:off x="2752344" y="2431559"/>
              <a:ext cx="3557016" cy="240380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7B16954-C1D0-F847-A4A2-64E24D6930C9}"/>
                </a:ext>
              </a:extLst>
            </p:cNvPr>
            <p:cNvSpPr/>
            <p:nvPr/>
          </p:nvSpPr>
          <p:spPr>
            <a:xfrm>
              <a:off x="844888" y="4828284"/>
              <a:ext cx="3465576" cy="115443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3BECCF2-B688-084D-9E69-8CA1B4185772}"/>
                    </a:ext>
                  </a:extLst>
                </p:cNvPr>
                <p:cNvSpPr txBox="1"/>
                <p:nvPr/>
              </p:nvSpPr>
              <p:spPr>
                <a:xfrm>
                  <a:off x="4236451" y="1267032"/>
                  <a:ext cx="462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3BECCF2-B688-084D-9E69-8CA1B4185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6451" y="1267032"/>
                  <a:ext cx="46249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3FB52E8-EF92-BA4A-9C80-9CD93585F559}"/>
                    </a:ext>
                  </a:extLst>
                </p:cNvPr>
                <p:cNvSpPr txBox="1"/>
                <p:nvPr/>
              </p:nvSpPr>
              <p:spPr>
                <a:xfrm>
                  <a:off x="1161797" y="6083409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3FB52E8-EF92-BA4A-9C80-9CD93585F5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797" y="6083409"/>
                  <a:ext cx="46782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08D2571-6142-E748-95DD-A07723FCF889}"/>
                </a:ext>
              </a:extLst>
            </p:cNvPr>
            <p:cNvSpPr/>
            <p:nvPr/>
          </p:nvSpPr>
          <p:spPr>
            <a:xfrm>
              <a:off x="1221316" y="1159411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CFC0794-6533-FC4C-A657-7C62D4856D2D}"/>
                </a:ext>
              </a:extLst>
            </p:cNvPr>
            <p:cNvSpPr/>
            <p:nvPr/>
          </p:nvSpPr>
          <p:spPr>
            <a:xfrm>
              <a:off x="4686892" y="1134496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E0AB300-B155-584A-ABC4-9F0D7342867E}"/>
                    </a:ext>
                  </a:extLst>
                </p:cNvPr>
                <p:cNvSpPr txBox="1"/>
                <p:nvPr/>
              </p:nvSpPr>
              <p:spPr>
                <a:xfrm>
                  <a:off x="6190876" y="3841126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E0AB300-B155-584A-ABC4-9F0D734286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876" y="3841126"/>
                  <a:ext cx="46782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533D9C1-1935-F748-BE4D-7AB23AD2A3B9}"/>
                    </a:ext>
                  </a:extLst>
                </p:cNvPr>
                <p:cNvSpPr txBox="1"/>
                <p:nvPr/>
              </p:nvSpPr>
              <p:spPr>
                <a:xfrm>
                  <a:off x="4249993" y="6066237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533D9C1-1935-F748-BE4D-7AB23AD2A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9993" y="6066237"/>
                  <a:ext cx="4678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447B4EB-DB71-684D-939D-27E92D032A31}"/>
                    </a:ext>
                  </a:extLst>
                </p:cNvPr>
                <p:cNvSpPr txBox="1"/>
                <p:nvPr/>
              </p:nvSpPr>
              <p:spPr>
                <a:xfrm>
                  <a:off x="5876151" y="5723060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447B4EB-DB71-684D-939D-27E92D032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6151" y="5723060"/>
                  <a:ext cx="46782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68874DE-1500-6147-88B3-C1501D566FFC}"/>
                    </a:ext>
                  </a:extLst>
                </p:cNvPr>
                <p:cNvSpPr txBox="1"/>
                <p:nvPr/>
              </p:nvSpPr>
              <p:spPr>
                <a:xfrm>
                  <a:off x="586934" y="4822089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68874DE-1500-6147-88B3-C1501D566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934" y="4822089"/>
                  <a:ext cx="46782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2C29C61-5373-3D49-BEBF-754BBD12C0F9}"/>
                  </a:ext>
                </a:extLst>
              </p:cNvPr>
              <p:cNvSpPr txBox="1"/>
              <p:nvPr/>
            </p:nvSpPr>
            <p:spPr>
              <a:xfrm>
                <a:off x="6825258" y="1897635"/>
                <a:ext cx="4732758" cy="289714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u="sng" dirty="0">
                    <a:solidFill>
                      <a:schemeClr val="bg1"/>
                    </a:solidFill>
                  </a:rPr>
                  <a:t>INPUT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     A finite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(black nodes in image)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     A family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or subsets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|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/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nary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A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said to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cover</a:t>
                </a:r>
                <a:r>
                  <a:rPr lang="en-US" dirty="0">
                    <a:solidFill>
                      <a:schemeClr val="bg1"/>
                    </a:solidFill>
                  </a:rPr>
                  <a:t> its elements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i="1" u="sng" dirty="0">
                    <a:solidFill>
                      <a:schemeClr val="bg1"/>
                    </a:solidFill>
                  </a:rPr>
                  <a:t>OUTPUT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     Minimum size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such that: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  <m:sup/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nary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2C29C61-5373-3D49-BEBF-754BBD12C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258" y="1897635"/>
                <a:ext cx="4732758" cy="2897140"/>
              </a:xfrm>
              <a:prstGeom prst="rect">
                <a:avLst/>
              </a:prstGeom>
              <a:blipFill>
                <a:blip r:embed="rId8"/>
                <a:stretch>
                  <a:fillRect l="-800" t="-433" b="-1515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96B3F65-419C-C245-9211-ECAC2DD443DC}"/>
              </a:ext>
            </a:extLst>
          </p:cNvPr>
          <p:cNvSpPr txBox="1"/>
          <p:nvPr/>
        </p:nvSpPr>
        <p:spPr>
          <a:xfrm>
            <a:off x="8595359" y="5815329"/>
            <a:ext cx="261147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i="1" dirty="0"/>
              <a:t>In other words, find the smallest group of subsets that include all the elements.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8F43EC-9135-8946-B298-040173926B50}"/>
              </a:ext>
            </a:extLst>
          </p:cNvPr>
          <p:cNvCxnSpPr/>
          <p:nvPr/>
        </p:nvCxnSpPr>
        <p:spPr>
          <a:xfrm flipH="1" flipV="1">
            <a:off x="8741664" y="5006755"/>
            <a:ext cx="449973" cy="71630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2165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7736"/>
            <a:ext cx="9905998" cy="733132"/>
          </a:xfrm>
        </p:spPr>
        <p:txBody>
          <a:bodyPr/>
          <a:lstStyle/>
          <a:p>
            <a:pPr algn="ctr"/>
            <a:r>
              <a:rPr lang="en-US" dirty="0"/>
              <a:t>Set Cover Problem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FC8F05-1A09-5C4B-B38E-6C0C004039E4}"/>
              </a:ext>
            </a:extLst>
          </p:cNvPr>
          <p:cNvGrpSpPr/>
          <p:nvPr/>
        </p:nvGrpSpPr>
        <p:grpSpPr>
          <a:xfrm>
            <a:off x="1649310" y="842630"/>
            <a:ext cx="6170674" cy="5801121"/>
            <a:chOff x="1649310" y="842630"/>
            <a:chExt cx="6170674" cy="5801121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4FE295E-918B-8B44-BBCF-AC60F2A58A17}"/>
                </a:ext>
              </a:extLst>
            </p:cNvPr>
            <p:cNvSpPr/>
            <p:nvPr/>
          </p:nvSpPr>
          <p:spPr>
            <a:xfrm>
              <a:off x="1649310" y="842630"/>
              <a:ext cx="6170674" cy="5801121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51693AD-303D-5247-BA4B-8B44523E924F}"/>
                </a:ext>
              </a:extLst>
            </p:cNvPr>
            <p:cNvSpPr/>
            <p:nvPr/>
          </p:nvSpPr>
          <p:spPr>
            <a:xfrm>
              <a:off x="1981554" y="1050156"/>
              <a:ext cx="3618655" cy="5382838"/>
            </a:xfrm>
            <a:custGeom>
              <a:avLst/>
              <a:gdLst>
                <a:gd name="connsiteX0" fmla="*/ 3312822 w 3618655"/>
                <a:gd name="connsiteY0" fmla="*/ 514769 h 6157320"/>
                <a:gd name="connsiteX1" fmla="*/ 2188110 w 3618655"/>
                <a:gd name="connsiteY1" fmla="*/ 478193 h 6157320"/>
                <a:gd name="connsiteX2" fmla="*/ 2032662 w 3618655"/>
                <a:gd name="connsiteY2" fmla="*/ 3075089 h 6157320"/>
                <a:gd name="connsiteX3" fmla="*/ 213006 w 3618655"/>
                <a:gd name="connsiteY3" fmla="*/ 2965361 h 6157320"/>
                <a:gd name="connsiteX4" fmla="*/ 249582 w 3618655"/>
                <a:gd name="connsiteY4" fmla="*/ 4163225 h 6157320"/>
                <a:gd name="connsiteX5" fmla="*/ 2124102 w 3618655"/>
                <a:gd name="connsiteY5" fmla="*/ 4144937 h 6157320"/>
                <a:gd name="connsiteX6" fmla="*/ 2078382 w 3618655"/>
                <a:gd name="connsiteY6" fmla="*/ 5708561 h 6157320"/>
                <a:gd name="connsiteX7" fmla="*/ 3532278 w 3618655"/>
                <a:gd name="connsiteY7" fmla="*/ 5708561 h 6157320"/>
                <a:gd name="connsiteX8" fmla="*/ 3312822 w 3618655"/>
                <a:gd name="connsiteY8" fmla="*/ 514769 h 615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8655" h="6157320">
                  <a:moveTo>
                    <a:pt x="3312822" y="514769"/>
                  </a:moveTo>
                  <a:cubicBezTo>
                    <a:pt x="3088794" y="-356959"/>
                    <a:pt x="2401470" y="51473"/>
                    <a:pt x="2188110" y="478193"/>
                  </a:cubicBezTo>
                  <a:cubicBezTo>
                    <a:pt x="1974750" y="904913"/>
                    <a:pt x="2361846" y="2660561"/>
                    <a:pt x="2032662" y="3075089"/>
                  </a:cubicBezTo>
                  <a:cubicBezTo>
                    <a:pt x="1703478" y="3489617"/>
                    <a:pt x="510186" y="2784005"/>
                    <a:pt x="213006" y="2965361"/>
                  </a:cubicBezTo>
                  <a:cubicBezTo>
                    <a:pt x="-84174" y="3146717"/>
                    <a:pt x="-68934" y="3966629"/>
                    <a:pt x="249582" y="4163225"/>
                  </a:cubicBezTo>
                  <a:cubicBezTo>
                    <a:pt x="568098" y="4359821"/>
                    <a:pt x="1819302" y="3887381"/>
                    <a:pt x="2124102" y="4144937"/>
                  </a:cubicBezTo>
                  <a:cubicBezTo>
                    <a:pt x="2428902" y="4402493"/>
                    <a:pt x="1843686" y="5447957"/>
                    <a:pt x="2078382" y="5708561"/>
                  </a:cubicBezTo>
                  <a:cubicBezTo>
                    <a:pt x="2313078" y="5969165"/>
                    <a:pt x="3325014" y="6572669"/>
                    <a:pt x="3532278" y="5708561"/>
                  </a:cubicBezTo>
                  <a:cubicBezTo>
                    <a:pt x="3739542" y="4844453"/>
                    <a:pt x="3536850" y="1386497"/>
                    <a:pt x="3312822" y="514769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DFE58FC-9EA7-9643-A327-B9197062E72E}"/>
                </a:ext>
              </a:extLst>
            </p:cNvPr>
            <p:cNvSpPr/>
            <p:nvPr/>
          </p:nvSpPr>
          <p:spPr>
            <a:xfrm>
              <a:off x="2039112" y="1281629"/>
              <a:ext cx="5431536" cy="2537243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F2E288C-C3E1-994B-B9E1-982FCD83832C}"/>
                </a:ext>
              </a:extLst>
            </p:cNvPr>
            <p:cNvGrpSpPr/>
            <p:nvPr/>
          </p:nvGrpSpPr>
          <p:grpSpPr>
            <a:xfrm>
              <a:off x="2651760" y="1670032"/>
              <a:ext cx="4209288" cy="3991756"/>
              <a:chOff x="1527048" y="1627632"/>
              <a:chExt cx="4209288" cy="3991756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1DF22D9A-25C3-DC49-9FB9-9929B75A2D0A}"/>
                  </a:ext>
                </a:extLst>
              </p:cNvPr>
              <p:cNvSpPr/>
              <p:nvPr/>
            </p:nvSpPr>
            <p:spPr>
              <a:xfrm>
                <a:off x="1527048" y="1627632"/>
                <a:ext cx="594360" cy="594360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E42E551-6382-9D4B-A6A0-AF09C9002525}"/>
                  </a:ext>
                </a:extLst>
              </p:cNvPr>
              <p:cNvSpPr/>
              <p:nvPr/>
            </p:nvSpPr>
            <p:spPr>
              <a:xfrm>
                <a:off x="3334512" y="1627632"/>
                <a:ext cx="594360" cy="59436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EF6C792-8365-864B-8074-685BB1967844}"/>
                  </a:ext>
                </a:extLst>
              </p:cNvPr>
              <p:cNvSpPr/>
              <p:nvPr/>
            </p:nvSpPr>
            <p:spPr>
              <a:xfrm>
                <a:off x="5141976" y="1627632"/>
                <a:ext cx="594360" cy="59436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0A4B58C-28FB-534A-9B2C-90B7FCA3D96D}"/>
                  </a:ext>
                </a:extLst>
              </p:cNvPr>
              <p:cNvSpPr/>
              <p:nvPr/>
            </p:nvSpPr>
            <p:spPr>
              <a:xfrm>
                <a:off x="1527048" y="2760296"/>
                <a:ext cx="594360" cy="594360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BE943D1-75A9-B448-9E4B-E6728C71A7A5}"/>
                  </a:ext>
                </a:extLst>
              </p:cNvPr>
              <p:cNvSpPr/>
              <p:nvPr/>
            </p:nvSpPr>
            <p:spPr>
              <a:xfrm>
                <a:off x="3334512" y="2760296"/>
                <a:ext cx="594360" cy="59436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515881F-FD05-1D42-90DE-93DCBF6A3D39}"/>
                  </a:ext>
                </a:extLst>
              </p:cNvPr>
              <p:cNvSpPr/>
              <p:nvPr/>
            </p:nvSpPr>
            <p:spPr>
              <a:xfrm>
                <a:off x="5141976" y="2760296"/>
                <a:ext cx="594360" cy="59436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3565265-B88B-B841-8F85-CBC43C4D9B73}"/>
                  </a:ext>
                </a:extLst>
              </p:cNvPr>
              <p:cNvSpPr/>
              <p:nvPr/>
            </p:nvSpPr>
            <p:spPr>
              <a:xfrm>
                <a:off x="1527048" y="3892960"/>
                <a:ext cx="594360" cy="59436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D12707A-E7D0-0949-A92D-F5F8F1F34516}"/>
                  </a:ext>
                </a:extLst>
              </p:cNvPr>
              <p:cNvSpPr/>
              <p:nvPr/>
            </p:nvSpPr>
            <p:spPr>
              <a:xfrm>
                <a:off x="3334512" y="3892960"/>
                <a:ext cx="594360" cy="59436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C8D0D4E-F470-0644-9F9B-FD71F8BA233E}"/>
                  </a:ext>
                </a:extLst>
              </p:cNvPr>
              <p:cNvSpPr/>
              <p:nvPr/>
            </p:nvSpPr>
            <p:spPr>
              <a:xfrm>
                <a:off x="5141976" y="3892960"/>
                <a:ext cx="594360" cy="59436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F9A3881-0B39-B84D-8726-EFD1305DA2D6}"/>
                  </a:ext>
                </a:extLst>
              </p:cNvPr>
              <p:cNvSpPr/>
              <p:nvPr/>
            </p:nvSpPr>
            <p:spPr>
              <a:xfrm>
                <a:off x="1527048" y="5025028"/>
                <a:ext cx="594360" cy="594360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3563A96-4D59-C24E-A874-BEB50DFEA6D5}"/>
                  </a:ext>
                </a:extLst>
              </p:cNvPr>
              <p:cNvSpPr/>
              <p:nvPr/>
            </p:nvSpPr>
            <p:spPr>
              <a:xfrm>
                <a:off x="3334512" y="5025028"/>
                <a:ext cx="594360" cy="59436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0C6DFDE-99E1-7B41-BE92-1F69EC2D171E}"/>
                  </a:ext>
                </a:extLst>
              </p:cNvPr>
              <p:cNvSpPr/>
              <p:nvPr/>
            </p:nvSpPr>
            <p:spPr>
              <a:xfrm>
                <a:off x="5141976" y="5025028"/>
                <a:ext cx="594360" cy="59436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E01E7A6-ED55-784B-8071-B6CC2F68B26F}"/>
                </a:ext>
              </a:extLst>
            </p:cNvPr>
            <p:cNvSpPr/>
            <p:nvPr/>
          </p:nvSpPr>
          <p:spPr>
            <a:xfrm>
              <a:off x="3913632" y="2428984"/>
              <a:ext cx="3557016" cy="240380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7B16954-C1D0-F847-A4A2-64E24D6930C9}"/>
                </a:ext>
              </a:extLst>
            </p:cNvPr>
            <p:cNvSpPr/>
            <p:nvPr/>
          </p:nvSpPr>
          <p:spPr>
            <a:xfrm>
              <a:off x="2006176" y="4825709"/>
              <a:ext cx="3465576" cy="115443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3BECCF2-B688-084D-9E69-8CA1B4185772}"/>
                    </a:ext>
                  </a:extLst>
                </p:cNvPr>
                <p:cNvSpPr txBox="1"/>
                <p:nvPr/>
              </p:nvSpPr>
              <p:spPr>
                <a:xfrm>
                  <a:off x="5397739" y="1264457"/>
                  <a:ext cx="462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>
                        <a:lumMod val="8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3BECCF2-B688-084D-9E69-8CA1B4185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739" y="1264457"/>
                  <a:ext cx="46249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3FB52E8-EF92-BA4A-9C80-9CD93585F559}"/>
                    </a:ext>
                  </a:extLst>
                </p:cNvPr>
                <p:cNvSpPr txBox="1"/>
                <p:nvPr/>
              </p:nvSpPr>
              <p:spPr>
                <a:xfrm>
                  <a:off x="2323085" y="6080834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3FB52E8-EF92-BA4A-9C80-9CD93585F5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3085" y="6080834"/>
                  <a:ext cx="46782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08D2571-6142-E748-95DD-A07723FCF889}"/>
                </a:ext>
              </a:extLst>
            </p:cNvPr>
            <p:cNvSpPr/>
            <p:nvPr/>
          </p:nvSpPr>
          <p:spPr>
            <a:xfrm>
              <a:off x="2382604" y="1156836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CFC0794-6533-FC4C-A657-7C62D4856D2D}"/>
                </a:ext>
              </a:extLst>
            </p:cNvPr>
            <p:cNvSpPr/>
            <p:nvPr/>
          </p:nvSpPr>
          <p:spPr>
            <a:xfrm>
              <a:off x="5848180" y="1131921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E0AB300-B155-584A-ABC4-9F0D7342867E}"/>
                    </a:ext>
                  </a:extLst>
                </p:cNvPr>
                <p:cNvSpPr txBox="1"/>
                <p:nvPr/>
              </p:nvSpPr>
              <p:spPr>
                <a:xfrm>
                  <a:off x="7352164" y="3838551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>
                        <a:lumMod val="8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E0AB300-B155-584A-ABC4-9F0D734286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2164" y="3838551"/>
                  <a:ext cx="46782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533D9C1-1935-F748-BE4D-7AB23AD2A3B9}"/>
                    </a:ext>
                  </a:extLst>
                </p:cNvPr>
                <p:cNvSpPr txBox="1"/>
                <p:nvPr/>
              </p:nvSpPr>
              <p:spPr>
                <a:xfrm>
                  <a:off x="5411281" y="6063662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533D9C1-1935-F748-BE4D-7AB23AD2A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281" y="6063662"/>
                  <a:ext cx="4678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447B4EB-DB71-684D-939D-27E92D032A31}"/>
                    </a:ext>
                  </a:extLst>
                </p:cNvPr>
                <p:cNvSpPr txBox="1"/>
                <p:nvPr/>
              </p:nvSpPr>
              <p:spPr>
                <a:xfrm>
                  <a:off x="7037439" y="5720485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447B4EB-DB71-684D-939D-27E92D032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7439" y="5720485"/>
                  <a:ext cx="46782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68874DE-1500-6147-88B3-C1501D566FFC}"/>
                    </a:ext>
                  </a:extLst>
                </p:cNvPr>
                <p:cNvSpPr txBox="1"/>
                <p:nvPr/>
              </p:nvSpPr>
              <p:spPr>
                <a:xfrm>
                  <a:off x="1748222" y="4819514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>
                        <a:lumMod val="8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68874DE-1500-6147-88B3-C1501D566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8222" y="4819514"/>
                  <a:ext cx="46782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96B3F65-419C-C245-9211-ECAC2DD443DC}"/>
                  </a:ext>
                </a:extLst>
              </p:cNvPr>
              <p:cNvSpPr txBox="1"/>
              <p:nvPr/>
            </p:nvSpPr>
            <p:spPr>
              <a:xfrm>
                <a:off x="9052560" y="1921152"/>
                <a:ext cx="2798064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i="1" dirty="0"/>
                  <a:t>Minimum cover is called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i="1" dirty="0"/>
                  <a:t>, for this case,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i="1" dirty="0"/>
                  <a:t> is shown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96B3F65-419C-C245-9211-ECAC2DD44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0" y="1921152"/>
                <a:ext cx="2798064" cy="1015663"/>
              </a:xfrm>
              <a:prstGeom prst="rect">
                <a:avLst/>
              </a:prstGeom>
              <a:blipFill>
                <a:blip r:embed="rId8"/>
                <a:stretch>
                  <a:fillRect t="-2469" r="-4525" b="-98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8F43EC-9135-8946-B298-040173926B50}"/>
              </a:ext>
            </a:extLst>
          </p:cNvPr>
          <p:cNvCxnSpPr>
            <a:cxnSpLocks/>
          </p:cNvCxnSpPr>
          <p:nvPr/>
        </p:nvCxnSpPr>
        <p:spPr>
          <a:xfrm flipH="1">
            <a:off x="8078607" y="2428983"/>
            <a:ext cx="1220841" cy="18841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7EFBF42-876E-1E4B-84A3-0216E0742DA9}"/>
              </a:ext>
            </a:extLst>
          </p:cNvPr>
          <p:cNvSpPr txBox="1"/>
          <p:nvPr/>
        </p:nvSpPr>
        <p:spPr>
          <a:xfrm>
            <a:off x="8842247" y="4478850"/>
            <a:ext cx="2548585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Set Cover is also NP-Hard, by the way.</a:t>
            </a:r>
          </a:p>
        </p:txBody>
      </p:sp>
    </p:spTree>
    <p:extLst>
      <p:ext uri="{BB962C8B-B14F-4D97-AF65-F5344CB8AC3E}">
        <p14:creationId xmlns:p14="http://schemas.microsoft.com/office/powerpoint/2010/main" val="11855047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740361"/>
          </a:xfrm>
        </p:spPr>
        <p:txBody>
          <a:bodyPr/>
          <a:lstStyle/>
          <a:p>
            <a:pPr algn="ctr"/>
            <a:r>
              <a:rPr lang="en-US" dirty="0"/>
              <a:t>Approximating Set Cover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4557942" y="1717825"/>
            <a:ext cx="4554266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greedy approximation for set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/>
              <p:nvPr/>
            </p:nvSpPr>
            <p:spPr>
              <a:xfrm>
                <a:off x="4557942" y="2153688"/>
                <a:ext cx="4554266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</a:rPr>
                  <a:t>Greedy-Set-Cover</a:t>
                </a:r>
                <a:r>
                  <a:rPr lang="en-US" dirty="0">
                    <a:solidFill>
                      <a:schemeClr val="bg1"/>
                    </a:solidFill>
                  </a:rPr>
                  <a:t>(X, F):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while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     select 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that maximizes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⋂"/>
                            <m:subHide m:val="on"/>
                            <m:supHide m:val="on"/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return</a:t>
                </a:r>
                <a:r>
                  <a:rPr lang="en-US" dirty="0">
                    <a:solidFill>
                      <a:schemeClr val="bg1"/>
                    </a:solidFill>
                  </a:rPr>
                  <a:t> C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942" y="2153688"/>
                <a:ext cx="4554266" cy="2308324"/>
              </a:xfrm>
              <a:prstGeom prst="rect">
                <a:avLst/>
              </a:prstGeom>
              <a:blipFill>
                <a:blip r:embed="rId2"/>
                <a:stretch>
                  <a:fillRect l="-1111" t="-1093" b="-103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63CAD0F-7FB4-D34F-AE16-322FF57518FC}"/>
              </a:ext>
            </a:extLst>
          </p:cNvPr>
          <p:cNvSpPr txBox="1"/>
          <p:nvPr/>
        </p:nvSpPr>
        <p:spPr>
          <a:xfrm>
            <a:off x="2000948" y="5441146"/>
            <a:ext cx="21762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What is the runtime of this method?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4A80A-50B4-A746-AA76-787F533F1207}"/>
              </a:ext>
            </a:extLst>
          </p:cNvPr>
          <p:cNvCxnSpPr>
            <a:cxnSpLocks/>
          </p:cNvCxnSpPr>
          <p:nvPr/>
        </p:nvCxnSpPr>
        <p:spPr>
          <a:xfrm flipV="1">
            <a:off x="3843992" y="4635562"/>
            <a:ext cx="713950" cy="80558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CF307B-7D88-7644-8812-0E660BD928DB}"/>
              </a:ext>
            </a:extLst>
          </p:cNvPr>
          <p:cNvSpPr txBox="1"/>
          <p:nvPr/>
        </p:nvSpPr>
        <p:spPr>
          <a:xfrm>
            <a:off x="5500052" y="4537687"/>
            <a:ext cx="57745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… in other words, always select the subset that adds the most new (currently uncovered) elements to the cover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D6FCA9-5546-CC4B-AAFE-98DA4FAD0580}"/>
              </a:ext>
            </a:extLst>
          </p:cNvPr>
          <p:cNvSpPr txBox="1"/>
          <p:nvPr/>
        </p:nvSpPr>
        <p:spPr>
          <a:xfrm>
            <a:off x="315404" y="2874345"/>
            <a:ext cx="2464372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How good of a cover will this produce? Any “gut” reactions?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5CA7B4-AC04-7E47-B380-4C06D157EC01}"/>
              </a:ext>
            </a:extLst>
          </p:cNvPr>
          <p:cNvCxnSpPr>
            <a:cxnSpLocks/>
          </p:cNvCxnSpPr>
          <p:nvPr/>
        </p:nvCxnSpPr>
        <p:spPr>
          <a:xfrm flipV="1">
            <a:off x="2779776" y="3277136"/>
            <a:ext cx="1563624" cy="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2898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088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Approximating Set Cover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7365150" y="1050313"/>
            <a:ext cx="4554266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greedy approximation for set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/>
              <p:nvPr/>
            </p:nvSpPr>
            <p:spPr>
              <a:xfrm>
                <a:off x="7365150" y="1486176"/>
                <a:ext cx="4554266" cy="23083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</a:rPr>
                  <a:t>Greedy-Set-Cover</a:t>
                </a:r>
                <a:r>
                  <a:rPr lang="en-US" dirty="0">
                    <a:solidFill>
                      <a:schemeClr val="bg1"/>
                    </a:solidFill>
                  </a:rPr>
                  <a:t>(X, F):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while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     select 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that maximizes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⋂"/>
                            <m:subHide m:val="on"/>
                            <m:supHide m:val="on"/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return</a:t>
                </a:r>
                <a:r>
                  <a:rPr lang="en-US" dirty="0">
                    <a:solidFill>
                      <a:schemeClr val="bg1"/>
                    </a:solidFill>
                  </a:rPr>
                  <a:t> C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150" y="1486176"/>
                <a:ext cx="4554266" cy="2308324"/>
              </a:xfrm>
              <a:prstGeom prst="rect">
                <a:avLst/>
              </a:prstGeom>
              <a:blipFill>
                <a:blip r:embed="rId2"/>
                <a:stretch>
                  <a:fillRect l="-831" t="-1087" b="-97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00D3A41-F342-1A47-986A-5FFE606F2979}"/>
              </a:ext>
            </a:extLst>
          </p:cNvPr>
          <p:cNvGrpSpPr/>
          <p:nvPr/>
        </p:nvGrpSpPr>
        <p:grpSpPr>
          <a:xfrm>
            <a:off x="808062" y="936645"/>
            <a:ext cx="6170674" cy="5801121"/>
            <a:chOff x="808062" y="936645"/>
            <a:chExt cx="6170674" cy="5801121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F03E741-A46F-3148-99CA-80600871D058}"/>
                </a:ext>
              </a:extLst>
            </p:cNvPr>
            <p:cNvSpPr/>
            <p:nvPr/>
          </p:nvSpPr>
          <p:spPr>
            <a:xfrm>
              <a:off x="808062" y="936645"/>
              <a:ext cx="6170674" cy="5801121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9D4FA61-07C4-BE49-9593-8756BF4DD610}"/>
                </a:ext>
              </a:extLst>
            </p:cNvPr>
            <p:cNvSpPr/>
            <p:nvPr/>
          </p:nvSpPr>
          <p:spPr>
            <a:xfrm>
              <a:off x="1140306" y="1144171"/>
              <a:ext cx="3618655" cy="5382838"/>
            </a:xfrm>
            <a:custGeom>
              <a:avLst/>
              <a:gdLst>
                <a:gd name="connsiteX0" fmla="*/ 3312822 w 3618655"/>
                <a:gd name="connsiteY0" fmla="*/ 514769 h 6157320"/>
                <a:gd name="connsiteX1" fmla="*/ 2188110 w 3618655"/>
                <a:gd name="connsiteY1" fmla="*/ 478193 h 6157320"/>
                <a:gd name="connsiteX2" fmla="*/ 2032662 w 3618655"/>
                <a:gd name="connsiteY2" fmla="*/ 3075089 h 6157320"/>
                <a:gd name="connsiteX3" fmla="*/ 213006 w 3618655"/>
                <a:gd name="connsiteY3" fmla="*/ 2965361 h 6157320"/>
                <a:gd name="connsiteX4" fmla="*/ 249582 w 3618655"/>
                <a:gd name="connsiteY4" fmla="*/ 4163225 h 6157320"/>
                <a:gd name="connsiteX5" fmla="*/ 2124102 w 3618655"/>
                <a:gd name="connsiteY5" fmla="*/ 4144937 h 6157320"/>
                <a:gd name="connsiteX6" fmla="*/ 2078382 w 3618655"/>
                <a:gd name="connsiteY6" fmla="*/ 5708561 h 6157320"/>
                <a:gd name="connsiteX7" fmla="*/ 3532278 w 3618655"/>
                <a:gd name="connsiteY7" fmla="*/ 5708561 h 6157320"/>
                <a:gd name="connsiteX8" fmla="*/ 3312822 w 3618655"/>
                <a:gd name="connsiteY8" fmla="*/ 514769 h 615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8655" h="6157320">
                  <a:moveTo>
                    <a:pt x="3312822" y="514769"/>
                  </a:moveTo>
                  <a:cubicBezTo>
                    <a:pt x="3088794" y="-356959"/>
                    <a:pt x="2401470" y="51473"/>
                    <a:pt x="2188110" y="478193"/>
                  </a:cubicBezTo>
                  <a:cubicBezTo>
                    <a:pt x="1974750" y="904913"/>
                    <a:pt x="2361846" y="2660561"/>
                    <a:pt x="2032662" y="3075089"/>
                  </a:cubicBezTo>
                  <a:cubicBezTo>
                    <a:pt x="1703478" y="3489617"/>
                    <a:pt x="510186" y="2784005"/>
                    <a:pt x="213006" y="2965361"/>
                  </a:cubicBezTo>
                  <a:cubicBezTo>
                    <a:pt x="-84174" y="3146717"/>
                    <a:pt x="-68934" y="3966629"/>
                    <a:pt x="249582" y="4163225"/>
                  </a:cubicBezTo>
                  <a:cubicBezTo>
                    <a:pt x="568098" y="4359821"/>
                    <a:pt x="1819302" y="3887381"/>
                    <a:pt x="2124102" y="4144937"/>
                  </a:cubicBezTo>
                  <a:cubicBezTo>
                    <a:pt x="2428902" y="4402493"/>
                    <a:pt x="1843686" y="5447957"/>
                    <a:pt x="2078382" y="5708561"/>
                  </a:cubicBezTo>
                  <a:cubicBezTo>
                    <a:pt x="2313078" y="5969165"/>
                    <a:pt x="3325014" y="6572669"/>
                    <a:pt x="3532278" y="5708561"/>
                  </a:cubicBezTo>
                  <a:cubicBezTo>
                    <a:pt x="3739542" y="4844453"/>
                    <a:pt x="3536850" y="1386497"/>
                    <a:pt x="3312822" y="514769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C7B14BB-B59F-EC42-90EC-EC77EB368662}"/>
                </a:ext>
              </a:extLst>
            </p:cNvPr>
            <p:cNvSpPr/>
            <p:nvPr/>
          </p:nvSpPr>
          <p:spPr>
            <a:xfrm>
              <a:off x="1197864" y="1375644"/>
              <a:ext cx="5431536" cy="2537243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5D9CB15-26CF-3D46-9447-429E53C6503F}"/>
                </a:ext>
              </a:extLst>
            </p:cNvPr>
            <p:cNvGrpSpPr/>
            <p:nvPr/>
          </p:nvGrpSpPr>
          <p:grpSpPr>
            <a:xfrm>
              <a:off x="1810512" y="1764047"/>
              <a:ext cx="4209288" cy="3991756"/>
              <a:chOff x="1527048" y="1627632"/>
              <a:chExt cx="4209288" cy="3991756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0C3EC4E-293D-FC4B-88E5-FC8513A2D42F}"/>
                  </a:ext>
                </a:extLst>
              </p:cNvPr>
              <p:cNvSpPr/>
              <p:nvPr/>
            </p:nvSpPr>
            <p:spPr>
              <a:xfrm>
                <a:off x="1527048" y="1627632"/>
                <a:ext cx="594360" cy="59436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59B86D1-8F77-E846-8E11-5D441540D030}"/>
                  </a:ext>
                </a:extLst>
              </p:cNvPr>
              <p:cNvSpPr/>
              <p:nvPr/>
            </p:nvSpPr>
            <p:spPr>
              <a:xfrm>
                <a:off x="3334512" y="1627632"/>
                <a:ext cx="594360" cy="59436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C421902-B091-C043-BC00-62C35A65BE54}"/>
                  </a:ext>
                </a:extLst>
              </p:cNvPr>
              <p:cNvSpPr/>
              <p:nvPr/>
            </p:nvSpPr>
            <p:spPr>
              <a:xfrm>
                <a:off x="5141976" y="1627632"/>
                <a:ext cx="594360" cy="59436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1D103D7-976A-C647-A872-A4AFB5FAB4E6}"/>
                  </a:ext>
                </a:extLst>
              </p:cNvPr>
              <p:cNvSpPr/>
              <p:nvPr/>
            </p:nvSpPr>
            <p:spPr>
              <a:xfrm>
                <a:off x="1527048" y="2760296"/>
                <a:ext cx="594360" cy="59436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44B1FE5-2868-6642-884D-91C2BB546C74}"/>
                  </a:ext>
                </a:extLst>
              </p:cNvPr>
              <p:cNvSpPr/>
              <p:nvPr/>
            </p:nvSpPr>
            <p:spPr>
              <a:xfrm>
                <a:off x="3334512" y="2760296"/>
                <a:ext cx="594360" cy="59436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2D237C8-82F7-9147-9171-2623F1BD64BF}"/>
                  </a:ext>
                </a:extLst>
              </p:cNvPr>
              <p:cNvSpPr/>
              <p:nvPr/>
            </p:nvSpPr>
            <p:spPr>
              <a:xfrm>
                <a:off x="5141976" y="2760296"/>
                <a:ext cx="594360" cy="59436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D0122B6-8758-C341-BF10-18562A166F24}"/>
                  </a:ext>
                </a:extLst>
              </p:cNvPr>
              <p:cNvSpPr/>
              <p:nvPr/>
            </p:nvSpPr>
            <p:spPr>
              <a:xfrm>
                <a:off x="1527048" y="3892960"/>
                <a:ext cx="594360" cy="59436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543C0C1-643B-A343-BA33-CFCD6D133696}"/>
                  </a:ext>
                </a:extLst>
              </p:cNvPr>
              <p:cNvSpPr/>
              <p:nvPr/>
            </p:nvSpPr>
            <p:spPr>
              <a:xfrm>
                <a:off x="3334512" y="3892960"/>
                <a:ext cx="594360" cy="59436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5F02FD9-2DD5-B243-A97C-9BBDF0415180}"/>
                  </a:ext>
                </a:extLst>
              </p:cNvPr>
              <p:cNvSpPr/>
              <p:nvPr/>
            </p:nvSpPr>
            <p:spPr>
              <a:xfrm>
                <a:off x="5141976" y="3892960"/>
                <a:ext cx="594360" cy="59436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CF703AE-9E77-8445-829B-88A452E62409}"/>
                  </a:ext>
                </a:extLst>
              </p:cNvPr>
              <p:cNvSpPr/>
              <p:nvPr/>
            </p:nvSpPr>
            <p:spPr>
              <a:xfrm>
                <a:off x="1527048" y="5025028"/>
                <a:ext cx="594360" cy="59436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832709B-827B-4545-9968-422845F94457}"/>
                  </a:ext>
                </a:extLst>
              </p:cNvPr>
              <p:cNvSpPr/>
              <p:nvPr/>
            </p:nvSpPr>
            <p:spPr>
              <a:xfrm>
                <a:off x="3334512" y="5025028"/>
                <a:ext cx="594360" cy="59436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D7195CE-9C0B-B84C-BF93-CB503391CF9B}"/>
                  </a:ext>
                </a:extLst>
              </p:cNvPr>
              <p:cNvSpPr/>
              <p:nvPr/>
            </p:nvSpPr>
            <p:spPr>
              <a:xfrm>
                <a:off x="5141976" y="5025028"/>
                <a:ext cx="594360" cy="59436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8FFE00F-E082-E240-87F1-E54FAB4D3976}"/>
                </a:ext>
              </a:extLst>
            </p:cNvPr>
            <p:cNvSpPr/>
            <p:nvPr/>
          </p:nvSpPr>
          <p:spPr>
            <a:xfrm>
              <a:off x="3072384" y="2522999"/>
              <a:ext cx="3557016" cy="240380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CD75B43-6B89-D74C-93F1-D91B48F09ED3}"/>
                </a:ext>
              </a:extLst>
            </p:cNvPr>
            <p:cNvSpPr/>
            <p:nvPr/>
          </p:nvSpPr>
          <p:spPr>
            <a:xfrm>
              <a:off x="1164928" y="4919724"/>
              <a:ext cx="3465576" cy="115443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628459-FE42-1045-9BF7-1414742D8A00}"/>
                    </a:ext>
                  </a:extLst>
                </p:cNvPr>
                <p:cNvSpPr txBox="1"/>
                <p:nvPr/>
              </p:nvSpPr>
              <p:spPr>
                <a:xfrm>
                  <a:off x="4556491" y="1358472"/>
                  <a:ext cx="462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628459-FE42-1045-9BF7-1414742D8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6491" y="1358472"/>
                  <a:ext cx="46249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5855F73-DD1E-3946-BF1A-25952B2ABB74}"/>
                    </a:ext>
                  </a:extLst>
                </p:cNvPr>
                <p:cNvSpPr txBox="1"/>
                <p:nvPr/>
              </p:nvSpPr>
              <p:spPr>
                <a:xfrm>
                  <a:off x="1481837" y="6174849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>
                        <a:lumMod val="8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5855F73-DD1E-3946-BF1A-25952B2ABB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1837" y="6174849"/>
                  <a:ext cx="46782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4EBD289-1555-AF4A-849C-A74222603A03}"/>
                </a:ext>
              </a:extLst>
            </p:cNvPr>
            <p:cNvSpPr/>
            <p:nvPr/>
          </p:nvSpPr>
          <p:spPr>
            <a:xfrm>
              <a:off x="1541356" y="1250851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702A65C-111A-334C-AB90-280270B0F0F2}"/>
                </a:ext>
              </a:extLst>
            </p:cNvPr>
            <p:cNvSpPr/>
            <p:nvPr/>
          </p:nvSpPr>
          <p:spPr>
            <a:xfrm>
              <a:off x="5006932" y="1225936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1168A3A-81C1-1E44-8C20-B7615748EF77}"/>
                    </a:ext>
                  </a:extLst>
                </p:cNvPr>
                <p:cNvSpPr txBox="1"/>
                <p:nvPr/>
              </p:nvSpPr>
              <p:spPr>
                <a:xfrm>
                  <a:off x="6510916" y="3932566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>
                        <a:lumMod val="8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1168A3A-81C1-1E44-8C20-B7615748EF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0916" y="3932566"/>
                  <a:ext cx="4678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645F42-96DA-0746-9060-1F1739446423}"/>
                    </a:ext>
                  </a:extLst>
                </p:cNvPr>
                <p:cNvSpPr txBox="1"/>
                <p:nvPr/>
              </p:nvSpPr>
              <p:spPr>
                <a:xfrm>
                  <a:off x="4570033" y="6157677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645F42-96DA-0746-9060-1F17394464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0033" y="6157677"/>
                  <a:ext cx="46782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3011454-BB8C-9F42-BD07-750C433C6603}"/>
                    </a:ext>
                  </a:extLst>
                </p:cNvPr>
                <p:cNvSpPr txBox="1"/>
                <p:nvPr/>
              </p:nvSpPr>
              <p:spPr>
                <a:xfrm>
                  <a:off x="6196191" y="5814500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3011454-BB8C-9F42-BD07-750C433C6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6191" y="5814500"/>
                  <a:ext cx="46782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F2C788E-7C30-C047-BD3B-1F330EB37FA0}"/>
                    </a:ext>
                  </a:extLst>
                </p:cNvPr>
                <p:cNvSpPr txBox="1"/>
                <p:nvPr/>
              </p:nvSpPr>
              <p:spPr>
                <a:xfrm>
                  <a:off x="906974" y="4913529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F2C788E-7C30-C047-BD3B-1F330EB37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974" y="4913529"/>
                  <a:ext cx="46782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CB9DAFC-B073-FE46-ACA9-A682A254AD0E}"/>
                  </a:ext>
                </a:extLst>
              </p:cNvPr>
              <p:cNvSpPr txBox="1"/>
              <p:nvPr/>
            </p:nvSpPr>
            <p:spPr>
              <a:xfrm>
                <a:off x="7365150" y="4090446"/>
                <a:ext cx="4554266" cy="147732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</a:rPr>
                  <a:t>Execution on test case gives: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:r>
                  <a:rPr lang="en-US" dirty="0">
                    <a:solidFill>
                      <a:schemeClr val="accent2"/>
                    </a:solidFill>
                  </a:rPr>
                  <a:t>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first (adds six nodes to cover)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:r>
                  <a:rPr lang="en-US" dirty="0">
                    <a:solidFill>
                      <a:schemeClr val="accent1"/>
                    </a:solidFill>
                  </a:rPr>
                  <a:t>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next (adds three nodes to cover)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:r>
                  <a:rPr lang="en-US" dirty="0">
                    <a:solidFill>
                      <a:schemeClr val="accent3"/>
                    </a:solidFill>
                  </a:rPr>
                  <a:t>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next (adds two nodes to cover)</a:t>
                </a:r>
                <a:br>
                  <a:rPr lang="en-US" dirty="0">
                    <a:solidFill>
                      <a:schemeClr val="accent3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     </a:t>
                </a:r>
                <a:r>
                  <a:rPr lang="en-US" dirty="0">
                    <a:solidFill>
                      <a:schemeClr val="accent5"/>
                    </a:solidFill>
                  </a:rPr>
                  <a:t>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5"/>
                    </a:solidFill>
                  </a:rPr>
                  <a:t> last (adds one node to cover)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CB9DAFC-B073-FE46-ACA9-A682A254A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150" y="4090446"/>
                <a:ext cx="4554266" cy="1477328"/>
              </a:xfrm>
              <a:prstGeom prst="rect">
                <a:avLst/>
              </a:prstGeom>
              <a:blipFill>
                <a:blip r:embed="rId9"/>
                <a:stretch>
                  <a:fillRect l="-831" t="-847" b="-423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5FEA050-807E-2C45-9C4E-F1E5BA822A81}"/>
                  </a:ext>
                </a:extLst>
              </p:cNvPr>
              <p:cNvSpPr txBox="1"/>
              <p:nvPr/>
            </p:nvSpPr>
            <p:spPr>
              <a:xfrm>
                <a:off x="7365150" y="5889497"/>
                <a:ext cx="4554266" cy="3693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p>
                              <m:r>
                                <a:rPr lang="en-US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5FEA050-807E-2C45-9C4E-F1E5BA822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150" y="5889497"/>
                <a:ext cx="455426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7407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661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1223010" y="1725654"/>
            <a:ext cx="988695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i="1" dirty="0"/>
              <a:t>Theorem</a:t>
            </a:r>
            <a:r>
              <a:rPr lang="en-US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/>
              <p:nvPr/>
            </p:nvSpPr>
            <p:spPr>
              <a:xfrm>
                <a:off x="1223010" y="2204621"/>
                <a:ext cx="9886950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Greedy-Set-Cover</a:t>
                </a:r>
                <a:r>
                  <a:rPr lang="en-US" sz="2800" dirty="0">
                    <a:solidFill>
                      <a:schemeClr val="bg1"/>
                    </a:solidFill>
                  </a:rPr>
                  <a:t>(X, F) is 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-approximation of set-cover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010" y="2204621"/>
                <a:ext cx="9886950" cy="954107"/>
              </a:xfrm>
              <a:prstGeom prst="rect">
                <a:avLst/>
              </a:prstGeom>
              <a:blipFill>
                <a:blip r:embed="rId2"/>
                <a:stretch>
                  <a:fillRect l="-385" t="-6494" r="-1154" b="-909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7EC3FA16-B683-1646-BCA6-F1C68A5F3CCA}"/>
              </a:ext>
            </a:extLst>
          </p:cNvPr>
          <p:cNvSpPr txBox="1"/>
          <p:nvPr/>
        </p:nvSpPr>
        <p:spPr>
          <a:xfrm>
            <a:off x="2743898" y="4206706"/>
            <a:ext cx="279965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H() is a harmonic number (see next slide)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0D404B6-26A0-2F4B-958D-B4DAD4F01B3F}"/>
              </a:ext>
            </a:extLst>
          </p:cNvPr>
          <p:cNvCxnSpPr>
            <a:cxnSpLocks/>
          </p:cNvCxnSpPr>
          <p:nvPr/>
        </p:nvCxnSpPr>
        <p:spPr>
          <a:xfrm flipV="1">
            <a:off x="4552652" y="3366832"/>
            <a:ext cx="713950" cy="80558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588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664705"/>
          </a:xfrm>
        </p:spPr>
        <p:txBody>
          <a:bodyPr/>
          <a:lstStyle/>
          <a:p>
            <a:pPr algn="ctr"/>
            <a:r>
              <a:rPr lang="en-US" dirty="0"/>
              <a:t>Aside: Harmonic Numbers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5646592" y="5905832"/>
            <a:ext cx="5843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Harmonic number (x-axis) and value of summation </a:t>
            </a:r>
            <a:r>
              <a:rPr lang="en-US" i="1" dirty="0" err="1"/>
              <a:t>H_d</a:t>
            </a:r>
            <a:r>
              <a:rPr lang="en-US" i="1" dirty="0"/>
              <a:t> (y-axis).  **source = Wikipedia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EE6383-74F0-E04B-AB42-DFAB40030238}"/>
                  </a:ext>
                </a:extLst>
              </p:cNvPr>
              <p:cNvSpPr txBox="1"/>
              <p:nvPr/>
            </p:nvSpPr>
            <p:spPr>
              <a:xfrm>
                <a:off x="793835" y="1852831"/>
                <a:ext cx="4606290" cy="8769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EE6383-74F0-E04B-AB42-DFAB4003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35" y="1852831"/>
                <a:ext cx="4606290" cy="876907"/>
              </a:xfrm>
              <a:prstGeom prst="rect">
                <a:avLst/>
              </a:prstGeom>
              <a:blipFill>
                <a:blip r:embed="rId2"/>
                <a:stretch>
                  <a:fillRect t="-91549" b="-14366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B910C21-BD29-764E-929D-F7D1AE136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592" y="1131570"/>
            <a:ext cx="5843588" cy="467487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B472F2-1AD0-E94B-A995-B8683A9E1D27}"/>
              </a:ext>
            </a:extLst>
          </p:cNvPr>
          <p:cNvSpPr txBox="1"/>
          <p:nvPr/>
        </p:nvSpPr>
        <p:spPr>
          <a:xfrm>
            <a:off x="793835" y="1445288"/>
            <a:ext cx="4606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Harmonic Number: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F4241-3F07-FE45-877F-C09BAFFF4BA8}"/>
              </a:ext>
            </a:extLst>
          </p:cNvPr>
          <p:cNvSpPr txBox="1"/>
          <p:nvPr/>
        </p:nvSpPr>
        <p:spPr>
          <a:xfrm>
            <a:off x="1530796" y="2901791"/>
            <a:ext cx="31323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Why? Well set cover algorithm seems to have a similar pattern. You keep adding a percentage of nodes that are left on each iteration.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37FEDB-19D4-B444-B59B-9EA888305DDB}"/>
                  </a:ext>
                </a:extLst>
              </p:cNvPr>
              <p:cNvSpPr txBox="1"/>
              <p:nvPr/>
            </p:nvSpPr>
            <p:spPr>
              <a:xfrm>
                <a:off x="1680209" y="5305667"/>
                <a:ext cx="3154629" cy="92333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/>
                  <a:t>Note that it is established that:</a:t>
                </a:r>
              </a:p>
              <a:p>
                <a:pPr algn="ctr"/>
                <a:endParaRPr lang="en-US" i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37FEDB-19D4-B444-B59B-9EA888305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09" y="5305667"/>
                <a:ext cx="3154629" cy="923330"/>
              </a:xfrm>
              <a:prstGeom prst="rect">
                <a:avLst/>
              </a:prstGeom>
              <a:blipFill>
                <a:blip r:embed="rId4"/>
                <a:stretch>
                  <a:fillRect t="-2703" b="-2703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5965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088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Analysis of Set Cover Greedy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6951474" y="1432577"/>
            <a:ext cx="4554266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Consider the following 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/>
              <p:nvPr/>
            </p:nvSpPr>
            <p:spPr>
              <a:xfrm>
                <a:off x="6951474" y="1868440"/>
                <a:ext cx="4554266" cy="65941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⋃"/>
                              <m:subHide m:val="on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⋃"/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…</m:t>
                                  </m:r>
                                  <m:nary>
                                    <m:naryPr>
                                      <m:chr m:val="⋃"/>
                                      <m:subHide m:val="on"/>
                                      <m:supHide m:val="on"/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</m:e>
                          </m:nary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)|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474" y="1868440"/>
                <a:ext cx="4554266" cy="659411"/>
              </a:xfrm>
              <a:prstGeom prst="rect">
                <a:avLst/>
              </a:prstGeom>
              <a:blipFill>
                <a:blip r:embed="rId2"/>
                <a:stretch>
                  <a:fillRect t="-5556" b="-7592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97035552-1B82-544C-B98A-1E2502A2DEE0}"/>
              </a:ext>
            </a:extLst>
          </p:cNvPr>
          <p:cNvGrpSpPr/>
          <p:nvPr/>
        </p:nvGrpSpPr>
        <p:grpSpPr>
          <a:xfrm>
            <a:off x="362292" y="936645"/>
            <a:ext cx="6170674" cy="5801121"/>
            <a:chOff x="808062" y="936645"/>
            <a:chExt cx="6170674" cy="5801121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F03E741-A46F-3148-99CA-80600871D058}"/>
                </a:ext>
              </a:extLst>
            </p:cNvPr>
            <p:cNvSpPr/>
            <p:nvPr/>
          </p:nvSpPr>
          <p:spPr>
            <a:xfrm>
              <a:off x="808062" y="936645"/>
              <a:ext cx="6170674" cy="5801121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9D4FA61-07C4-BE49-9593-8756BF4DD610}"/>
                </a:ext>
              </a:extLst>
            </p:cNvPr>
            <p:cNvSpPr/>
            <p:nvPr/>
          </p:nvSpPr>
          <p:spPr>
            <a:xfrm>
              <a:off x="1140306" y="1144171"/>
              <a:ext cx="3618655" cy="5382838"/>
            </a:xfrm>
            <a:custGeom>
              <a:avLst/>
              <a:gdLst>
                <a:gd name="connsiteX0" fmla="*/ 3312822 w 3618655"/>
                <a:gd name="connsiteY0" fmla="*/ 514769 h 6157320"/>
                <a:gd name="connsiteX1" fmla="*/ 2188110 w 3618655"/>
                <a:gd name="connsiteY1" fmla="*/ 478193 h 6157320"/>
                <a:gd name="connsiteX2" fmla="*/ 2032662 w 3618655"/>
                <a:gd name="connsiteY2" fmla="*/ 3075089 h 6157320"/>
                <a:gd name="connsiteX3" fmla="*/ 213006 w 3618655"/>
                <a:gd name="connsiteY3" fmla="*/ 2965361 h 6157320"/>
                <a:gd name="connsiteX4" fmla="*/ 249582 w 3618655"/>
                <a:gd name="connsiteY4" fmla="*/ 4163225 h 6157320"/>
                <a:gd name="connsiteX5" fmla="*/ 2124102 w 3618655"/>
                <a:gd name="connsiteY5" fmla="*/ 4144937 h 6157320"/>
                <a:gd name="connsiteX6" fmla="*/ 2078382 w 3618655"/>
                <a:gd name="connsiteY6" fmla="*/ 5708561 h 6157320"/>
                <a:gd name="connsiteX7" fmla="*/ 3532278 w 3618655"/>
                <a:gd name="connsiteY7" fmla="*/ 5708561 h 6157320"/>
                <a:gd name="connsiteX8" fmla="*/ 3312822 w 3618655"/>
                <a:gd name="connsiteY8" fmla="*/ 514769 h 615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8655" h="6157320">
                  <a:moveTo>
                    <a:pt x="3312822" y="514769"/>
                  </a:moveTo>
                  <a:cubicBezTo>
                    <a:pt x="3088794" y="-356959"/>
                    <a:pt x="2401470" y="51473"/>
                    <a:pt x="2188110" y="478193"/>
                  </a:cubicBezTo>
                  <a:cubicBezTo>
                    <a:pt x="1974750" y="904913"/>
                    <a:pt x="2361846" y="2660561"/>
                    <a:pt x="2032662" y="3075089"/>
                  </a:cubicBezTo>
                  <a:cubicBezTo>
                    <a:pt x="1703478" y="3489617"/>
                    <a:pt x="510186" y="2784005"/>
                    <a:pt x="213006" y="2965361"/>
                  </a:cubicBezTo>
                  <a:cubicBezTo>
                    <a:pt x="-84174" y="3146717"/>
                    <a:pt x="-68934" y="3966629"/>
                    <a:pt x="249582" y="4163225"/>
                  </a:cubicBezTo>
                  <a:cubicBezTo>
                    <a:pt x="568098" y="4359821"/>
                    <a:pt x="1819302" y="3887381"/>
                    <a:pt x="2124102" y="4144937"/>
                  </a:cubicBezTo>
                  <a:cubicBezTo>
                    <a:pt x="2428902" y="4402493"/>
                    <a:pt x="1843686" y="5447957"/>
                    <a:pt x="2078382" y="5708561"/>
                  </a:cubicBezTo>
                  <a:cubicBezTo>
                    <a:pt x="2313078" y="5969165"/>
                    <a:pt x="3325014" y="6572669"/>
                    <a:pt x="3532278" y="5708561"/>
                  </a:cubicBezTo>
                  <a:cubicBezTo>
                    <a:pt x="3739542" y="4844453"/>
                    <a:pt x="3536850" y="1386497"/>
                    <a:pt x="3312822" y="514769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C7B14BB-B59F-EC42-90EC-EC77EB368662}"/>
                </a:ext>
              </a:extLst>
            </p:cNvPr>
            <p:cNvSpPr/>
            <p:nvPr/>
          </p:nvSpPr>
          <p:spPr>
            <a:xfrm>
              <a:off x="1197864" y="1375644"/>
              <a:ext cx="5431536" cy="2537243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5D9CB15-26CF-3D46-9447-429E53C6503F}"/>
                </a:ext>
              </a:extLst>
            </p:cNvPr>
            <p:cNvGrpSpPr/>
            <p:nvPr/>
          </p:nvGrpSpPr>
          <p:grpSpPr>
            <a:xfrm>
              <a:off x="1810512" y="1764047"/>
              <a:ext cx="4209288" cy="3991756"/>
              <a:chOff x="1527048" y="1627632"/>
              <a:chExt cx="4209288" cy="39917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00C3EC4E-293D-FC4B-88E5-FC8513A2D42F}"/>
                      </a:ext>
                    </a:extLst>
                  </p:cNvPr>
                  <p:cNvSpPr/>
                  <p:nvPr/>
                </p:nvSpPr>
                <p:spPr>
                  <a:xfrm>
                    <a:off x="1527048" y="1627632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00C3EC4E-293D-FC4B-88E5-FC8513A2D4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7048" y="1627632"/>
                    <a:ext cx="594360" cy="594360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959B86D1-8F77-E846-8E11-5D441540D030}"/>
                      </a:ext>
                    </a:extLst>
                  </p:cNvPr>
                  <p:cNvSpPr/>
                  <p:nvPr/>
                </p:nvSpPr>
                <p:spPr>
                  <a:xfrm>
                    <a:off x="3334512" y="1627632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959B86D1-8F77-E846-8E11-5D441540D03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4512" y="1627632"/>
                    <a:ext cx="594360" cy="59436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8C421902-B091-C043-BC00-62C35A65BE54}"/>
                      </a:ext>
                    </a:extLst>
                  </p:cNvPr>
                  <p:cNvSpPr/>
                  <p:nvPr/>
                </p:nvSpPr>
                <p:spPr>
                  <a:xfrm>
                    <a:off x="5141976" y="1627632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8C421902-B091-C043-BC00-62C35A65BE5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1976" y="1627632"/>
                    <a:ext cx="594360" cy="59436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A1D103D7-976A-C647-A872-A4AFB5FAB4E6}"/>
                      </a:ext>
                    </a:extLst>
                  </p:cNvPr>
                  <p:cNvSpPr/>
                  <p:nvPr/>
                </p:nvSpPr>
                <p:spPr>
                  <a:xfrm>
                    <a:off x="1527048" y="2760296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A1D103D7-976A-C647-A872-A4AFB5FAB4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7048" y="2760296"/>
                    <a:ext cx="594360" cy="594360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344B1FE5-2868-6642-884D-91C2BB546C74}"/>
                      </a:ext>
                    </a:extLst>
                  </p:cNvPr>
                  <p:cNvSpPr/>
                  <p:nvPr/>
                </p:nvSpPr>
                <p:spPr>
                  <a:xfrm>
                    <a:off x="3334512" y="2760296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344B1FE5-2868-6642-884D-91C2BB546C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4512" y="2760296"/>
                    <a:ext cx="594360" cy="594360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02D237C8-82F7-9147-9171-2623F1BD64BF}"/>
                      </a:ext>
                    </a:extLst>
                  </p:cNvPr>
                  <p:cNvSpPr/>
                  <p:nvPr/>
                </p:nvSpPr>
                <p:spPr>
                  <a:xfrm>
                    <a:off x="5141976" y="2760296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02D237C8-82F7-9147-9171-2623F1BD64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1976" y="2760296"/>
                    <a:ext cx="594360" cy="594360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7D0122B6-8758-C341-BF10-18562A166F24}"/>
                      </a:ext>
                    </a:extLst>
                  </p:cNvPr>
                  <p:cNvSpPr/>
                  <p:nvPr/>
                </p:nvSpPr>
                <p:spPr>
                  <a:xfrm>
                    <a:off x="1527048" y="3892960"/>
                    <a:ext cx="594360" cy="59436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7D0122B6-8758-C341-BF10-18562A166F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7048" y="3892960"/>
                    <a:ext cx="594360" cy="594360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D543C0C1-643B-A343-BA33-CFCD6D133696}"/>
                      </a:ext>
                    </a:extLst>
                  </p:cNvPr>
                  <p:cNvSpPr/>
                  <p:nvPr/>
                </p:nvSpPr>
                <p:spPr>
                  <a:xfrm>
                    <a:off x="3334512" y="3892960"/>
                    <a:ext cx="594360" cy="59436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D543C0C1-643B-A343-BA33-CFCD6D13369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4512" y="3892960"/>
                    <a:ext cx="594360" cy="594360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35F02FD9-2DD5-B243-A97C-9BBDF0415180}"/>
                      </a:ext>
                    </a:extLst>
                  </p:cNvPr>
                  <p:cNvSpPr/>
                  <p:nvPr/>
                </p:nvSpPr>
                <p:spPr>
                  <a:xfrm>
                    <a:off x="5141976" y="3892960"/>
                    <a:ext cx="594360" cy="594360"/>
                  </a:xfrm>
                  <a:prstGeom prst="ellipse">
                    <a:avLst/>
                  </a:prstGeom>
                  <a:solidFill>
                    <a:schemeClr val="accent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35F02FD9-2DD5-B243-A97C-9BBDF041518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1976" y="3892960"/>
                    <a:ext cx="594360" cy="594360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3CF703AE-9E77-8445-829B-88A452E62409}"/>
                      </a:ext>
                    </a:extLst>
                  </p:cNvPr>
                  <p:cNvSpPr/>
                  <p:nvPr/>
                </p:nvSpPr>
                <p:spPr>
                  <a:xfrm>
                    <a:off x="1527048" y="5025028"/>
                    <a:ext cx="594360" cy="59436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3CF703AE-9E77-8445-829B-88A452E624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7048" y="5025028"/>
                    <a:ext cx="594360" cy="594360"/>
                  </a:xfrm>
                  <a:prstGeom prst="ellipse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C832709B-827B-4545-9968-422845F94457}"/>
                      </a:ext>
                    </a:extLst>
                  </p:cNvPr>
                  <p:cNvSpPr/>
                  <p:nvPr/>
                </p:nvSpPr>
                <p:spPr>
                  <a:xfrm>
                    <a:off x="3334512" y="5025028"/>
                    <a:ext cx="594360" cy="59436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C832709B-827B-4545-9968-422845F9445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4512" y="5025028"/>
                    <a:ext cx="594360" cy="594360"/>
                  </a:xfrm>
                  <a:prstGeom prst="ellipse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3D7195CE-9C0B-B84C-BF93-CB503391CF9B}"/>
                      </a:ext>
                    </a:extLst>
                  </p:cNvPr>
                  <p:cNvSpPr/>
                  <p:nvPr/>
                </p:nvSpPr>
                <p:spPr>
                  <a:xfrm>
                    <a:off x="5141976" y="5025028"/>
                    <a:ext cx="594360" cy="594360"/>
                  </a:xfrm>
                  <a:prstGeom prst="ellipse">
                    <a:avLst/>
                  </a:prstGeom>
                  <a:solidFill>
                    <a:schemeClr val="accent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3D7195CE-9C0B-B84C-BF93-CB503391CF9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1976" y="5025028"/>
                    <a:ext cx="594360" cy="594360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8FFE00F-E082-E240-87F1-E54FAB4D3976}"/>
                </a:ext>
              </a:extLst>
            </p:cNvPr>
            <p:cNvSpPr/>
            <p:nvPr/>
          </p:nvSpPr>
          <p:spPr>
            <a:xfrm>
              <a:off x="3072384" y="2522999"/>
              <a:ext cx="3557016" cy="240380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CD75B43-6B89-D74C-93F1-D91B48F09ED3}"/>
                </a:ext>
              </a:extLst>
            </p:cNvPr>
            <p:cNvSpPr/>
            <p:nvPr/>
          </p:nvSpPr>
          <p:spPr>
            <a:xfrm>
              <a:off x="1164928" y="4919724"/>
              <a:ext cx="3465576" cy="115443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628459-FE42-1045-9BF7-1414742D8A00}"/>
                    </a:ext>
                  </a:extLst>
                </p:cNvPr>
                <p:cNvSpPr txBox="1"/>
                <p:nvPr/>
              </p:nvSpPr>
              <p:spPr>
                <a:xfrm>
                  <a:off x="4556491" y="1358472"/>
                  <a:ext cx="462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628459-FE42-1045-9BF7-1414742D8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6491" y="1358472"/>
                  <a:ext cx="46249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5855F73-DD1E-3946-BF1A-25952B2ABB74}"/>
                    </a:ext>
                  </a:extLst>
                </p:cNvPr>
                <p:cNvSpPr txBox="1"/>
                <p:nvPr/>
              </p:nvSpPr>
              <p:spPr>
                <a:xfrm>
                  <a:off x="1481837" y="6174849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>
                        <a:lumMod val="8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5855F73-DD1E-3946-BF1A-25952B2ABB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1837" y="6174849"/>
                  <a:ext cx="46782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4EBD289-1555-AF4A-849C-A74222603A03}"/>
                </a:ext>
              </a:extLst>
            </p:cNvPr>
            <p:cNvSpPr/>
            <p:nvPr/>
          </p:nvSpPr>
          <p:spPr>
            <a:xfrm>
              <a:off x="1541356" y="1250851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702A65C-111A-334C-AB90-280270B0F0F2}"/>
                </a:ext>
              </a:extLst>
            </p:cNvPr>
            <p:cNvSpPr/>
            <p:nvPr/>
          </p:nvSpPr>
          <p:spPr>
            <a:xfrm>
              <a:off x="5006932" y="1225936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1168A3A-81C1-1E44-8C20-B7615748EF77}"/>
                    </a:ext>
                  </a:extLst>
                </p:cNvPr>
                <p:cNvSpPr txBox="1"/>
                <p:nvPr/>
              </p:nvSpPr>
              <p:spPr>
                <a:xfrm>
                  <a:off x="6510916" y="3932566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>
                        <a:lumMod val="8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1168A3A-81C1-1E44-8C20-B7615748EF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0916" y="3932566"/>
                  <a:ext cx="46782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645F42-96DA-0746-9060-1F1739446423}"/>
                    </a:ext>
                  </a:extLst>
                </p:cNvPr>
                <p:cNvSpPr txBox="1"/>
                <p:nvPr/>
              </p:nvSpPr>
              <p:spPr>
                <a:xfrm>
                  <a:off x="4570033" y="6157677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645F42-96DA-0746-9060-1F17394464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0033" y="6157677"/>
                  <a:ext cx="46782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3011454-BB8C-9F42-BD07-750C433C6603}"/>
                    </a:ext>
                  </a:extLst>
                </p:cNvPr>
                <p:cNvSpPr txBox="1"/>
                <p:nvPr/>
              </p:nvSpPr>
              <p:spPr>
                <a:xfrm>
                  <a:off x="6196191" y="5814500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3011454-BB8C-9F42-BD07-750C433C6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6191" y="5814500"/>
                  <a:ext cx="46782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F2C788E-7C30-C047-BD3B-1F330EB37FA0}"/>
                    </a:ext>
                  </a:extLst>
                </p:cNvPr>
                <p:cNvSpPr txBox="1"/>
                <p:nvPr/>
              </p:nvSpPr>
              <p:spPr>
                <a:xfrm>
                  <a:off x="906974" y="4913529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F2C788E-7C30-C047-BD3B-1F330EB37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974" y="4913529"/>
                  <a:ext cx="46782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CB9DAFC-B073-FE46-ACA9-A682A254AD0E}"/>
                  </a:ext>
                </a:extLst>
              </p:cNvPr>
              <p:cNvSpPr txBox="1"/>
              <p:nvPr/>
            </p:nvSpPr>
            <p:spPr>
              <a:xfrm>
                <a:off x="6951474" y="4222371"/>
                <a:ext cx="4554266" cy="182287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</a:rPr>
                  <a:t>Costs of the nodes in this example are: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accent3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accent5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CB9DAFC-B073-FE46-ACA9-A682A254A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474" y="4222371"/>
                <a:ext cx="4554266" cy="1822871"/>
              </a:xfrm>
              <a:prstGeom prst="rect">
                <a:avLst/>
              </a:prstGeom>
              <a:blipFill>
                <a:blip r:embed="rId21"/>
                <a:stretch>
                  <a:fillRect l="-831" t="-68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95FEA050-807E-2C45-9C4E-F1E5BA822A81}"/>
              </a:ext>
            </a:extLst>
          </p:cNvPr>
          <p:cNvSpPr txBox="1"/>
          <p:nvPr/>
        </p:nvSpPr>
        <p:spPr>
          <a:xfrm>
            <a:off x="6951474" y="2732993"/>
            <a:ext cx="455426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Each set we add to the solution adds a cost of 1, but spread cost out among elements added. Each element has exactly ONE cost.</a:t>
            </a:r>
          </a:p>
        </p:txBody>
      </p:sp>
    </p:spTree>
    <p:extLst>
      <p:ext uri="{BB962C8B-B14F-4D97-AF65-F5344CB8AC3E}">
        <p14:creationId xmlns:p14="http://schemas.microsoft.com/office/powerpoint/2010/main" val="22735371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088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Analysis of Set Cover Greedy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035552-1B82-544C-B98A-1E2502A2DEE0}"/>
              </a:ext>
            </a:extLst>
          </p:cNvPr>
          <p:cNvGrpSpPr/>
          <p:nvPr/>
        </p:nvGrpSpPr>
        <p:grpSpPr>
          <a:xfrm>
            <a:off x="362292" y="936645"/>
            <a:ext cx="6170674" cy="5801121"/>
            <a:chOff x="808062" y="936645"/>
            <a:chExt cx="6170674" cy="5801121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F03E741-A46F-3148-99CA-80600871D058}"/>
                </a:ext>
              </a:extLst>
            </p:cNvPr>
            <p:cNvSpPr/>
            <p:nvPr/>
          </p:nvSpPr>
          <p:spPr>
            <a:xfrm>
              <a:off x="808062" y="936645"/>
              <a:ext cx="6170674" cy="5801121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9D4FA61-07C4-BE49-9593-8756BF4DD610}"/>
                </a:ext>
              </a:extLst>
            </p:cNvPr>
            <p:cNvSpPr/>
            <p:nvPr/>
          </p:nvSpPr>
          <p:spPr>
            <a:xfrm>
              <a:off x="1140306" y="1144171"/>
              <a:ext cx="3618655" cy="5382838"/>
            </a:xfrm>
            <a:custGeom>
              <a:avLst/>
              <a:gdLst>
                <a:gd name="connsiteX0" fmla="*/ 3312822 w 3618655"/>
                <a:gd name="connsiteY0" fmla="*/ 514769 h 6157320"/>
                <a:gd name="connsiteX1" fmla="*/ 2188110 w 3618655"/>
                <a:gd name="connsiteY1" fmla="*/ 478193 h 6157320"/>
                <a:gd name="connsiteX2" fmla="*/ 2032662 w 3618655"/>
                <a:gd name="connsiteY2" fmla="*/ 3075089 h 6157320"/>
                <a:gd name="connsiteX3" fmla="*/ 213006 w 3618655"/>
                <a:gd name="connsiteY3" fmla="*/ 2965361 h 6157320"/>
                <a:gd name="connsiteX4" fmla="*/ 249582 w 3618655"/>
                <a:gd name="connsiteY4" fmla="*/ 4163225 h 6157320"/>
                <a:gd name="connsiteX5" fmla="*/ 2124102 w 3618655"/>
                <a:gd name="connsiteY5" fmla="*/ 4144937 h 6157320"/>
                <a:gd name="connsiteX6" fmla="*/ 2078382 w 3618655"/>
                <a:gd name="connsiteY6" fmla="*/ 5708561 h 6157320"/>
                <a:gd name="connsiteX7" fmla="*/ 3532278 w 3618655"/>
                <a:gd name="connsiteY7" fmla="*/ 5708561 h 6157320"/>
                <a:gd name="connsiteX8" fmla="*/ 3312822 w 3618655"/>
                <a:gd name="connsiteY8" fmla="*/ 514769 h 615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8655" h="6157320">
                  <a:moveTo>
                    <a:pt x="3312822" y="514769"/>
                  </a:moveTo>
                  <a:cubicBezTo>
                    <a:pt x="3088794" y="-356959"/>
                    <a:pt x="2401470" y="51473"/>
                    <a:pt x="2188110" y="478193"/>
                  </a:cubicBezTo>
                  <a:cubicBezTo>
                    <a:pt x="1974750" y="904913"/>
                    <a:pt x="2361846" y="2660561"/>
                    <a:pt x="2032662" y="3075089"/>
                  </a:cubicBezTo>
                  <a:cubicBezTo>
                    <a:pt x="1703478" y="3489617"/>
                    <a:pt x="510186" y="2784005"/>
                    <a:pt x="213006" y="2965361"/>
                  </a:cubicBezTo>
                  <a:cubicBezTo>
                    <a:pt x="-84174" y="3146717"/>
                    <a:pt x="-68934" y="3966629"/>
                    <a:pt x="249582" y="4163225"/>
                  </a:cubicBezTo>
                  <a:cubicBezTo>
                    <a:pt x="568098" y="4359821"/>
                    <a:pt x="1819302" y="3887381"/>
                    <a:pt x="2124102" y="4144937"/>
                  </a:cubicBezTo>
                  <a:cubicBezTo>
                    <a:pt x="2428902" y="4402493"/>
                    <a:pt x="1843686" y="5447957"/>
                    <a:pt x="2078382" y="5708561"/>
                  </a:cubicBezTo>
                  <a:cubicBezTo>
                    <a:pt x="2313078" y="5969165"/>
                    <a:pt x="3325014" y="6572669"/>
                    <a:pt x="3532278" y="5708561"/>
                  </a:cubicBezTo>
                  <a:cubicBezTo>
                    <a:pt x="3739542" y="4844453"/>
                    <a:pt x="3536850" y="1386497"/>
                    <a:pt x="3312822" y="514769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C7B14BB-B59F-EC42-90EC-EC77EB368662}"/>
                </a:ext>
              </a:extLst>
            </p:cNvPr>
            <p:cNvSpPr/>
            <p:nvPr/>
          </p:nvSpPr>
          <p:spPr>
            <a:xfrm>
              <a:off x="1197864" y="1375644"/>
              <a:ext cx="5431536" cy="2537243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5D9CB15-26CF-3D46-9447-429E53C6503F}"/>
                </a:ext>
              </a:extLst>
            </p:cNvPr>
            <p:cNvGrpSpPr/>
            <p:nvPr/>
          </p:nvGrpSpPr>
          <p:grpSpPr>
            <a:xfrm>
              <a:off x="1810512" y="1764047"/>
              <a:ext cx="4209288" cy="3991756"/>
              <a:chOff x="1527048" y="1627632"/>
              <a:chExt cx="4209288" cy="39917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00C3EC4E-293D-FC4B-88E5-FC8513A2D42F}"/>
                      </a:ext>
                    </a:extLst>
                  </p:cNvPr>
                  <p:cNvSpPr/>
                  <p:nvPr/>
                </p:nvSpPr>
                <p:spPr>
                  <a:xfrm>
                    <a:off x="1527048" y="1627632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00C3EC4E-293D-FC4B-88E5-FC8513A2D4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7048" y="1627632"/>
                    <a:ext cx="594360" cy="594360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959B86D1-8F77-E846-8E11-5D441540D030}"/>
                      </a:ext>
                    </a:extLst>
                  </p:cNvPr>
                  <p:cNvSpPr/>
                  <p:nvPr/>
                </p:nvSpPr>
                <p:spPr>
                  <a:xfrm>
                    <a:off x="3334512" y="1627632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959B86D1-8F77-E846-8E11-5D441540D03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4512" y="1627632"/>
                    <a:ext cx="594360" cy="594360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8C421902-B091-C043-BC00-62C35A65BE54}"/>
                      </a:ext>
                    </a:extLst>
                  </p:cNvPr>
                  <p:cNvSpPr/>
                  <p:nvPr/>
                </p:nvSpPr>
                <p:spPr>
                  <a:xfrm>
                    <a:off x="5141976" y="1627632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8C421902-B091-C043-BC00-62C35A65BE5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1976" y="1627632"/>
                    <a:ext cx="594360" cy="59436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A1D103D7-976A-C647-A872-A4AFB5FAB4E6}"/>
                      </a:ext>
                    </a:extLst>
                  </p:cNvPr>
                  <p:cNvSpPr/>
                  <p:nvPr/>
                </p:nvSpPr>
                <p:spPr>
                  <a:xfrm>
                    <a:off x="1527048" y="2760296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A1D103D7-976A-C647-A872-A4AFB5FAB4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7048" y="2760296"/>
                    <a:ext cx="594360" cy="59436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344B1FE5-2868-6642-884D-91C2BB546C74}"/>
                      </a:ext>
                    </a:extLst>
                  </p:cNvPr>
                  <p:cNvSpPr/>
                  <p:nvPr/>
                </p:nvSpPr>
                <p:spPr>
                  <a:xfrm>
                    <a:off x="3334512" y="2760296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344B1FE5-2868-6642-884D-91C2BB546C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4512" y="2760296"/>
                    <a:ext cx="594360" cy="594360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02D237C8-82F7-9147-9171-2623F1BD64BF}"/>
                      </a:ext>
                    </a:extLst>
                  </p:cNvPr>
                  <p:cNvSpPr/>
                  <p:nvPr/>
                </p:nvSpPr>
                <p:spPr>
                  <a:xfrm>
                    <a:off x="5141976" y="2760296"/>
                    <a:ext cx="594360" cy="59436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02D237C8-82F7-9147-9171-2623F1BD64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1976" y="2760296"/>
                    <a:ext cx="594360" cy="594360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7D0122B6-8758-C341-BF10-18562A166F24}"/>
                      </a:ext>
                    </a:extLst>
                  </p:cNvPr>
                  <p:cNvSpPr/>
                  <p:nvPr/>
                </p:nvSpPr>
                <p:spPr>
                  <a:xfrm>
                    <a:off x="1527048" y="3892960"/>
                    <a:ext cx="594360" cy="59436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7D0122B6-8758-C341-BF10-18562A166F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7048" y="3892960"/>
                    <a:ext cx="594360" cy="594360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D543C0C1-643B-A343-BA33-CFCD6D133696}"/>
                      </a:ext>
                    </a:extLst>
                  </p:cNvPr>
                  <p:cNvSpPr/>
                  <p:nvPr/>
                </p:nvSpPr>
                <p:spPr>
                  <a:xfrm>
                    <a:off x="3334512" y="3892960"/>
                    <a:ext cx="594360" cy="59436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D543C0C1-643B-A343-BA33-CFCD6D13369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4512" y="3892960"/>
                    <a:ext cx="594360" cy="594360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35F02FD9-2DD5-B243-A97C-9BBDF0415180}"/>
                      </a:ext>
                    </a:extLst>
                  </p:cNvPr>
                  <p:cNvSpPr/>
                  <p:nvPr/>
                </p:nvSpPr>
                <p:spPr>
                  <a:xfrm>
                    <a:off x="5141976" y="3892960"/>
                    <a:ext cx="594360" cy="594360"/>
                  </a:xfrm>
                  <a:prstGeom prst="ellipse">
                    <a:avLst/>
                  </a:prstGeom>
                  <a:solidFill>
                    <a:schemeClr val="accent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35F02FD9-2DD5-B243-A97C-9BBDF041518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1976" y="3892960"/>
                    <a:ext cx="594360" cy="594360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3CF703AE-9E77-8445-829B-88A452E62409}"/>
                      </a:ext>
                    </a:extLst>
                  </p:cNvPr>
                  <p:cNvSpPr/>
                  <p:nvPr/>
                </p:nvSpPr>
                <p:spPr>
                  <a:xfrm>
                    <a:off x="1527048" y="5025028"/>
                    <a:ext cx="594360" cy="59436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3CF703AE-9E77-8445-829B-88A452E624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7048" y="5025028"/>
                    <a:ext cx="594360" cy="594360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C832709B-827B-4545-9968-422845F94457}"/>
                      </a:ext>
                    </a:extLst>
                  </p:cNvPr>
                  <p:cNvSpPr/>
                  <p:nvPr/>
                </p:nvSpPr>
                <p:spPr>
                  <a:xfrm>
                    <a:off x="3334512" y="5025028"/>
                    <a:ext cx="594360" cy="59436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C832709B-827B-4545-9968-422845F9445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4512" y="5025028"/>
                    <a:ext cx="594360" cy="594360"/>
                  </a:xfrm>
                  <a:prstGeom prst="ellipse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3D7195CE-9C0B-B84C-BF93-CB503391CF9B}"/>
                      </a:ext>
                    </a:extLst>
                  </p:cNvPr>
                  <p:cNvSpPr/>
                  <p:nvPr/>
                </p:nvSpPr>
                <p:spPr>
                  <a:xfrm>
                    <a:off x="5141976" y="5025028"/>
                    <a:ext cx="594360" cy="594360"/>
                  </a:xfrm>
                  <a:prstGeom prst="ellipse">
                    <a:avLst/>
                  </a:prstGeom>
                  <a:solidFill>
                    <a:schemeClr val="accent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3D7195CE-9C0B-B84C-BF93-CB503391CF9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1976" y="5025028"/>
                    <a:ext cx="594360" cy="594360"/>
                  </a:xfrm>
                  <a:prstGeom prst="ellipse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8FFE00F-E082-E240-87F1-E54FAB4D3976}"/>
                </a:ext>
              </a:extLst>
            </p:cNvPr>
            <p:cNvSpPr/>
            <p:nvPr/>
          </p:nvSpPr>
          <p:spPr>
            <a:xfrm>
              <a:off x="3072384" y="2522999"/>
              <a:ext cx="3557016" cy="240380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CD75B43-6B89-D74C-93F1-D91B48F09ED3}"/>
                </a:ext>
              </a:extLst>
            </p:cNvPr>
            <p:cNvSpPr/>
            <p:nvPr/>
          </p:nvSpPr>
          <p:spPr>
            <a:xfrm>
              <a:off x="1164928" y="4919724"/>
              <a:ext cx="3465576" cy="1154439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628459-FE42-1045-9BF7-1414742D8A00}"/>
                    </a:ext>
                  </a:extLst>
                </p:cNvPr>
                <p:cNvSpPr txBox="1"/>
                <p:nvPr/>
              </p:nvSpPr>
              <p:spPr>
                <a:xfrm>
                  <a:off x="4556491" y="1358472"/>
                  <a:ext cx="462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628459-FE42-1045-9BF7-1414742D8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6491" y="1358472"/>
                  <a:ext cx="46249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5855F73-DD1E-3946-BF1A-25952B2ABB74}"/>
                    </a:ext>
                  </a:extLst>
                </p:cNvPr>
                <p:cNvSpPr txBox="1"/>
                <p:nvPr/>
              </p:nvSpPr>
              <p:spPr>
                <a:xfrm>
                  <a:off x="1481837" y="6174849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>
                        <a:lumMod val="8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5855F73-DD1E-3946-BF1A-25952B2ABB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1837" y="6174849"/>
                  <a:ext cx="46782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4EBD289-1555-AF4A-849C-A74222603A03}"/>
                </a:ext>
              </a:extLst>
            </p:cNvPr>
            <p:cNvSpPr/>
            <p:nvPr/>
          </p:nvSpPr>
          <p:spPr>
            <a:xfrm>
              <a:off x="1541356" y="1250851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702A65C-111A-334C-AB90-280270B0F0F2}"/>
                </a:ext>
              </a:extLst>
            </p:cNvPr>
            <p:cNvSpPr/>
            <p:nvPr/>
          </p:nvSpPr>
          <p:spPr>
            <a:xfrm>
              <a:off x="5006932" y="1225936"/>
              <a:ext cx="1409108" cy="5219307"/>
            </a:xfrm>
            <a:custGeom>
              <a:avLst/>
              <a:gdLst>
                <a:gd name="connsiteX0" fmla="*/ 637897 w 5639935"/>
                <a:gd name="connsiteY0" fmla="*/ 123227 h 1407221"/>
                <a:gd name="connsiteX1" fmla="*/ 5145889 w 5639935"/>
                <a:gd name="connsiteY1" fmla="*/ 159803 h 1407221"/>
                <a:gd name="connsiteX2" fmla="*/ 4999585 w 5639935"/>
                <a:gd name="connsiteY2" fmla="*/ 1284515 h 1407221"/>
                <a:gd name="connsiteX3" fmla="*/ 491593 w 5639935"/>
                <a:gd name="connsiteY3" fmla="*/ 1247939 h 1407221"/>
                <a:gd name="connsiteX4" fmla="*/ 637897 w 5639935"/>
                <a:gd name="connsiteY4" fmla="*/ 123227 h 14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9935" h="1407221">
                  <a:moveTo>
                    <a:pt x="637897" y="123227"/>
                  </a:moveTo>
                  <a:cubicBezTo>
                    <a:pt x="1413613" y="-58129"/>
                    <a:pt x="4418941" y="-33745"/>
                    <a:pt x="5145889" y="159803"/>
                  </a:cubicBezTo>
                  <a:cubicBezTo>
                    <a:pt x="5872837" y="353351"/>
                    <a:pt x="5775301" y="1103159"/>
                    <a:pt x="4999585" y="1284515"/>
                  </a:cubicBezTo>
                  <a:cubicBezTo>
                    <a:pt x="4223869" y="1465871"/>
                    <a:pt x="1212445" y="1439963"/>
                    <a:pt x="491593" y="1247939"/>
                  </a:cubicBezTo>
                  <a:cubicBezTo>
                    <a:pt x="-229259" y="1055915"/>
                    <a:pt x="-137819" y="304583"/>
                    <a:pt x="637897" y="123227"/>
                  </a:cubicBezTo>
                  <a:close/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1168A3A-81C1-1E44-8C20-B7615748EF77}"/>
                    </a:ext>
                  </a:extLst>
                </p:cNvPr>
                <p:cNvSpPr txBox="1"/>
                <p:nvPr/>
              </p:nvSpPr>
              <p:spPr>
                <a:xfrm>
                  <a:off x="6510916" y="3932566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>
                        <a:lumMod val="8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1168A3A-81C1-1E44-8C20-B7615748EF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0916" y="3932566"/>
                  <a:ext cx="46782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645F42-96DA-0746-9060-1F1739446423}"/>
                    </a:ext>
                  </a:extLst>
                </p:cNvPr>
                <p:cNvSpPr txBox="1"/>
                <p:nvPr/>
              </p:nvSpPr>
              <p:spPr>
                <a:xfrm>
                  <a:off x="4570033" y="6157677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7645F42-96DA-0746-9060-1F17394464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0033" y="6157677"/>
                  <a:ext cx="46782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3011454-BB8C-9F42-BD07-750C433C6603}"/>
                    </a:ext>
                  </a:extLst>
                </p:cNvPr>
                <p:cNvSpPr txBox="1"/>
                <p:nvPr/>
              </p:nvSpPr>
              <p:spPr>
                <a:xfrm>
                  <a:off x="6196191" y="5814500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3011454-BB8C-9F42-BD07-750C433C6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6191" y="5814500"/>
                  <a:ext cx="46782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F2C788E-7C30-C047-BD3B-1F330EB37FA0}"/>
                    </a:ext>
                  </a:extLst>
                </p:cNvPr>
                <p:cNvSpPr txBox="1"/>
                <p:nvPr/>
              </p:nvSpPr>
              <p:spPr>
                <a:xfrm>
                  <a:off x="906974" y="4913529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F2C788E-7C30-C047-BD3B-1F330EB37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974" y="4913529"/>
                  <a:ext cx="46782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CB9DAFC-B073-FE46-ACA9-A682A254AD0E}"/>
                  </a:ext>
                </a:extLst>
              </p:cNvPr>
              <p:cNvSpPr txBox="1"/>
              <p:nvPr/>
            </p:nvSpPr>
            <p:spPr>
              <a:xfrm>
                <a:off x="6766298" y="1249956"/>
                <a:ext cx="4554266" cy="182287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bg1"/>
                    </a:solidFill>
                  </a:rPr>
                  <a:t>Costs of the nodes in this example are: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accent3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accent5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CB9DAFC-B073-FE46-ACA9-A682A254A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298" y="1249956"/>
                <a:ext cx="4554266" cy="1822871"/>
              </a:xfrm>
              <a:prstGeom prst="rect">
                <a:avLst/>
              </a:prstGeom>
              <a:blipFill>
                <a:blip r:embed="rId20"/>
                <a:stretch>
                  <a:fillRect l="-1111" t="-68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A7B7B2FE-698A-064F-8077-A24B96DAA922}"/>
              </a:ext>
            </a:extLst>
          </p:cNvPr>
          <p:cNvSpPr txBox="1"/>
          <p:nvPr/>
        </p:nvSpPr>
        <p:spPr>
          <a:xfrm>
            <a:off x="6766298" y="3477024"/>
            <a:ext cx="2457712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 the following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540E53D-4BDA-FD46-BCCE-EB373480E99A}"/>
                  </a:ext>
                </a:extLst>
              </p:cNvPr>
              <p:cNvSpPr txBox="1"/>
              <p:nvPr/>
            </p:nvSpPr>
            <p:spPr>
              <a:xfrm>
                <a:off x="6766298" y="3912887"/>
                <a:ext cx="2457712" cy="7645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540E53D-4BDA-FD46-BCCE-EB373480E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298" y="3912887"/>
                <a:ext cx="2457712" cy="764505"/>
              </a:xfrm>
              <a:prstGeom prst="rect">
                <a:avLst/>
              </a:prstGeom>
              <a:blipFill>
                <a:blip r:embed="rId21"/>
                <a:stretch>
                  <a:fillRect t="-119355" b="-16451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4CA3A46-9EBF-2041-AC6B-952E8591E954}"/>
              </a:ext>
            </a:extLst>
          </p:cNvPr>
          <p:cNvSpPr txBox="1"/>
          <p:nvPr/>
        </p:nvSpPr>
        <p:spPr>
          <a:xfrm>
            <a:off x="9307568" y="3958607"/>
            <a:ext cx="2728222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Sum of costs equals total cost. In this case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29A95-C0FE-B341-B118-D02052B1BE2C}"/>
                  </a:ext>
                </a:extLst>
              </p:cNvPr>
              <p:cNvSpPr txBox="1"/>
              <p:nvPr/>
            </p:nvSpPr>
            <p:spPr>
              <a:xfrm>
                <a:off x="6766298" y="4833519"/>
                <a:ext cx="2674882" cy="7648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29A95-C0FE-B341-B118-D02052B1B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298" y="4833519"/>
                <a:ext cx="2674882" cy="764825"/>
              </a:xfrm>
              <a:prstGeom prst="rect">
                <a:avLst/>
              </a:prstGeom>
              <a:blipFill>
                <a:blip r:embed="rId22"/>
                <a:stretch>
                  <a:fillRect l="-25943" t="-120968" b="-16451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345C43D-DAAE-7B43-9EC9-D6F1D5B1A252}"/>
              </a:ext>
            </a:extLst>
          </p:cNvPr>
          <p:cNvSpPr txBox="1"/>
          <p:nvPr/>
        </p:nvSpPr>
        <p:spPr>
          <a:xfrm>
            <a:off x="9532620" y="4764939"/>
            <a:ext cx="2423160" cy="92333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Because left side duplicates some costs that right side does not</a:t>
            </a:r>
          </a:p>
        </p:txBody>
      </p:sp>
    </p:spTree>
    <p:extLst>
      <p:ext uri="{BB962C8B-B14F-4D97-AF65-F5344CB8AC3E}">
        <p14:creationId xmlns:p14="http://schemas.microsoft.com/office/powerpoint/2010/main" val="16885414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B4B3D50-84B5-7F4D-A188-2337A0CD61F4}"/>
              </a:ext>
            </a:extLst>
          </p:cNvPr>
          <p:cNvSpPr/>
          <p:nvPr/>
        </p:nvSpPr>
        <p:spPr>
          <a:xfrm>
            <a:off x="2606040" y="3383280"/>
            <a:ext cx="8321040" cy="3054096"/>
          </a:xfrm>
          <a:prstGeom prst="roundRect">
            <a:avLst/>
          </a:prstGeom>
          <a:noFill/>
          <a:ln w="28575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088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Analysis of Set Cover Greedy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29A95-C0FE-B341-B118-D02052B1BE2C}"/>
                  </a:ext>
                </a:extLst>
              </p:cNvPr>
              <p:cNvSpPr txBox="1"/>
              <p:nvPr/>
            </p:nvSpPr>
            <p:spPr>
              <a:xfrm>
                <a:off x="1705356" y="1685151"/>
                <a:ext cx="3039054" cy="7648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829A95-C0FE-B341-B118-D02052B1B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356" y="1685151"/>
                <a:ext cx="3039054" cy="764825"/>
              </a:xfrm>
              <a:prstGeom prst="rect">
                <a:avLst/>
              </a:prstGeom>
              <a:blipFill>
                <a:blip r:embed="rId2"/>
                <a:stretch>
                  <a:fillRect t="-119355" b="-16451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345C43D-DAAE-7B43-9EC9-D6F1D5B1A252}"/>
              </a:ext>
            </a:extLst>
          </p:cNvPr>
          <p:cNvSpPr txBox="1"/>
          <p:nvPr/>
        </p:nvSpPr>
        <p:spPr>
          <a:xfrm>
            <a:off x="1705356" y="1238319"/>
            <a:ext cx="3039054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 Previous Slide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/>
              <p:nvPr/>
            </p:nvSpPr>
            <p:spPr>
              <a:xfrm>
                <a:off x="4041584" y="3786788"/>
                <a:ext cx="2457712" cy="7645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584" y="3786788"/>
                <a:ext cx="2457712" cy="764505"/>
              </a:xfrm>
              <a:prstGeom prst="rect">
                <a:avLst/>
              </a:prstGeom>
              <a:blipFill>
                <a:blip r:embed="rId3"/>
                <a:stretch>
                  <a:fillRect l="-14796" t="-119355" b="-16612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6853F7A-C8EC-504D-97E9-875ADC40CEC5}"/>
              </a:ext>
            </a:extLst>
          </p:cNvPr>
          <p:cNvSpPr txBox="1"/>
          <p:nvPr/>
        </p:nvSpPr>
        <p:spPr>
          <a:xfrm>
            <a:off x="6580266" y="3852551"/>
            <a:ext cx="408163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Accept as true for now, will argue why in a moment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0600322-54D5-CC4E-8892-CCC951A4E98C}"/>
                  </a:ext>
                </a:extLst>
              </p:cNvPr>
              <p:cNvSpPr txBox="1"/>
              <p:nvPr/>
            </p:nvSpPr>
            <p:spPr>
              <a:xfrm>
                <a:off x="4041584" y="4771292"/>
                <a:ext cx="2457712" cy="7645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0600322-54D5-CC4E-8892-CCC951A4E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584" y="4771292"/>
                <a:ext cx="2457712" cy="764505"/>
              </a:xfrm>
              <a:prstGeom prst="rect">
                <a:avLst/>
              </a:prstGeom>
              <a:blipFill>
                <a:blip r:embed="rId4"/>
                <a:stretch>
                  <a:fillRect t="-120968" b="-16451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01F3348A-5029-1248-B11A-FF40274FA502}"/>
              </a:ext>
            </a:extLst>
          </p:cNvPr>
          <p:cNvSpPr txBox="1"/>
          <p:nvPr/>
        </p:nvSpPr>
        <p:spPr>
          <a:xfrm>
            <a:off x="6589410" y="4837055"/>
            <a:ext cx="40816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…………………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44D0D8F-D787-B344-86E8-62EEEC7FFC42}"/>
                  </a:ext>
                </a:extLst>
              </p:cNvPr>
              <p:cNvSpPr txBox="1"/>
              <p:nvPr/>
            </p:nvSpPr>
            <p:spPr>
              <a:xfrm>
                <a:off x="3054096" y="5655212"/>
                <a:ext cx="3445200" cy="3693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44D0D8F-D787-B344-86E8-62EEEC7FF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096" y="5655212"/>
                <a:ext cx="3445200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14CAAFDE-7D43-4946-9F67-4BF8784B7789}"/>
              </a:ext>
            </a:extLst>
          </p:cNvPr>
          <p:cNvSpPr txBox="1"/>
          <p:nvPr/>
        </p:nvSpPr>
        <p:spPr>
          <a:xfrm>
            <a:off x="6598554" y="5655181"/>
            <a:ext cx="40816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Q.E.D. if inequality assumed above is true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FEE75D-78AA-5043-868D-657AF20F916C}"/>
              </a:ext>
            </a:extLst>
          </p:cNvPr>
          <p:cNvCxnSpPr/>
          <p:nvPr/>
        </p:nvCxnSpPr>
        <p:spPr>
          <a:xfrm>
            <a:off x="813816" y="2907792"/>
            <a:ext cx="1100023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7439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088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Analysis of Set Cover Greedy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/>
              <p:nvPr/>
            </p:nvSpPr>
            <p:spPr>
              <a:xfrm>
                <a:off x="4837112" y="1619291"/>
                <a:ext cx="2457712" cy="7645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112" y="1619291"/>
                <a:ext cx="2457712" cy="764505"/>
              </a:xfrm>
              <a:prstGeom prst="rect">
                <a:avLst/>
              </a:prstGeom>
              <a:blipFill>
                <a:blip r:embed="rId2"/>
                <a:stretch>
                  <a:fillRect l="-15385" t="-120968" b="-16451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6853F7A-C8EC-504D-97E9-875ADC40CEC5}"/>
              </a:ext>
            </a:extLst>
          </p:cNvPr>
          <p:cNvSpPr txBox="1"/>
          <p:nvPr/>
        </p:nvSpPr>
        <p:spPr>
          <a:xfrm>
            <a:off x="1832296" y="1118360"/>
            <a:ext cx="846734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Analysis on previous slide relies on the following inequality. Does it actually hold?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49F564-A024-AE40-8D4B-2F5E4F5CF11A}"/>
              </a:ext>
            </a:extLst>
          </p:cNvPr>
          <p:cNvSpPr txBox="1"/>
          <p:nvPr/>
        </p:nvSpPr>
        <p:spPr>
          <a:xfrm>
            <a:off x="733742" y="1737665"/>
            <a:ext cx="299573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First, suppose that there is a set S with size |S| and algorithm adds all nodes from S “at once”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2D5086A-7FE4-5944-AB86-8BE67D4AF46B}"/>
              </a:ext>
            </a:extLst>
          </p:cNvPr>
          <p:cNvGrpSpPr/>
          <p:nvPr/>
        </p:nvGrpSpPr>
        <p:grpSpPr>
          <a:xfrm>
            <a:off x="1309094" y="4136005"/>
            <a:ext cx="9781172" cy="802261"/>
            <a:chOff x="1309094" y="4136005"/>
            <a:chExt cx="9781172" cy="80226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19065A1-5DD2-AC40-A7DE-D94FFD7D6665}"/>
                </a:ext>
              </a:extLst>
            </p:cNvPr>
            <p:cNvGrpSpPr/>
            <p:nvPr/>
          </p:nvGrpSpPr>
          <p:grpSpPr>
            <a:xfrm>
              <a:off x="1309094" y="4136005"/>
              <a:ext cx="9781172" cy="802261"/>
              <a:chOff x="1309094" y="4374542"/>
              <a:chExt cx="9781172" cy="80226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769EA12-4B20-144E-ADB9-99B52D294968}"/>
                  </a:ext>
                </a:extLst>
              </p:cNvPr>
              <p:cNvGrpSpPr/>
              <p:nvPr/>
            </p:nvGrpSpPr>
            <p:grpSpPr>
              <a:xfrm>
                <a:off x="2390868" y="4428892"/>
                <a:ext cx="8699398" cy="630640"/>
                <a:chOff x="2464020" y="4172860"/>
                <a:chExt cx="8699398" cy="630640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725BEA7F-AC89-C146-8C86-A344EDD536F3}"/>
                    </a:ext>
                  </a:extLst>
                </p:cNvPr>
                <p:cNvGrpSpPr/>
                <p:nvPr/>
              </p:nvGrpSpPr>
              <p:grpSpPr>
                <a:xfrm>
                  <a:off x="2464020" y="4172860"/>
                  <a:ext cx="8699398" cy="630640"/>
                  <a:chOff x="2464020" y="4172860"/>
                  <a:chExt cx="8699398" cy="63064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" name="TextBox 13">
                        <a:extLst>
                          <a:ext uri="{FF2B5EF4-FFF2-40B4-BE49-F238E27FC236}">
                            <a16:creationId xmlns:a16="http://schemas.microsoft.com/office/drawing/2014/main" id="{0EF31422-0472-FA4E-AFD5-817B772AE6A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64020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4" name="TextBox 13">
                        <a:extLst>
                          <a:ext uri="{FF2B5EF4-FFF2-40B4-BE49-F238E27FC236}">
                            <a16:creationId xmlns:a16="http://schemas.microsoft.com/office/drawing/2014/main" id="{0EF31422-0472-FA4E-AFD5-817B772AE6A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64020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700FCB4E-BA94-1B42-B2E2-8D0B86677E7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700FCB4E-BA94-1B42-B2E2-8D0B86677E7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2D94D644-4FC2-1B42-8FFD-69B47C6BE58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2D94D644-4FC2-1B42-8FFD-69B47C6BE58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" name="TextBox 16">
                        <a:extLst>
                          <a:ext uri="{FF2B5EF4-FFF2-40B4-BE49-F238E27FC236}">
                            <a16:creationId xmlns:a16="http://schemas.microsoft.com/office/drawing/2014/main" id="{D3A5761E-5B41-CA42-9124-CDF2BF747CA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7" name="TextBox 16">
                        <a:extLst>
                          <a:ext uri="{FF2B5EF4-FFF2-40B4-BE49-F238E27FC236}">
                            <a16:creationId xmlns:a16="http://schemas.microsoft.com/office/drawing/2014/main" id="{D3A5761E-5B41-CA42-9124-CDF2BF747CA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440E7382-FE3C-9341-8FF8-E9A456CD816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440E7382-FE3C-9341-8FF8-E9A456CD816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AA475DED-2502-7144-A587-09CF4F0EEA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AA475DED-2502-7144-A587-09CF4F0EEA1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AC67504-E048-9D45-AE6C-C91D37551644}"/>
                      </a:ext>
                    </a:extLst>
                  </p:cNvPr>
                  <p:cNvSpPr txBox="1"/>
                  <p:nvPr/>
                </p:nvSpPr>
                <p:spPr>
                  <a:xfrm>
                    <a:off x="6234669" y="4279392"/>
                    <a:ext cx="10289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0" i="1" dirty="0"/>
                      <a:t>…</a:t>
                    </a:r>
                    <a:endParaRPr lang="en-US" i="1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BE152E5C-EF52-334D-8055-405EF03D6A1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BE152E5C-EF52-334D-8055-405EF03D6A1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2B62445D-3ABF-EB49-9498-41A7D4B865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2B62445D-3ABF-EB49-9498-41A7D4B8653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0473649-9308-EB43-A695-DEED459DDC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0473649-9308-EB43-A695-DEED459DDC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CE51D706-645F-4B47-BFFE-EEDC074C40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CE51D706-645F-4B47-BFFE-EEDC074C40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1A40BB54-5C9A-5441-A905-A22B04F34C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1A40BB54-5C9A-5441-A905-A22B04F34C5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21143C9F-FC41-9C4D-BA55-191D4B3A63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21143C9F-FC41-9C4D-BA55-191D4B3A63F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CCE27AFF-AA11-4C42-B7B0-CD3B9870F4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CCE27AFF-AA11-4C42-B7B0-CD3B9870F4E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D8A013B3-36A1-6741-890E-A1558AE772AC}"/>
                      </a:ext>
                    </a:extLst>
                  </p:cNvPr>
                  <p:cNvSpPr txBox="1"/>
                  <p:nvPr/>
                </p:nvSpPr>
                <p:spPr>
                  <a:xfrm>
                    <a:off x="1309094" y="4392365"/>
                    <a:ext cx="1130382" cy="764505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D8A013B3-36A1-6741-890E-A1558AE772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9094" y="4392365"/>
                    <a:ext cx="1130382" cy="7645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9341" t="-119355" b="-166129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2F062B1-3E5F-9740-B2E7-92AE875B55AF}"/>
                  </a:ext>
                </a:extLst>
              </p:cNvPr>
              <p:cNvSpPr/>
              <p:nvPr/>
            </p:nvSpPr>
            <p:spPr>
              <a:xfrm>
                <a:off x="2537791" y="4374542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8039782-7043-C841-B205-847B9AC75B94}"/>
                    </a:ext>
                  </a:extLst>
                </p:cNvPr>
                <p:cNvSpPr txBox="1"/>
                <p:nvPr/>
              </p:nvSpPr>
              <p:spPr>
                <a:xfrm>
                  <a:off x="9004180" y="4208199"/>
                  <a:ext cx="1028988" cy="6127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br>
                    <a:rPr lang="en-US" b="0" i="1" dirty="0"/>
                  </a:br>
                  <a:endParaRPr lang="en-US" i="1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8039782-7043-C841-B205-847B9AC75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4180" y="4208199"/>
                  <a:ext cx="1028988" cy="61279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C37D76A-9334-E749-A203-4F3E40936E57}"/>
              </a:ext>
            </a:extLst>
          </p:cNvPr>
          <p:cNvGrpSpPr/>
          <p:nvPr/>
        </p:nvGrpSpPr>
        <p:grpSpPr>
          <a:xfrm>
            <a:off x="1309094" y="5648080"/>
            <a:ext cx="9781172" cy="802261"/>
            <a:chOff x="1309094" y="5648080"/>
            <a:chExt cx="9781172" cy="80226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27D2504-6A43-4B45-99CD-C3E3524B6771}"/>
                </a:ext>
              </a:extLst>
            </p:cNvPr>
            <p:cNvGrpSpPr/>
            <p:nvPr/>
          </p:nvGrpSpPr>
          <p:grpSpPr>
            <a:xfrm>
              <a:off x="1309094" y="5648080"/>
              <a:ext cx="9781172" cy="802261"/>
              <a:chOff x="1309094" y="5648080"/>
              <a:chExt cx="9781172" cy="802261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BB17F97-E8B9-7949-BF18-62D698104EDD}"/>
                  </a:ext>
                </a:extLst>
              </p:cNvPr>
              <p:cNvGrpSpPr/>
              <p:nvPr/>
            </p:nvGrpSpPr>
            <p:grpSpPr>
              <a:xfrm>
                <a:off x="2390868" y="5687904"/>
                <a:ext cx="8699398" cy="630640"/>
                <a:chOff x="2464020" y="4172860"/>
                <a:chExt cx="8699398" cy="63064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BA4426E8-E08F-6841-AE6D-164A288812DC}"/>
                    </a:ext>
                  </a:extLst>
                </p:cNvPr>
                <p:cNvGrpSpPr/>
                <p:nvPr/>
              </p:nvGrpSpPr>
              <p:grpSpPr>
                <a:xfrm>
                  <a:off x="2464020" y="4172860"/>
                  <a:ext cx="8699398" cy="630640"/>
                  <a:chOff x="2464020" y="4172860"/>
                  <a:chExt cx="8699398" cy="63064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" name="TextBox 58">
                        <a:extLst>
                          <a:ext uri="{FF2B5EF4-FFF2-40B4-BE49-F238E27FC236}">
                            <a16:creationId xmlns:a16="http://schemas.microsoft.com/office/drawing/2014/main" id="{F1F6E2A0-632F-0644-93EC-63A3A318EDF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64020" y="4367636"/>
                        <a:ext cx="1028988" cy="369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59" name="TextBox 58">
                        <a:extLst>
                          <a:ext uri="{FF2B5EF4-FFF2-40B4-BE49-F238E27FC236}">
                            <a16:creationId xmlns:a16="http://schemas.microsoft.com/office/drawing/2014/main" id="{F1F6E2A0-632F-0644-93EC-63A3A318EDF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64020" y="4367636"/>
                        <a:ext cx="1028988" cy="369397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0" name="TextBox 59">
                        <a:extLst>
                          <a:ext uri="{FF2B5EF4-FFF2-40B4-BE49-F238E27FC236}">
                            <a16:creationId xmlns:a16="http://schemas.microsoft.com/office/drawing/2014/main" id="{BE59BF50-633E-E54B-B6A8-A71DBD81A6B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60" name="TextBox 59">
                        <a:extLst>
                          <a:ext uri="{FF2B5EF4-FFF2-40B4-BE49-F238E27FC236}">
                            <a16:creationId xmlns:a16="http://schemas.microsoft.com/office/drawing/2014/main" id="{BE59BF50-633E-E54B-B6A8-A71DBD81A6B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1" name="TextBox 60">
                        <a:extLst>
                          <a:ext uri="{FF2B5EF4-FFF2-40B4-BE49-F238E27FC236}">
                            <a16:creationId xmlns:a16="http://schemas.microsoft.com/office/drawing/2014/main" id="{574F84DE-A0F6-5044-AF0C-329F5BC3079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61" name="TextBox 60">
                        <a:extLst>
                          <a:ext uri="{FF2B5EF4-FFF2-40B4-BE49-F238E27FC236}">
                            <a16:creationId xmlns:a16="http://schemas.microsoft.com/office/drawing/2014/main" id="{574F84DE-A0F6-5044-AF0C-329F5BC3079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2" name="TextBox 61">
                        <a:extLst>
                          <a:ext uri="{FF2B5EF4-FFF2-40B4-BE49-F238E27FC236}">
                            <a16:creationId xmlns:a16="http://schemas.microsoft.com/office/drawing/2014/main" id="{A23FDD23-7B4C-E74C-8E9A-B121F9AE707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62" name="TextBox 61">
                        <a:extLst>
                          <a:ext uri="{FF2B5EF4-FFF2-40B4-BE49-F238E27FC236}">
                            <a16:creationId xmlns:a16="http://schemas.microsoft.com/office/drawing/2014/main" id="{A23FDD23-7B4C-E74C-8E9A-B121F9AE707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TextBox 62">
                        <a:extLst>
                          <a:ext uri="{FF2B5EF4-FFF2-40B4-BE49-F238E27FC236}">
                            <a16:creationId xmlns:a16="http://schemas.microsoft.com/office/drawing/2014/main" id="{9EA246E9-9C10-944D-851C-B47F975B851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63" name="TextBox 62">
                        <a:extLst>
                          <a:ext uri="{FF2B5EF4-FFF2-40B4-BE49-F238E27FC236}">
                            <a16:creationId xmlns:a16="http://schemas.microsoft.com/office/drawing/2014/main" id="{9EA246E9-9C10-944D-851C-B47F975B851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4" name="TextBox 63">
                        <a:extLst>
                          <a:ext uri="{FF2B5EF4-FFF2-40B4-BE49-F238E27FC236}">
                            <a16:creationId xmlns:a16="http://schemas.microsoft.com/office/drawing/2014/main" id="{29F1A125-B4EF-3647-8A9A-34348D16B53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64" name="TextBox 63">
                        <a:extLst>
                          <a:ext uri="{FF2B5EF4-FFF2-40B4-BE49-F238E27FC236}">
                            <a16:creationId xmlns:a16="http://schemas.microsoft.com/office/drawing/2014/main" id="{29F1A125-B4EF-3647-8A9A-34348D16B53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D1BC53B0-7893-A648-90BC-30443D12BF45}"/>
                      </a:ext>
                    </a:extLst>
                  </p:cNvPr>
                  <p:cNvSpPr txBox="1"/>
                  <p:nvPr/>
                </p:nvSpPr>
                <p:spPr>
                  <a:xfrm>
                    <a:off x="6205974" y="4276101"/>
                    <a:ext cx="10289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0" i="1" dirty="0"/>
                      <a:t>…</a:t>
                    </a:r>
                    <a:endParaRPr lang="en-US" i="1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6" name="TextBox 65">
                        <a:extLst>
                          <a:ext uri="{FF2B5EF4-FFF2-40B4-BE49-F238E27FC236}">
                            <a16:creationId xmlns:a16="http://schemas.microsoft.com/office/drawing/2014/main" id="{013C8B4A-FB87-BB45-B680-E7B5A892D6C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66" name="TextBox 65">
                        <a:extLst>
                          <a:ext uri="{FF2B5EF4-FFF2-40B4-BE49-F238E27FC236}">
                            <a16:creationId xmlns:a16="http://schemas.microsoft.com/office/drawing/2014/main" id="{013C8B4A-FB87-BB45-B680-E7B5A892D6C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03C40A7A-89C4-674E-A1B0-8A6DEE4885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03C40A7A-89C4-674E-A1B0-8A6DEE4885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36F322E2-DF87-1F46-A10D-AEFBF019F2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36F322E2-DF87-1F46-A10D-AEFBF019F2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37740EEA-D4B6-8F4C-9EFA-53DECD49F5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37740EEA-D4B6-8F4C-9EFA-53DECD49F56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1EED803F-4900-0846-8661-3C618B891C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1EED803F-4900-0846-8661-3C618B891C1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83FCB73C-5D29-6940-B34C-300E72BFC7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83FCB73C-5D29-6940-B34C-300E72BFC7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DCFC2F8B-6986-9646-A5C2-EEC90D5A71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DCFC2F8B-6986-9646-A5C2-EEC90D5A71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B4164D74-BBDD-BF49-90C0-5D01C0DB77D3}"/>
                      </a:ext>
                    </a:extLst>
                  </p:cNvPr>
                  <p:cNvSpPr txBox="1"/>
                  <p:nvPr/>
                </p:nvSpPr>
                <p:spPr>
                  <a:xfrm>
                    <a:off x="1309094" y="5870833"/>
                    <a:ext cx="1130382" cy="369332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B4164D74-BBDD-BF49-90C0-5D01C0DB77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9094" y="5870833"/>
                    <a:ext cx="1130382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9677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43B718AF-5A69-BB4C-9869-BBFB7E77D89B}"/>
                  </a:ext>
                </a:extLst>
              </p:cNvPr>
              <p:cNvSpPr/>
              <p:nvPr/>
            </p:nvSpPr>
            <p:spPr>
              <a:xfrm>
                <a:off x="2547068" y="5648080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CA1E092-CF90-9743-8FFB-58959C15EBC5}"/>
                    </a:ext>
                  </a:extLst>
                </p:cNvPr>
                <p:cNvSpPr txBox="1"/>
                <p:nvPr/>
              </p:nvSpPr>
              <p:spPr>
                <a:xfrm>
                  <a:off x="8950615" y="5695855"/>
                  <a:ext cx="1028988" cy="6127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oMath>
                    </m:oMathPara>
                  </a14:m>
                  <a:br>
                    <a:rPr lang="en-US" b="0" i="1" dirty="0"/>
                  </a:br>
                  <a:endParaRPr lang="en-US" i="1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CA1E092-CF90-9743-8FFB-58959C15E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0615" y="5695855"/>
                  <a:ext cx="1028988" cy="612796"/>
                </a:xfrm>
                <a:prstGeom prst="rect">
                  <a:avLst/>
                </a:prstGeom>
                <a:blipFill>
                  <a:blip r:embed="rId24"/>
                  <a:stretch>
                    <a:fillRect b="-2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8CC12A0-CC12-5F40-A11E-68300F368099}"/>
              </a:ext>
            </a:extLst>
          </p:cNvPr>
          <p:cNvGrpSpPr/>
          <p:nvPr/>
        </p:nvGrpSpPr>
        <p:grpSpPr>
          <a:xfrm>
            <a:off x="2693865" y="5088016"/>
            <a:ext cx="8082356" cy="370658"/>
            <a:chOff x="2693865" y="5088016"/>
            <a:chExt cx="8082356" cy="37065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416B248-DD57-FC47-A30D-F6BA6C7040F5}"/>
                </a:ext>
              </a:extLst>
            </p:cNvPr>
            <p:cNvGrpSpPr/>
            <p:nvPr/>
          </p:nvGrpSpPr>
          <p:grpSpPr>
            <a:xfrm>
              <a:off x="2693865" y="5088016"/>
              <a:ext cx="8082356" cy="369332"/>
              <a:chOff x="2693865" y="5088016"/>
              <a:chExt cx="8082356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15118DE2-68D1-464A-87D5-5D94D6A80506}"/>
                      </a:ext>
                    </a:extLst>
                  </p:cNvPr>
                  <p:cNvSpPr txBox="1"/>
                  <p:nvPr/>
                </p:nvSpPr>
                <p:spPr>
                  <a:xfrm>
                    <a:off x="2693865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15118DE2-68D1-464A-87D5-5D94D6A805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93865" y="5088016"/>
                    <a:ext cx="391188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81B288E6-E641-0C47-82DB-FCD3F1622D80}"/>
                      </a:ext>
                    </a:extLst>
                  </p:cNvPr>
                  <p:cNvSpPr txBox="1"/>
                  <p:nvPr/>
                </p:nvSpPr>
                <p:spPr>
                  <a:xfrm>
                    <a:off x="3810064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81B288E6-E641-0C47-82DB-FCD3F1622D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0064" y="5088016"/>
                    <a:ext cx="391188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7E0414D5-BA96-0A4B-B295-39726A54842F}"/>
                      </a:ext>
                    </a:extLst>
                  </p:cNvPr>
                  <p:cNvSpPr txBox="1"/>
                  <p:nvPr/>
                </p:nvSpPr>
                <p:spPr>
                  <a:xfrm>
                    <a:off x="4885003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7E0414D5-BA96-0A4B-B295-39726A5484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85003" y="5088016"/>
                    <a:ext cx="391188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7F458C-6697-B447-BE83-DB7EB64017EA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202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7F458C-6697-B447-BE83-DB7EB64017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202" y="5088016"/>
                    <a:ext cx="391188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2FB6745A-E58F-9B4C-9B29-FA5A0BA308A5}"/>
                      </a:ext>
                    </a:extLst>
                  </p:cNvPr>
                  <p:cNvSpPr txBox="1"/>
                  <p:nvPr/>
                </p:nvSpPr>
                <p:spPr>
                  <a:xfrm>
                    <a:off x="7078860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2FB6745A-E58F-9B4C-9B29-FA5A0BA308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8860" y="5088016"/>
                    <a:ext cx="391188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48CDC81-937F-0A4C-9E10-4BE5B33950BE}"/>
                      </a:ext>
                    </a:extLst>
                  </p:cNvPr>
                  <p:cNvSpPr txBox="1"/>
                  <p:nvPr/>
                </p:nvSpPr>
                <p:spPr>
                  <a:xfrm>
                    <a:off x="8195059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48CDC81-937F-0A4C-9E10-4BE5B33950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5059" y="5088016"/>
                    <a:ext cx="391188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63AB141C-94F4-0E45-81F1-6BF644FC6B22}"/>
                      </a:ext>
                    </a:extLst>
                  </p:cNvPr>
                  <p:cNvSpPr txBox="1"/>
                  <p:nvPr/>
                </p:nvSpPr>
                <p:spPr>
                  <a:xfrm>
                    <a:off x="10385033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63AB141C-94F4-0E45-81F1-6BF644FC6B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5033" y="5088016"/>
                    <a:ext cx="39118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6680B0FC-F191-E846-AC23-AEB375B36499}"/>
                    </a:ext>
                  </a:extLst>
                </p:cNvPr>
                <p:cNvSpPr txBox="1"/>
                <p:nvPr/>
              </p:nvSpPr>
              <p:spPr>
                <a:xfrm>
                  <a:off x="9317517" y="5089342"/>
                  <a:ext cx="39118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6680B0FC-F191-E846-AC23-AEB375B364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7517" y="5089342"/>
                  <a:ext cx="391188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DF81F8D-3391-A748-95D0-27661F4DAC3E}"/>
              </a:ext>
            </a:extLst>
          </p:cNvPr>
          <p:cNvGrpSpPr/>
          <p:nvPr/>
        </p:nvGrpSpPr>
        <p:grpSpPr>
          <a:xfrm>
            <a:off x="2528515" y="3029449"/>
            <a:ext cx="8380675" cy="802261"/>
            <a:chOff x="2528515" y="3029449"/>
            <a:chExt cx="8380675" cy="80226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D0FAC73-C889-B44B-9A82-23F468768468}"/>
                </a:ext>
              </a:extLst>
            </p:cNvPr>
            <p:cNvGrpSpPr/>
            <p:nvPr/>
          </p:nvGrpSpPr>
          <p:grpSpPr>
            <a:xfrm>
              <a:off x="2528515" y="3029449"/>
              <a:ext cx="8380675" cy="802261"/>
              <a:chOff x="2528515" y="3267986"/>
              <a:chExt cx="8380675" cy="80226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81AF4F6-2BB8-B446-A9C7-5BA9838E5561}"/>
                  </a:ext>
                </a:extLst>
              </p:cNvPr>
              <p:cNvSpPr/>
              <p:nvPr/>
            </p:nvSpPr>
            <p:spPr>
              <a:xfrm>
                <a:off x="2528515" y="3267986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B17D2E-3FA3-C44F-9FAF-F76721D87C7E}"/>
                  </a:ext>
                </a:extLst>
              </p:cNvPr>
              <p:cNvGrpSpPr/>
              <p:nvPr/>
            </p:nvGrpSpPr>
            <p:grpSpPr>
              <a:xfrm>
                <a:off x="2655756" y="3402288"/>
                <a:ext cx="8118818" cy="525923"/>
                <a:chOff x="2719764" y="2981664"/>
                <a:chExt cx="8118818" cy="525923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6DBF75C9-777C-014B-B6CB-BA8F4BCA04C5}"/>
                    </a:ext>
                  </a:extLst>
                </p:cNvPr>
                <p:cNvSpPr/>
                <p:nvPr/>
              </p:nvSpPr>
              <p:spPr>
                <a:xfrm>
                  <a:off x="2719764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F008F556-A53D-3E44-990C-ACFCFA627DCE}"/>
                    </a:ext>
                  </a:extLst>
                </p:cNvPr>
                <p:cNvSpPr/>
                <p:nvPr/>
              </p:nvSpPr>
              <p:spPr>
                <a:xfrm>
                  <a:off x="3828618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F6378673-61FD-6F42-95CA-822AEEE84FC4}"/>
                    </a:ext>
                  </a:extLst>
                </p:cNvPr>
                <p:cNvSpPr/>
                <p:nvPr/>
              </p:nvSpPr>
              <p:spPr>
                <a:xfrm>
                  <a:off x="4937472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DFCB85E-366A-9242-AE32-3CFD4304E1A7}"/>
                    </a:ext>
                  </a:extLst>
                </p:cNvPr>
                <p:cNvSpPr/>
                <p:nvPr/>
              </p:nvSpPr>
              <p:spPr>
                <a:xfrm>
                  <a:off x="6046326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3A0BAB8D-07B4-9444-8077-7B6AE014D1FE}"/>
                    </a:ext>
                  </a:extLst>
                </p:cNvPr>
                <p:cNvSpPr/>
                <p:nvPr/>
              </p:nvSpPr>
              <p:spPr>
                <a:xfrm>
                  <a:off x="7111187" y="2987575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13B1C742-7A8F-4947-8E0F-5EFB578D91BD}"/>
                    </a:ext>
                  </a:extLst>
                </p:cNvPr>
                <p:cNvSpPr/>
                <p:nvPr/>
              </p:nvSpPr>
              <p:spPr>
                <a:xfrm>
                  <a:off x="8220041" y="2987575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771F50DE-C1E0-5C45-853B-DB0A24460667}"/>
                    </a:ext>
                  </a:extLst>
                </p:cNvPr>
                <p:cNvSpPr/>
                <p:nvPr/>
              </p:nvSpPr>
              <p:spPr>
                <a:xfrm>
                  <a:off x="10339371" y="2981664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CF2D48F-A6F8-DB42-960C-67AB95DC1B9A}"/>
                    </a:ext>
                  </a:extLst>
                </p:cNvPr>
                <p:cNvSpPr txBox="1"/>
                <p:nvPr/>
              </p:nvSpPr>
              <p:spPr>
                <a:xfrm>
                  <a:off x="6266607" y="3034748"/>
                  <a:ext cx="102898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0" i="1" dirty="0"/>
                    <a:t>…</a:t>
                  </a:r>
                  <a:endParaRPr lang="en-US" i="1" dirty="0"/>
                </a:p>
              </p:txBody>
            </p:sp>
          </p:grpSp>
        </p:grp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6EF4155-8158-FE4E-BB57-93491A726726}"/>
                </a:ext>
              </a:extLst>
            </p:cNvPr>
            <p:cNvSpPr/>
            <p:nvPr/>
          </p:nvSpPr>
          <p:spPr>
            <a:xfrm>
              <a:off x="9246023" y="3179782"/>
              <a:ext cx="499211" cy="499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92714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088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Analysis of Set Cover Greedy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/>
              <p:nvPr/>
            </p:nvSpPr>
            <p:spPr>
              <a:xfrm>
                <a:off x="4837112" y="1619291"/>
                <a:ext cx="2457712" cy="7645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112" y="1619291"/>
                <a:ext cx="2457712" cy="764505"/>
              </a:xfrm>
              <a:prstGeom prst="rect">
                <a:avLst/>
              </a:prstGeom>
              <a:blipFill>
                <a:blip r:embed="rId2"/>
                <a:stretch>
                  <a:fillRect l="-15385" t="-120968" b="-16451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6853F7A-C8EC-504D-97E9-875ADC40CEC5}"/>
              </a:ext>
            </a:extLst>
          </p:cNvPr>
          <p:cNvSpPr txBox="1"/>
          <p:nvPr/>
        </p:nvSpPr>
        <p:spPr>
          <a:xfrm>
            <a:off x="1832296" y="1118360"/>
            <a:ext cx="846734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Analysis on previous slide relies on the following inequality. Does it actually hold?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49F564-A024-AE40-8D4B-2F5E4F5CF11A}"/>
              </a:ext>
            </a:extLst>
          </p:cNvPr>
          <p:cNvSpPr txBox="1"/>
          <p:nvPr/>
        </p:nvSpPr>
        <p:spPr>
          <a:xfrm>
            <a:off x="941610" y="1722484"/>
            <a:ext cx="299573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Now, suppose one node gets added in the previous ”round” and S gets added next.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40EF37-CA12-0641-A081-54F147BB92DD}"/>
              </a:ext>
            </a:extLst>
          </p:cNvPr>
          <p:cNvGrpSpPr/>
          <p:nvPr/>
        </p:nvGrpSpPr>
        <p:grpSpPr>
          <a:xfrm>
            <a:off x="1309094" y="4136005"/>
            <a:ext cx="9781172" cy="807213"/>
            <a:chOff x="1309094" y="4136005"/>
            <a:chExt cx="9781172" cy="807213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0D0A802-A2E4-154E-9F4D-C27FFEDCCB3D}"/>
                </a:ext>
              </a:extLst>
            </p:cNvPr>
            <p:cNvGrpSpPr/>
            <p:nvPr/>
          </p:nvGrpSpPr>
          <p:grpSpPr>
            <a:xfrm>
              <a:off x="1309094" y="4136005"/>
              <a:ext cx="9781172" cy="807213"/>
              <a:chOff x="1309094" y="4374542"/>
              <a:chExt cx="9781172" cy="807213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B2EC03A0-76C2-5547-A333-820065B12887}"/>
                  </a:ext>
                </a:extLst>
              </p:cNvPr>
              <p:cNvGrpSpPr/>
              <p:nvPr/>
            </p:nvGrpSpPr>
            <p:grpSpPr>
              <a:xfrm>
                <a:off x="2390868" y="4428892"/>
                <a:ext cx="8699398" cy="752863"/>
                <a:chOff x="2464020" y="4172860"/>
                <a:chExt cx="8699398" cy="752863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36E4B119-B8DD-B840-8631-0F99720B4E24}"/>
                    </a:ext>
                  </a:extLst>
                </p:cNvPr>
                <p:cNvGrpSpPr/>
                <p:nvPr/>
              </p:nvGrpSpPr>
              <p:grpSpPr>
                <a:xfrm>
                  <a:off x="2464020" y="4172860"/>
                  <a:ext cx="8699398" cy="752863"/>
                  <a:chOff x="2464020" y="4172860"/>
                  <a:chExt cx="8699398" cy="7528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9" name="TextBox 108">
                        <a:extLst>
                          <a:ext uri="{FF2B5EF4-FFF2-40B4-BE49-F238E27FC236}">
                            <a16:creationId xmlns:a16="http://schemas.microsoft.com/office/drawing/2014/main" id="{4AC08369-E00B-D448-9444-DAF1727268C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64020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09" name="TextBox 108">
                        <a:extLst>
                          <a:ext uri="{FF2B5EF4-FFF2-40B4-BE49-F238E27FC236}">
                            <a16:creationId xmlns:a16="http://schemas.microsoft.com/office/drawing/2014/main" id="{4AC08369-E00B-D448-9444-DAF1727268C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64020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77E42F67-C7C3-2248-B463-62BAC022385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77E42F67-C7C3-2248-B463-62BAC022385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1" name="TextBox 110">
                        <a:extLst>
                          <a:ext uri="{FF2B5EF4-FFF2-40B4-BE49-F238E27FC236}">
                            <a16:creationId xmlns:a16="http://schemas.microsoft.com/office/drawing/2014/main" id="{924EB230-F696-164C-B5AD-708D6DAF72C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1" name="TextBox 110">
                        <a:extLst>
                          <a:ext uri="{FF2B5EF4-FFF2-40B4-BE49-F238E27FC236}">
                            <a16:creationId xmlns:a16="http://schemas.microsoft.com/office/drawing/2014/main" id="{924EB230-F696-164C-B5AD-708D6DAF72C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2" name="TextBox 111">
                        <a:extLst>
                          <a:ext uri="{FF2B5EF4-FFF2-40B4-BE49-F238E27FC236}">
                            <a16:creationId xmlns:a16="http://schemas.microsoft.com/office/drawing/2014/main" id="{1924E34F-C664-6448-9541-31385FF75DA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2" name="TextBox 111">
                        <a:extLst>
                          <a:ext uri="{FF2B5EF4-FFF2-40B4-BE49-F238E27FC236}">
                            <a16:creationId xmlns:a16="http://schemas.microsoft.com/office/drawing/2014/main" id="{1924E34F-C664-6448-9541-31385FF75DA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3" name="TextBox 112">
                        <a:extLst>
                          <a:ext uri="{FF2B5EF4-FFF2-40B4-BE49-F238E27FC236}">
                            <a16:creationId xmlns:a16="http://schemas.microsoft.com/office/drawing/2014/main" id="{8DDC13C3-70AE-364D-B13D-4AC0D69A5AE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3" name="TextBox 112">
                        <a:extLst>
                          <a:ext uri="{FF2B5EF4-FFF2-40B4-BE49-F238E27FC236}">
                            <a16:creationId xmlns:a16="http://schemas.microsoft.com/office/drawing/2014/main" id="{8DDC13C3-70AE-364D-B13D-4AC0D69A5AE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D4F38F5B-EA10-0443-8D3F-BDBB2981735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D4F38F5B-EA10-0443-8D3F-BDBB2981735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CF4603-F56D-E249-81A5-5F1FAC5215A8}"/>
                      </a:ext>
                    </a:extLst>
                  </p:cNvPr>
                  <p:cNvSpPr txBox="1"/>
                  <p:nvPr/>
                </p:nvSpPr>
                <p:spPr>
                  <a:xfrm>
                    <a:off x="6234669" y="4279392"/>
                    <a:ext cx="1028988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0" i="1" dirty="0"/>
                      <a:t>…</a:t>
                    </a:r>
                    <a:br>
                      <a:rPr lang="en-US" b="0" i="1" dirty="0"/>
                    </a:br>
                    <a:endParaRPr lang="en-US" i="1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6" name="TextBox 115">
                        <a:extLst>
                          <a:ext uri="{FF2B5EF4-FFF2-40B4-BE49-F238E27FC236}">
                            <a16:creationId xmlns:a16="http://schemas.microsoft.com/office/drawing/2014/main" id="{25D1745D-2A7A-B448-9E73-F17060D2C90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34430" y="4172860"/>
                        <a:ext cx="1028988" cy="658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6" name="TextBox 115">
                        <a:extLst>
                          <a:ext uri="{FF2B5EF4-FFF2-40B4-BE49-F238E27FC236}">
                            <a16:creationId xmlns:a16="http://schemas.microsoft.com/office/drawing/2014/main" id="{25D1745D-2A7A-B448-9E73-F17060D2C90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34430" y="4172860"/>
                        <a:ext cx="1028988" cy="658129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A32032AA-1A4F-824A-BCF2-960D52C2B8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A32032AA-1A4F-824A-BCF2-960D52C2B8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521D75D6-7D8F-F44C-A05B-4C9D74E136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521D75D6-7D8F-F44C-A05B-4C9D74E136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BA531081-AD1D-7049-B190-9A2D465FC6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BA531081-AD1D-7049-B190-9A2D465FC6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F1F08311-3987-2746-8B4A-4BBDD6D71B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F1F08311-3987-2746-8B4A-4BBDD6D71B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0C713468-02AD-AE4F-9BE1-53EE7CA295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0C713468-02AD-AE4F-9BE1-53EE7CA295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8" name="TextBox 107">
                      <a:extLst>
                        <a:ext uri="{FF2B5EF4-FFF2-40B4-BE49-F238E27FC236}">
                          <a16:creationId xmlns:a16="http://schemas.microsoft.com/office/drawing/2014/main" id="{8407459F-0661-7249-9574-3CD918901E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8" name="TextBox 107">
                      <a:extLst>
                        <a:ext uri="{FF2B5EF4-FFF2-40B4-BE49-F238E27FC236}">
                          <a16:creationId xmlns:a16="http://schemas.microsoft.com/office/drawing/2014/main" id="{8407459F-0661-7249-9574-3CD918901E0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D11BE86-42FA-5E40-B7A7-D349B65522D5}"/>
                      </a:ext>
                    </a:extLst>
                  </p:cNvPr>
                  <p:cNvSpPr txBox="1"/>
                  <p:nvPr/>
                </p:nvSpPr>
                <p:spPr>
                  <a:xfrm>
                    <a:off x="1309094" y="4392365"/>
                    <a:ext cx="1130382" cy="764505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D11BE86-42FA-5E40-B7A7-D349B65522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9094" y="4392365"/>
                    <a:ext cx="1130382" cy="76450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59341" t="-119355" b="-166129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E1DDB5D9-1CFC-2A4A-8BEC-A3DB37694454}"/>
                  </a:ext>
                </a:extLst>
              </p:cNvPr>
              <p:cNvSpPr/>
              <p:nvPr/>
            </p:nvSpPr>
            <p:spPr>
              <a:xfrm>
                <a:off x="2537791" y="4374542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4E39D0E-43CE-2F4A-9FEE-72411EF0C054}"/>
                    </a:ext>
                  </a:extLst>
                </p:cNvPr>
                <p:cNvSpPr txBox="1"/>
                <p:nvPr/>
              </p:nvSpPr>
              <p:spPr>
                <a:xfrm>
                  <a:off x="9004180" y="4208199"/>
                  <a:ext cx="1028988" cy="6127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oMath>
                    </m:oMathPara>
                  </a14:m>
                  <a:br>
                    <a:rPr lang="en-US" b="0" i="1" dirty="0"/>
                  </a:br>
                  <a:endParaRPr lang="en-US" i="1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4E39D0E-43CE-2F4A-9FEE-72411EF0C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4180" y="4208199"/>
                  <a:ext cx="1028988" cy="612796"/>
                </a:xfrm>
                <a:prstGeom prst="rect">
                  <a:avLst/>
                </a:prstGeom>
                <a:blipFill>
                  <a:blip r:embed="rId14"/>
                  <a:stretch>
                    <a:fillRect b="-2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4D58FE7-7BE5-7F46-906F-51C8CB1F75B7}"/>
              </a:ext>
            </a:extLst>
          </p:cNvPr>
          <p:cNvGrpSpPr/>
          <p:nvPr/>
        </p:nvGrpSpPr>
        <p:grpSpPr>
          <a:xfrm>
            <a:off x="1309094" y="5648080"/>
            <a:ext cx="9781172" cy="802261"/>
            <a:chOff x="1309094" y="5648080"/>
            <a:chExt cx="9781172" cy="80226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FF4C25E0-6B25-FD44-B6F2-857DA9D4E205}"/>
                </a:ext>
              </a:extLst>
            </p:cNvPr>
            <p:cNvGrpSpPr/>
            <p:nvPr/>
          </p:nvGrpSpPr>
          <p:grpSpPr>
            <a:xfrm>
              <a:off x="1309094" y="5648080"/>
              <a:ext cx="9781172" cy="802261"/>
              <a:chOff x="1309094" y="5648080"/>
              <a:chExt cx="9781172" cy="802261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64622D43-D198-EC44-B642-AF51EA536E47}"/>
                  </a:ext>
                </a:extLst>
              </p:cNvPr>
              <p:cNvGrpSpPr/>
              <p:nvPr/>
            </p:nvGrpSpPr>
            <p:grpSpPr>
              <a:xfrm>
                <a:off x="2390868" y="5687904"/>
                <a:ext cx="8699398" cy="749572"/>
                <a:chOff x="2464020" y="4172860"/>
                <a:chExt cx="8699398" cy="749572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0DB2B9A2-B50E-4944-A65F-01FD7DD04F3E}"/>
                    </a:ext>
                  </a:extLst>
                </p:cNvPr>
                <p:cNvGrpSpPr/>
                <p:nvPr/>
              </p:nvGrpSpPr>
              <p:grpSpPr>
                <a:xfrm>
                  <a:off x="2464020" y="4172860"/>
                  <a:ext cx="8699398" cy="749572"/>
                  <a:chOff x="2464020" y="4172860"/>
                  <a:chExt cx="8699398" cy="74957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0" name="TextBox 129">
                        <a:extLst>
                          <a:ext uri="{FF2B5EF4-FFF2-40B4-BE49-F238E27FC236}">
                            <a16:creationId xmlns:a16="http://schemas.microsoft.com/office/drawing/2014/main" id="{39A395A3-55FF-D445-8BFD-6C624DF28BA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64020" y="4367636"/>
                        <a:ext cx="1028988" cy="369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0" name="TextBox 129">
                        <a:extLst>
                          <a:ext uri="{FF2B5EF4-FFF2-40B4-BE49-F238E27FC236}">
                            <a16:creationId xmlns:a16="http://schemas.microsoft.com/office/drawing/2014/main" id="{39A395A3-55FF-D445-8BFD-6C624DF28BA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64020" y="4367636"/>
                        <a:ext cx="1028988" cy="369397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1" name="TextBox 130">
                        <a:extLst>
                          <a:ext uri="{FF2B5EF4-FFF2-40B4-BE49-F238E27FC236}">
                            <a16:creationId xmlns:a16="http://schemas.microsoft.com/office/drawing/2014/main" id="{A6613FD8-A267-F940-A48C-57E4AB47CC2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1" name="TextBox 130">
                        <a:extLst>
                          <a:ext uri="{FF2B5EF4-FFF2-40B4-BE49-F238E27FC236}">
                            <a16:creationId xmlns:a16="http://schemas.microsoft.com/office/drawing/2014/main" id="{A6613FD8-A267-F940-A48C-57E4AB47CC2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2" name="TextBox 131">
                        <a:extLst>
                          <a:ext uri="{FF2B5EF4-FFF2-40B4-BE49-F238E27FC236}">
                            <a16:creationId xmlns:a16="http://schemas.microsoft.com/office/drawing/2014/main" id="{878D6431-3DEE-6F4A-83E6-8B74F385DC9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2" name="TextBox 131">
                        <a:extLst>
                          <a:ext uri="{FF2B5EF4-FFF2-40B4-BE49-F238E27FC236}">
                            <a16:creationId xmlns:a16="http://schemas.microsoft.com/office/drawing/2014/main" id="{878D6431-3DEE-6F4A-83E6-8B74F385DC9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1C2F7B16-1877-E64C-A479-BA3544FEDE9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1C2F7B16-1877-E64C-A479-BA3544FEDE9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4" name="TextBox 133">
                        <a:extLst>
                          <a:ext uri="{FF2B5EF4-FFF2-40B4-BE49-F238E27FC236}">
                            <a16:creationId xmlns:a16="http://schemas.microsoft.com/office/drawing/2014/main" id="{F62D872D-75D2-E447-BB87-76A071B68F8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4" name="TextBox 133">
                        <a:extLst>
                          <a:ext uri="{FF2B5EF4-FFF2-40B4-BE49-F238E27FC236}">
                            <a16:creationId xmlns:a16="http://schemas.microsoft.com/office/drawing/2014/main" id="{F62D872D-75D2-E447-BB87-76A071B68F8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5" name="TextBox 134">
                        <a:extLst>
                          <a:ext uri="{FF2B5EF4-FFF2-40B4-BE49-F238E27FC236}">
                            <a16:creationId xmlns:a16="http://schemas.microsoft.com/office/drawing/2014/main" id="{DCE5040C-50A0-2447-907B-C8B529F1C1B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5" name="TextBox 134">
                        <a:extLst>
                          <a:ext uri="{FF2B5EF4-FFF2-40B4-BE49-F238E27FC236}">
                            <a16:creationId xmlns:a16="http://schemas.microsoft.com/office/drawing/2014/main" id="{DCE5040C-50A0-2447-907B-C8B529F1C1B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9C18C1AA-9F0E-AB41-B797-7D4E1B75BDB9}"/>
                      </a:ext>
                    </a:extLst>
                  </p:cNvPr>
                  <p:cNvSpPr txBox="1"/>
                  <p:nvPr/>
                </p:nvSpPr>
                <p:spPr>
                  <a:xfrm>
                    <a:off x="6293439" y="4276101"/>
                    <a:ext cx="1028988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0" i="1" dirty="0"/>
                      <a:t>…</a:t>
                    </a:r>
                    <a:br>
                      <a:rPr lang="en-US" b="0" i="1" dirty="0"/>
                    </a:br>
                    <a:endParaRPr lang="en-US" i="1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7" name="TextBox 136">
                        <a:extLst>
                          <a:ext uri="{FF2B5EF4-FFF2-40B4-BE49-F238E27FC236}">
                            <a16:creationId xmlns:a16="http://schemas.microsoft.com/office/drawing/2014/main" id="{7E0F1226-D53D-3E4A-AA00-6CCCF6D9AE7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7" name="TextBox 136">
                        <a:extLst>
                          <a:ext uri="{FF2B5EF4-FFF2-40B4-BE49-F238E27FC236}">
                            <a16:creationId xmlns:a16="http://schemas.microsoft.com/office/drawing/2014/main" id="{7E0F1226-D53D-3E4A-AA00-6CCCF6D9AE7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FCC0FBF4-821B-B946-A6E0-D59ABD1CA3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FCC0FBF4-821B-B946-A6E0-D59ABD1CA3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B633952E-A3E6-0548-948A-5F33CB721A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B633952E-A3E6-0548-948A-5F33CB721AA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6ADF10FB-081C-614C-AB0D-E6AC750630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6ADF10FB-081C-614C-AB0D-E6AC750630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9025D363-6DDE-034B-AE0E-0713B1EAF2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9025D363-6DDE-034B-AE0E-0713B1EAF2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E60FE818-0DC1-C946-8201-DD4C220198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E60FE818-0DC1-C946-8201-DD4C220198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776CB2EB-FF4A-F54B-AEEA-5730FC4B0B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776CB2EB-FF4A-F54B-AEEA-5730FC4B0BF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08122C2D-A59C-044C-97D3-67CE8223D133}"/>
                      </a:ext>
                    </a:extLst>
                  </p:cNvPr>
                  <p:cNvSpPr txBox="1"/>
                  <p:nvPr/>
                </p:nvSpPr>
                <p:spPr>
                  <a:xfrm>
                    <a:off x="1309094" y="5870833"/>
                    <a:ext cx="1130382" cy="369332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08122C2D-A59C-044C-97D3-67CE8223D1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9094" y="5870833"/>
                    <a:ext cx="1130382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9677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A3A4BAF-A7DD-C348-979D-7C3EC7C72E78}"/>
                  </a:ext>
                </a:extLst>
              </p:cNvPr>
              <p:cNvSpPr/>
              <p:nvPr/>
            </p:nvSpPr>
            <p:spPr>
              <a:xfrm>
                <a:off x="2547068" y="5648080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D74D391-EE1A-604B-B3EB-132CAC6DA4E5}"/>
                    </a:ext>
                  </a:extLst>
                </p:cNvPr>
                <p:cNvSpPr txBox="1"/>
                <p:nvPr/>
              </p:nvSpPr>
              <p:spPr>
                <a:xfrm>
                  <a:off x="8950615" y="5695855"/>
                  <a:ext cx="1028988" cy="6127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oMath>
                    </m:oMathPara>
                  </a14:m>
                  <a:br>
                    <a:rPr lang="en-US" b="0" i="1" dirty="0"/>
                  </a:br>
                  <a:endParaRPr lang="en-US" i="1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D74D391-EE1A-604B-B3EB-132CAC6DA4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0615" y="5695855"/>
                  <a:ext cx="1028988" cy="612796"/>
                </a:xfrm>
                <a:prstGeom prst="rect">
                  <a:avLst/>
                </a:prstGeom>
                <a:blipFill>
                  <a:blip r:embed="rId24"/>
                  <a:stretch>
                    <a:fillRect b="-2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EB345E3-D845-3C43-891D-7D956D4B1C74}"/>
              </a:ext>
            </a:extLst>
          </p:cNvPr>
          <p:cNvGrpSpPr/>
          <p:nvPr/>
        </p:nvGrpSpPr>
        <p:grpSpPr>
          <a:xfrm>
            <a:off x="2693865" y="5088016"/>
            <a:ext cx="8082356" cy="370658"/>
            <a:chOff x="2693865" y="5088016"/>
            <a:chExt cx="8082356" cy="370658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7BEBDDA9-F5BE-5142-AB1A-30321589A992}"/>
                </a:ext>
              </a:extLst>
            </p:cNvPr>
            <p:cNvGrpSpPr/>
            <p:nvPr/>
          </p:nvGrpSpPr>
          <p:grpSpPr>
            <a:xfrm>
              <a:off x="2693865" y="5088016"/>
              <a:ext cx="8082356" cy="369332"/>
              <a:chOff x="2693865" y="5088016"/>
              <a:chExt cx="8082356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A39575EA-1975-C147-840C-6D492EBBB9B2}"/>
                      </a:ext>
                    </a:extLst>
                  </p:cNvPr>
                  <p:cNvSpPr txBox="1"/>
                  <p:nvPr/>
                </p:nvSpPr>
                <p:spPr>
                  <a:xfrm>
                    <a:off x="2693865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A39575EA-1975-C147-840C-6D492EBBB9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93865" y="5088016"/>
                    <a:ext cx="391188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4B3CA8C1-905D-FD4A-8EBA-589FCE67B922}"/>
                      </a:ext>
                    </a:extLst>
                  </p:cNvPr>
                  <p:cNvSpPr txBox="1"/>
                  <p:nvPr/>
                </p:nvSpPr>
                <p:spPr>
                  <a:xfrm>
                    <a:off x="3810064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4B3CA8C1-905D-FD4A-8EBA-589FCE67B9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0064" y="5088016"/>
                    <a:ext cx="391188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837F824C-DFEE-1B4B-8653-44857465B5C3}"/>
                      </a:ext>
                    </a:extLst>
                  </p:cNvPr>
                  <p:cNvSpPr txBox="1"/>
                  <p:nvPr/>
                </p:nvSpPr>
                <p:spPr>
                  <a:xfrm>
                    <a:off x="4885003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837F824C-DFEE-1B4B-8653-44857465B5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85003" y="5088016"/>
                    <a:ext cx="391188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9179B83-C033-6646-9B77-47E3522099EA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202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9179B83-C033-6646-9B77-47E3522099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202" y="5088016"/>
                    <a:ext cx="391188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9D134230-ABA2-5B45-BFF9-276F7F7A7C94}"/>
                      </a:ext>
                    </a:extLst>
                  </p:cNvPr>
                  <p:cNvSpPr txBox="1"/>
                  <p:nvPr/>
                </p:nvSpPr>
                <p:spPr>
                  <a:xfrm>
                    <a:off x="7078860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9D134230-ABA2-5B45-BFF9-276F7F7A7C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8860" y="5088016"/>
                    <a:ext cx="391188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F4EE79F0-5759-E441-A431-1E4BFC286E19}"/>
                      </a:ext>
                    </a:extLst>
                  </p:cNvPr>
                  <p:cNvSpPr txBox="1"/>
                  <p:nvPr/>
                </p:nvSpPr>
                <p:spPr>
                  <a:xfrm>
                    <a:off x="8195059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F4EE79F0-5759-E441-A431-1E4BFC286E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5059" y="5088016"/>
                    <a:ext cx="391188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2E122641-C3EE-9A44-9C6E-0B05757E7A53}"/>
                      </a:ext>
                    </a:extLst>
                  </p:cNvPr>
                  <p:cNvSpPr txBox="1"/>
                  <p:nvPr/>
                </p:nvSpPr>
                <p:spPr>
                  <a:xfrm>
                    <a:off x="10385033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2E122641-C3EE-9A44-9C6E-0B05757E7A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5033" y="5088016"/>
                    <a:ext cx="39118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95379C80-973D-634B-8AEE-A06CE3FDD341}"/>
                    </a:ext>
                  </a:extLst>
                </p:cNvPr>
                <p:cNvSpPr txBox="1"/>
                <p:nvPr/>
              </p:nvSpPr>
              <p:spPr>
                <a:xfrm>
                  <a:off x="9317517" y="5089342"/>
                  <a:ext cx="39118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95379C80-973D-634B-8AEE-A06CE3FDD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7517" y="5089342"/>
                  <a:ext cx="391188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5C02736-A721-AE42-A447-7EEB6346D373}"/>
              </a:ext>
            </a:extLst>
          </p:cNvPr>
          <p:cNvGrpSpPr/>
          <p:nvPr/>
        </p:nvGrpSpPr>
        <p:grpSpPr>
          <a:xfrm>
            <a:off x="2528515" y="3029449"/>
            <a:ext cx="8380675" cy="802261"/>
            <a:chOff x="2528515" y="3029449"/>
            <a:chExt cx="8380675" cy="802261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5EB50F01-271E-6B4A-851A-F22FD32992CB}"/>
                </a:ext>
              </a:extLst>
            </p:cNvPr>
            <p:cNvGrpSpPr/>
            <p:nvPr/>
          </p:nvGrpSpPr>
          <p:grpSpPr>
            <a:xfrm>
              <a:off x="2528515" y="3029449"/>
              <a:ext cx="8380675" cy="802261"/>
              <a:chOff x="2528515" y="3267986"/>
              <a:chExt cx="8380675" cy="802261"/>
            </a:xfrm>
          </p:grpSpPr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3924325E-64D1-024D-BD49-30A3F904C484}"/>
                  </a:ext>
                </a:extLst>
              </p:cNvPr>
              <p:cNvSpPr/>
              <p:nvPr/>
            </p:nvSpPr>
            <p:spPr>
              <a:xfrm>
                <a:off x="2528515" y="3267986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6998FBC3-6CD8-3F4F-9380-8C45A1C20974}"/>
                  </a:ext>
                </a:extLst>
              </p:cNvPr>
              <p:cNvGrpSpPr/>
              <p:nvPr/>
            </p:nvGrpSpPr>
            <p:grpSpPr>
              <a:xfrm>
                <a:off x="2655756" y="3402288"/>
                <a:ext cx="8118818" cy="525923"/>
                <a:chOff x="2719764" y="2981664"/>
                <a:chExt cx="8118818" cy="525923"/>
              </a:xfrm>
            </p:grpSpPr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97600F93-B690-D542-B95B-69E6E475B277}"/>
                    </a:ext>
                  </a:extLst>
                </p:cNvPr>
                <p:cNvSpPr/>
                <p:nvPr/>
              </p:nvSpPr>
              <p:spPr>
                <a:xfrm>
                  <a:off x="2719764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44143D8A-C314-9848-BB5C-0BCCC6B2D428}"/>
                    </a:ext>
                  </a:extLst>
                </p:cNvPr>
                <p:cNvSpPr/>
                <p:nvPr/>
              </p:nvSpPr>
              <p:spPr>
                <a:xfrm>
                  <a:off x="3828618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73EE5171-8F85-2B4F-BEF9-454B32EC6BBD}"/>
                    </a:ext>
                  </a:extLst>
                </p:cNvPr>
                <p:cNvSpPr/>
                <p:nvPr/>
              </p:nvSpPr>
              <p:spPr>
                <a:xfrm>
                  <a:off x="4937472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40E8793B-0FA4-4F43-A13B-D672AF90038E}"/>
                    </a:ext>
                  </a:extLst>
                </p:cNvPr>
                <p:cNvSpPr/>
                <p:nvPr/>
              </p:nvSpPr>
              <p:spPr>
                <a:xfrm>
                  <a:off x="6046326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5C668C3C-54DD-794E-B16D-C109A824A132}"/>
                    </a:ext>
                  </a:extLst>
                </p:cNvPr>
                <p:cNvSpPr/>
                <p:nvPr/>
              </p:nvSpPr>
              <p:spPr>
                <a:xfrm>
                  <a:off x="7111187" y="2987575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C1E4A9-63D9-E649-91B0-D6703F527640}"/>
                    </a:ext>
                  </a:extLst>
                </p:cNvPr>
                <p:cNvSpPr/>
                <p:nvPr/>
              </p:nvSpPr>
              <p:spPr>
                <a:xfrm>
                  <a:off x="8220041" y="2987575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B0E6FD02-A840-5242-9510-2C6AA6A6FDED}"/>
                    </a:ext>
                  </a:extLst>
                </p:cNvPr>
                <p:cNvSpPr/>
                <p:nvPr/>
              </p:nvSpPr>
              <p:spPr>
                <a:xfrm>
                  <a:off x="10339371" y="2981664"/>
                  <a:ext cx="499211" cy="499211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EA54376D-79A3-494E-8B80-715343AB6442}"/>
                    </a:ext>
                  </a:extLst>
                </p:cNvPr>
                <p:cNvSpPr txBox="1"/>
                <p:nvPr/>
              </p:nvSpPr>
              <p:spPr>
                <a:xfrm>
                  <a:off x="6266607" y="3034748"/>
                  <a:ext cx="102898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0" i="1" dirty="0"/>
                    <a:t>…</a:t>
                  </a:r>
                  <a:endParaRPr lang="en-US" i="1" dirty="0"/>
                </a:p>
              </p:txBody>
            </p:sp>
          </p:grpSp>
        </p:grp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04C1DFC6-88AB-DB41-AD8F-F9C3A1F83733}"/>
                </a:ext>
              </a:extLst>
            </p:cNvPr>
            <p:cNvSpPr/>
            <p:nvPr/>
          </p:nvSpPr>
          <p:spPr>
            <a:xfrm>
              <a:off x="9246023" y="3179782"/>
              <a:ext cx="499211" cy="499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46493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088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Analysis of Set Cover Greedy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/>
              <p:nvPr/>
            </p:nvSpPr>
            <p:spPr>
              <a:xfrm>
                <a:off x="4837112" y="1619291"/>
                <a:ext cx="2457712" cy="7645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112" y="1619291"/>
                <a:ext cx="2457712" cy="764505"/>
              </a:xfrm>
              <a:prstGeom prst="rect">
                <a:avLst/>
              </a:prstGeom>
              <a:blipFill>
                <a:blip r:embed="rId2"/>
                <a:stretch>
                  <a:fillRect l="-15385" t="-120968" b="-16451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6853F7A-C8EC-504D-97E9-875ADC40CEC5}"/>
              </a:ext>
            </a:extLst>
          </p:cNvPr>
          <p:cNvSpPr txBox="1"/>
          <p:nvPr/>
        </p:nvSpPr>
        <p:spPr>
          <a:xfrm>
            <a:off x="1832296" y="1118360"/>
            <a:ext cx="846734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Analysis on previous slide relies on the following inequality. Does it actually hold?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49F564-A024-AE40-8D4B-2F5E4F5CF11A}"/>
              </a:ext>
            </a:extLst>
          </p:cNvPr>
          <p:cNvSpPr txBox="1"/>
          <p:nvPr/>
        </p:nvSpPr>
        <p:spPr>
          <a:xfrm>
            <a:off x="941610" y="1722484"/>
            <a:ext cx="299573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Now, suppose S is added “third”, OR after two nodes already added.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40EF37-CA12-0641-A081-54F147BB92DD}"/>
              </a:ext>
            </a:extLst>
          </p:cNvPr>
          <p:cNvGrpSpPr/>
          <p:nvPr/>
        </p:nvGrpSpPr>
        <p:grpSpPr>
          <a:xfrm>
            <a:off x="1309094" y="4136005"/>
            <a:ext cx="9781172" cy="807213"/>
            <a:chOff x="1309094" y="4136005"/>
            <a:chExt cx="9781172" cy="807213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0D0A802-A2E4-154E-9F4D-C27FFEDCCB3D}"/>
                </a:ext>
              </a:extLst>
            </p:cNvPr>
            <p:cNvGrpSpPr/>
            <p:nvPr/>
          </p:nvGrpSpPr>
          <p:grpSpPr>
            <a:xfrm>
              <a:off x="1309094" y="4136005"/>
              <a:ext cx="9781172" cy="807213"/>
              <a:chOff x="1309094" y="4374542"/>
              <a:chExt cx="9781172" cy="807213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B2EC03A0-76C2-5547-A333-820065B12887}"/>
                  </a:ext>
                </a:extLst>
              </p:cNvPr>
              <p:cNvGrpSpPr/>
              <p:nvPr/>
            </p:nvGrpSpPr>
            <p:grpSpPr>
              <a:xfrm>
                <a:off x="2390868" y="4428892"/>
                <a:ext cx="8699398" cy="752863"/>
                <a:chOff x="2464020" y="4172860"/>
                <a:chExt cx="8699398" cy="752863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36E4B119-B8DD-B840-8631-0F99720B4E24}"/>
                    </a:ext>
                  </a:extLst>
                </p:cNvPr>
                <p:cNvGrpSpPr/>
                <p:nvPr/>
              </p:nvGrpSpPr>
              <p:grpSpPr>
                <a:xfrm>
                  <a:off x="2464020" y="4172860"/>
                  <a:ext cx="8699398" cy="752863"/>
                  <a:chOff x="2464020" y="4172860"/>
                  <a:chExt cx="8699398" cy="7528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9" name="TextBox 108">
                        <a:extLst>
                          <a:ext uri="{FF2B5EF4-FFF2-40B4-BE49-F238E27FC236}">
                            <a16:creationId xmlns:a16="http://schemas.microsoft.com/office/drawing/2014/main" id="{4AC08369-E00B-D448-9444-DAF1727268C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64020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09" name="TextBox 108">
                        <a:extLst>
                          <a:ext uri="{FF2B5EF4-FFF2-40B4-BE49-F238E27FC236}">
                            <a16:creationId xmlns:a16="http://schemas.microsoft.com/office/drawing/2014/main" id="{4AC08369-E00B-D448-9444-DAF1727268C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64020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77E42F67-C7C3-2248-B463-62BAC022385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77E42F67-C7C3-2248-B463-62BAC022385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1" name="TextBox 110">
                        <a:extLst>
                          <a:ext uri="{FF2B5EF4-FFF2-40B4-BE49-F238E27FC236}">
                            <a16:creationId xmlns:a16="http://schemas.microsoft.com/office/drawing/2014/main" id="{924EB230-F696-164C-B5AD-708D6DAF72C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1" name="TextBox 110">
                        <a:extLst>
                          <a:ext uri="{FF2B5EF4-FFF2-40B4-BE49-F238E27FC236}">
                            <a16:creationId xmlns:a16="http://schemas.microsoft.com/office/drawing/2014/main" id="{924EB230-F696-164C-B5AD-708D6DAF72C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2" name="TextBox 111">
                        <a:extLst>
                          <a:ext uri="{FF2B5EF4-FFF2-40B4-BE49-F238E27FC236}">
                            <a16:creationId xmlns:a16="http://schemas.microsoft.com/office/drawing/2014/main" id="{1924E34F-C664-6448-9541-31385FF75DA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2" name="TextBox 111">
                        <a:extLst>
                          <a:ext uri="{FF2B5EF4-FFF2-40B4-BE49-F238E27FC236}">
                            <a16:creationId xmlns:a16="http://schemas.microsoft.com/office/drawing/2014/main" id="{1924E34F-C664-6448-9541-31385FF75DA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3" name="TextBox 112">
                        <a:extLst>
                          <a:ext uri="{FF2B5EF4-FFF2-40B4-BE49-F238E27FC236}">
                            <a16:creationId xmlns:a16="http://schemas.microsoft.com/office/drawing/2014/main" id="{8DDC13C3-70AE-364D-B13D-4AC0D69A5AE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3" name="TextBox 112">
                        <a:extLst>
                          <a:ext uri="{FF2B5EF4-FFF2-40B4-BE49-F238E27FC236}">
                            <a16:creationId xmlns:a16="http://schemas.microsoft.com/office/drawing/2014/main" id="{8DDC13C3-70AE-364D-B13D-4AC0D69A5AE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D4F38F5B-EA10-0443-8D3F-BDBB2981735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D4F38F5B-EA10-0443-8D3F-BDBB2981735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CF4603-F56D-E249-81A5-5F1FAC5215A8}"/>
                      </a:ext>
                    </a:extLst>
                  </p:cNvPr>
                  <p:cNvSpPr txBox="1"/>
                  <p:nvPr/>
                </p:nvSpPr>
                <p:spPr>
                  <a:xfrm>
                    <a:off x="6234669" y="4279392"/>
                    <a:ext cx="1028988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0" i="1" dirty="0"/>
                      <a:t>…</a:t>
                    </a:r>
                    <a:br>
                      <a:rPr lang="en-US" b="0" i="1" dirty="0"/>
                    </a:br>
                    <a:endParaRPr lang="en-US" i="1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6" name="TextBox 115">
                        <a:extLst>
                          <a:ext uri="{FF2B5EF4-FFF2-40B4-BE49-F238E27FC236}">
                            <a16:creationId xmlns:a16="http://schemas.microsoft.com/office/drawing/2014/main" id="{25D1745D-2A7A-B448-9E73-F17060D2C90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34430" y="4172860"/>
                        <a:ext cx="1028988" cy="658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6" name="TextBox 115">
                        <a:extLst>
                          <a:ext uri="{FF2B5EF4-FFF2-40B4-BE49-F238E27FC236}">
                            <a16:creationId xmlns:a16="http://schemas.microsoft.com/office/drawing/2014/main" id="{25D1745D-2A7A-B448-9E73-F17060D2C90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34430" y="4172860"/>
                        <a:ext cx="1028988" cy="658129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A32032AA-1A4F-824A-BCF2-960D52C2B8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A32032AA-1A4F-824A-BCF2-960D52C2B8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521D75D6-7D8F-F44C-A05B-4C9D74E136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521D75D6-7D8F-F44C-A05B-4C9D74E136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BA531081-AD1D-7049-B190-9A2D465FC6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BA531081-AD1D-7049-B190-9A2D465FC6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F1F08311-3987-2746-8B4A-4BBDD6D71B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F1F08311-3987-2746-8B4A-4BBDD6D71B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0C713468-02AD-AE4F-9BE1-53EE7CA295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0C713468-02AD-AE4F-9BE1-53EE7CA295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8" name="TextBox 107">
                      <a:extLst>
                        <a:ext uri="{FF2B5EF4-FFF2-40B4-BE49-F238E27FC236}">
                          <a16:creationId xmlns:a16="http://schemas.microsoft.com/office/drawing/2014/main" id="{8407459F-0661-7249-9574-3CD918901E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8" name="TextBox 107">
                      <a:extLst>
                        <a:ext uri="{FF2B5EF4-FFF2-40B4-BE49-F238E27FC236}">
                          <a16:creationId xmlns:a16="http://schemas.microsoft.com/office/drawing/2014/main" id="{8407459F-0661-7249-9574-3CD918901E0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D11BE86-42FA-5E40-B7A7-D349B65522D5}"/>
                      </a:ext>
                    </a:extLst>
                  </p:cNvPr>
                  <p:cNvSpPr txBox="1"/>
                  <p:nvPr/>
                </p:nvSpPr>
                <p:spPr>
                  <a:xfrm>
                    <a:off x="1309094" y="4392365"/>
                    <a:ext cx="1130382" cy="764505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D11BE86-42FA-5E40-B7A7-D349B65522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9094" y="4392365"/>
                    <a:ext cx="1130382" cy="76450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59341" t="-119355" b="-166129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E1DDB5D9-1CFC-2A4A-8BEC-A3DB37694454}"/>
                  </a:ext>
                </a:extLst>
              </p:cNvPr>
              <p:cNvSpPr/>
              <p:nvPr/>
            </p:nvSpPr>
            <p:spPr>
              <a:xfrm>
                <a:off x="2537791" y="4374542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4E39D0E-43CE-2F4A-9FEE-72411EF0C054}"/>
                    </a:ext>
                  </a:extLst>
                </p:cNvPr>
                <p:cNvSpPr txBox="1"/>
                <p:nvPr/>
              </p:nvSpPr>
              <p:spPr>
                <a:xfrm>
                  <a:off x="8964424" y="4271810"/>
                  <a:ext cx="1028988" cy="5323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−1+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br>
                    <a:rPr lang="en-US" sz="1400" b="0" i="1" dirty="0"/>
                  </a:br>
                  <a:endParaRPr lang="en-US" sz="1400" i="1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4E39D0E-43CE-2F4A-9FEE-72411EF0C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4424" y="4271810"/>
                  <a:ext cx="1028988" cy="53232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4D58FE7-7BE5-7F46-906F-51C8CB1F75B7}"/>
              </a:ext>
            </a:extLst>
          </p:cNvPr>
          <p:cNvGrpSpPr/>
          <p:nvPr/>
        </p:nvGrpSpPr>
        <p:grpSpPr>
          <a:xfrm>
            <a:off x="1309094" y="5648080"/>
            <a:ext cx="9781172" cy="802261"/>
            <a:chOff x="1309094" y="5648080"/>
            <a:chExt cx="9781172" cy="80226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FF4C25E0-6B25-FD44-B6F2-857DA9D4E205}"/>
                </a:ext>
              </a:extLst>
            </p:cNvPr>
            <p:cNvGrpSpPr/>
            <p:nvPr/>
          </p:nvGrpSpPr>
          <p:grpSpPr>
            <a:xfrm>
              <a:off x="1309094" y="5648080"/>
              <a:ext cx="9781172" cy="802261"/>
              <a:chOff x="1309094" y="5648080"/>
              <a:chExt cx="9781172" cy="802261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64622D43-D198-EC44-B642-AF51EA536E47}"/>
                  </a:ext>
                </a:extLst>
              </p:cNvPr>
              <p:cNvGrpSpPr/>
              <p:nvPr/>
            </p:nvGrpSpPr>
            <p:grpSpPr>
              <a:xfrm>
                <a:off x="2390868" y="5687904"/>
                <a:ext cx="8699398" cy="749572"/>
                <a:chOff x="2464020" y="4172860"/>
                <a:chExt cx="8699398" cy="749572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0DB2B9A2-B50E-4944-A65F-01FD7DD04F3E}"/>
                    </a:ext>
                  </a:extLst>
                </p:cNvPr>
                <p:cNvGrpSpPr/>
                <p:nvPr/>
              </p:nvGrpSpPr>
              <p:grpSpPr>
                <a:xfrm>
                  <a:off x="2464020" y="4172860"/>
                  <a:ext cx="8699398" cy="749572"/>
                  <a:chOff x="2464020" y="4172860"/>
                  <a:chExt cx="8699398" cy="74957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0" name="TextBox 129">
                        <a:extLst>
                          <a:ext uri="{FF2B5EF4-FFF2-40B4-BE49-F238E27FC236}">
                            <a16:creationId xmlns:a16="http://schemas.microsoft.com/office/drawing/2014/main" id="{39A395A3-55FF-D445-8BFD-6C624DF28BA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64020" y="4367636"/>
                        <a:ext cx="1028988" cy="369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0" name="TextBox 129">
                        <a:extLst>
                          <a:ext uri="{FF2B5EF4-FFF2-40B4-BE49-F238E27FC236}">
                            <a16:creationId xmlns:a16="http://schemas.microsoft.com/office/drawing/2014/main" id="{39A395A3-55FF-D445-8BFD-6C624DF28BA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64020" y="4367636"/>
                        <a:ext cx="1028988" cy="369397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1" name="TextBox 130">
                        <a:extLst>
                          <a:ext uri="{FF2B5EF4-FFF2-40B4-BE49-F238E27FC236}">
                            <a16:creationId xmlns:a16="http://schemas.microsoft.com/office/drawing/2014/main" id="{A6613FD8-A267-F940-A48C-57E4AB47CC2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1" name="TextBox 130">
                        <a:extLst>
                          <a:ext uri="{FF2B5EF4-FFF2-40B4-BE49-F238E27FC236}">
                            <a16:creationId xmlns:a16="http://schemas.microsoft.com/office/drawing/2014/main" id="{A6613FD8-A267-F940-A48C-57E4AB47CC2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2" name="TextBox 131">
                        <a:extLst>
                          <a:ext uri="{FF2B5EF4-FFF2-40B4-BE49-F238E27FC236}">
                            <a16:creationId xmlns:a16="http://schemas.microsoft.com/office/drawing/2014/main" id="{878D6431-3DEE-6F4A-83E6-8B74F385DC9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2" name="TextBox 131">
                        <a:extLst>
                          <a:ext uri="{FF2B5EF4-FFF2-40B4-BE49-F238E27FC236}">
                            <a16:creationId xmlns:a16="http://schemas.microsoft.com/office/drawing/2014/main" id="{878D6431-3DEE-6F4A-83E6-8B74F385DC9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1C2F7B16-1877-E64C-A479-BA3544FEDE9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1C2F7B16-1877-E64C-A479-BA3544FEDE9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4" name="TextBox 133">
                        <a:extLst>
                          <a:ext uri="{FF2B5EF4-FFF2-40B4-BE49-F238E27FC236}">
                            <a16:creationId xmlns:a16="http://schemas.microsoft.com/office/drawing/2014/main" id="{F62D872D-75D2-E447-BB87-76A071B68F8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4" name="TextBox 133">
                        <a:extLst>
                          <a:ext uri="{FF2B5EF4-FFF2-40B4-BE49-F238E27FC236}">
                            <a16:creationId xmlns:a16="http://schemas.microsoft.com/office/drawing/2014/main" id="{F62D872D-75D2-E447-BB87-76A071B68F8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5" name="TextBox 134">
                        <a:extLst>
                          <a:ext uri="{FF2B5EF4-FFF2-40B4-BE49-F238E27FC236}">
                            <a16:creationId xmlns:a16="http://schemas.microsoft.com/office/drawing/2014/main" id="{DCE5040C-50A0-2447-907B-C8B529F1C1B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5" name="TextBox 134">
                        <a:extLst>
                          <a:ext uri="{FF2B5EF4-FFF2-40B4-BE49-F238E27FC236}">
                            <a16:creationId xmlns:a16="http://schemas.microsoft.com/office/drawing/2014/main" id="{DCE5040C-50A0-2447-907B-C8B529F1C1B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9C18C1AA-9F0E-AB41-B797-7D4E1B75BDB9}"/>
                      </a:ext>
                    </a:extLst>
                  </p:cNvPr>
                  <p:cNvSpPr txBox="1"/>
                  <p:nvPr/>
                </p:nvSpPr>
                <p:spPr>
                  <a:xfrm>
                    <a:off x="6293439" y="4276101"/>
                    <a:ext cx="1028988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0" i="1" dirty="0"/>
                      <a:t>…</a:t>
                    </a:r>
                    <a:br>
                      <a:rPr lang="en-US" b="0" i="1" dirty="0"/>
                    </a:br>
                    <a:endParaRPr lang="en-US" i="1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7" name="TextBox 136">
                        <a:extLst>
                          <a:ext uri="{FF2B5EF4-FFF2-40B4-BE49-F238E27FC236}">
                            <a16:creationId xmlns:a16="http://schemas.microsoft.com/office/drawing/2014/main" id="{7E0F1226-D53D-3E4A-AA00-6CCCF6D9AE7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7" name="TextBox 136">
                        <a:extLst>
                          <a:ext uri="{FF2B5EF4-FFF2-40B4-BE49-F238E27FC236}">
                            <a16:creationId xmlns:a16="http://schemas.microsoft.com/office/drawing/2014/main" id="{7E0F1226-D53D-3E4A-AA00-6CCCF6D9AE7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FCC0FBF4-821B-B946-A6E0-D59ABD1CA3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FCC0FBF4-821B-B946-A6E0-D59ABD1CA3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B633952E-A3E6-0548-948A-5F33CB721A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B633952E-A3E6-0548-948A-5F33CB721AA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6ADF10FB-081C-614C-AB0D-E6AC750630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6ADF10FB-081C-614C-AB0D-E6AC750630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9025D363-6DDE-034B-AE0E-0713B1EAF2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9025D363-6DDE-034B-AE0E-0713B1EAF2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E60FE818-0DC1-C946-8201-DD4C220198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E60FE818-0DC1-C946-8201-DD4C220198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776CB2EB-FF4A-F54B-AEEA-5730FC4B0B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776CB2EB-FF4A-F54B-AEEA-5730FC4B0BF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08122C2D-A59C-044C-97D3-67CE8223D133}"/>
                      </a:ext>
                    </a:extLst>
                  </p:cNvPr>
                  <p:cNvSpPr txBox="1"/>
                  <p:nvPr/>
                </p:nvSpPr>
                <p:spPr>
                  <a:xfrm>
                    <a:off x="1309094" y="5870833"/>
                    <a:ext cx="1130382" cy="369332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08122C2D-A59C-044C-97D3-67CE8223D1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9094" y="5870833"/>
                    <a:ext cx="1130382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9677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A3A4BAF-A7DD-C348-979D-7C3EC7C72E78}"/>
                  </a:ext>
                </a:extLst>
              </p:cNvPr>
              <p:cNvSpPr/>
              <p:nvPr/>
            </p:nvSpPr>
            <p:spPr>
              <a:xfrm>
                <a:off x="2547068" y="5648080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D74D391-EE1A-604B-B3EB-132CAC6DA4E5}"/>
                    </a:ext>
                  </a:extLst>
                </p:cNvPr>
                <p:cNvSpPr txBox="1"/>
                <p:nvPr/>
              </p:nvSpPr>
              <p:spPr>
                <a:xfrm>
                  <a:off x="8950615" y="5695855"/>
                  <a:ext cx="1028988" cy="6127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oMath>
                    </m:oMathPara>
                  </a14:m>
                  <a:br>
                    <a:rPr lang="en-US" b="0" i="1" dirty="0"/>
                  </a:br>
                  <a:endParaRPr lang="en-US" i="1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D74D391-EE1A-604B-B3EB-132CAC6DA4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0615" y="5695855"/>
                  <a:ext cx="1028988" cy="612796"/>
                </a:xfrm>
                <a:prstGeom prst="rect">
                  <a:avLst/>
                </a:prstGeom>
                <a:blipFill>
                  <a:blip r:embed="rId23"/>
                  <a:stretch>
                    <a:fillRect b="-2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EB345E3-D845-3C43-891D-7D956D4B1C74}"/>
              </a:ext>
            </a:extLst>
          </p:cNvPr>
          <p:cNvGrpSpPr/>
          <p:nvPr/>
        </p:nvGrpSpPr>
        <p:grpSpPr>
          <a:xfrm>
            <a:off x="2693865" y="5088016"/>
            <a:ext cx="8082356" cy="370658"/>
            <a:chOff x="2693865" y="5088016"/>
            <a:chExt cx="8082356" cy="370658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7BEBDDA9-F5BE-5142-AB1A-30321589A992}"/>
                </a:ext>
              </a:extLst>
            </p:cNvPr>
            <p:cNvGrpSpPr/>
            <p:nvPr/>
          </p:nvGrpSpPr>
          <p:grpSpPr>
            <a:xfrm>
              <a:off x="2693865" y="5088016"/>
              <a:ext cx="8082356" cy="369332"/>
              <a:chOff x="2693865" y="5088016"/>
              <a:chExt cx="8082356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A39575EA-1975-C147-840C-6D492EBBB9B2}"/>
                      </a:ext>
                    </a:extLst>
                  </p:cNvPr>
                  <p:cNvSpPr txBox="1"/>
                  <p:nvPr/>
                </p:nvSpPr>
                <p:spPr>
                  <a:xfrm>
                    <a:off x="2693865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A39575EA-1975-C147-840C-6D492EBBB9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93865" y="5088016"/>
                    <a:ext cx="391188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4B3CA8C1-905D-FD4A-8EBA-589FCE67B922}"/>
                      </a:ext>
                    </a:extLst>
                  </p:cNvPr>
                  <p:cNvSpPr txBox="1"/>
                  <p:nvPr/>
                </p:nvSpPr>
                <p:spPr>
                  <a:xfrm>
                    <a:off x="3810064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4B3CA8C1-905D-FD4A-8EBA-589FCE67B9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0064" y="5088016"/>
                    <a:ext cx="391188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837F824C-DFEE-1B4B-8653-44857465B5C3}"/>
                      </a:ext>
                    </a:extLst>
                  </p:cNvPr>
                  <p:cNvSpPr txBox="1"/>
                  <p:nvPr/>
                </p:nvSpPr>
                <p:spPr>
                  <a:xfrm>
                    <a:off x="4885003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837F824C-DFEE-1B4B-8653-44857465B5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85003" y="5088016"/>
                    <a:ext cx="391188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9179B83-C033-6646-9B77-47E3522099EA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202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9179B83-C033-6646-9B77-47E3522099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202" y="5088016"/>
                    <a:ext cx="391188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9D134230-ABA2-5B45-BFF9-276F7F7A7C94}"/>
                      </a:ext>
                    </a:extLst>
                  </p:cNvPr>
                  <p:cNvSpPr txBox="1"/>
                  <p:nvPr/>
                </p:nvSpPr>
                <p:spPr>
                  <a:xfrm>
                    <a:off x="7078860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9D134230-ABA2-5B45-BFF9-276F7F7A7C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8860" y="5088016"/>
                    <a:ext cx="391188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F4EE79F0-5759-E441-A431-1E4BFC286E19}"/>
                      </a:ext>
                    </a:extLst>
                  </p:cNvPr>
                  <p:cNvSpPr txBox="1"/>
                  <p:nvPr/>
                </p:nvSpPr>
                <p:spPr>
                  <a:xfrm>
                    <a:off x="8195059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F4EE79F0-5759-E441-A431-1E4BFC286E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5059" y="5088016"/>
                    <a:ext cx="391188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2E122641-C3EE-9A44-9C6E-0B05757E7A53}"/>
                      </a:ext>
                    </a:extLst>
                  </p:cNvPr>
                  <p:cNvSpPr txBox="1"/>
                  <p:nvPr/>
                </p:nvSpPr>
                <p:spPr>
                  <a:xfrm>
                    <a:off x="10385033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2E122641-C3EE-9A44-9C6E-0B05757E7A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5033" y="5088016"/>
                    <a:ext cx="39118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95379C80-973D-634B-8AEE-A06CE3FDD341}"/>
                    </a:ext>
                  </a:extLst>
                </p:cNvPr>
                <p:cNvSpPr txBox="1"/>
                <p:nvPr/>
              </p:nvSpPr>
              <p:spPr>
                <a:xfrm>
                  <a:off x="9317517" y="5089342"/>
                  <a:ext cx="39118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95379C80-973D-634B-8AEE-A06CE3FDD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7517" y="5089342"/>
                  <a:ext cx="391188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3914AD7-2338-044C-BC20-7235119830B3}"/>
              </a:ext>
            </a:extLst>
          </p:cNvPr>
          <p:cNvGrpSpPr/>
          <p:nvPr/>
        </p:nvGrpSpPr>
        <p:grpSpPr>
          <a:xfrm>
            <a:off x="2528515" y="3029449"/>
            <a:ext cx="8380675" cy="802261"/>
            <a:chOff x="2528515" y="3029449"/>
            <a:chExt cx="8380675" cy="802261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778A28F-64BD-9449-9C49-480FCFECA7C5}"/>
                </a:ext>
              </a:extLst>
            </p:cNvPr>
            <p:cNvGrpSpPr/>
            <p:nvPr/>
          </p:nvGrpSpPr>
          <p:grpSpPr>
            <a:xfrm>
              <a:off x="2528515" y="3029449"/>
              <a:ext cx="8380675" cy="802261"/>
              <a:chOff x="2528515" y="3267986"/>
              <a:chExt cx="8380675" cy="802261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E8DE085B-2767-7D42-9968-88C6DB48E846}"/>
                  </a:ext>
                </a:extLst>
              </p:cNvPr>
              <p:cNvSpPr/>
              <p:nvPr/>
            </p:nvSpPr>
            <p:spPr>
              <a:xfrm>
                <a:off x="2528515" y="3267986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ECC5A43E-3F4B-2C43-9E07-467BA0B8E85B}"/>
                  </a:ext>
                </a:extLst>
              </p:cNvPr>
              <p:cNvGrpSpPr/>
              <p:nvPr/>
            </p:nvGrpSpPr>
            <p:grpSpPr>
              <a:xfrm>
                <a:off x="2655756" y="3402288"/>
                <a:ext cx="8118818" cy="525923"/>
                <a:chOff x="2719764" y="2981664"/>
                <a:chExt cx="8118818" cy="525923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6EF79C7E-3A50-2C42-8BC2-8E7D2D95F289}"/>
                    </a:ext>
                  </a:extLst>
                </p:cNvPr>
                <p:cNvSpPr/>
                <p:nvPr/>
              </p:nvSpPr>
              <p:spPr>
                <a:xfrm>
                  <a:off x="2719764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EBD17DC4-6A31-6542-ACFC-8450A87E6BB7}"/>
                    </a:ext>
                  </a:extLst>
                </p:cNvPr>
                <p:cNvSpPr/>
                <p:nvPr/>
              </p:nvSpPr>
              <p:spPr>
                <a:xfrm>
                  <a:off x="3828618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E3095214-F407-1C47-9E4C-955DD1C68241}"/>
                    </a:ext>
                  </a:extLst>
                </p:cNvPr>
                <p:cNvSpPr/>
                <p:nvPr/>
              </p:nvSpPr>
              <p:spPr>
                <a:xfrm>
                  <a:off x="4937472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BF970FAF-AC52-CC44-A559-EDDF22945CEE}"/>
                    </a:ext>
                  </a:extLst>
                </p:cNvPr>
                <p:cNvSpPr/>
                <p:nvPr/>
              </p:nvSpPr>
              <p:spPr>
                <a:xfrm>
                  <a:off x="6046326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BDD9BF42-96A1-9147-A4A5-B1572FB556D2}"/>
                    </a:ext>
                  </a:extLst>
                </p:cNvPr>
                <p:cNvSpPr/>
                <p:nvPr/>
              </p:nvSpPr>
              <p:spPr>
                <a:xfrm>
                  <a:off x="7111187" y="2987575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DD6EC8D3-2133-6942-8E2E-4828077136F3}"/>
                    </a:ext>
                  </a:extLst>
                </p:cNvPr>
                <p:cNvSpPr/>
                <p:nvPr/>
              </p:nvSpPr>
              <p:spPr>
                <a:xfrm>
                  <a:off x="8220041" y="2987575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67938CC9-9C7F-E748-9959-52A9F4AB7218}"/>
                    </a:ext>
                  </a:extLst>
                </p:cNvPr>
                <p:cNvSpPr/>
                <p:nvPr/>
              </p:nvSpPr>
              <p:spPr>
                <a:xfrm>
                  <a:off x="10339371" y="2981664"/>
                  <a:ext cx="499211" cy="499211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8CA57908-392A-6946-9440-E00D7BC010CD}"/>
                    </a:ext>
                  </a:extLst>
                </p:cNvPr>
                <p:cNvSpPr txBox="1"/>
                <p:nvPr/>
              </p:nvSpPr>
              <p:spPr>
                <a:xfrm>
                  <a:off x="6266607" y="3034748"/>
                  <a:ext cx="102898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0" i="1" dirty="0"/>
                    <a:t>…</a:t>
                  </a:r>
                  <a:endParaRPr lang="en-US" i="1" dirty="0"/>
                </a:p>
              </p:txBody>
            </p:sp>
          </p:grp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20A024B-6A6E-F043-882B-CA2536C70FAF}"/>
                </a:ext>
              </a:extLst>
            </p:cNvPr>
            <p:cNvSpPr/>
            <p:nvPr/>
          </p:nvSpPr>
          <p:spPr>
            <a:xfrm>
              <a:off x="9246023" y="3179782"/>
              <a:ext cx="499211" cy="499211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35734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088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Analysis of Set Cover Greedy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/>
              <p:nvPr/>
            </p:nvSpPr>
            <p:spPr>
              <a:xfrm>
                <a:off x="4837112" y="1619291"/>
                <a:ext cx="2457712" cy="7645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7843B8-8279-7149-9364-84E052A3A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112" y="1619291"/>
                <a:ext cx="2457712" cy="764505"/>
              </a:xfrm>
              <a:prstGeom prst="rect">
                <a:avLst/>
              </a:prstGeom>
              <a:blipFill>
                <a:blip r:embed="rId2"/>
                <a:stretch>
                  <a:fillRect l="-15385" t="-120968" b="-16451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6853F7A-C8EC-504D-97E9-875ADC40CEC5}"/>
              </a:ext>
            </a:extLst>
          </p:cNvPr>
          <p:cNvSpPr txBox="1"/>
          <p:nvPr/>
        </p:nvSpPr>
        <p:spPr>
          <a:xfrm>
            <a:off x="1832296" y="1118360"/>
            <a:ext cx="846734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Analysis on previous slide relies on the following inequality. Does it actually hold?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49F564-A024-AE40-8D4B-2F5E4F5CF11A}"/>
              </a:ext>
            </a:extLst>
          </p:cNvPr>
          <p:cNvSpPr txBox="1"/>
          <p:nvPr/>
        </p:nvSpPr>
        <p:spPr>
          <a:xfrm>
            <a:off x="941610" y="1722484"/>
            <a:ext cx="299573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Logic continues. What if last node is added by itself…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40EF37-CA12-0641-A081-54F147BB92DD}"/>
              </a:ext>
            </a:extLst>
          </p:cNvPr>
          <p:cNvGrpSpPr/>
          <p:nvPr/>
        </p:nvGrpSpPr>
        <p:grpSpPr>
          <a:xfrm>
            <a:off x="1309094" y="4136005"/>
            <a:ext cx="9781172" cy="807213"/>
            <a:chOff x="1309094" y="4136005"/>
            <a:chExt cx="9781172" cy="807213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0D0A802-A2E4-154E-9F4D-C27FFEDCCB3D}"/>
                </a:ext>
              </a:extLst>
            </p:cNvPr>
            <p:cNvGrpSpPr/>
            <p:nvPr/>
          </p:nvGrpSpPr>
          <p:grpSpPr>
            <a:xfrm>
              <a:off x="1309094" y="4136005"/>
              <a:ext cx="9781172" cy="807213"/>
              <a:chOff x="1309094" y="4374542"/>
              <a:chExt cx="9781172" cy="807213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B2EC03A0-76C2-5547-A333-820065B12887}"/>
                  </a:ext>
                </a:extLst>
              </p:cNvPr>
              <p:cNvGrpSpPr/>
              <p:nvPr/>
            </p:nvGrpSpPr>
            <p:grpSpPr>
              <a:xfrm>
                <a:off x="2390868" y="4428892"/>
                <a:ext cx="8699398" cy="752863"/>
                <a:chOff x="2464020" y="4172860"/>
                <a:chExt cx="8699398" cy="752863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36E4B119-B8DD-B840-8631-0F99720B4E24}"/>
                    </a:ext>
                  </a:extLst>
                </p:cNvPr>
                <p:cNvGrpSpPr/>
                <p:nvPr/>
              </p:nvGrpSpPr>
              <p:grpSpPr>
                <a:xfrm>
                  <a:off x="2464020" y="4172860"/>
                  <a:ext cx="8699398" cy="752863"/>
                  <a:chOff x="2464020" y="4172860"/>
                  <a:chExt cx="8699398" cy="7528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9" name="TextBox 108">
                        <a:extLst>
                          <a:ext uri="{FF2B5EF4-FFF2-40B4-BE49-F238E27FC236}">
                            <a16:creationId xmlns:a16="http://schemas.microsoft.com/office/drawing/2014/main" id="{4AC08369-E00B-D448-9444-DAF1727268C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64020" y="4343776"/>
                        <a:ext cx="1028988" cy="369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09" name="TextBox 108">
                        <a:extLst>
                          <a:ext uri="{FF2B5EF4-FFF2-40B4-BE49-F238E27FC236}">
                            <a16:creationId xmlns:a16="http://schemas.microsoft.com/office/drawing/2014/main" id="{4AC08369-E00B-D448-9444-DAF1727268C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64020" y="4343776"/>
                        <a:ext cx="1028988" cy="369397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77E42F67-C7C3-2248-B463-62BAC022385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72874" y="4190704"/>
                        <a:ext cx="1028988" cy="658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77E42F67-C7C3-2248-B463-62BAC022385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72874" y="4190704"/>
                        <a:ext cx="1028988" cy="658578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1" name="TextBox 110">
                        <a:extLst>
                          <a:ext uri="{FF2B5EF4-FFF2-40B4-BE49-F238E27FC236}">
                            <a16:creationId xmlns:a16="http://schemas.microsoft.com/office/drawing/2014/main" id="{924EB230-F696-164C-B5AD-708D6DAF72C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1728" y="4184756"/>
                        <a:ext cx="1028988" cy="659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1" name="TextBox 110">
                        <a:extLst>
                          <a:ext uri="{FF2B5EF4-FFF2-40B4-BE49-F238E27FC236}">
                            <a16:creationId xmlns:a16="http://schemas.microsoft.com/office/drawing/2014/main" id="{924EB230-F696-164C-B5AD-708D6DAF72C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81728" y="4184756"/>
                        <a:ext cx="1028988" cy="659861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2" name="TextBox 111">
                        <a:extLst>
                          <a:ext uri="{FF2B5EF4-FFF2-40B4-BE49-F238E27FC236}">
                            <a16:creationId xmlns:a16="http://schemas.microsoft.com/office/drawing/2014/main" id="{1924E34F-C664-6448-9541-31385FF75DA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44798" y="4178808"/>
                        <a:ext cx="1028988" cy="659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2" name="TextBox 111">
                        <a:extLst>
                          <a:ext uri="{FF2B5EF4-FFF2-40B4-BE49-F238E27FC236}">
                            <a16:creationId xmlns:a16="http://schemas.microsoft.com/office/drawing/2014/main" id="{1924E34F-C664-6448-9541-31385FF75DA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44798" y="4178808"/>
                        <a:ext cx="1028988" cy="659861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3" name="TextBox 112">
                        <a:extLst>
                          <a:ext uri="{FF2B5EF4-FFF2-40B4-BE49-F238E27FC236}">
                            <a16:creationId xmlns:a16="http://schemas.microsoft.com/office/drawing/2014/main" id="{8DDC13C3-70AE-364D-B13D-4AC0D69A5AE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45701" y="4256315"/>
                        <a:ext cx="1028988" cy="53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−3+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m:oMathPara>
                        </a14:m>
                        <a:br>
                          <a:rPr lang="en-US" sz="1400" b="0" i="1" dirty="0"/>
                        </a:br>
                        <a:endParaRPr lang="en-US" sz="1400" i="1" dirty="0"/>
                      </a:p>
                    </p:txBody>
                  </p:sp>
                </mc:Choice>
                <mc:Fallback xmlns="">
                  <p:sp>
                    <p:nvSpPr>
                      <p:cNvPr id="113" name="TextBox 112">
                        <a:extLst>
                          <a:ext uri="{FF2B5EF4-FFF2-40B4-BE49-F238E27FC236}">
                            <a16:creationId xmlns:a16="http://schemas.microsoft.com/office/drawing/2014/main" id="{8DDC13C3-70AE-364D-B13D-4AC0D69A5AE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45701" y="4256315"/>
                        <a:ext cx="1028988" cy="532325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D4F38F5B-EA10-0443-8D3F-BDBB2981735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30702" y="4229940"/>
                        <a:ext cx="1028988" cy="533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−2+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m:oMathPara>
                        </a14:m>
                        <a:br>
                          <a:rPr lang="en-US" sz="1400" b="0" i="1" dirty="0"/>
                        </a:br>
                        <a:endParaRPr lang="en-US" sz="1400" i="1" dirty="0"/>
                      </a:p>
                    </p:txBody>
                  </p:sp>
                </mc:Choice>
                <mc:Fallback xmlns="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D4F38F5B-EA10-0443-8D3F-BDBB2981735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30702" y="4229940"/>
                        <a:ext cx="1028988" cy="533416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D9CF4603-F56D-E249-81A5-5F1FAC5215A8}"/>
                      </a:ext>
                    </a:extLst>
                  </p:cNvPr>
                  <p:cNvSpPr txBox="1"/>
                  <p:nvPr/>
                </p:nvSpPr>
                <p:spPr>
                  <a:xfrm>
                    <a:off x="6234669" y="4279392"/>
                    <a:ext cx="1028988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0" i="1" dirty="0"/>
                      <a:t>…</a:t>
                    </a:r>
                    <a:br>
                      <a:rPr lang="en-US" b="0" i="1" dirty="0"/>
                    </a:br>
                    <a:endParaRPr lang="en-US" i="1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6" name="TextBox 115">
                        <a:extLst>
                          <a:ext uri="{FF2B5EF4-FFF2-40B4-BE49-F238E27FC236}">
                            <a16:creationId xmlns:a16="http://schemas.microsoft.com/office/drawing/2014/main" id="{25D1745D-2A7A-B448-9E73-F17060D2C90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34430" y="4172860"/>
                        <a:ext cx="1028988" cy="658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16" name="TextBox 115">
                        <a:extLst>
                          <a:ext uri="{FF2B5EF4-FFF2-40B4-BE49-F238E27FC236}">
                            <a16:creationId xmlns:a16="http://schemas.microsoft.com/office/drawing/2014/main" id="{25D1745D-2A7A-B448-9E73-F17060D2C90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34430" y="4172860"/>
                        <a:ext cx="1028988" cy="65812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A32032AA-1A4F-824A-BCF2-960D52C2B8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A32032AA-1A4F-824A-BCF2-960D52C2B8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521D75D6-7D8F-F44C-A05B-4C9D74E136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521D75D6-7D8F-F44C-A05B-4C9D74E136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BA531081-AD1D-7049-B190-9A2D465FC6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5" name="TextBox 104">
                      <a:extLst>
                        <a:ext uri="{FF2B5EF4-FFF2-40B4-BE49-F238E27FC236}">
                          <a16:creationId xmlns:a16="http://schemas.microsoft.com/office/drawing/2014/main" id="{BA531081-AD1D-7049-B190-9A2D465FC6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F1F08311-3987-2746-8B4A-4BBDD6D71B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F1F08311-3987-2746-8B4A-4BBDD6D71B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0C713468-02AD-AE4F-9BE1-53EE7CA295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0C713468-02AD-AE4F-9BE1-53EE7CA295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8" name="TextBox 107">
                      <a:extLst>
                        <a:ext uri="{FF2B5EF4-FFF2-40B4-BE49-F238E27FC236}">
                          <a16:creationId xmlns:a16="http://schemas.microsoft.com/office/drawing/2014/main" id="{8407459F-0661-7249-9574-3CD918901E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08" name="TextBox 107">
                      <a:extLst>
                        <a:ext uri="{FF2B5EF4-FFF2-40B4-BE49-F238E27FC236}">
                          <a16:creationId xmlns:a16="http://schemas.microsoft.com/office/drawing/2014/main" id="{8407459F-0661-7249-9574-3CD918901E0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D11BE86-42FA-5E40-B7A7-D349B65522D5}"/>
                      </a:ext>
                    </a:extLst>
                  </p:cNvPr>
                  <p:cNvSpPr txBox="1"/>
                  <p:nvPr/>
                </p:nvSpPr>
                <p:spPr>
                  <a:xfrm>
                    <a:off x="1309094" y="4392365"/>
                    <a:ext cx="1130382" cy="764505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D11BE86-42FA-5E40-B7A7-D349B65522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9094" y="4392365"/>
                    <a:ext cx="1130382" cy="7645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9341" t="-119355" b="-166129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E1DDB5D9-1CFC-2A4A-8BEC-A3DB37694454}"/>
                  </a:ext>
                </a:extLst>
              </p:cNvPr>
              <p:cNvSpPr/>
              <p:nvPr/>
            </p:nvSpPr>
            <p:spPr>
              <a:xfrm>
                <a:off x="2537791" y="4374542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4E39D0E-43CE-2F4A-9FEE-72411EF0C054}"/>
                    </a:ext>
                  </a:extLst>
                </p:cNvPr>
                <p:cNvSpPr txBox="1"/>
                <p:nvPr/>
              </p:nvSpPr>
              <p:spPr>
                <a:xfrm>
                  <a:off x="8950502" y="4246064"/>
                  <a:ext cx="1028988" cy="5323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−1+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br>
                    <a:rPr lang="en-US" sz="1400" b="0" i="1" dirty="0"/>
                  </a:br>
                  <a:endParaRPr lang="en-US" sz="1400" i="1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4E39D0E-43CE-2F4A-9FEE-72411EF0C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0502" y="4246064"/>
                  <a:ext cx="1028988" cy="53232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4D58FE7-7BE5-7F46-906F-51C8CB1F75B7}"/>
              </a:ext>
            </a:extLst>
          </p:cNvPr>
          <p:cNvGrpSpPr/>
          <p:nvPr/>
        </p:nvGrpSpPr>
        <p:grpSpPr>
          <a:xfrm>
            <a:off x="1309094" y="5648080"/>
            <a:ext cx="9781172" cy="802261"/>
            <a:chOff x="1309094" y="5648080"/>
            <a:chExt cx="9781172" cy="80226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FF4C25E0-6B25-FD44-B6F2-857DA9D4E205}"/>
                </a:ext>
              </a:extLst>
            </p:cNvPr>
            <p:cNvGrpSpPr/>
            <p:nvPr/>
          </p:nvGrpSpPr>
          <p:grpSpPr>
            <a:xfrm>
              <a:off x="1309094" y="5648080"/>
              <a:ext cx="9781172" cy="802261"/>
              <a:chOff x="1309094" y="5648080"/>
              <a:chExt cx="9781172" cy="802261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64622D43-D198-EC44-B642-AF51EA536E47}"/>
                  </a:ext>
                </a:extLst>
              </p:cNvPr>
              <p:cNvGrpSpPr/>
              <p:nvPr/>
            </p:nvGrpSpPr>
            <p:grpSpPr>
              <a:xfrm>
                <a:off x="2390868" y="5687904"/>
                <a:ext cx="8699398" cy="749572"/>
                <a:chOff x="2464020" y="4172860"/>
                <a:chExt cx="8699398" cy="749572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0DB2B9A2-B50E-4944-A65F-01FD7DD04F3E}"/>
                    </a:ext>
                  </a:extLst>
                </p:cNvPr>
                <p:cNvGrpSpPr/>
                <p:nvPr/>
              </p:nvGrpSpPr>
              <p:grpSpPr>
                <a:xfrm>
                  <a:off x="2464020" y="4172860"/>
                  <a:ext cx="8699398" cy="749572"/>
                  <a:chOff x="2464020" y="4172860"/>
                  <a:chExt cx="8699398" cy="74957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0" name="TextBox 129">
                        <a:extLst>
                          <a:ext uri="{FF2B5EF4-FFF2-40B4-BE49-F238E27FC236}">
                            <a16:creationId xmlns:a16="http://schemas.microsoft.com/office/drawing/2014/main" id="{39A395A3-55FF-D445-8BFD-6C624DF28BA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64020" y="4367636"/>
                        <a:ext cx="1028988" cy="369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0" name="TextBox 129">
                        <a:extLst>
                          <a:ext uri="{FF2B5EF4-FFF2-40B4-BE49-F238E27FC236}">
                            <a16:creationId xmlns:a16="http://schemas.microsoft.com/office/drawing/2014/main" id="{39A395A3-55FF-D445-8BFD-6C624DF28BA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64020" y="4367636"/>
                        <a:ext cx="1028988" cy="369397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1" name="TextBox 130">
                        <a:extLst>
                          <a:ext uri="{FF2B5EF4-FFF2-40B4-BE49-F238E27FC236}">
                            <a16:creationId xmlns:a16="http://schemas.microsoft.com/office/drawing/2014/main" id="{A6613FD8-A267-F940-A48C-57E4AB47CC2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1" name="TextBox 130">
                        <a:extLst>
                          <a:ext uri="{FF2B5EF4-FFF2-40B4-BE49-F238E27FC236}">
                            <a16:creationId xmlns:a16="http://schemas.microsoft.com/office/drawing/2014/main" id="{A6613FD8-A267-F940-A48C-57E4AB47CC2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72874" y="4190704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2" name="TextBox 131">
                        <a:extLst>
                          <a:ext uri="{FF2B5EF4-FFF2-40B4-BE49-F238E27FC236}">
                            <a16:creationId xmlns:a16="http://schemas.microsoft.com/office/drawing/2014/main" id="{878D6431-3DEE-6F4A-83E6-8B74F385DC9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2" name="TextBox 131">
                        <a:extLst>
                          <a:ext uri="{FF2B5EF4-FFF2-40B4-BE49-F238E27FC236}">
                            <a16:creationId xmlns:a16="http://schemas.microsoft.com/office/drawing/2014/main" id="{878D6431-3DEE-6F4A-83E6-8B74F385DC9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681728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1C2F7B16-1877-E64C-A479-BA3544FEDE9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1C2F7B16-1877-E64C-A479-BA3544FEDE9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44798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4" name="TextBox 133">
                        <a:extLst>
                          <a:ext uri="{FF2B5EF4-FFF2-40B4-BE49-F238E27FC236}">
                            <a16:creationId xmlns:a16="http://schemas.microsoft.com/office/drawing/2014/main" id="{F62D872D-75D2-E447-BB87-76A071B68F8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4" name="TextBox 133">
                        <a:extLst>
                          <a:ext uri="{FF2B5EF4-FFF2-40B4-BE49-F238E27FC236}">
                            <a16:creationId xmlns:a16="http://schemas.microsoft.com/office/drawing/2014/main" id="{F62D872D-75D2-E447-BB87-76A071B68F8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53652" y="4184756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b="-20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5" name="TextBox 134">
                        <a:extLst>
                          <a:ext uri="{FF2B5EF4-FFF2-40B4-BE49-F238E27FC236}">
                            <a16:creationId xmlns:a16="http://schemas.microsoft.com/office/drawing/2014/main" id="{DCE5040C-50A0-2447-907B-C8B529F1C1B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5" name="TextBox 134">
                        <a:extLst>
                          <a:ext uri="{FF2B5EF4-FFF2-40B4-BE49-F238E27FC236}">
                            <a16:creationId xmlns:a16="http://schemas.microsoft.com/office/drawing/2014/main" id="{DCE5040C-50A0-2447-907B-C8B529F1C1B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62506" y="4178808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b="-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9C18C1AA-9F0E-AB41-B797-7D4E1B75BDB9}"/>
                      </a:ext>
                    </a:extLst>
                  </p:cNvPr>
                  <p:cNvSpPr txBox="1"/>
                  <p:nvPr/>
                </p:nvSpPr>
                <p:spPr>
                  <a:xfrm>
                    <a:off x="6293439" y="4276101"/>
                    <a:ext cx="1028988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0" i="1" dirty="0"/>
                      <a:t>…</a:t>
                    </a:r>
                    <a:br>
                      <a:rPr lang="en-US" b="0" i="1" dirty="0"/>
                    </a:br>
                    <a:endParaRPr lang="en-US" i="1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7" name="TextBox 136">
                        <a:extLst>
                          <a:ext uri="{FF2B5EF4-FFF2-40B4-BE49-F238E27FC236}">
                            <a16:creationId xmlns:a16="http://schemas.microsoft.com/office/drawing/2014/main" id="{7E0F1226-D53D-3E4A-AA00-6CCCF6D9AE7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m:oMathPara>
                        </a14:m>
                        <a:br>
                          <a:rPr lang="en-US" b="0" i="1" dirty="0"/>
                        </a:br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137" name="TextBox 136">
                        <a:extLst>
                          <a:ext uri="{FF2B5EF4-FFF2-40B4-BE49-F238E27FC236}">
                            <a16:creationId xmlns:a16="http://schemas.microsoft.com/office/drawing/2014/main" id="{7E0F1226-D53D-3E4A-AA00-6CCCF6D9AE7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134430" y="4172860"/>
                        <a:ext cx="1028988" cy="612796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FCC0FBF4-821B-B946-A6E0-D59ABD1CA3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FCC0FBF4-821B-B946-A6E0-D59ABD1CA3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88131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B633952E-A3E6-0548-948A-5F33CB721A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B633952E-A3E6-0548-948A-5F33CB721AA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81255" y="4333920"/>
                      <a:ext cx="51449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6ADF10FB-081C-614C-AB0D-E6AC750630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6ADF10FB-081C-614C-AB0D-E6AC750630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2613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9025D363-6DDE-034B-AE0E-0713B1EAF2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9025D363-6DDE-034B-AE0E-0713B1EAF2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86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E60FE818-0DC1-C946-8201-DD4C220198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E60FE818-0DC1-C946-8201-DD4C220198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8396" y="4306488"/>
                      <a:ext cx="514494" cy="369332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776CB2EB-FF4A-F54B-AEEA-5730FC4B0B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776CB2EB-FF4A-F54B-AEEA-5730FC4B0BF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34021" y="4315780"/>
                      <a:ext cx="51449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08122C2D-A59C-044C-97D3-67CE8223D133}"/>
                      </a:ext>
                    </a:extLst>
                  </p:cNvPr>
                  <p:cNvSpPr txBox="1"/>
                  <p:nvPr/>
                </p:nvSpPr>
                <p:spPr>
                  <a:xfrm>
                    <a:off x="1309094" y="5870833"/>
                    <a:ext cx="1130382" cy="369332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08122C2D-A59C-044C-97D3-67CE8223D1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9094" y="5870833"/>
                    <a:ext cx="1130382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9677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A3A4BAF-A7DD-C348-979D-7C3EC7C72E78}"/>
                  </a:ext>
                </a:extLst>
              </p:cNvPr>
              <p:cNvSpPr/>
              <p:nvPr/>
            </p:nvSpPr>
            <p:spPr>
              <a:xfrm>
                <a:off x="2547068" y="5648080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D74D391-EE1A-604B-B3EB-132CAC6DA4E5}"/>
                    </a:ext>
                  </a:extLst>
                </p:cNvPr>
                <p:cNvSpPr txBox="1"/>
                <p:nvPr/>
              </p:nvSpPr>
              <p:spPr>
                <a:xfrm>
                  <a:off x="8950615" y="5695855"/>
                  <a:ext cx="1028988" cy="6127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oMath>
                    </m:oMathPara>
                  </a14:m>
                  <a:br>
                    <a:rPr lang="en-US" b="0" i="1" dirty="0"/>
                  </a:br>
                  <a:endParaRPr lang="en-US" i="1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D74D391-EE1A-604B-B3EB-132CAC6DA4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0615" y="5695855"/>
                  <a:ext cx="1028988" cy="612796"/>
                </a:xfrm>
                <a:prstGeom prst="rect">
                  <a:avLst/>
                </a:prstGeom>
                <a:blipFill>
                  <a:blip r:embed="rId25"/>
                  <a:stretch>
                    <a:fillRect b="-2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EB345E3-D845-3C43-891D-7D956D4B1C74}"/>
              </a:ext>
            </a:extLst>
          </p:cNvPr>
          <p:cNvGrpSpPr/>
          <p:nvPr/>
        </p:nvGrpSpPr>
        <p:grpSpPr>
          <a:xfrm>
            <a:off x="2693865" y="5088016"/>
            <a:ext cx="8082356" cy="370658"/>
            <a:chOff x="2693865" y="5088016"/>
            <a:chExt cx="8082356" cy="370658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7BEBDDA9-F5BE-5142-AB1A-30321589A992}"/>
                </a:ext>
              </a:extLst>
            </p:cNvPr>
            <p:cNvGrpSpPr/>
            <p:nvPr/>
          </p:nvGrpSpPr>
          <p:grpSpPr>
            <a:xfrm>
              <a:off x="2693865" y="5088016"/>
              <a:ext cx="8082356" cy="369332"/>
              <a:chOff x="2693865" y="5088016"/>
              <a:chExt cx="8082356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A39575EA-1975-C147-840C-6D492EBBB9B2}"/>
                      </a:ext>
                    </a:extLst>
                  </p:cNvPr>
                  <p:cNvSpPr txBox="1"/>
                  <p:nvPr/>
                </p:nvSpPr>
                <p:spPr>
                  <a:xfrm>
                    <a:off x="2693865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A39575EA-1975-C147-840C-6D492EBBB9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93865" y="5088016"/>
                    <a:ext cx="391188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4B3CA8C1-905D-FD4A-8EBA-589FCE67B922}"/>
                      </a:ext>
                    </a:extLst>
                  </p:cNvPr>
                  <p:cNvSpPr txBox="1"/>
                  <p:nvPr/>
                </p:nvSpPr>
                <p:spPr>
                  <a:xfrm>
                    <a:off x="3810064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4B3CA8C1-905D-FD4A-8EBA-589FCE67B9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0064" y="5088016"/>
                    <a:ext cx="391188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837F824C-DFEE-1B4B-8653-44857465B5C3}"/>
                      </a:ext>
                    </a:extLst>
                  </p:cNvPr>
                  <p:cNvSpPr txBox="1"/>
                  <p:nvPr/>
                </p:nvSpPr>
                <p:spPr>
                  <a:xfrm>
                    <a:off x="4885003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837F824C-DFEE-1B4B-8653-44857465B5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85003" y="5088016"/>
                    <a:ext cx="39118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9179B83-C033-6646-9B77-47E3522099EA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202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9179B83-C033-6646-9B77-47E3522099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202" y="5088016"/>
                    <a:ext cx="39118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9D134230-ABA2-5B45-BFF9-276F7F7A7C94}"/>
                      </a:ext>
                    </a:extLst>
                  </p:cNvPr>
                  <p:cNvSpPr txBox="1"/>
                  <p:nvPr/>
                </p:nvSpPr>
                <p:spPr>
                  <a:xfrm>
                    <a:off x="7078860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9D134230-ABA2-5B45-BFF9-276F7F7A7C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8860" y="5088016"/>
                    <a:ext cx="391188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F4EE79F0-5759-E441-A431-1E4BFC286E19}"/>
                      </a:ext>
                    </a:extLst>
                  </p:cNvPr>
                  <p:cNvSpPr txBox="1"/>
                  <p:nvPr/>
                </p:nvSpPr>
                <p:spPr>
                  <a:xfrm>
                    <a:off x="8195059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F4EE79F0-5759-E441-A431-1E4BFC286E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5059" y="5088016"/>
                    <a:ext cx="391188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2E122641-C3EE-9A44-9C6E-0B05757E7A53}"/>
                      </a:ext>
                    </a:extLst>
                  </p:cNvPr>
                  <p:cNvSpPr txBox="1"/>
                  <p:nvPr/>
                </p:nvSpPr>
                <p:spPr>
                  <a:xfrm>
                    <a:off x="10385033" y="5088016"/>
                    <a:ext cx="39118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2E122641-C3EE-9A44-9C6E-0B05757E7A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85033" y="5088016"/>
                    <a:ext cx="391188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95379C80-973D-634B-8AEE-A06CE3FDD341}"/>
                    </a:ext>
                  </a:extLst>
                </p:cNvPr>
                <p:cNvSpPr txBox="1"/>
                <p:nvPr/>
              </p:nvSpPr>
              <p:spPr>
                <a:xfrm>
                  <a:off x="9317517" y="5089342"/>
                  <a:ext cx="39118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95379C80-973D-634B-8AEE-A06CE3FDD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7517" y="5089342"/>
                  <a:ext cx="391188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3914AD7-2338-044C-BC20-7235119830B3}"/>
              </a:ext>
            </a:extLst>
          </p:cNvPr>
          <p:cNvGrpSpPr/>
          <p:nvPr/>
        </p:nvGrpSpPr>
        <p:grpSpPr>
          <a:xfrm>
            <a:off x="2528515" y="3029449"/>
            <a:ext cx="8380675" cy="802261"/>
            <a:chOff x="2528515" y="3029449"/>
            <a:chExt cx="8380675" cy="802261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778A28F-64BD-9449-9C49-480FCFECA7C5}"/>
                </a:ext>
              </a:extLst>
            </p:cNvPr>
            <p:cNvGrpSpPr/>
            <p:nvPr/>
          </p:nvGrpSpPr>
          <p:grpSpPr>
            <a:xfrm>
              <a:off x="2528515" y="3029449"/>
              <a:ext cx="8380675" cy="802261"/>
              <a:chOff x="2528515" y="3267986"/>
              <a:chExt cx="8380675" cy="802261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E8DE085B-2767-7D42-9968-88C6DB48E846}"/>
                  </a:ext>
                </a:extLst>
              </p:cNvPr>
              <p:cNvSpPr/>
              <p:nvPr/>
            </p:nvSpPr>
            <p:spPr>
              <a:xfrm>
                <a:off x="2528515" y="3267986"/>
                <a:ext cx="8380675" cy="80226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ECC5A43E-3F4B-2C43-9E07-467BA0B8E85B}"/>
                  </a:ext>
                </a:extLst>
              </p:cNvPr>
              <p:cNvGrpSpPr/>
              <p:nvPr/>
            </p:nvGrpSpPr>
            <p:grpSpPr>
              <a:xfrm>
                <a:off x="2655756" y="3402288"/>
                <a:ext cx="8118818" cy="525923"/>
                <a:chOff x="2719764" y="2981664"/>
                <a:chExt cx="8118818" cy="525923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6EF79C7E-3A50-2C42-8BC2-8E7D2D95F289}"/>
                    </a:ext>
                  </a:extLst>
                </p:cNvPr>
                <p:cNvSpPr/>
                <p:nvPr/>
              </p:nvSpPr>
              <p:spPr>
                <a:xfrm>
                  <a:off x="2719764" y="3008376"/>
                  <a:ext cx="499211" cy="49921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EBD17DC4-6A31-6542-ACFC-8450A87E6BB7}"/>
                    </a:ext>
                  </a:extLst>
                </p:cNvPr>
                <p:cNvSpPr/>
                <p:nvPr/>
              </p:nvSpPr>
              <p:spPr>
                <a:xfrm>
                  <a:off x="3828618" y="3008376"/>
                  <a:ext cx="499211" cy="499211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E3095214-F407-1C47-9E4C-955DD1C68241}"/>
                    </a:ext>
                  </a:extLst>
                </p:cNvPr>
                <p:cNvSpPr/>
                <p:nvPr/>
              </p:nvSpPr>
              <p:spPr>
                <a:xfrm>
                  <a:off x="4937472" y="3008376"/>
                  <a:ext cx="499211" cy="499211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BF970FAF-AC52-CC44-A559-EDDF22945CEE}"/>
                    </a:ext>
                  </a:extLst>
                </p:cNvPr>
                <p:cNvSpPr/>
                <p:nvPr/>
              </p:nvSpPr>
              <p:spPr>
                <a:xfrm>
                  <a:off x="6046326" y="3008376"/>
                  <a:ext cx="499211" cy="499211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BDD9BF42-96A1-9147-A4A5-B1572FB556D2}"/>
                    </a:ext>
                  </a:extLst>
                </p:cNvPr>
                <p:cNvSpPr/>
                <p:nvPr/>
              </p:nvSpPr>
              <p:spPr>
                <a:xfrm>
                  <a:off x="7111187" y="2987575"/>
                  <a:ext cx="499211" cy="499211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DD6EC8D3-2133-6942-8E2E-4828077136F3}"/>
                    </a:ext>
                  </a:extLst>
                </p:cNvPr>
                <p:cNvSpPr/>
                <p:nvPr/>
              </p:nvSpPr>
              <p:spPr>
                <a:xfrm>
                  <a:off x="8220041" y="2987575"/>
                  <a:ext cx="499211" cy="499211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67938CC9-9C7F-E748-9959-52A9F4AB7218}"/>
                    </a:ext>
                  </a:extLst>
                </p:cNvPr>
                <p:cNvSpPr/>
                <p:nvPr/>
              </p:nvSpPr>
              <p:spPr>
                <a:xfrm>
                  <a:off x="10339371" y="2981664"/>
                  <a:ext cx="499211" cy="499211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8CA57908-392A-6946-9440-E00D7BC010CD}"/>
                    </a:ext>
                  </a:extLst>
                </p:cNvPr>
                <p:cNvSpPr txBox="1"/>
                <p:nvPr/>
              </p:nvSpPr>
              <p:spPr>
                <a:xfrm>
                  <a:off x="6266607" y="3034748"/>
                  <a:ext cx="102898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0" i="1" dirty="0"/>
                    <a:t>…</a:t>
                  </a:r>
                  <a:endParaRPr lang="en-US" i="1" dirty="0"/>
                </a:p>
              </p:txBody>
            </p:sp>
          </p:grp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20A024B-6A6E-F043-882B-CA2536C70FAF}"/>
                </a:ext>
              </a:extLst>
            </p:cNvPr>
            <p:cNvSpPr/>
            <p:nvPr/>
          </p:nvSpPr>
          <p:spPr>
            <a:xfrm>
              <a:off x="9246023" y="3179782"/>
              <a:ext cx="499211" cy="499211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20421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DA7E1F-EA10-664E-B135-4A53E08C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6617"/>
            <a:ext cx="9905998" cy="669097"/>
          </a:xfrm>
        </p:spPr>
        <p:txBody>
          <a:bodyPr/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DC23-009C-4345-AACE-883EA6E42F99}"/>
              </a:ext>
            </a:extLst>
          </p:cNvPr>
          <p:cNvSpPr txBox="1"/>
          <p:nvPr/>
        </p:nvSpPr>
        <p:spPr>
          <a:xfrm>
            <a:off x="1223010" y="1725654"/>
            <a:ext cx="988695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i="1" dirty="0"/>
              <a:t>Theorem</a:t>
            </a:r>
            <a:r>
              <a:rPr lang="en-US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/>
              <p:nvPr/>
            </p:nvSpPr>
            <p:spPr>
              <a:xfrm>
                <a:off x="1223010" y="2204621"/>
                <a:ext cx="9886950" cy="9541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Greedy-Set-Cover</a:t>
                </a:r>
                <a:r>
                  <a:rPr lang="en-US" sz="2800" dirty="0">
                    <a:solidFill>
                      <a:schemeClr val="bg1"/>
                    </a:solidFill>
                  </a:rPr>
                  <a:t>(X, F) is 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-approximation of set-cover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DDFE5-89DF-4E4A-B05C-A1115882F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010" y="2204621"/>
                <a:ext cx="9886950" cy="954107"/>
              </a:xfrm>
              <a:prstGeom prst="rect">
                <a:avLst/>
              </a:prstGeom>
              <a:blipFill>
                <a:blip r:embed="rId2"/>
                <a:stretch>
                  <a:fillRect l="-385" t="-6494" r="-1154" b="-909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7EC3FA16-B683-1646-BCA6-F1C68A5F3CCA}"/>
              </a:ext>
            </a:extLst>
          </p:cNvPr>
          <p:cNvSpPr txBox="1"/>
          <p:nvPr/>
        </p:nvSpPr>
        <p:spPr>
          <a:xfrm>
            <a:off x="2743898" y="4206706"/>
            <a:ext cx="279965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Thus, it is proven!!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0D404B6-26A0-2F4B-958D-B4DAD4F01B3F}"/>
              </a:ext>
            </a:extLst>
          </p:cNvPr>
          <p:cNvCxnSpPr>
            <a:cxnSpLocks/>
          </p:cNvCxnSpPr>
          <p:nvPr/>
        </p:nvCxnSpPr>
        <p:spPr>
          <a:xfrm flipV="1">
            <a:off x="4552652" y="3366832"/>
            <a:ext cx="713950" cy="80558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2852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175898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6B35A7-33B4-2246-9592-F0BBDFD568CC}"/>
              </a:ext>
            </a:extLst>
          </p:cNvPr>
          <p:cNvSpPr txBox="1">
            <a:spLocks/>
          </p:cNvSpPr>
          <p:nvPr/>
        </p:nvSpPr>
        <p:spPr>
          <a:xfrm>
            <a:off x="2618509" y="1805152"/>
            <a:ext cx="8198632" cy="4744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u="sng" dirty="0"/>
              <a:t>Basic Approximations:</a:t>
            </a:r>
          </a:p>
          <a:p>
            <a:pPr lvl="1"/>
            <a:r>
              <a:rPr lang="en-US" sz="1600" dirty="0"/>
              <a:t>Are very fast (often greedy) algorithms. Algorithm / implementation not difficult.</a:t>
            </a:r>
          </a:p>
          <a:p>
            <a:pPr lvl="1"/>
            <a:r>
              <a:rPr lang="en-US" sz="1600" dirty="0"/>
              <a:t>Analysis to figure out “how good” approximation is often much harder</a:t>
            </a:r>
          </a:p>
          <a:p>
            <a:pPr lvl="1"/>
            <a:r>
              <a:rPr lang="en-US" sz="1600" dirty="0"/>
              <a:t>We only scratched the surface in this slide deck.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br>
              <a:rPr lang="en-US" sz="20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4641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41851</TotalTime>
  <Words>5004</Words>
  <Application>Microsoft Macintosh PowerPoint</Application>
  <PresentationFormat>Widescreen</PresentationFormat>
  <Paragraphs>1022</Paragraphs>
  <Slides>68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4" baseType="lpstr">
      <vt:lpstr>Arial</vt:lpstr>
      <vt:lpstr>Calibri</vt:lpstr>
      <vt:lpstr>Cambria Math</vt:lpstr>
      <vt:lpstr>Courier New</vt:lpstr>
      <vt:lpstr>Tw Cen MT</vt:lpstr>
      <vt:lpstr>Circuit</vt:lpstr>
      <vt:lpstr>Approximation Algorithms</vt:lpstr>
      <vt:lpstr>Advanced Tree Structures</vt:lpstr>
      <vt:lpstr>Introduction: Approximation</vt:lpstr>
      <vt:lpstr>Approximation Ratios</vt:lpstr>
      <vt:lpstr>Some Definitions</vt:lpstr>
      <vt:lpstr>Vertex-Cover</vt:lpstr>
      <vt:lpstr>Recall Vertex-Cover</vt:lpstr>
      <vt:lpstr>Proposed Algorithm for Vertex-Cover</vt:lpstr>
      <vt:lpstr>Sample Execution</vt:lpstr>
      <vt:lpstr>Sample Execution</vt:lpstr>
      <vt:lpstr>Sample Execution</vt:lpstr>
      <vt:lpstr>Approx-Vert-Cover: Analysis</vt:lpstr>
      <vt:lpstr>Approx-Vert-Cover: Analysis</vt:lpstr>
      <vt:lpstr>Approx-Vert-Cover: Analysis</vt:lpstr>
      <vt:lpstr>Traveling Salesperson</vt:lpstr>
      <vt:lpstr>Recall Traveling SalesPerson Problem</vt:lpstr>
      <vt:lpstr>Recall Traveling SalesPerson Problem</vt:lpstr>
      <vt:lpstr>Approximation for TSP</vt:lpstr>
      <vt:lpstr>Approximation for TSP</vt:lpstr>
      <vt:lpstr>Approximation for TSP</vt:lpstr>
      <vt:lpstr>Approximation for TSP</vt:lpstr>
      <vt:lpstr>Approximation for TSP</vt:lpstr>
      <vt:lpstr>Approximation for TSP: Analysis</vt:lpstr>
      <vt:lpstr>Approximation for TSP: Analysis</vt:lpstr>
      <vt:lpstr>Approximation for TSP: Analysis</vt:lpstr>
      <vt:lpstr>Improving The Traveling Salesperson Bound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Approximating The General Traveling-Salesperson Problem</vt:lpstr>
      <vt:lpstr>Approximating the General TSP</vt:lpstr>
      <vt:lpstr>Approximating the General TSP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Approximating the General TSP</vt:lpstr>
      <vt:lpstr>Set Cover</vt:lpstr>
      <vt:lpstr>Set Cover Problem</vt:lpstr>
      <vt:lpstr>Set Cover Problem</vt:lpstr>
      <vt:lpstr>Approximating Set Cover</vt:lpstr>
      <vt:lpstr>Approximating Set Cover</vt:lpstr>
      <vt:lpstr>Analysis</vt:lpstr>
      <vt:lpstr>Aside: Harmonic Numbers</vt:lpstr>
      <vt:lpstr>Analysis of Set Cover Greedy</vt:lpstr>
      <vt:lpstr>Analysis of Set Cover Greedy</vt:lpstr>
      <vt:lpstr>Analysis of Set Cover Greedy</vt:lpstr>
      <vt:lpstr>Analysis of Set Cover Greedy</vt:lpstr>
      <vt:lpstr>Analysis of Set Cover Greedy</vt:lpstr>
      <vt:lpstr>Analysis of Set Cover Greedy</vt:lpstr>
      <vt:lpstr>Analysis of Set Cover Greedy</vt:lpstr>
      <vt:lpstr>Analysis</vt:lpstr>
      <vt:lpstr>Conclusion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291</cp:revision>
  <dcterms:created xsi:type="dcterms:W3CDTF">2023-02-24T14:15:53Z</dcterms:created>
  <dcterms:modified xsi:type="dcterms:W3CDTF">2026-03-24T14:41:33Z</dcterms:modified>
</cp:coreProperties>
</file>