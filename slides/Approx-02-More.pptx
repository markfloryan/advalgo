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8"/>
  </p:notesMasterIdLst>
  <p:sldIdLst>
    <p:sldId id="256" r:id="rId2"/>
    <p:sldId id="286" r:id="rId3"/>
    <p:sldId id="292" r:id="rId4"/>
    <p:sldId id="367" r:id="rId5"/>
    <p:sldId id="370" r:id="rId6"/>
    <p:sldId id="371" r:id="rId7"/>
    <p:sldId id="372" r:id="rId8"/>
    <p:sldId id="373" r:id="rId9"/>
    <p:sldId id="374" r:id="rId10"/>
    <p:sldId id="375" r:id="rId11"/>
    <p:sldId id="376" r:id="rId12"/>
    <p:sldId id="377" r:id="rId13"/>
    <p:sldId id="366" r:id="rId14"/>
    <p:sldId id="364" r:id="rId15"/>
    <p:sldId id="378" r:id="rId16"/>
    <p:sldId id="379" r:id="rId17"/>
    <p:sldId id="380" r:id="rId18"/>
    <p:sldId id="381" r:id="rId19"/>
    <p:sldId id="382" r:id="rId20"/>
    <p:sldId id="383" r:id="rId21"/>
    <p:sldId id="384" r:id="rId22"/>
    <p:sldId id="362" r:id="rId23"/>
    <p:sldId id="686" r:id="rId24"/>
    <p:sldId id="361" r:id="rId25"/>
    <p:sldId id="716" r:id="rId26"/>
    <p:sldId id="717" r:id="rId27"/>
    <p:sldId id="718" r:id="rId28"/>
    <p:sldId id="333" r:id="rId29"/>
    <p:sldId id="720" r:id="rId30"/>
    <p:sldId id="719" r:id="rId31"/>
    <p:sldId id="721" r:id="rId32"/>
    <p:sldId id="722" r:id="rId33"/>
    <p:sldId id="723" r:id="rId34"/>
    <p:sldId id="724" r:id="rId35"/>
    <p:sldId id="725" r:id="rId36"/>
    <p:sldId id="72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29"/>
    <p:restoredTop sz="94734"/>
  </p:normalViewPr>
  <p:slideViewPr>
    <p:cSldViewPr snapToGrid="0" snapToObjects="1">
      <p:cViewPr varScale="1">
        <p:scale>
          <a:sx n="137" d="100"/>
          <a:sy n="137" d="100"/>
        </p:scale>
        <p:origin x="18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ADCBB9-4DAA-DC4B-80A5-C231400C2D6E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62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13" Type="http://schemas.openxmlformats.org/officeDocument/2006/relationships/image" Target="NUL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12" Type="http://schemas.openxmlformats.org/officeDocument/2006/relationships/image" Target="NUL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NULL"/><Relationship Id="rId5" Type="http://schemas.openxmlformats.org/officeDocument/2006/relationships/tags" Target="../tags/tag5.xml"/><Relationship Id="rId10" Type="http://schemas.openxmlformats.org/officeDocument/2006/relationships/image" Target="NULL"/><Relationship Id="rId4" Type="http://schemas.openxmlformats.org/officeDocument/2006/relationships/tags" Target="../tags/tag4.xml"/><Relationship Id="rId9" Type="http://schemas.openxmlformats.org/officeDocument/2006/relationships/tags" Target="NUL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 (Part 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More Approximation Algorithms!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Randomization Methods</a:t>
            </a:r>
            <a:br>
              <a:rPr lang="en-US" dirty="0"/>
            </a:br>
            <a:r>
              <a:rPr lang="en-US" dirty="0"/>
              <a:t>Max 3-SAT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E8E1-118E-6CAB-40CD-F77E0BDA6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42D00E3-215B-AD81-F908-4E101EA53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646611-A7A4-AFB5-120E-581048405CE3}"/>
              </a:ext>
            </a:extLst>
          </p:cNvPr>
          <p:cNvSpPr txBox="1"/>
          <p:nvPr/>
        </p:nvSpPr>
        <p:spPr>
          <a:xfrm>
            <a:off x="3808411" y="3515566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 Idea: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/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Given a Boolean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blipFill>
                <a:blip r:embed="rId2"/>
                <a:stretch>
                  <a:fillRect l="-1826" t="-10345" r="-457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/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/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Set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to {</a:t>
                </a:r>
                <a:r>
                  <a:rPr lang="en-US" dirty="0" err="1"/>
                  <a:t>true,false</a:t>
                </a:r>
                <a:r>
                  <a:rPr lang="en-US" dirty="0"/>
                  <a:t>} and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satisfy as many clauses as possible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blipFill>
                <a:blip r:embed="rId4"/>
                <a:stretch>
                  <a:fillRect l="-58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/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blipFill>
                <a:blip r:embed="rId5"/>
                <a:stretch>
                  <a:fillRect l="-1198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B50B41-5AE9-0F3F-2A12-6CB63BC46558}"/>
              </a:ext>
            </a:extLst>
          </p:cNvPr>
          <p:cNvCxnSpPr/>
          <p:nvPr/>
        </p:nvCxnSpPr>
        <p:spPr>
          <a:xfrm>
            <a:off x="658368" y="3118104"/>
            <a:ext cx="10936224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32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BCA9-9851-C1E0-5E84-DE6221310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F89C0B-35C2-C718-9140-BFBA98278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312F6-7E63-E134-DDC7-7F5DD07D25D0}"/>
              </a:ext>
            </a:extLst>
          </p:cNvPr>
          <p:cNvSpPr txBox="1"/>
          <p:nvPr/>
        </p:nvSpPr>
        <p:spPr>
          <a:xfrm>
            <a:off x="1541495" y="124976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/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1113" r="-556" b="-98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/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896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/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Definition</a:t>
                </a:r>
                <a:r>
                  <a:rPr lang="en-US" dirty="0"/>
                  <a:t>: A randomized algorithm A is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approximation if: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C is the cost of the solution returned by A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blipFill>
                <a:blip r:embed="rId4"/>
                <a:stretch>
                  <a:fillRect l="-1198" t="-526" r="-299" b="-315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716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C9A0B-A9E4-A1D8-A350-0E3D2EE4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FFC241F-C909-241F-1309-ABAFCF1B5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6C9FA8-9093-1B5F-DE2C-D2C5405D8B9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/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…and define (note that this is number of satisfied clauses):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blipFill>
                <a:blip r:embed="rId4"/>
                <a:stretch>
                  <a:fillRect l="-683" t="-342" b="-34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CAB40D-2DBC-DFFA-5066-57C1DFF4DB5B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4269863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07B4E-8495-ACDE-8A88-BCDB3601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9B0813B-C950-86FB-BAC2-A15D19C8D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77B795-5202-D68A-E618-33A0CF7633D7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blipFill>
                <a:blip r:embed="rId4"/>
                <a:stretch>
                  <a:fillRect l="-699" t="-313" b="-125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82C1CC4-60A5-28B2-9D23-000AED9A7C80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257947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58B0-B18C-13A9-2B9A-307D4027F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64E6CE2-5B8B-86D0-7929-FFE54AE7F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2098BF-F28A-63A2-8048-8A8DF5FCB3B9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blipFill>
                <a:blip r:embed="rId4"/>
                <a:stretch>
                  <a:fillRect b="-4768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85AE366-28CF-C8E7-BB2D-777B61541A52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3239042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DB61-84AE-12D6-26D4-741BE971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21D4DF-6604-FF27-24EB-3397CFC5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6BCA6-AC19-F182-BF95-44F6166724F5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Approximation Ratio: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𝑂𝑝𝑡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blipFill>
                <a:blip r:embed="rId4"/>
                <a:stretch>
                  <a:fillRect l="-699" t="-311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697A3FB-B353-4310-10E1-F5B3FACE8FFE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1416510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9129-1621-D00B-ADAC-75B0DAAEF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592EF7-7F00-2B46-55AF-2A99EB534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BFBD0A-9233-5744-BD7C-4C1CE7C9752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4060593-AEC9-C353-CCC3-F2F921BE0DF3}"/>
              </a:ext>
            </a:extLst>
          </p:cNvPr>
          <p:cNvSpPr txBox="1"/>
          <p:nvPr/>
        </p:nvSpPr>
        <p:spPr>
          <a:xfrm>
            <a:off x="6751782" y="3968837"/>
            <a:ext cx="46551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Hold on a sec! What if some clauses contain a variable AND its negation? Doesn’t this proof assume that all variables in each clause are unique?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629640-202B-DF79-4A98-C94B881E6C20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1918968"/>
            <a:ext cx="1533236" cy="187717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A6D5CA-27C7-A47C-F69B-8BF735E615C8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3796145"/>
            <a:ext cx="1199250" cy="3456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233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0629-B6BF-2AF2-A179-80CDE226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E523DC8-2F92-741C-CF2E-F8EEFF3F8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/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blipFill>
                <a:blip r:embed="rId3"/>
                <a:stretch>
                  <a:fillRect l="-56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D78B18B-92D1-C049-836D-57E8C26703EB}"/>
              </a:ext>
            </a:extLst>
          </p:cNvPr>
          <p:cNvSpPr txBox="1"/>
          <p:nvPr/>
        </p:nvSpPr>
        <p:spPr>
          <a:xfrm>
            <a:off x="7915563" y="4153645"/>
            <a:ext cx="2817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that our random algorithm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guaranteed to satisfy these clauses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/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chance of satisfying these clauses remains the same: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blipFill>
                <a:blip r:embed="rId4"/>
                <a:stretch>
                  <a:fillRect t="-2410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1D4A72-8881-5AEC-6E05-E2E4DE472AEF}"/>
              </a:ext>
            </a:extLst>
          </p:cNvPr>
          <p:cNvCxnSpPr/>
          <p:nvPr/>
        </p:nvCxnSpPr>
        <p:spPr>
          <a:xfrm flipV="1">
            <a:off x="3990109" y="2657151"/>
            <a:ext cx="535709" cy="1222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9A07B6-5139-E8DD-027F-F60677E7F8CB}"/>
              </a:ext>
            </a:extLst>
          </p:cNvPr>
          <p:cNvCxnSpPr>
            <a:cxnSpLocks/>
          </p:cNvCxnSpPr>
          <p:nvPr/>
        </p:nvCxnSpPr>
        <p:spPr>
          <a:xfrm flipH="1" flipV="1">
            <a:off x="8423564" y="2794337"/>
            <a:ext cx="706582" cy="12457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957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E82CE-2717-DF9D-36C4-5048AF50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E58B883-33D1-EB1A-2657-45EED3D85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/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For an approximation ratio of: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𝑂𝑃𝑇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blipFill>
                <a:blip r:embed="rId3"/>
                <a:stretch>
                  <a:fillRect l="-567" t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428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B628C-9012-4D1B-1DB1-4EC97E19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11243-63FB-41A3-D6DE-6ADC8AD5D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Weighted Vertex-Cover and LP-Rounding</a:t>
            </a:r>
          </a:p>
        </p:txBody>
      </p:sp>
    </p:spTree>
    <p:extLst>
      <p:ext uri="{BB962C8B-B14F-4D97-AF65-F5344CB8AC3E}">
        <p14:creationId xmlns:p14="http://schemas.microsoft.com/office/powerpoint/2010/main" val="1588820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678158" y="5468904"/>
            <a:ext cx="2479271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What is the solution to this instance here?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F9C98AB-3765-E940-C948-974C2CA2E6E3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7C2DE78-1759-8447-9B92-2AF4A82F425B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17EEFE5-65F0-6346-B7BD-B2659399F822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40B913-6BD0-1B49-93A8-9C381902904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D549965-9AF9-0546-A16E-6C50853D7B14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69838E2-6009-504F-8290-68230C7D90A0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A227750-14A7-1248-82B9-1F6656165C3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071694-DAB2-7346-BD4D-2F9566C2004B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390B225-A4D7-B54E-99F9-66A2B1731359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F68430-2504-054D-A55F-1EAB0915A55C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A4367C4-6AD0-C942-961E-52AFCAAC92D7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987431-D419-E047-919A-9A2425DC90DE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607CA13-8432-3340-A74D-C46AEE7842CD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A073737-16EB-9043-8B78-D6A489B2411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26B532A-93EB-D146-879B-DAAEECFCB20F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3BFC779-55F4-E647-9E1B-CDA26122366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158C4E0-12D8-A449-98FA-D5CC88A1887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FC9CE9A-6B87-BD4C-2F32-62EB110FA585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771DC0-3E06-92CD-F44A-099D2497C3C0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2FC787-E698-7AD6-03A0-0416110FE159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A523A5-3625-9542-A5A3-D0D1821AE0EC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4A0496-4409-5C68-B4CF-06FF26EF0F11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5CCFE2F-96AC-4E98-75DF-B6BED5C44E07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C0C6FF6-BDFA-CE11-9530-1D01AF286BBD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A37F-58AF-8EAA-14C0-E112FF84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674AF23-0564-D15E-9A94-AADD0BD43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D02D4E8E-2DE5-FDAA-14CF-08770E5EAE2D}"/>
              </a:ext>
            </a:extLst>
          </p:cNvPr>
          <p:cNvSpPr txBox="1"/>
          <p:nvPr/>
        </p:nvSpPr>
        <p:spPr>
          <a:xfrm>
            <a:off x="767622" y="3528675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solution has total weight 3 + 4 + 2 + 8 = 17</a:t>
            </a:r>
          </a:p>
          <a:p>
            <a:pPr algn="ctr"/>
            <a:endParaRPr lang="en-US" sz="1600" i="1" dirty="0"/>
          </a:p>
          <a:p>
            <a:pPr algn="ctr"/>
            <a:r>
              <a:rPr lang="en-US" sz="1600" i="1" dirty="0"/>
              <a:t>Can we do better?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1334E-CC7B-A265-7A4C-AEBCD88C40B7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3B78E6-ED7D-22BD-6613-EC5816EFF106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ECBC6B-D9A7-6296-91E8-EBC27DC6A985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615AEFD-8611-D9CD-22D3-D1EDC3471715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F276E76-65C1-828E-E4FD-147C0FB400DE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702EDF-59DF-281C-4E36-576C88703BF1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83F65FD-9234-050F-4776-5CD3E81B128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5948BF-EDBF-A978-81F9-7061F5BFCACB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8F8E136-97E5-A29B-FCC1-5931798E1542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932BD70-66D9-21C1-4A3F-914B30657745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B9AFE68-61F0-CF0C-5216-D1679893519B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AE58290-50B5-2B7D-CD07-3265A5704111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040015A-11B2-8C84-E1A0-13E2D7078857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3F34500-DB6F-1331-4F30-9A642B46862C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C9EBF75-44DD-1D20-C7A1-E9499052A5D5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D3F3E5E-CE4A-C667-C39E-89B81178D02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C408F0D-449F-570C-E8BD-065631DC2A3E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E4B3CA2-903B-ECAC-09FC-18D4D6FDD71D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489EBB-8AEA-B5C0-A2AB-5EFE9310FD54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6A40C8-A2E3-6C57-78FA-FBB0B4A8C329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1E9416-7BFC-22C4-72F5-B809026A246A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55C981D-DF66-F370-2E75-B59FE9519958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AC977E-994D-BC02-982D-7CDB9DC06942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EF87193-4A5C-0FC3-36BD-2B3CDDA46E0A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6224794-865E-648C-807D-AC8CF3228A2C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299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13E1-4754-502A-D7A5-BA2E2185A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72F4171-CAE2-0A54-C7C6-4F69BC004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1CDFAD-0C69-B4FB-52FF-6F1673588247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Integer Program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is a linear program with the added constraint that all variables must take on integer values.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E4DAC3-A34B-A1A5-E7EE-F6F1C69DD320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B7B8548-B525-78B9-1A45-3C540C5571B1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F97AD9B-CF9D-88F9-D772-CC297008E0E1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F85232B-25B1-9AAA-41D9-ACF656755EAA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2F773AD-C55A-AFE4-00D4-D0B7A74AF96E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882C8D7-762B-F44B-D255-1B902D276E1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F395A1-23C1-5C73-890E-D247CB5D104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E34C1F6-7A2B-DD95-E336-8E2AD55E4D3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85E8761-D3D9-F405-AEFE-62A5A7012958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23ECC6E0-EA9A-05DC-AFBC-EF751C356798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932F8E3-CD10-F5E9-D4D9-C038D5BBFFD4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CF70B20-8637-461F-EFC4-BDC08B8BF46C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19AB734-5808-D600-0EDA-BCB60DEAF43B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DADA19D-5E6D-DEFD-94EC-675FD8D9E3C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FA591E7-316C-0582-9149-A4BE34685181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36365D3-FD01-4F02-E28E-BA26850D34B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12253B9-F19B-9529-066E-27742B67FC67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20A429-A0D5-A012-B642-870AAA4C641A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6F6519-1212-01D7-D662-DFF1CD8757D3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716469-17C1-D634-28AC-1B5EE5F5E603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2F79A0-23E7-E067-9731-F601AEF13FA2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94DF79D-A9D3-4FCE-5EE6-8BCAFB7D5C5D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5966E4-CAFA-9A29-06D6-8FAAAE567001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3807632-7C6C-6936-4650-CE0C5879B270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6F96E2D-63E6-DEA6-1D51-F96002D08987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blipFill>
                <a:blip r:embed="rId3"/>
                <a:stretch>
                  <a:fillRect b="-609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E79E2A59-DFD5-F575-37C6-0BD3B4099503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824B4D-1DDE-0AC6-6BF7-2D16790B8BE9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solving integer programs must also be NP-Hard, as solutions would produce the solution for NP-Hard problems like this one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D8D1E7E-2123-DFD7-4543-15D1BCFD2E2C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4E4DA17-3A84-E01E-0C8A-22FD5158BC70}"/>
              </a:ext>
            </a:extLst>
          </p:cNvPr>
          <p:cNvSpPr txBox="1"/>
          <p:nvPr/>
        </p:nvSpPr>
        <p:spPr>
          <a:xfrm>
            <a:off x="7046072" y="5962935"/>
            <a:ext cx="4240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Also note how the first constraint ensures that we get a vertex-cover. Can you see why?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66DDF03-30D7-D9A8-72AD-86E02EB2EF44}"/>
              </a:ext>
            </a:extLst>
          </p:cNvPr>
          <p:cNvCxnSpPr>
            <a:cxnSpLocks/>
          </p:cNvCxnSpPr>
          <p:nvPr/>
        </p:nvCxnSpPr>
        <p:spPr>
          <a:xfrm flipH="1" flipV="1">
            <a:off x="7398327" y="5148658"/>
            <a:ext cx="202998" cy="7975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815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DFA63-0238-0A8A-BB66-C6D339008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BC667A-4141-49B0-0DB4-05E8C0BEB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45FF7D-2397-5E97-1583-EEFC7660A15D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LP-Relaxation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can be easily converted into a linear program by relaxing the integer constraint.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680C0E7-6F28-28AB-2DD9-765C74856834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F08D44-F390-09CC-9415-4B762C9AAEAA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2B44C0F-50B0-39C6-AC5F-D0F769D5E87A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4B2D19F-AEFB-F0DC-05A7-D2BDF6F4361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3D2246C-23E5-5129-19AB-FACB13A93EFD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E3664B6-8EF0-BB05-03E4-D28ABC7C7B21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96E5494-027B-A080-12C7-AB1DC3834C33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AE3A615-C73C-4505-CA7A-93FBED8B9F5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C5546F3-439D-F352-1085-7C523C91746C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19318EAA-DD3A-5C36-2770-5805F0C9BB8F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34C79B0-6EBC-A9E0-1667-E8A870740AEB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A2BF149-9899-CB07-F81A-E50C1E20F213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9F34EFF-F183-C535-BB07-9D2BFD98C977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79FE549-BFDE-076A-675B-C4ECA247CF7B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179EC95-3321-570A-B974-20523C237AE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97FEDD4-DBAD-8AC4-ADE3-54DE5389068C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B161313-117C-7230-FF0A-2AD90867144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9C01CE-F9B3-9CF4-E3BC-A555565BAD02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AB0816-9A4F-FEE2-F5AB-7E4AE954E317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38C130C-8B09-7B26-90B6-8F61908EFA74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6C8B9F-8C84-7D41-3F3B-D1DE37C6B80F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8D67F91-A87F-2508-0074-D77A1AC39B55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57C26D-F726-804E-93AA-FD28CF1CD0BD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8DCC1DC-65B0-1289-E12E-659B86E76A9A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7EAF53E-798E-575F-F5A8-068F4E152316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blipFill>
                <a:blip r:embed="rId3"/>
                <a:stretch>
                  <a:fillRect b="-4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CD491-D049-18B8-56CE-C00B6F398F72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C5941D-A2A3-3B01-AD8B-A362A8ACF1A2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Now…this is a linear program. However, the solution to this would set each “node” selection to a floating point value…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2DEC2B7-887A-4472-8AC1-C4C257D9C20A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408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4A4E7-1530-C296-C2AB-356773CB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2C3840C-002A-8878-D6FB-C5B20502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/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ysClr val="windowText" lastClr="000000"/>
                    </a:solidFill>
                  </a:rPr>
                  <a:t>Approx-Min-Weight-VC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G,w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Compute optimal solution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to the LP-Relaxation as per previous slide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for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do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if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e>
                    </m:acc>
                    <m:r>
                      <a:rPr lang="en-US" sz="2000" b="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then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∪{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return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C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blipFill>
                <a:blip r:embed="rId2"/>
                <a:stretch>
                  <a:fillRect l="-667" t="-1058" b="-31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C253CF6-E3E0-04F2-FF36-C1414316E967}"/>
              </a:ext>
            </a:extLst>
          </p:cNvPr>
          <p:cNvSpPr txBox="1"/>
          <p:nvPr/>
        </p:nvSpPr>
        <p:spPr>
          <a:xfrm>
            <a:off x="2299854" y="1798978"/>
            <a:ext cx="759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1EF982-E990-236E-3CC7-DFA455E8CF0B}"/>
              </a:ext>
            </a:extLst>
          </p:cNvPr>
          <p:cNvSpPr txBox="1"/>
          <p:nvPr/>
        </p:nvSpPr>
        <p:spPr>
          <a:xfrm>
            <a:off x="6594763" y="5606473"/>
            <a:ext cx="3362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guaranteed to be a valid vertex-cover. Do you see why?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05E395-80D8-D91A-51F6-E13D3823EBCD}"/>
              </a:ext>
            </a:extLst>
          </p:cNvPr>
          <p:cNvCxnSpPr/>
          <p:nvPr/>
        </p:nvCxnSpPr>
        <p:spPr>
          <a:xfrm>
            <a:off x="7093527" y="4747491"/>
            <a:ext cx="461818" cy="80356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217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0A12D-D7CF-77F2-11B1-27425092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41611FB-D79E-E134-1796-D639C83BC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2509B7-EF00-13E1-4870-6F7328D69D0D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/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LP solution cannot exceed optimal solution since opt is feasible for LP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</m: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≥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eqAr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nary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eqAr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blipFill>
                <a:blip r:embed="rId2"/>
                <a:stretch>
                  <a:fillRect t="-22556" b="-57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2DA9EB-D60C-F3C0-C92C-FA1F9E8BF212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</p:spTree>
    <p:extLst>
      <p:ext uri="{BB962C8B-B14F-4D97-AF65-F5344CB8AC3E}">
        <p14:creationId xmlns:p14="http://schemas.microsoft.com/office/powerpoint/2010/main" val="740958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6590-C420-17CC-3864-C5C512B51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918872D-3E84-B5F4-D11E-EEAD98917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2E5DB1-99AD-6065-2742-72F79435A6EE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/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𝑂𝑝𝑡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blipFill>
                <a:blip r:embed="rId2"/>
                <a:stretch>
                  <a:fillRect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CA7BD69-A18D-18F5-3EED-38EED8DA3B13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/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blipFill>
                <a:blip r:embed="rId4"/>
                <a:stretch>
                  <a:fillRect b="-277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AA1C7B3-857A-86A9-51A2-CDBA7375A1D8}"/>
              </a:ext>
            </a:extLst>
          </p:cNvPr>
          <p:cNvSpPr txBox="1"/>
          <p:nvPr/>
        </p:nvSpPr>
        <p:spPr>
          <a:xfrm>
            <a:off x="6696364" y="2604854"/>
            <a:ext cx="3990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slide:</a:t>
            </a:r>
          </a:p>
        </p:txBody>
      </p:sp>
    </p:spTree>
    <p:extLst>
      <p:ext uri="{BB962C8B-B14F-4D97-AF65-F5344CB8AC3E}">
        <p14:creationId xmlns:p14="http://schemas.microsoft.com/office/powerpoint/2010/main" val="8146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4A91-9DF3-9186-FD6F-3E79721F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5F-6BB4-7D42-8927-1B7D4F4F0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FPTAS for Knapsack Problem</a:t>
            </a:r>
          </a:p>
        </p:txBody>
      </p:sp>
    </p:spTree>
    <p:extLst>
      <p:ext uri="{BB962C8B-B14F-4D97-AF65-F5344CB8AC3E}">
        <p14:creationId xmlns:p14="http://schemas.microsoft.com/office/powerpoint/2010/main" val="177241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2100"/>
            <a:ext cx="9905998" cy="677622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Recall: Knapsack Problems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1035727" y="1028206"/>
            <a:ext cx="10120543" cy="6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Knapsack Problem: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Scenario</a:t>
                </a: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: A thief is </a:t>
                </a:r>
                <a:r>
                  <a:rPr lang="en-US" dirty="0">
                    <a:solidFill>
                      <a:schemeClr val="bg1"/>
                    </a:solidFill>
                  </a:rPr>
                  <a:t>robbing a store and finds </a:t>
                </a:r>
                <a:r>
                  <a:rPr lang="en-US" dirty="0">
                    <a:solidFill>
                      <a:schemeClr val="accent3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items, each with a </a:t>
                </a:r>
                <a:r>
                  <a:rPr lang="en-US" dirty="0">
                    <a:solidFill>
                      <a:schemeClr val="accent1"/>
                    </a:solidFill>
                  </a:rPr>
                  <a:t>profit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a </a:t>
                </a:r>
                <a:r>
                  <a:rPr lang="en-US" dirty="0">
                    <a:solidFill>
                      <a:schemeClr val="accent4"/>
                    </a:solidFill>
                  </a:rPr>
                  <a:t>weight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 thief also has a knapsack that can fit a total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Problem</a:t>
                </a:r>
                <a:r>
                  <a:rPr lang="en-US" dirty="0">
                    <a:solidFill>
                      <a:schemeClr val="bg1"/>
                    </a:solidFill>
                  </a:rPr>
                  <a:t>: Which </a:t>
                </a:r>
                <a:r>
                  <a:rPr lang="en-US" dirty="0">
                    <a:solidFill>
                      <a:schemeClr val="accent3"/>
                    </a:solidFill>
                  </a:rPr>
                  <a:t>items</a:t>
                </a:r>
                <a:r>
                  <a:rPr lang="en-US" dirty="0">
                    <a:solidFill>
                      <a:schemeClr val="bg1"/>
                    </a:solidFill>
                  </a:rPr>
                  <a:t> should the thief steal such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maximized and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blipFill>
                <a:blip r:embed="rId10"/>
                <a:stretch>
                  <a:fillRect l="-4637" b="-260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D9EB0F9-CE8F-487B-438C-2EE9D736B05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035726" y="4468366"/>
            <a:ext cx="10120543" cy="67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800" dirty="0"/>
              <a:t>Example: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8D9CEB-074F-A38F-FA59-FEBF8935A8E3}"/>
              </a:ext>
            </a:extLst>
          </p:cNvPr>
          <p:cNvGrpSpPr/>
          <p:nvPr/>
        </p:nvGrpSpPr>
        <p:grpSpPr>
          <a:xfrm>
            <a:off x="1035726" y="5087544"/>
            <a:ext cx="10257958" cy="1297741"/>
            <a:chOff x="1025561" y="5342756"/>
            <a:chExt cx="10257958" cy="1297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/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blipFill>
                  <a:blip r:embed="rId11"/>
                  <a:stretch>
                    <a:fillRect b="-10000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5DEF98-772B-13F5-04B6-2722AC2E7C50}"/>
                </a:ext>
              </a:extLst>
            </p:cNvPr>
            <p:cNvSpPr/>
            <p:nvPr/>
          </p:nvSpPr>
          <p:spPr>
            <a:xfrm>
              <a:off x="3792245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/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38E50F-1381-70B9-E939-9F8A0DF00682}"/>
                </a:ext>
              </a:extLst>
            </p:cNvPr>
            <p:cNvSpPr/>
            <p:nvPr/>
          </p:nvSpPr>
          <p:spPr>
            <a:xfrm>
              <a:off x="3792245" y="5445221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134FF9A-19F5-C23D-81D9-134B5E1B4D35}"/>
                </a:ext>
              </a:extLst>
            </p:cNvPr>
            <p:cNvSpPr/>
            <p:nvPr/>
          </p:nvSpPr>
          <p:spPr>
            <a:xfrm>
              <a:off x="5329563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/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A8564B69-2732-E108-867E-5FE0F544E32D}"/>
                </a:ext>
              </a:extLst>
            </p:cNvPr>
            <p:cNvSpPr/>
            <p:nvPr/>
          </p:nvSpPr>
          <p:spPr>
            <a:xfrm>
              <a:off x="1802167" y="5445221"/>
              <a:ext cx="372862" cy="1120677"/>
            </a:xfrm>
            <a:prstGeom prst="leftBrac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79DFFE8F-08C3-F58E-04B8-3C6150667339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1025561" y="5814508"/>
              <a:ext cx="838749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4"/>
                  </a:solidFill>
                </a:rPr>
                <a:t>Weight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65D6B6-1D92-BD83-A5AA-9A94760ED7AD}"/>
                </a:ext>
              </a:extLst>
            </p:cNvPr>
            <p:cNvSpPr/>
            <p:nvPr/>
          </p:nvSpPr>
          <p:spPr>
            <a:xfrm>
              <a:off x="7284130" y="5342756"/>
              <a:ext cx="1487008" cy="129774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1B4A95F-9603-EC40-62B5-98731E3BFF94}"/>
                </a:ext>
              </a:extLst>
            </p:cNvPr>
            <p:cNvSpPr/>
            <p:nvPr/>
          </p:nvSpPr>
          <p:spPr>
            <a:xfrm>
              <a:off x="8984202" y="5342756"/>
              <a:ext cx="489751" cy="1297741"/>
            </a:xfrm>
            <a:prstGeom prst="rightBrac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A3834FB9-BC42-A7DA-DC03-3CA717F6780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9331911" y="5796752"/>
              <a:ext cx="1951608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2"/>
                  </a:solidFill>
                </a:rPr>
                <a:t>Knapsack capacity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214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015880-A3AC-A200-829F-C2F535778B2C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693BC5-4BE9-5254-F5C5-02F4392519C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0D680C-236A-DDC1-1CDF-C9BB86703B53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F6006C3C-5058-6AF3-4BA0-1726DCC4C041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F296FDD5-95C7-9A35-7B6A-128DCFA49219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549A5-4E64-4460-8786-1B457369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50876C5-BE5D-6C51-2BF2-751980D16E1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56575"/>
            <a:ext cx="9905998" cy="623873"/>
          </a:xfrm>
        </p:spPr>
        <p:txBody>
          <a:bodyPr/>
          <a:lstStyle/>
          <a:p>
            <a:pPr algn="ctr"/>
            <a:r>
              <a:rPr lang="en-US" dirty="0"/>
              <a:t>Typical Knapsack DP Recurrence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A66D69-F0BD-ED69-B640-A345B15F0E4F}"/>
              </a:ext>
            </a:extLst>
          </p:cNvPr>
          <p:cNvGrpSpPr/>
          <p:nvPr/>
        </p:nvGrpSpPr>
        <p:grpSpPr>
          <a:xfrm>
            <a:off x="1448391" y="2206716"/>
            <a:ext cx="8924043" cy="2330506"/>
            <a:chOff x="1836891" y="2103929"/>
            <a:chExt cx="8924043" cy="23305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/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3797" b="-1627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/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500"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/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Left Brace 15">
              <a:extLst>
                <a:ext uri="{FF2B5EF4-FFF2-40B4-BE49-F238E27FC236}">
                  <a16:creationId xmlns:a16="http://schemas.microsoft.com/office/drawing/2014/main" id="{D7DCBBDC-CE38-1B8E-4361-2CC182948D1F}"/>
                </a:ext>
              </a:extLst>
            </p:cNvPr>
            <p:cNvSpPr/>
            <p:nvPr/>
          </p:nvSpPr>
          <p:spPr>
            <a:xfrm>
              <a:off x="4887589" y="2103929"/>
              <a:ext cx="655455" cy="2330506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CB26687-E93E-2A79-37BB-1565AEB3BCBD}"/>
              </a:ext>
            </a:extLst>
          </p:cNvPr>
          <p:cNvSpPr txBox="1"/>
          <p:nvPr/>
        </p:nvSpPr>
        <p:spPr>
          <a:xfrm>
            <a:off x="737192" y="4978400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You can use up to the first </a:t>
            </a:r>
            <a:r>
              <a:rPr lang="en-US" i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</a:t>
            </a:r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items only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E26C6-C60C-B391-D8DD-81E5E27046A5}"/>
              </a:ext>
            </a:extLst>
          </p:cNvPr>
          <p:cNvSpPr txBox="1"/>
          <p:nvPr/>
        </p:nvSpPr>
        <p:spPr>
          <a:xfrm>
            <a:off x="3519708" y="5190358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Capacity of knapsack able to be used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A5C7CA-0DB2-3EE8-D4E5-612A81D49A38}"/>
              </a:ext>
            </a:extLst>
          </p:cNvPr>
          <p:cNvSpPr txBox="1"/>
          <p:nvPr/>
        </p:nvSpPr>
        <p:spPr>
          <a:xfrm>
            <a:off x="6821708" y="5375024"/>
            <a:ext cx="391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Take the </a:t>
            </a:r>
            <a:r>
              <a:rPr lang="en-US" i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ith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item and remove its weight from the knapsack capacity but earn its profit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F9CA43-4A7F-455C-8C71-AA7BB6261ABC}"/>
              </a:ext>
            </a:extLst>
          </p:cNvPr>
          <p:cNvCxnSpPr/>
          <p:nvPr/>
        </p:nvCxnSpPr>
        <p:spPr>
          <a:xfrm flipV="1">
            <a:off x="1948873" y="3633579"/>
            <a:ext cx="517236" cy="12432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92AEDC-0C7E-4978-0A7A-94AA8787A8B5}"/>
              </a:ext>
            </a:extLst>
          </p:cNvPr>
          <p:cNvCxnSpPr>
            <a:cxnSpLocks/>
            <a:endCxn id="43" idx="2"/>
          </p:cNvCxnSpPr>
          <p:nvPr/>
        </p:nvCxnSpPr>
        <p:spPr>
          <a:xfrm flipH="1" flipV="1">
            <a:off x="2953510" y="3633579"/>
            <a:ext cx="916526" cy="1556779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1B80CE-249E-0796-9552-8207E812541D}"/>
              </a:ext>
            </a:extLst>
          </p:cNvPr>
          <p:cNvCxnSpPr>
            <a:cxnSpLocks/>
          </p:cNvCxnSpPr>
          <p:nvPr/>
        </p:nvCxnSpPr>
        <p:spPr>
          <a:xfrm flipH="1" flipV="1">
            <a:off x="5662545" y="4374439"/>
            <a:ext cx="2659421" cy="92712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2A2A4F-633B-BE91-02FB-B8F8A110FE48}"/>
              </a:ext>
            </a:extLst>
          </p:cNvPr>
          <p:cNvCxnSpPr>
            <a:cxnSpLocks/>
          </p:cNvCxnSpPr>
          <p:nvPr/>
        </p:nvCxnSpPr>
        <p:spPr>
          <a:xfrm flipV="1">
            <a:off x="8358909" y="4337710"/>
            <a:ext cx="1616364" cy="96385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216D5B5-AF74-D4A2-03BA-EFB3660F833F}"/>
              </a:ext>
            </a:extLst>
          </p:cNvPr>
          <p:cNvSpPr txBox="1"/>
          <p:nvPr/>
        </p:nvSpPr>
        <p:spPr>
          <a:xfrm>
            <a:off x="7722254" y="1353381"/>
            <a:ext cx="3910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Do NOT take the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ith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 item, just solve the subproblem that does not include it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917FE4-EE55-9562-F419-1A2F7708B51E}"/>
              </a:ext>
            </a:extLst>
          </p:cNvPr>
          <p:cNvCxnSpPr>
            <a:cxnSpLocks/>
          </p:cNvCxnSpPr>
          <p:nvPr/>
        </p:nvCxnSpPr>
        <p:spPr>
          <a:xfrm flipV="1">
            <a:off x="7185891" y="1739977"/>
            <a:ext cx="836426" cy="4971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49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05620-6024-E6FF-FD2C-3BD3E138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8878ECF-B4C5-968D-9244-D293FA67A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D0FDF9-C705-74FB-349E-CC223CD7271F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564C6-599A-D7E4-8594-EAE4651CE929}"/>
              </a:ext>
            </a:extLst>
          </p:cNvPr>
          <p:cNvSpPr txBox="1"/>
          <p:nvPr/>
        </p:nvSpPr>
        <p:spPr>
          <a:xfrm>
            <a:off x="3158836" y="1246909"/>
            <a:ext cx="818341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Instead of solving the maximum profit that fits in an arbitrary capacity w, we are going to </a:t>
            </a:r>
            <a:r>
              <a:rPr lang="en-US" dirty="0">
                <a:solidFill>
                  <a:schemeClr val="accent2"/>
                </a:solidFill>
              </a:rPr>
              <a:t>solve for the least weight </a:t>
            </a:r>
            <a:r>
              <a:rPr lang="en-US" dirty="0">
                <a:solidFill>
                  <a:schemeClr val="bg1"/>
                </a:solidFill>
              </a:rPr>
              <a:t>that gets us some </a:t>
            </a:r>
            <a:r>
              <a:rPr lang="en-US" dirty="0">
                <a:solidFill>
                  <a:schemeClr val="accent1"/>
                </a:solidFill>
              </a:rPr>
              <a:t>exact profit target 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63FFCA-C720-573E-F704-C719D924F94A}"/>
              </a:ext>
            </a:extLst>
          </p:cNvPr>
          <p:cNvGrpSpPr/>
          <p:nvPr/>
        </p:nvGrpSpPr>
        <p:grpSpPr>
          <a:xfrm>
            <a:off x="3241641" y="2256336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B1C9C84F-9497-69EE-51DC-D7C424599647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/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Note you can still only take bottom option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blipFill>
                <a:blip r:embed="rId5"/>
                <a:stretch>
                  <a:fillRect l="-535" t="-2128" r="-267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6FB474-5E79-D140-E131-AE1B88D09030}"/>
              </a:ext>
            </a:extLst>
          </p:cNvPr>
          <p:cNvCxnSpPr/>
          <p:nvPr/>
        </p:nvCxnSpPr>
        <p:spPr>
          <a:xfrm>
            <a:off x="9393382" y="3805382"/>
            <a:ext cx="489527" cy="812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/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Solution to knapsack problem overall then is given by:</a:t>
                </a:r>
              </a:p>
              <a:p>
                <a:pPr algn="ctr"/>
                <a:endParaRPr lang="en-US" sz="240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⁡_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{ 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𝑘𝑛𝑎𝑝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blipFill>
                <a:blip r:embed="rId6"/>
                <a:stretch>
                  <a:fillRect l="-270" t="-3175" r="-2162" b="-396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225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67E8C-7DA6-E29D-A500-0D39DE51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18697B2-8F77-85D3-0388-55E237DB3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041A41-9683-D865-4760-6BDD61F22F8D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ECD268F-FC1E-0DCD-EF74-5861B98EDA01}"/>
              </a:ext>
            </a:extLst>
          </p:cNvPr>
          <p:cNvGrpSpPr/>
          <p:nvPr/>
        </p:nvGrpSpPr>
        <p:grpSpPr>
          <a:xfrm>
            <a:off x="3241641" y="1147973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09C647C1-432C-2962-4A2D-1941C0F51616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B5AA548A-8176-3864-DA0B-A3469879F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3388" y="3026772"/>
            <a:ext cx="4572000" cy="3632200"/>
          </a:xfrm>
          <a:prstGeom prst="rect">
            <a:avLst/>
          </a:prstGeom>
          <a:ln>
            <a:solidFill>
              <a:schemeClr val="bg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/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Notice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term on line 3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Essentially, P is the maximum profit over all items that fit in the knapsack.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an upper bound on our solution, so we don’t need to solve beyond this.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blipFill>
                <a:blip r:embed="rId6"/>
                <a:stretch>
                  <a:fillRect l="-1068" t="-543" b="-32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/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blipFill>
                <a:blip r:embed="rId7"/>
                <a:stretch>
                  <a:fillRect l="-1068" t="-3226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2972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did we learn in this deck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953570" y="2598821"/>
            <a:ext cx="6284859" cy="1379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More Approximations:</a:t>
            </a:r>
          </a:p>
          <a:p>
            <a:pPr lvl="1"/>
            <a:r>
              <a:rPr lang="en-US" sz="1600" dirty="0"/>
              <a:t>Some were more advanced or required more advanced analysis</a:t>
            </a:r>
          </a:p>
          <a:p>
            <a:pPr lvl="1"/>
            <a:r>
              <a:rPr lang="en-US" sz="1600" dirty="0"/>
              <a:t>FPTAS approximations are possible, analysis is quite difficult!</a:t>
            </a:r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0D8-F167-E66A-55FE-4C8C6CA10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AB9B1C-70FC-17E5-15B3-EEF304CFB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3F544-2546-68BB-86A6-74E71F287632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DC9AB7-CD5C-B7FC-ECDA-AFACBEEE239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CBB816AF-B9C7-BAA6-0DD1-C5D16E038910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5229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DCD-472C-8774-5E00-28CAD9CC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61881F6-4721-AD02-75AD-EC2DE108D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/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8788399F-BCC9-202B-8A02-3138626149AC}"/>
              </a:ext>
            </a:extLst>
          </p:cNvPr>
          <p:cNvSpPr/>
          <p:nvPr/>
        </p:nvSpPr>
        <p:spPr>
          <a:xfrm>
            <a:off x="790807" y="2525843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/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 term </a:t>
                </a:r>
                <a:r>
                  <a:rPr lang="en-US" dirty="0"/>
                  <a:t>makes the algorithm exponential time because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takes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bits to represent.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can be very large and the size of the DP table grows with it. </a:t>
                </a:r>
              </a:p>
              <a:p>
                <a:endParaRPr lang="en-US" dirty="0"/>
              </a:p>
              <a:p>
                <a:r>
                  <a:rPr lang="en-US" b="1" i="1" u="sng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IDEA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: Approximate knapsack by reducing the value of P manually. We will lose precision on our profits and get incorrect answer but will speed up runtime.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blipFill>
                <a:blip r:embed="rId3"/>
                <a:stretch>
                  <a:fillRect l="-664" t="-1709" r="-664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B58EDFD-04BA-77B5-5483-D4FFE13451B9}"/>
              </a:ext>
            </a:extLst>
          </p:cNvPr>
          <p:cNvCxnSpPr>
            <a:cxnSpLocks/>
          </p:cNvCxnSpPr>
          <p:nvPr/>
        </p:nvCxnSpPr>
        <p:spPr>
          <a:xfrm flipH="1">
            <a:off x="4608945" y="1947071"/>
            <a:ext cx="1967346" cy="57877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E3EA721D-4CB8-14AD-C365-EB4ADC0E50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859" y="4497505"/>
            <a:ext cx="6057900" cy="173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555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B711-3938-E8DE-83D6-816D038BE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33E3470-1415-BF7D-A386-4917A5A77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D043B6-7A07-FA87-1526-EF0D216A0958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CD784-BD12-9485-BE20-69698721F7A5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C7894C-C69D-4898-5D3D-0D91A0C8AD4E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C1D903C-564C-E9E4-C347-FD9B7A5B8ED3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75DF6EC-F7E8-5533-4963-D8919148358E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7836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F2B24-EDD8-5296-9384-1289B9E5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F9C7549-DFB4-D528-324C-44A3E93F5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/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Goal - show that</a:t>
                </a:r>
                <a:r>
                  <a:rPr lang="en-US" sz="2400" dirty="0"/>
                  <a:t>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blipFill>
                <a:blip r:embed="rId2"/>
                <a:stretch>
                  <a:fillRect t="-5970" b="-74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7353E1A8-2BD8-7EEF-F121-10BDFEC4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902" y="1141745"/>
            <a:ext cx="6057900" cy="17399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F64F81E-D044-3ACF-664A-32E3FBC7BE90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/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profit returned by our approximation algorithm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blipFill>
                <a:blip r:embed="rId4"/>
                <a:stretch>
                  <a:fillRect l="-2186" t="-1351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/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Optimal profit achievable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blipFill>
                <a:blip r:embed="rId5"/>
                <a:stretch>
                  <a:fillRect l="-2732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/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: Approximation should be within this percent of optimal solution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blipFill>
                <a:blip r:embed="rId6"/>
                <a:stretch>
                  <a:fillRect l="-2010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DEE2E1-39F6-B6FC-B7ED-E3063FF7A5D1}"/>
              </a:ext>
            </a:extLst>
          </p:cNvPr>
          <p:cNvCxnSpPr/>
          <p:nvPr/>
        </p:nvCxnSpPr>
        <p:spPr>
          <a:xfrm flipV="1">
            <a:off x="5131293" y="4083728"/>
            <a:ext cx="1038688" cy="73684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F6D2E3-0A8D-16DD-099C-AEE0CA94CA64}"/>
              </a:ext>
            </a:extLst>
          </p:cNvPr>
          <p:cNvCxnSpPr>
            <a:cxnSpLocks/>
          </p:cNvCxnSpPr>
          <p:nvPr/>
        </p:nvCxnSpPr>
        <p:spPr>
          <a:xfrm flipV="1">
            <a:off x="7039992" y="4083728"/>
            <a:ext cx="292963" cy="12685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E63987-E15C-123B-7C28-2AD601D63D9B}"/>
              </a:ext>
            </a:extLst>
          </p:cNvPr>
          <p:cNvCxnSpPr>
            <a:cxnSpLocks/>
          </p:cNvCxnSpPr>
          <p:nvPr/>
        </p:nvCxnSpPr>
        <p:spPr>
          <a:xfrm flipH="1" flipV="1">
            <a:off x="8447418" y="4099291"/>
            <a:ext cx="729261" cy="6186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583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B0AB-5B1E-BBD7-7407-73D3441DE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C34EA88-AB79-7DAB-F6AA-DA25D1C46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/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2551ECC-BE6B-C265-596B-4A86F0617678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3C977F-4A04-8BD6-1C4E-FE25F5F6B041}"/>
              </a:ext>
            </a:extLst>
          </p:cNvPr>
          <p:cNvSpPr txBox="1"/>
          <p:nvPr/>
        </p:nvSpPr>
        <p:spPr>
          <a:xfrm>
            <a:off x="3331896" y="2132508"/>
            <a:ext cx="772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simply true due to rounding (we floor the division before multiplying back 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/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4691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7899A6-A5A5-468F-C7E2-E8D5BD3B728F}"/>
              </a:ext>
            </a:extLst>
          </p:cNvPr>
          <p:cNvSpPr txBox="1"/>
          <p:nvPr/>
        </p:nvSpPr>
        <p:spPr>
          <a:xfrm>
            <a:off x="3331895" y="4001415"/>
            <a:ext cx="7728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S is an optimal solution with respect to the new profits, it dominates the profits of the optimal solution to the original profits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/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/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Due to rounding again,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⌊"/>
                        <m:endChr m:val="⌋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chemeClr val="accent3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can never be smaller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by more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blipFill>
                <a:blip r:embed="rId5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04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43DDB-7EDA-0D13-C0EF-FCBC4689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846FF1D-480F-CEC9-92C9-4F582EBE5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/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3CF0F94-1858-16CE-22B7-0C5ACD50FC9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/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/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3457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F96BC3D-FB67-39D8-B21B-DD856C5D443C}"/>
              </a:ext>
            </a:extLst>
          </p:cNvPr>
          <p:cNvSpPr txBox="1"/>
          <p:nvPr/>
        </p:nvSpPr>
        <p:spPr>
          <a:xfrm>
            <a:off x="3331895" y="427039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Putting these together…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/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blipFill>
                <a:blip r:embed="rId5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40984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1A48-3955-9719-DBF6-ABC39205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8771448-D19F-C959-EE45-40B1F8F4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4D4508-2A46-9FD2-99B9-8F6504D3C0A4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91F858-D86D-2FAB-92FF-49FF9F9EBFEF}"/>
              </a:ext>
            </a:extLst>
          </p:cNvPr>
          <p:cNvSpPr txBox="1"/>
          <p:nvPr/>
        </p:nvSpPr>
        <p:spPr>
          <a:xfrm>
            <a:off x="3277318" y="305966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Almost done…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/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/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blipFill>
                <a:blip r:embed="rId3"/>
                <a:stretch>
                  <a:fillRect b="-412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/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Done! The approximation is within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of the optimal solution!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blipFill>
                <a:blip r:embed="rId4"/>
                <a:stretch>
                  <a:fillRect l="-1375" t="-5769" r="-309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9557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F9C2E-DFF9-AD53-9EB8-93496CB4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E5F0763-EF31-3989-3145-DDB677C17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Runtime!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79AC5-DD66-B00D-6C0C-17D908594DF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/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Runtime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blipFill>
                <a:blip r:embed="rId2"/>
                <a:stretch>
                  <a:fillRect l="-1613" t="-7895" b="-289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/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⋅(1−</m:t>
                    </m:r>
                    <m:r>
                      <a:rPr lang="en-US" sz="2400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blipFill>
                <a:blip r:embed="rId3"/>
                <a:stretch>
                  <a:fillRect b="-387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D8FCEDA-7DDC-EE5C-D9A1-A6698B6DB358}"/>
              </a:ext>
            </a:extLst>
          </p:cNvPr>
          <p:cNvSpPr txBox="1"/>
          <p:nvPr/>
        </p:nvSpPr>
        <p:spPr>
          <a:xfrm>
            <a:off x="9322884" y="1457442"/>
            <a:ext cx="1724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Known from earlier analysis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9D6043-2FE4-D666-BEA2-86CFE240831B}"/>
              </a:ext>
            </a:extLst>
          </p:cNvPr>
          <p:cNvCxnSpPr/>
          <p:nvPr/>
        </p:nvCxnSpPr>
        <p:spPr>
          <a:xfrm>
            <a:off x="2975811" y="2927684"/>
            <a:ext cx="9007642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/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To easily show runtime is FPTAS, we will run our algorithm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blipFill>
                <a:blip r:embed="rId4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/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31748E-A799-C934-21F9-99EC2DAD12BC}"/>
              </a:ext>
            </a:extLst>
          </p:cNvPr>
          <p:cNvSpPr txBox="1"/>
          <p:nvPr/>
        </p:nvSpPr>
        <p:spPr>
          <a:xfrm>
            <a:off x="3123954" y="4939258"/>
            <a:ext cx="792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…so final runtime 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/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blipFill>
                <a:blip r:embed="rId6"/>
                <a:stretch>
                  <a:fillRect b="-461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5828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50405</TotalTime>
  <Words>2435</Words>
  <Application>Microsoft Macintosh PowerPoint</Application>
  <PresentationFormat>Widescreen</PresentationFormat>
  <Paragraphs>368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ＭＳ Ｐゴシック</vt:lpstr>
      <vt:lpstr>Arial</vt:lpstr>
      <vt:lpstr>Calibri</vt:lpstr>
      <vt:lpstr>Cambria Math</vt:lpstr>
      <vt:lpstr>Tw Cen MT</vt:lpstr>
      <vt:lpstr>Wingdings</vt:lpstr>
      <vt:lpstr>Circuit</vt:lpstr>
      <vt:lpstr>Approximation Algorithms (Part 2)</vt:lpstr>
      <vt:lpstr>Advanced Tree Structures</vt:lpstr>
      <vt:lpstr>Randomization Methods 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Weighted Vertex-Cover and LP-Rounding</vt:lpstr>
      <vt:lpstr>Min-Weight Vertex-Cover</vt:lpstr>
      <vt:lpstr>Min-Weight Vertex-Cover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FPTAS for Knapsack Problem</vt:lpstr>
      <vt:lpstr>Some Definitions</vt:lpstr>
      <vt:lpstr>Recall: Knapsack Problems</vt:lpstr>
      <vt:lpstr>Approximation Process</vt:lpstr>
      <vt:lpstr>Typical Knapsack DP Recurrence</vt:lpstr>
      <vt:lpstr>Changing DP Around…</vt:lpstr>
      <vt:lpstr>Changing DP Around…</vt:lpstr>
      <vt:lpstr>What did we learn in this deck</vt:lpstr>
      <vt:lpstr>Approximation Process</vt:lpstr>
      <vt:lpstr>Approximating Knapsack</vt:lpstr>
      <vt:lpstr>Approximation Process</vt:lpstr>
      <vt:lpstr>Approximating Knapsack</vt:lpstr>
      <vt:lpstr>Three Inequalities</vt:lpstr>
      <vt:lpstr>Three Inequalities</vt:lpstr>
      <vt:lpstr>Three Inequalities</vt:lpstr>
      <vt:lpstr>Runtime!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302</cp:revision>
  <dcterms:created xsi:type="dcterms:W3CDTF">2023-02-24T14:15:53Z</dcterms:created>
  <dcterms:modified xsi:type="dcterms:W3CDTF">2026-03-30T21:41:47Z</dcterms:modified>
</cp:coreProperties>
</file>