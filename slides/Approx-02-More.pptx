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notesSlides/notesSlide2.xml" ContentType="application/vnd.openxmlformats-officedocument.presentationml.notesSlide+xml"/>
  <Override PartName="/ppt/tags/tag7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006" r:id="rId1"/>
  </p:sldMasterIdLst>
  <p:notesMasterIdLst>
    <p:notesMasterId r:id="rId38"/>
  </p:notesMasterIdLst>
  <p:sldIdLst>
    <p:sldId id="256" r:id="rId2"/>
    <p:sldId id="286" r:id="rId3"/>
    <p:sldId id="292" r:id="rId4"/>
    <p:sldId id="367" r:id="rId5"/>
    <p:sldId id="370" r:id="rId6"/>
    <p:sldId id="371" r:id="rId7"/>
    <p:sldId id="372" r:id="rId8"/>
    <p:sldId id="373" r:id="rId9"/>
    <p:sldId id="374" r:id="rId10"/>
    <p:sldId id="375" r:id="rId11"/>
    <p:sldId id="376" r:id="rId12"/>
    <p:sldId id="377" r:id="rId13"/>
    <p:sldId id="366" r:id="rId14"/>
    <p:sldId id="364" r:id="rId15"/>
    <p:sldId id="378" r:id="rId16"/>
    <p:sldId id="379" r:id="rId17"/>
    <p:sldId id="380" r:id="rId18"/>
    <p:sldId id="381" r:id="rId19"/>
    <p:sldId id="382" r:id="rId20"/>
    <p:sldId id="383" r:id="rId21"/>
    <p:sldId id="384" r:id="rId22"/>
    <p:sldId id="362" r:id="rId23"/>
    <p:sldId id="686" r:id="rId24"/>
    <p:sldId id="361" r:id="rId25"/>
    <p:sldId id="716" r:id="rId26"/>
    <p:sldId id="717" r:id="rId27"/>
    <p:sldId id="718" r:id="rId28"/>
    <p:sldId id="333" r:id="rId29"/>
    <p:sldId id="720" r:id="rId30"/>
    <p:sldId id="719" r:id="rId31"/>
    <p:sldId id="721" r:id="rId32"/>
    <p:sldId id="722" r:id="rId33"/>
    <p:sldId id="723" r:id="rId34"/>
    <p:sldId id="724" r:id="rId35"/>
    <p:sldId id="725" r:id="rId36"/>
    <p:sldId id="726" r:id="rId3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5317"/>
    <p:restoredTop sz="94692"/>
  </p:normalViewPr>
  <p:slideViewPr>
    <p:cSldViewPr snapToGrid="0" snapToObjects="1">
      <p:cViewPr varScale="1">
        <p:scale>
          <a:sx n="159" d="100"/>
          <a:sy n="159" d="100"/>
        </p:scale>
        <p:origin x="192" y="5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B45307-6ED4-B142-BD64-10F739779302}" type="datetimeFigureOut">
              <a:rPr lang="en-US" smtClean="0"/>
              <a:t>3/11/26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BDE956-AECE-4A49-8BC2-51A8C013B7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39781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BDE956-AECE-4A49-8BC2-51A8C013B72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945770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1ADCBB9-4DAA-DC4B-80A5-C231400C2D6E}" type="slidenum">
              <a:rPr lang="en-US" smtClean="0"/>
              <a:pPr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836292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EC4347D3-4C9A-C240-8F14-750059DFEEB0}" type="datetimeFigureOut">
              <a:rPr lang="en-US" smtClean="0"/>
              <a:t>3/11/26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3446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5400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2796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3/11/26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3075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3/11/26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57207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3/11/26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1163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3/11/26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4301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3/11/26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50312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3/11/26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7550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3/11/26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3797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3/11/26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11801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3/11/26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51338760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3/11/26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69598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3/11/26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096692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3/11/26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07445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7678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0532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C4347D3-4C9A-C240-8F14-750059DFEEB0}" type="datetimeFigureOut">
              <a:rPr lang="en-US" smtClean="0"/>
              <a:t>3/11/26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26018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007" r:id="rId1"/>
    <p:sldLayoutId id="2147484008" r:id="rId2"/>
    <p:sldLayoutId id="2147484009" r:id="rId3"/>
    <p:sldLayoutId id="2147484010" r:id="rId4"/>
    <p:sldLayoutId id="2147484011" r:id="rId5"/>
    <p:sldLayoutId id="2147484012" r:id="rId6"/>
    <p:sldLayoutId id="2147484013" r:id="rId7"/>
    <p:sldLayoutId id="2147484014" r:id="rId8"/>
    <p:sldLayoutId id="2147484015" r:id="rId9"/>
    <p:sldLayoutId id="2147484016" r:id="rId10"/>
    <p:sldLayoutId id="2147484017" r:id="rId11"/>
    <p:sldLayoutId id="2147484018" r:id="rId12"/>
    <p:sldLayoutId id="2147484019" r:id="rId13"/>
    <p:sldLayoutId id="2147484020" r:id="rId14"/>
    <p:sldLayoutId id="2147484021" r:id="rId15"/>
    <p:sldLayoutId id="2147484022" r:id="rId16"/>
    <p:sldLayoutId id="2147484023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7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7" Type="http://schemas.openxmlformats.org/officeDocument/2006/relationships/image" Target="../media/image120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10.png"/><Relationship Id="rId5" Type="http://schemas.openxmlformats.org/officeDocument/2006/relationships/image" Target="../media/image100.png"/><Relationship Id="rId4" Type="http://schemas.openxmlformats.org/officeDocument/2006/relationships/image" Target="../media/image90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2.xml"/><Relationship Id="rId13" Type="http://schemas.openxmlformats.org/officeDocument/2006/relationships/image" Target="NULL"/><Relationship Id="rId3" Type="http://schemas.openxmlformats.org/officeDocument/2006/relationships/tags" Target="../tags/tag3.xml"/><Relationship Id="rId7" Type="http://schemas.openxmlformats.org/officeDocument/2006/relationships/slideLayout" Target="../slideLayouts/slideLayout2.xml"/><Relationship Id="rId12" Type="http://schemas.openxmlformats.org/officeDocument/2006/relationships/image" Target="NULL"/><Relationship Id="rId2" Type="http://schemas.openxmlformats.org/officeDocument/2006/relationships/tags" Target="../tags/tag2.xml"/><Relationship Id="rId1" Type="http://schemas.openxmlformats.org/officeDocument/2006/relationships/tags" Target="../tags/tag1.xml"/><Relationship Id="rId6" Type="http://schemas.openxmlformats.org/officeDocument/2006/relationships/tags" Target="../tags/tag6.xml"/><Relationship Id="rId11" Type="http://schemas.openxmlformats.org/officeDocument/2006/relationships/image" Target="NULL"/><Relationship Id="rId5" Type="http://schemas.openxmlformats.org/officeDocument/2006/relationships/tags" Target="../tags/tag5.xml"/><Relationship Id="rId10" Type="http://schemas.openxmlformats.org/officeDocument/2006/relationships/image" Target="NULL"/><Relationship Id="rId4" Type="http://schemas.openxmlformats.org/officeDocument/2006/relationships/tags" Target="../tags/tag4.xml"/><Relationship Id="rId9" Type="http://schemas.openxmlformats.org/officeDocument/2006/relationships/tags" Target="NUL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7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7" Type="http://schemas.openxmlformats.org/officeDocument/2006/relationships/image" Target="../media/image41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4.png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8.png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56.png"/><Relationship Id="rId4" Type="http://schemas.openxmlformats.org/officeDocument/2006/relationships/image" Target="../media/image55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9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4.png"/><Relationship Id="rId5" Type="http://schemas.openxmlformats.org/officeDocument/2006/relationships/image" Target="../media/image63.png"/><Relationship Id="rId4" Type="http://schemas.openxmlformats.org/officeDocument/2006/relationships/image" Target="../media/image6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F7A2C-CECB-EA45-9A8F-28914F6ACB9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US" dirty="0"/>
              <a:t>Approximation Algorithms (Part 2)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CC3BA16-EE93-B74E-A27C-2B68B596BB5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pPr algn="ctr"/>
            <a:r>
              <a:rPr lang="en-US" dirty="0"/>
              <a:t>Advanced Algorithms</a:t>
            </a:r>
            <a:br>
              <a:rPr lang="en-US" dirty="0"/>
            </a:br>
            <a:r>
              <a:rPr lang="en-US" dirty="0"/>
              <a:t>Mark Floryan</a:t>
            </a:r>
            <a:br>
              <a:rPr lang="en-US" dirty="0"/>
            </a:br>
            <a:br>
              <a:rPr lang="en-US" dirty="0"/>
            </a:br>
            <a:r>
              <a:rPr lang="en-US" dirty="0"/>
              <a:t>CLRS Ch. 35</a:t>
            </a:r>
          </a:p>
        </p:txBody>
      </p:sp>
    </p:spTree>
    <p:extLst>
      <p:ext uri="{BB962C8B-B14F-4D97-AF65-F5344CB8AC3E}">
        <p14:creationId xmlns:p14="http://schemas.microsoft.com/office/powerpoint/2010/main" val="4437305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Advanced Tree Structures</a:t>
            </a:r>
          </a:p>
        </p:txBody>
      </p:sp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767E0EDE-F53A-8341-AC3F-C90A9D29D276}"/>
              </a:ext>
            </a:extLst>
          </p:cNvPr>
          <p:cNvSpPr txBox="1">
            <a:spLocks/>
          </p:cNvSpPr>
          <p:nvPr/>
        </p:nvSpPr>
        <p:spPr>
          <a:xfrm>
            <a:off x="3140886" y="1813393"/>
            <a:ext cx="6156434" cy="423023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US" sz="2000" i="1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2000" i="1" u="sng" dirty="0"/>
              <a:t>In this deck we will look at</a:t>
            </a:r>
            <a:r>
              <a:rPr lang="en-US" sz="2000" i="1" dirty="0"/>
              <a:t>: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2000" i="1" dirty="0"/>
              <a:t>	- </a:t>
            </a:r>
            <a:r>
              <a:rPr lang="en-US" sz="2000" b="1" i="1" dirty="0"/>
              <a:t>More Approximation Algorithms!</a:t>
            </a:r>
          </a:p>
        </p:txBody>
      </p:sp>
    </p:spTree>
    <p:extLst>
      <p:ext uri="{BB962C8B-B14F-4D97-AF65-F5344CB8AC3E}">
        <p14:creationId xmlns:p14="http://schemas.microsoft.com/office/powerpoint/2010/main" val="19226744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19C56-21DC-0A40-AA49-9AF4AF4C92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1" y="1860330"/>
            <a:ext cx="9906000" cy="2175149"/>
          </a:xfrm>
        </p:spPr>
        <p:txBody>
          <a:bodyPr/>
          <a:lstStyle/>
          <a:p>
            <a:pPr algn="ctr"/>
            <a:r>
              <a:rPr lang="en-US" dirty="0"/>
              <a:t>Randomization Methods</a:t>
            </a:r>
            <a:br>
              <a:rPr lang="en-US" dirty="0"/>
            </a:br>
            <a:r>
              <a:rPr lang="en-US" dirty="0"/>
              <a:t>Max 3-SAT</a:t>
            </a:r>
          </a:p>
        </p:txBody>
      </p:sp>
    </p:spTree>
    <p:extLst>
      <p:ext uri="{BB962C8B-B14F-4D97-AF65-F5344CB8AC3E}">
        <p14:creationId xmlns:p14="http://schemas.microsoft.com/office/powerpoint/2010/main" val="35583870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81E8E1-118E-6CAB-40CD-F77E0BDA60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542D00E3-215B-AD81-F908-4E101EA53A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185572"/>
            <a:ext cx="9905998" cy="652710"/>
          </a:xfrm>
        </p:spPr>
        <p:txBody>
          <a:bodyPr/>
          <a:lstStyle/>
          <a:p>
            <a:pPr algn="ctr"/>
            <a:r>
              <a:rPr lang="en-US" dirty="0"/>
              <a:t>Max 3-SAT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2646611-A7A4-AFB5-120E-581048405CE3}"/>
              </a:ext>
            </a:extLst>
          </p:cNvPr>
          <p:cNvSpPr txBox="1"/>
          <p:nvPr/>
        </p:nvSpPr>
        <p:spPr>
          <a:xfrm>
            <a:off x="3808411" y="3515566"/>
            <a:ext cx="42200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Algorithm Idea: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7401F6D-1286-D039-A015-4096A95E9216}"/>
                  </a:ext>
                </a:extLst>
              </p:cNvPr>
              <p:cNvSpPr txBox="1"/>
              <p:nvPr/>
            </p:nvSpPr>
            <p:spPr>
              <a:xfrm>
                <a:off x="1141412" y="1205910"/>
                <a:ext cx="2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Given a Boolean formula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dirty="0"/>
                  <a:t>: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7401F6D-1286-D039-A015-4096A95E92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1412" y="1205910"/>
                <a:ext cx="2765110" cy="369332"/>
              </a:xfrm>
              <a:prstGeom prst="rect">
                <a:avLst/>
              </a:prstGeom>
              <a:blipFill>
                <a:blip r:embed="rId2"/>
                <a:stretch>
                  <a:fillRect l="-1826" t="-10345" r="-457" b="-275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3DEF67F-9B8B-E14F-393A-B06DA6A76306}"/>
                  </a:ext>
                </a:extLst>
              </p:cNvPr>
              <p:cNvSpPr txBox="1"/>
              <p:nvPr/>
            </p:nvSpPr>
            <p:spPr>
              <a:xfrm>
                <a:off x="1141412" y="1602674"/>
                <a:ext cx="9954038" cy="46166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∨¬</m:t>
                          </m:r>
                          <m:sSub>
                            <m:sSubPr>
                              <m:ctrlPr>
                                <a:rPr lang="en-US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∨¬</m:t>
                          </m:r>
                          <m:sSub>
                            <m:sSubPr>
                              <m:ctrlPr>
                                <a:rPr lang="en-US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  <m:r>
                        <a:rPr lang="en-US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∨¬</m:t>
                          </m:r>
                          <m:sSub>
                            <m:sSubPr>
                              <m:ctrlPr>
                                <a:rPr lang="en-US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  <m:r>
                            <a:rPr lang="en-US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∨</m:t>
                          </m:r>
                          <m:sSub>
                            <m:sSubPr>
                              <m:ctrlPr>
                                <a:rPr lang="en-US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sub>
                          </m:sSub>
                        </m:e>
                      </m:d>
                      <m:r>
                        <a:rPr lang="en-US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¬</m:t>
                              </m:r>
                              <m:r>
                                <a:rPr lang="en-US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∨</m:t>
                          </m:r>
                          <m:sSub>
                            <m:sSubPr>
                              <m:ctrlPr>
                                <a:rPr lang="en-US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  <m:r>
                            <a:rPr lang="en-US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∨</m:t>
                          </m:r>
                          <m:sSub>
                            <m:sSubPr>
                              <m:ctrlPr>
                                <a:rPr lang="en-US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</m:sub>
                          </m:sSub>
                        </m:e>
                      </m:d>
                      <m:r>
                        <a:rPr lang="en-US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∧(</m:t>
                      </m:r>
                      <m:sSub>
                        <m:sSubPr>
                          <m:ctrlPr>
                            <a:rPr lang="en-US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∨</m:t>
                      </m:r>
                      <m:sSub>
                        <m:sSubPr>
                          <m:ctrlPr>
                            <a:rPr lang="en-US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sz="24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∨</m:t>
                      </m:r>
                      <m:sSub>
                        <m:sSubPr>
                          <m:ctrlPr>
                            <a:rPr lang="en-US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3DEF67F-9B8B-E14F-393A-B06DA6A763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1412" y="1602674"/>
                <a:ext cx="9954038" cy="461665"/>
              </a:xfrm>
              <a:prstGeom prst="rect">
                <a:avLst/>
              </a:prstGeom>
              <a:blipFill>
                <a:blip r:embed="rId3"/>
                <a:stretch>
                  <a:fillRect b="-12821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54CB6EC-2340-69F3-D5C3-871B5FEDFD8D}"/>
                  </a:ext>
                </a:extLst>
              </p:cNvPr>
              <p:cNvSpPr txBox="1"/>
              <p:nvPr/>
            </p:nvSpPr>
            <p:spPr>
              <a:xfrm>
                <a:off x="1141412" y="2150357"/>
                <a:ext cx="873410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Set the variables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dirty="0"/>
                  <a:t> to {</a:t>
                </a:r>
                <a:r>
                  <a:rPr lang="en-US" dirty="0" err="1"/>
                  <a:t>true,false</a:t>
                </a:r>
                <a:r>
                  <a:rPr lang="en-US" dirty="0"/>
                  <a:t>} and 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satisfy as many clauses as possible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54CB6EC-2340-69F3-D5C3-871B5FEDFD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1412" y="2150357"/>
                <a:ext cx="8734108" cy="369332"/>
              </a:xfrm>
              <a:prstGeom prst="rect">
                <a:avLst/>
              </a:prstGeom>
              <a:blipFill>
                <a:blip r:embed="rId4"/>
                <a:stretch>
                  <a:fillRect l="-581" t="-6667" b="-2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4DEBA66-DB46-1538-D699-159A412E4153}"/>
                  </a:ext>
                </a:extLst>
              </p:cNvPr>
              <p:cNvSpPr txBox="1"/>
              <p:nvPr/>
            </p:nvSpPr>
            <p:spPr>
              <a:xfrm>
                <a:off x="3808410" y="3970916"/>
                <a:ext cx="4220022" cy="2308324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b="1" i="1" dirty="0">
                    <a:solidFill>
                      <a:schemeClr val="bg1"/>
                    </a:solidFill>
                  </a:rPr>
                  <a:t>RandMax3Sat</a:t>
                </a:r>
                <a:r>
                  <a:rPr lang="en-US" b="1" i="1" dirty="0">
                    <a:solidFill>
                      <a:schemeClr val="bg1"/>
                    </a:solidFill>
                    <a:sym typeface="Wingdings" pitchFamily="2" charset="2"/>
                  </a:rPr>
                  <a:t>()</a:t>
                </a:r>
                <a:r>
                  <a:rPr lang="en-US" dirty="0">
                    <a:solidFill>
                      <a:schemeClr val="bg1"/>
                    </a:solidFill>
                    <a:sym typeface="Wingdings" pitchFamily="2" charset="2"/>
                  </a:rPr>
                  <a:t>:</a:t>
                </a:r>
              </a:p>
              <a:p>
                <a:r>
                  <a:rPr lang="en-US" dirty="0">
                    <a:solidFill>
                      <a:schemeClr val="bg1"/>
                    </a:solidFill>
                    <a:sym typeface="Wingdings" pitchFamily="2" charset="2"/>
                  </a:rPr>
                  <a:t>     for each </a:t>
                </a:r>
                <a:r>
                  <a:rPr lang="en-US" dirty="0">
                    <a:solidFill>
                      <a:schemeClr val="accent1"/>
                    </a:solidFill>
                    <a:sym typeface="Wingdings" pitchFamily="2" charset="2"/>
                  </a:rPr>
                  <a:t>var</a:t>
                </a:r>
                <a:r>
                  <a:rPr lang="en-US" dirty="0">
                    <a:solidFill>
                      <a:schemeClr val="bg1"/>
                    </a:solidFill>
                    <a:sym typeface="Wingdings" pitchFamily="2" charset="2"/>
                  </a:rPr>
                  <a:t> in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{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,…,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𝑛</m:t>
                        </m:r>
                      </m:sub>
                    </m:sSub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}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          set </a:t>
                </a:r>
                <a:r>
                  <a:rPr lang="en-US" dirty="0">
                    <a:solidFill>
                      <a:schemeClr val="accent1"/>
                    </a:solidFill>
                  </a:rPr>
                  <a:t>var</a:t>
                </a:r>
                <a:r>
                  <a:rPr lang="en-US" dirty="0">
                    <a:solidFill>
                      <a:schemeClr val="bg1"/>
                    </a:solidFill>
                  </a:rPr>
                  <a:t> = </a:t>
                </a:r>
                <a:r>
                  <a:rPr lang="en-US" dirty="0">
                    <a:solidFill>
                      <a:schemeClr val="accent1"/>
                    </a:solidFill>
                  </a:rPr>
                  <a:t>true</a:t>
                </a:r>
                <a:r>
                  <a:rPr lang="en-US" dirty="0">
                    <a:solidFill>
                      <a:schemeClr val="bg1"/>
                    </a:solidFill>
                  </a:rPr>
                  <a:t> with 50% probability</a:t>
                </a: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     for each </a:t>
                </a:r>
                <a:r>
                  <a:rPr lang="en-US" dirty="0">
                    <a:solidFill>
                      <a:schemeClr val="accent2"/>
                    </a:solidFill>
                  </a:rPr>
                  <a:t>clause</a:t>
                </a:r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          If </a:t>
                </a:r>
                <a:r>
                  <a:rPr lang="en-US" dirty="0">
                    <a:solidFill>
                      <a:schemeClr val="accent2"/>
                    </a:solidFill>
                  </a:rPr>
                  <a:t>clause</a:t>
                </a:r>
                <a:r>
                  <a:rPr lang="en-US" dirty="0">
                    <a:solidFill>
                      <a:schemeClr val="bg1"/>
                    </a:solidFill>
                  </a:rPr>
                  <a:t> satisfied, </a:t>
                </a:r>
                <a:r>
                  <a:rPr lang="en-US" dirty="0">
                    <a:solidFill>
                      <a:schemeClr val="accent5"/>
                    </a:solidFill>
                  </a:rPr>
                  <a:t>count++</a:t>
                </a: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     return </a:t>
                </a:r>
                <a:r>
                  <a:rPr lang="en-US" dirty="0">
                    <a:solidFill>
                      <a:schemeClr val="accent5"/>
                    </a:solidFill>
                  </a:rPr>
                  <a:t>count</a:t>
                </a:r>
                <a:r>
                  <a:rPr lang="en-US" dirty="0">
                    <a:solidFill>
                      <a:schemeClr val="bg1"/>
                    </a:solidFill>
                  </a:rPr>
                  <a:t>; //num clauses satisfied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4DEBA66-DB46-1538-D699-159A412E41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08410" y="3970916"/>
                <a:ext cx="4220022" cy="2308324"/>
              </a:xfrm>
              <a:prstGeom prst="rect">
                <a:avLst/>
              </a:prstGeom>
              <a:blipFill>
                <a:blip r:embed="rId5"/>
                <a:stretch>
                  <a:fillRect l="-1198" t="-1093" b="-3279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BB50B41-5AE9-0F3F-2A12-6CB63BC46558}"/>
              </a:ext>
            </a:extLst>
          </p:cNvPr>
          <p:cNvCxnSpPr/>
          <p:nvPr/>
        </p:nvCxnSpPr>
        <p:spPr>
          <a:xfrm>
            <a:off x="658368" y="3118104"/>
            <a:ext cx="10936224" cy="0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913299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5CBCA9-9851-C1E0-5E84-DE62213104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5EF89C0B-35C2-C718-9140-BFBA98278A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185572"/>
            <a:ext cx="9905998" cy="652710"/>
          </a:xfrm>
        </p:spPr>
        <p:txBody>
          <a:bodyPr/>
          <a:lstStyle/>
          <a:p>
            <a:pPr algn="ctr"/>
            <a:r>
              <a:rPr lang="en-US" dirty="0"/>
              <a:t>Max 3-SAT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94312F6-7E63-E134-DDC7-7F5DD07D25D0}"/>
              </a:ext>
            </a:extLst>
          </p:cNvPr>
          <p:cNvSpPr txBox="1"/>
          <p:nvPr/>
        </p:nvSpPr>
        <p:spPr>
          <a:xfrm>
            <a:off x="1541495" y="1249762"/>
            <a:ext cx="42200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Algorithm: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8D40005-E224-F8D6-ED9A-2416256815A4}"/>
                  </a:ext>
                </a:extLst>
              </p:cNvPr>
              <p:cNvSpPr txBox="1"/>
              <p:nvPr/>
            </p:nvSpPr>
            <p:spPr>
              <a:xfrm>
                <a:off x="1632934" y="5050220"/>
                <a:ext cx="9109012" cy="61523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400" b="1" i="1" u="sng" dirty="0">
                    <a:solidFill>
                      <a:schemeClr val="bg1"/>
                    </a:solidFill>
                  </a:rPr>
                  <a:t>Claim</a:t>
                </a:r>
                <a:r>
                  <a:rPr lang="en-US" sz="2400" dirty="0">
                    <a:solidFill>
                      <a:schemeClr val="bg1"/>
                    </a:solidFill>
                  </a:rPr>
                  <a:t>: RandMax3Sat(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2400" dirty="0">
                    <a:solidFill>
                      <a:schemeClr val="bg1"/>
                    </a:solidFill>
                  </a:rPr>
                  <a:t>) is an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7</m:t>
                        </m:r>
                      </m:den>
                    </m:f>
                  </m:oMath>
                </a14:m>
                <a:r>
                  <a:rPr lang="en-US" sz="2400" dirty="0">
                    <a:solidFill>
                      <a:schemeClr val="bg1"/>
                    </a:solidFill>
                  </a:rPr>
                  <a:t> approximation of the Max 3-Sat problem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8D40005-E224-F8D6-ED9A-2416256815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2934" y="5050220"/>
                <a:ext cx="9109012" cy="615233"/>
              </a:xfrm>
              <a:prstGeom prst="rect">
                <a:avLst/>
              </a:prstGeom>
              <a:blipFill>
                <a:blip r:embed="rId2"/>
                <a:stretch>
                  <a:fillRect l="-1113" r="-556" b="-9804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86F2490B-EA52-0382-8239-30DEC879DD64}"/>
                  </a:ext>
                </a:extLst>
              </p:cNvPr>
              <p:cNvSpPr txBox="1"/>
              <p:nvPr/>
            </p:nvSpPr>
            <p:spPr>
              <a:xfrm>
                <a:off x="1541494" y="1595384"/>
                <a:ext cx="4220022" cy="2308324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b="1" i="1" dirty="0">
                    <a:solidFill>
                      <a:schemeClr val="bg1"/>
                    </a:solidFill>
                  </a:rPr>
                  <a:t>RandMax3Sat</a:t>
                </a:r>
                <a:r>
                  <a:rPr lang="en-US" b="1" i="1" dirty="0">
                    <a:solidFill>
                      <a:schemeClr val="bg1"/>
                    </a:solidFill>
                    <a:sym typeface="Wingdings" pitchFamily="2" charset="2"/>
                  </a:rPr>
                  <a:t>(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𝜽</m:t>
                    </m:r>
                  </m:oMath>
                </a14:m>
                <a:r>
                  <a:rPr lang="en-US" b="1" i="1" dirty="0">
                    <a:solidFill>
                      <a:schemeClr val="bg1"/>
                    </a:solidFill>
                    <a:sym typeface="Wingdings" pitchFamily="2" charset="2"/>
                  </a:rPr>
                  <a:t>)</a:t>
                </a:r>
                <a:r>
                  <a:rPr lang="en-US" dirty="0">
                    <a:solidFill>
                      <a:schemeClr val="bg1"/>
                    </a:solidFill>
                    <a:sym typeface="Wingdings" pitchFamily="2" charset="2"/>
                  </a:rPr>
                  <a:t>:</a:t>
                </a:r>
              </a:p>
              <a:p>
                <a:r>
                  <a:rPr lang="en-US" dirty="0">
                    <a:solidFill>
                      <a:schemeClr val="bg1"/>
                    </a:solidFill>
                    <a:sym typeface="Wingdings" pitchFamily="2" charset="2"/>
                  </a:rPr>
                  <a:t>     for each </a:t>
                </a:r>
                <a:r>
                  <a:rPr lang="en-US" dirty="0">
                    <a:solidFill>
                      <a:schemeClr val="accent1"/>
                    </a:solidFill>
                    <a:sym typeface="Wingdings" pitchFamily="2" charset="2"/>
                  </a:rPr>
                  <a:t>var</a:t>
                </a:r>
                <a:r>
                  <a:rPr lang="en-US" dirty="0">
                    <a:solidFill>
                      <a:schemeClr val="bg1"/>
                    </a:solidFill>
                    <a:sym typeface="Wingdings" pitchFamily="2" charset="2"/>
                  </a:rPr>
                  <a:t> in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{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,…,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𝑛</m:t>
                        </m:r>
                      </m:sub>
                    </m:sSub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}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          set </a:t>
                </a:r>
                <a:r>
                  <a:rPr lang="en-US" dirty="0">
                    <a:solidFill>
                      <a:schemeClr val="accent1"/>
                    </a:solidFill>
                  </a:rPr>
                  <a:t>var</a:t>
                </a:r>
                <a:r>
                  <a:rPr lang="en-US" dirty="0">
                    <a:solidFill>
                      <a:schemeClr val="bg1"/>
                    </a:solidFill>
                  </a:rPr>
                  <a:t> = </a:t>
                </a:r>
                <a:r>
                  <a:rPr lang="en-US" dirty="0">
                    <a:solidFill>
                      <a:schemeClr val="accent1"/>
                    </a:solidFill>
                  </a:rPr>
                  <a:t>true</a:t>
                </a:r>
                <a:r>
                  <a:rPr lang="en-US" dirty="0">
                    <a:solidFill>
                      <a:schemeClr val="bg1"/>
                    </a:solidFill>
                  </a:rPr>
                  <a:t> with 50% probability</a:t>
                </a: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     for each </a:t>
                </a:r>
                <a:r>
                  <a:rPr lang="en-US" dirty="0">
                    <a:solidFill>
                      <a:schemeClr val="accent2"/>
                    </a:solidFill>
                  </a:rPr>
                  <a:t>clause</a:t>
                </a:r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          If </a:t>
                </a:r>
                <a:r>
                  <a:rPr lang="en-US" dirty="0">
                    <a:solidFill>
                      <a:schemeClr val="accent2"/>
                    </a:solidFill>
                  </a:rPr>
                  <a:t>clause</a:t>
                </a:r>
                <a:r>
                  <a:rPr lang="en-US" dirty="0">
                    <a:solidFill>
                      <a:schemeClr val="bg1"/>
                    </a:solidFill>
                  </a:rPr>
                  <a:t> satisfied, </a:t>
                </a:r>
                <a:r>
                  <a:rPr lang="en-US" dirty="0">
                    <a:solidFill>
                      <a:schemeClr val="accent5"/>
                    </a:solidFill>
                  </a:rPr>
                  <a:t>count++</a:t>
                </a: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     return </a:t>
                </a:r>
                <a:r>
                  <a:rPr lang="en-US" dirty="0">
                    <a:solidFill>
                      <a:schemeClr val="accent5"/>
                    </a:solidFill>
                  </a:rPr>
                  <a:t>count</a:t>
                </a:r>
                <a:r>
                  <a:rPr lang="en-US" dirty="0">
                    <a:solidFill>
                      <a:schemeClr val="bg1"/>
                    </a:solidFill>
                  </a:rPr>
                  <a:t>; //num clauses satisfied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86F2490B-EA52-0382-8239-30DEC879DD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1494" y="1595384"/>
                <a:ext cx="4220022" cy="2308324"/>
              </a:xfrm>
              <a:prstGeom prst="rect">
                <a:avLst/>
              </a:prstGeom>
              <a:blipFill>
                <a:blip r:embed="rId3"/>
                <a:stretch>
                  <a:fillRect l="-896" t="-1093" b="-3279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14DB9564-80BE-FAD6-C07C-8FA9EE2C3A20}"/>
                  </a:ext>
                </a:extLst>
              </p:cNvPr>
              <p:cNvSpPr txBox="1"/>
              <p:nvPr/>
            </p:nvSpPr>
            <p:spPr>
              <a:xfrm>
                <a:off x="6674327" y="1567952"/>
                <a:ext cx="4220021" cy="2376676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b="1" i="1" u="sng" dirty="0"/>
                  <a:t>Definition</a:t>
                </a:r>
                <a:r>
                  <a:rPr lang="en-US" dirty="0"/>
                  <a:t>: A randomized algorithm A is a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𝜌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en-US" dirty="0"/>
                  <a:t> approximation if:</a:t>
                </a:r>
              </a:p>
              <a:p>
                <a:endParaRPr lang="en-US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𝑀𝑎𝑥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𝔼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</m:d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𝑂𝑝𝑡</m:t>
                              </m:r>
                            </m:den>
                          </m:f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𝑂𝑝𝑡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𝔼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</m:d>
                            </m:den>
                          </m:f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𝜌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Where C is the cost of the solution returned by A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14DB9564-80BE-FAD6-C07C-8FA9EE2C3A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74327" y="1567952"/>
                <a:ext cx="4220021" cy="2376676"/>
              </a:xfrm>
              <a:prstGeom prst="rect">
                <a:avLst/>
              </a:prstGeom>
              <a:blipFill>
                <a:blip r:embed="rId4"/>
                <a:stretch>
                  <a:fillRect l="-1198" t="-526" r="-299" b="-3158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867164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4C9A0B-A9E4-A1D8-A350-0E3D2EE45A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DFFC241F-C909-241F-1309-ABAFCF1B54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185572"/>
            <a:ext cx="9905998" cy="652710"/>
          </a:xfrm>
        </p:spPr>
        <p:txBody>
          <a:bodyPr/>
          <a:lstStyle/>
          <a:p>
            <a:pPr algn="ctr"/>
            <a:r>
              <a:rPr lang="en-US" dirty="0"/>
              <a:t>Max 3-SAT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76C9FA8-9093-1B5F-DE2C-D2C5405D8B9D}"/>
              </a:ext>
            </a:extLst>
          </p:cNvPr>
          <p:cNvSpPr txBox="1"/>
          <p:nvPr/>
        </p:nvSpPr>
        <p:spPr>
          <a:xfrm>
            <a:off x="949389" y="2573792"/>
            <a:ext cx="42200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Algorithm: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772350D-0E27-C5EA-EE77-8037DC6CA332}"/>
                  </a:ext>
                </a:extLst>
              </p:cNvPr>
              <p:cNvSpPr txBox="1"/>
              <p:nvPr/>
            </p:nvSpPr>
            <p:spPr>
              <a:xfrm>
                <a:off x="1541494" y="1165793"/>
                <a:ext cx="9109012" cy="61523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400" b="1" i="1" u="sng" dirty="0">
                    <a:solidFill>
                      <a:schemeClr val="bg1"/>
                    </a:solidFill>
                  </a:rPr>
                  <a:t>Claim</a:t>
                </a:r>
                <a:r>
                  <a:rPr lang="en-US" sz="2400" dirty="0">
                    <a:solidFill>
                      <a:schemeClr val="bg1"/>
                    </a:solidFill>
                  </a:rPr>
                  <a:t>: RandMax3Sat(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2400" dirty="0">
                    <a:solidFill>
                      <a:schemeClr val="bg1"/>
                    </a:solidFill>
                  </a:rPr>
                  <a:t>) is an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7</m:t>
                        </m:r>
                      </m:den>
                    </m:f>
                  </m:oMath>
                </a14:m>
                <a:r>
                  <a:rPr lang="en-US" sz="2400" dirty="0">
                    <a:solidFill>
                      <a:schemeClr val="bg1"/>
                    </a:solidFill>
                  </a:rPr>
                  <a:t> approximation of the Max 3-Sat problem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772350D-0E27-C5EA-EE77-8037DC6CA3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1494" y="1165793"/>
                <a:ext cx="9109012" cy="615233"/>
              </a:xfrm>
              <a:prstGeom prst="rect">
                <a:avLst/>
              </a:prstGeom>
              <a:blipFill>
                <a:blip r:embed="rId2"/>
                <a:stretch>
                  <a:fillRect l="-972" r="-417" b="-8000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7057862-9A25-05B0-67A1-A8FEDA5F170E}"/>
                  </a:ext>
                </a:extLst>
              </p:cNvPr>
              <p:cNvSpPr txBox="1"/>
              <p:nvPr/>
            </p:nvSpPr>
            <p:spPr>
              <a:xfrm>
                <a:off x="949388" y="2919414"/>
                <a:ext cx="4220022" cy="2308324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b="1" i="1" dirty="0">
                    <a:solidFill>
                      <a:schemeClr val="bg1"/>
                    </a:solidFill>
                  </a:rPr>
                  <a:t>RandMax3Sat</a:t>
                </a:r>
                <a:r>
                  <a:rPr lang="en-US" b="1" i="1" dirty="0">
                    <a:solidFill>
                      <a:schemeClr val="bg1"/>
                    </a:solidFill>
                    <a:sym typeface="Wingdings" pitchFamily="2" charset="2"/>
                  </a:rPr>
                  <a:t>(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𝜽</m:t>
                    </m:r>
                  </m:oMath>
                </a14:m>
                <a:r>
                  <a:rPr lang="en-US" b="1" i="1" dirty="0">
                    <a:solidFill>
                      <a:schemeClr val="bg1"/>
                    </a:solidFill>
                    <a:sym typeface="Wingdings" pitchFamily="2" charset="2"/>
                  </a:rPr>
                  <a:t>)</a:t>
                </a:r>
                <a:r>
                  <a:rPr lang="en-US" dirty="0">
                    <a:solidFill>
                      <a:schemeClr val="bg1"/>
                    </a:solidFill>
                    <a:sym typeface="Wingdings" pitchFamily="2" charset="2"/>
                  </a:rPr>
                  <a:t>:</a:t>
                </a:r>
              </a:p>
              <a:p>
                <a:r>
                  <a:rPr lang="en-US" dirty="0">
                    <a:solidFill>
                      <a:schemeClr val="bg1"/>
                    </a:solidFill>
                    <a:sym typeface="Wingdings" pitchFamily="2" charset="2"/>
                  </a:rPr>
                  <a:t>     for each </a:t>
                </a:r>
                <a:r>
                  <a:rPr lang="en-US" dirty="0">
                    <a:solidFill>
                      <a:schemeClr val="accent1"/>
                    </a:solidFill>
                    <a:sym typeface="Wingdings" pitchFamily="2" charset="2"/>
                  </a:rPr>
                  <a:t>var</a:t>
                </a:r>
                <a:r>
                  <a:rPr lang="en-US" dirty="0">
                    <a:solidFill>
                      <a:schemeClr val="bg1"/>
                    </a:solidFill>
                    <a:sym typeface="Wingdings" pitchFamily="2" charset="2"/>
                  </a:rPr>
                  <a:t> in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{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,…,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𝑛</m:t>
                        </m:r>
                      </m:sub>
                    </m:sSub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}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          set </a:t>
                </a:r>
                <a:r>
                  <a:rPr lang="en-US" dirty="0">
                    <a:solidFill>
                      <a:schemeClr val="accent1"/>
                    </a:solidFill>
                  </a:rPr>
                  <a:t>var</a:t>
                </a:r>
                <a:r>
                  <a:rPr lang="en-US" dirty="0">
                    <a:solidFill>
                      <a:schemeClr val="bg1"/>
                    </a:solidFill>
                  </a:rPr>
                  <a:t> = </a:t>
                </a:r>
                <a:r>
                  <a:rPr lang="en-US" dirty="0">
                    <a:solidFill>
                      <a:schemeClr val="accent1"/>
                    </a:solidFill>
                  </a:rPr>
                  <a:t>true</a:t>
                </a:r>
                <a:r>
                  <a:rPr lang="en-US" dirty="0">
                    <a:solidFill>
                      <a:schemeClr val="bg1"/>
                    </a:solidFill>
                  </a:rPr>
                  <a:t> with 50% probability</a:t>
                </a: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     for each </a:t>
                </a:r>
                <a:r>
                  <a:rPr lang="en-US" dirty="0">
                    <a:solidFill>
                      <a:schemeClr val="accent2"/>
                    </a:solidFill>
                  </a:rPr>
                  <a:t>clause</a:t>
                </a:r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          If </a:t>
                </a:r>
                <a:r>
                  <a:rPr lang="en-US" dirty="0">
                    <a:solidFill>
                      <a:schemeClr val="accent2"/>
                    </a:solidFill>
                  </a:rPr>
                  <a:t>clause</a:t>
                </a:r>
                <a:r>
                  <a:rPr lang="en-US" dirty="0">
                    <a:solidFill>
                      <a:schemeClr val="bg1"/>
                    </a:solidFill>
                  </a:rPr>
                  <a:t> satisfied, </a:t>
                </a:r>
                <a:r>
                  <a:rPr lang="en-US" dirty="0">
                    <a:solidFill>
                      <a:schemeClr val="accent5"/>
                    </a:solidFill>
                  </a:rPr>
                  <a:t>count++</a:t>
                </a: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     return </a:t>
                </a:r>
                <a:r>
                  <a:rPr lang="en-US" dirty="0">
                    <a:solidFill>
                      <a:schemeClr val="accent5"/>
                    </a:solidFill>
                  </a:rPr>
                  <a:t>count</a:t>
                </a:r>
                <a:r>
                  <a:rPr lang="en-US" dirty="0">
                    <a:solidFill>
                      <a:schemeClr val="bg1"/>
                    </a:solidFill>
                  </a:rPr>
                  <a:t>; //num clauses satisfied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7057862-9A25-05B0-67A1-A8FEDA5F17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9388" y="2919414"/>
                <a:ext cx="4220022" cy="2308324"/>
              </a:xfrm>
              <a:prstGeom prst="rect">
                <a:avLst/>
              </a:prstGeom>
              <a:blipFill>
                <a:blip r:embed="rId3"/>
                <a:stretch>
                  <a:fillRect l="-1198" t="-1087" b="-2717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328E056-C507-1028-B32A-9ADFC1E08AD0}"/>
                  </a:ext>
                </a:extLst>
              </p:cNvPr>
              <p:cNvSpPr txBox="1"/>
              <p:nvPr/>
            </p:nvSpPr>
            <p:spPr>
              <a:xfrm>
                <a:off x="5689600" y="2619958"/>
                <a:ext cx="5553011" cy="3682418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Let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dirty="0"/>
                  <a:t> be a 3-CNF formula with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>
                    <a:solidFill>
                      <a:schemeClr val="accent3">
                        <a:lumMod val="60000"/>
                        <a:lumOff val="40000"/>
                      </a:schemeClr>
                    </a:solidFill>
                  </a:rPr>
                  <a:t> variables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accent3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3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3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3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3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3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3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3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3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 clauses</a:t>
                </a:r>
              </a:p>
              <a:p>
                <a:endParaRPr lang="en-US" dirty="0">
                  <a:solidFill>
                    <a:schemeClr val="accent2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Define the random variable:</a:t>
                </a:r>
              </a:p>
              <a:p>
                <a:endParaRPr lang="en-US" dirty="0">
                  <a:solidFill>
                    <a:schemeClr val="accent2">
                      <a:lumMod val="60000"/>
                      <a:lumOff val="40000"/>
                    </a:schemeClr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eqArr>
                        </m:e>
                      </m:d>
                      <m:f>
                        <m:fPr>
                          <m:type m:val="noBar"/>
                          <m:ctrlP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     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𝐼𝑓𝑐𝑙𝑎𝑢𝑠𝑒</m:t>
                          </m:r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𝑖𝑠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𝑠𝑎𝑡𝑖𝑠𝑓𝑖𝑒𝑑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𝑂𝑡h𝑒𝑟𝑤𝑖𝑠𝑒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chemeClr val="tx1">
                      <a:lumMod val="95000"/>
                    </a:schemeClr>
                  </a:solidFill>
                </a:endParaRPr>
              </a:p>
              <a:p>
                <a:endParaRPr lang="en-US" dirty="0">
                  <a:solidFill>
                    <a:schemeClr val="tx1">
                      <a:lumMod val="95000"/>
                    </a:schemeClr>
                  </a:solidFill>
                </a:endParaRPr>
              </a:p>
              <a:p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…and define (note that this is number of satisfied clauses):</a:t>
                </a:r>
              </a:p>
              <a:p>
                <a:endParaRPr lang="en-US" dirty="0">
                  <a:solidFill>
                    <a:schemeClr val="tx1">
                      <a:lumMod val="95000"/>
                    </a:schemeClr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sup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dirty="0">
                  <a:solidFill>
                    <a:schemeClr val="tx1">
                      <a:lumMod val="9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328E056-C507-1028-B32A-9ADFC1E08A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9600" y="2619958"/>
                <a:ext cx="5553011" cy="3682418"/>
              </a:xfrm>
              <a:prstGeom prst="rect">
                <a:avLst/>
              </a:prstGeom>
              <a:blipFill>
                <a:blip r:embed="rId4"/>
                <a:stretch>
                  <a:fillRect l="-683" t="-342" b="-34932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BBCAB40D-2DBC-DFFA-5066-57C1DFF4DB5B}"/>
              </a:ext>
            </a:extLst>
          </p:cNvPr>
          <p:cNvSpPr txBox="1"/>
          <p:nvPr/>
        </p:nvSpPr>
        <p:spPr>
          <a:xfrm>
            <a:off x="5815585" y="2229562"/>
            <a:ext cx="54270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Proof:</a:t>
            </a:r>
          </a:p>
        </p:txBody>
      </p:sp>
    </p:spTree>
    <p:extLst>
      <p:ext uri="{BB962C8B-B14F-4D97-AF65-F5344CB8AC3E}">
        <p14:creationId xmlns:p14="http://schemas.microsoft.com/office/powerpoint/2010/main" val="42698630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207B4E-8495-ACDE-8A88-BCDB3601B6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9B0813B-C950-86FB-BAC2-A15D19C8DE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185572"/>
            <a:ext cx="9905998" cy="652710"/>
          </a:xfrm>
        </p:spPr>
        <p:txBody>
          <a:bodyPr/>
          <a:lstStyle/>
          <a:p>
            <a:pPr algn="ctr"/>
            <a:r>
              <a:rPr lang="en-US" dirty="0"/>
              <a:t>Max 3-SAT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F77B795-5202-D68A-E618-33A0CF7633D7}"/>
              </a:ext>
            </a:extLst>
          </p:cNvPr>
          <p:cNvSpPr txBox="1"/>
          <p:nvPr/>
        </p:nvSpPr>
        <p:spPr>
          <a:xfrm>
            <a:off x="949389" y="2573792"/>
            <a:ext cx="42200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Algorithm: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20C14AD-7146-B0A9-667A-4E8AEE79DB96}"/>
                  </a:ext>
                </a:extLst>
              </p:cNvPr>
              <p:cNvSpPr txBox="1"/>
              <p:nvPr/>
            </p:nvSpPr>
            <p:spPr>
              <a:xfrm>
                <a:off x="1541494" y="1165793"/>
                <a:ext cx="9109012" cy="61523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400" b="1" i="1" u="sng" dirty="0">
                    <a:solidFill>
                      <a:schemeClr val="bg1"/>
                    </a:solidFill>
                  </a:rPr>
                  <a:t>Claim</a:t>
                </a:r>
                <a:r>
                  <a:rPr lang="en-US" sz="2400" dirty="0">
                    <a:solidFill>
                      <a:schemeClr val="bg1"/>
                    </a:solidFill>
                  </a:rPr>
                  <a:t>: RandMax3Sat(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2400" dirty="0">
                    <a:solidFill>
                      <a:schemeClr val="bg1"/>
                    </a:solidFill>
                  </a:rPr>
                  <a:t>) is an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7</m:t>
                        </m:r>
                      </m:den>
                    </m:f>
                  </m:oMath>
                </a14:m>
                <a:r>
                  <a:rPr lang="en-US" sz="2400" dirty="0">
                    <a:solidFill>
                      <a:schemeClr val="bg1"/>
                    </a:solidFill>
                  </a:rPr>
                  <a:t> approximation of the Max 3-Sat problem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20C14AD-7146-B0A9-667A-4E8AEE79DB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1494" y="1165793"/>
                <a:ext cx="9109012" cy="615233"/>
              </a:xfrm>
              <a:prstGeom prst="rect">
                <a:avLst/>
              </a:prstGeom>
              <a:blipFill>
                <a:blip r:embed="rId2"/>
                <a:stretch>
                  <a:fillRect l="-972" r="-417" b="-8000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C20D486-1A17-D15F-D17C-22D55BB1EBE7}"/>
                  </a:ext>
                </a:extLst>
              </p:cNvPr>
              <p:cNvSpPr txBox="1"/>
              <p:nvPr/>
            </p:nvSpPr>
            <p:spPr>
              <a:xfrm>
                <a:off x="949388" y="2919414"/>
                <a:ext cx="4220022" cy="2308324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b="1" i="1" dirty="0">
                    <a:solidFill>
                      <a:schemeClr val="bg1"/>
                    </a:solidFill>
                  </a:rPr>
                  <a:t>RandMax3Sat</a:t>
                </a:r>
                <a:r>
                  <a:rPr lang="en-US" b="1" i="1" dirty="0">
                    <a:solidFill>
                      <a:schemeClr val="bg1"/>
                    </a:solidFill>
                    <a:sym typeface="Wingdings" pitchFamily="2" charset="2"/>
                  </a:rPr>
                  <a:t>(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𝜽</m:t>
                    </m:r>
                  </m:oMath>
                </a14:m>
                <a:r>
                  <a:rPr lang="en-US" b="1" i="1" dirty="0">
                    <a:solidFill>
                      <a:schemeClr val="bg1"/>
                    </a:solidFill>
                    <a:sym typeface="Wingdings" pitchFamily="2" charset="2"/>
                  </a:rPr>
                  <a:t>)</a:t>
                </a:r>
                <a:r>
                  <a:rPr lang="en-US" dirty="0">
                    <a:solidFill>
                      <a:schemeClr val="bg1"/>
                    </a:solidFill>
                    <a:sym typeface="Wingdings" pitchFamily="2" charset="2"/>
                  </a:rPr>
                  <a:t>:</a:t>
                </a:r>
              </a:p>
              <a:p>
                <a:r>
                  <a:rPr lang="en-US" dirty="0">
                    <a:solidFill>
                      <a:schemeClr val="bg1"/>
                    </a:solidFill>
                    <a:sym typeface="Wingdings" pitchFamily="2" charset="2"/>
                  </a:rPr>
                  <a:t>     for each </a:t>
                </a:r>
                <a:r>
                  <a:rPr lang="en-US" dirty="0">
                    <a:solidFill>
                      <a:schemeClr val="accent1"/>
                    </a:solidFill>
                    <a:sym typeface="Wingdings" pitchFamily="2" charset="2"/>
                  </a:rPr>
                  <a:t>var</a:t>
                </a:r>
                <a:r>
                  <a:rPr lang="en-US" dirty="0">
                    <a:solidFill>
                      <a:schemeClr val="bg1"/>
                    </a:solidFill>
                    <a:sym typeface="Wingdings" pitchFamily="2" charset="2"/>
                  </a:rPr>
                  <a:t> in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{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,…,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𝑛</m:t>
                        </m:r>
                      </m:sub>
                    </m:sSub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}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          set </a:t>
                </a:r>
                <a:r>
                  <a:rPr lang="en-US" dirty="0">
                    <a:solidFill>
                      <a:schemeClr val="accent1"/>
                    </a:solidFill>
                  </a:rPr>
                  <a:t>var</a:t>
                </a:r>
                <a:r>
                  <a:rPr lang="en-US" dirty="0">
                    <a:solidFill>
                      <a:schemeClr val="bg1"/>
                    </a:solidFill>
                  </a:rPr>
                  <a:t> = </a:t>
                </a:r>
                <a:r>
                  <a:rPr lang="en-US" dirty="0">
                    <a:solidFill>
                      <a:schemeClr val="accent1"/>
                    </a:solidFill>
                  </a:rPr>
                  <a:t>true</a:t>
                </a:r>
                <a:r>
                  <a:rPr lang="en-US" dirty="0">
                    <a:solidFill>
                      <a:schemeClr val="bg1"/>
                    </a:solidFill>
                  </a:rPr>
                  <a:t> with 50% probability</a:t>
                </a: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     for each </a:t>
                </a:r>
                <a:r>
                  <a:rPr lang="en-US" dirty="0">
                    <a:solidFill>
                      <a:schemeClr val="accent2"/>
                    </a:solidFill>
                  </a:rPr>
                  <a:t>clause</a:t>
                </a:r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          If </a:t>
                </a:r>
                <a:r>
                  <a:rPr lang="en-US" dirty="0">
                    <a:solidFill>
                      <a:schemeClr val="accent2"/>
                    </a:solidFill>
                  </a:rPr>
                  <a:t>clause</a:t>
                </a:r>
                <a:r>
                  <a:rPr lang="en-US" dirty="0">
                    <a:solidFill>
                      <a:schemeClr val="bg1"/>
                    </a:solidFill>
                  </a:rPr>
                  <a:t> satisfied, </a:t>
                </a:r>
                <a:r>
                  <a:rPr lang="en-US" dirty="0">
                    <a:solidFill>
                      <a:schemeClr val="accent5"/>
                    </a:solidFill>
                  </a:rPr>
                  <a:t>count++</a:t>
                </a: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     return </a:t>
                </a:r>
                <a:r>
                  <a:rPr lang="en-US" dirty="0">
                    <a:solidFill>
                      <a:schemeClr val="accent5"/>
                    </a:solidFill>
                  </a:rPr>
                  <a:t>count</a:t>
                </a:r>
                <a:r>
                  <a:rPr lang="en-US" dirty="0">
                    <a:solidFill>
                      <a:schemeClr val="bg1"/>
                    </a:solidFill>
                  </a:rPr>
                  <a:t>; //num clauses satisfied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C20D486-1A17-D15F-D17C-22D55BB1EB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9388" y="2919414"/>
                <a:ext cx="4220022" cy="2308324"/>
              </a:xfrm>
              <a:prstGeom prst="rect">
                <a:avLst/>
              </a:prstGeom>
              <a:blipFill>
                <a:blip r:embed="rId3"/>
                <a:stretch>
                  <a:fillRect l="-1198" t="-1087" b="-2717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2FA9ABB-B41A-83D9-1EE9-45C8CEE93E03}"/>
                  </a:ext>
                </a:extLst>
              </p:cNvPr>
              <p:cNvSpPr txBox="1"/>
              <p:nvPr/>
            </p:nvSpPr>
            <p:spPr>
              <a:xfrm>
                <a:off x="5815585" y="2619958"/>
                <a:ext cx="5427026" cy="4025717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Let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dirty="0"/>
                  <a:t> be a 3-CNF formula with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>
                    <a:solidFill>
                      <a:schemeClr val="accent3">
                        <a:lumMod val="60000"/>
                        <a:lumOff val="40000"/>
                      </a:schemeClr>
                    </a:solidFill>
                  </a:rPr>
                  <a:t> variables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accent3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3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3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3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3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3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3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3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3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 clauses</a:t>
                </a:r>
              </a:p>
              <a:p>
                <a:endParaRPr lang="en-US" dirty="0">
                  <a:solidFill>
                    <a:schemeClr val="accent2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Define the random variable:</a:t>
                </a:r>
              </a:p>
              <a:p>
                <a:endParaRPr lang="en-US" dirty="0">
                  <a:solidFill>
                    <a:schemeClr val="accent2">
                      <a:lumMod val="60000"/>
                      <a:lumOff val="40000"/>
                    </a:schemeClr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eqArr>
                        </m:e>
                      </m:d>
                      <m:f>
                        <m:fPr>
                          <m:type m:val="noBar"/>
                          <m:ctrlP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     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𝐼𝑓𝑐𝑙𝑎𝑢𝑠𝑒</m:t>
                          </m:r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𝑖𝑠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𝑠𝑎𝑡𝑖𝑠𝑓𝑖𝑒𝑑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𝑂𝑡h𝑒𝑟𝑤𝑖𝑠𝑒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chemeClr val="tx1">
                      <a:lumMod val="95000"/>
                    </a:schemeClr>
                  </a:solidFill>
                </a:endParaRPr>
              </a:p>
              <a:p>
                <a:endParaRPr lang="en-US" dirty="0">
                  <a:solidFill>
                    <a:schemeClr val="tx1">
                      <a:lumMod val="95000"/>
                    </a:schemeClr>
                  </a:solidFill>
                </a:endParaRPr>
              </a:p>
              <a:p>
                <a:endParaRPr lang="en-US" dirty="0">
                  <a:solidFill>
                    <a:schemeClr val="tx1">
                      <a:lumMod val="95000"/>
                    </a:schemeClr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=0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b="0" i="1" smtClean="0">
                                      <a:solidFill>
                                        <a:schemeClr val="tx1">
                                          <a:lumMod val="9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solidFill>
                                        <a:schemeClr val="tx1">
                                          <a:lumMod val="9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solidFill>
                                        <a:schemeClr val="tx1">
                                          <a:lumMod val="9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d>
                        </m:e>
                        <m:sup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p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8</m:t>
                          </m:r>
                        </m:den>
                      </m:f>
                    </m:oMath>
                  </m:oMathPara>
                </a14:m>
                <a:endParaRPr lang="en-US" b="0" dirty="0">
                  <a:solidFill>
                    <a:schemeClr val="tx1">
                      <a:lumMod val="95000"/>
                    </a:schemeClr>
                  </a:solidFill>
                </a:endParaRPr>
              </a:p>
              <a:p>
                <a:endParaRPr lang="en-US" dirty="0">
                  <a:solidFill>
                    <a:schemeClr val="tx1">
                      <a:lumMod val="95000"/>
                    </a:schemeClr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=1−</m:t>
                      </m:r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=0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7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8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chemeClr val="tx1">
                      <a:lumMod val="9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2FA9ABB-B41A-83D9-1EE9-45C8CEE93E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15585" y="2619958"/>
                <a:ext cx="5427026" cy="4025717"/>
              </a:xfrm>
              <a:prstGeom prst="rect">
                <a:avLst/>
              </a:prstGeom>
              <a:blipFill>
                <a:blip r:embed="rId4"/>
                <a:stretch>
                  <a:fillRect l="-699" t="-313" b="-1254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682C1CC4-60A5-28B2-9D23-000AED9A7C80}"/>
              </a:ext>
            </a:extLst>
          </p:cNvPr>
          <p:cNvSpPr txBox="1"/>
          <p:nvPr/>
        </p:nvSpPr>
        <p:spPr>
          <a:xfrm>
            <a:off x="5815585" y="2229562"/>
            <a:ext cx="54270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Proof:</a:t>
            </a:r>
          </a:p>
        </p:txBody>
      </p:sp>
    </p:spTree>
    <p:extLst>
      <p:ext uri="{BB962C8B-B14F-4D97-AF65-F5344CB8AC3E}">
        <p14:creationId xmlns:p14="http://schemas.microsoft.com/office/powerpoint/2010/main" val="25794724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7558B0-B18C-13A9-2B9A-307D4027FF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964E6CE2-5B8B-86D0-7929-FFE54AE7F0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185572"/>
            <a:ext cx="9905998" cy="652710"/>
          </a:xfrm>
        </p:spPr>
        <p:txBody>
          <a:bodyPr/>
          <a:lstStyle/>
          <a:p>
            <a:pPr algn="ctr"/>
            <a:r>
              <a:rPr lang="en-US" dirty="0"/>
              <a:t>Max 3-SAT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22098BF-F28A-63A2-8048-8A8DF5FCB3B9}"/>
              </a:ext>
            </a:extLst>
          </p:cNvPr>
          <p:cNvSpPr txBox="1"/>
          <p:nvPr/>
        </p:nvSpPr>
        <p:spPr>
          <a:xfrm>
            <a:off x="949389" y="2573792"/>
            <a:ext cx="42200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Algorithm: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BF93207-9A8B-DD15-FADE-77E7DEC111B0}"/>
                  </a:ext>
                </a:extLst>
              </p:cNvPr>
              <p:cNvSpPr txBox="1"/>
              <p:nvPr/>
            </p:nvSpPr>
            <p:spPr>
              <a:xfrm>
                <a:off x="1541494" y="1165793"/>
                <a:ext cx="9109012" cy="61523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400" b="1" i="1" u="sng" dirty="0">
                    <a:solidFill>
                      <a:schemeClr val="bg1"/>
                    </a:solidFill>
                  </a:rPr>
                  <a:t>Claim</a:t>
                </a:r>
                <a:r>
                  <a:rPr lang="en-US" sz="2400" dirty="0">
                    <a:solidFill>
                      <a:schemeClr val="bg1"/>
                    </a:solidFill>
                  </a:rPr>
                  <a:t>: RandMax3Sat(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2400" dirty="0">
                    <a:solidFill>
                      <a:schemeClr val="bg1"/>
                    </a:solidFill>
                  </a:rPr>
                  <a:t>) is an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7</m:t>
                        </m:r>
                      </m:den>
                    </m:f>
                  </m:oMath>
                </a14:m>
                <a:r>
                  <a:rPr lang="en-US" sz="2400" dirty="0">
                    <a:solidFill>
                      <a:schemeClr val="bg1"/>
                    </a:solidFill>
                  </a:rPr>
                  <a:t> approximation of the Max 3-Sat problem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BF93207-9A8B-DD15-FADE-77E7DEC111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1494" y="1165793"/>
                <a:ext cx="9109012" cy="615233"/>
              </a:xfrm>
              <a:prstGeom prst="rect">
                <a:avLst/>
              </a:prstGeom>
              <a:blipFill>
                <a:blip r:embed="rId2"/>
                <a:stretch>
                  <a:fillRect l="-972" r="-417" b="-8000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528BCE2-EEB0-EC98-E2F4-FA26418A76E0}"/>
                  </a:ext>
                </a:extLst>
              </p:cNvPr>
              <p:cNvSpPr txBox="1"/>
              <p:nvPr/>
            </p:nvSpPr>
            <p:spPr>
              <a:xfrm>
                <a:off x="949388" y="2919414"/>
                <a:ext cx="4220022" cy="2308324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b="1" i="1" dirty="0">
                    <a:solidFill>
                      <a:schemeClr val="bg1"/>
                    </a:solidFill>
                  </a:rPr>
                  <a:t>RandMax3Sat</a:t>
                </a:r>
                <a:r>
                  <a:rPr lang="en-US" b="1" i="1" dirty="0">
                    <a:solidFill>
                      <a:schemeClr val="bg1"/>
                    </a:solidFill>
                    <a:sym typeface="Wingdings" pitchFamily="2" charset="2"/>
                  </a:rPr>
                  <a:t>(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𝜽</m:t>
                    </m:r>
                  </m:oMath>
                </a14:m>
                <a:r>
                  <a:rPr lang="en-US" b="1" i="1" dirty="0">
                    <a:solidFill>
                      <a:schemeClr val="bg1"/>
                    </a:solidFill>
                    <a:sym typeface="Wingdings" pitchFamily="2" charset="2"/>
                  </a:rPr>
                  <a:t>)</a:t>
                </a:r>
                <a:r>
                  <a:rPr lang="en-US" dirty="0">
                    <a:solidFill>
                      <a:schemeClr val="bg1"/>
                    </a:solidFill>
                    <a:sym typeface="Wingdings" pitchFamily="2" charset="2"/>
                  </a:rPr>
                  <a:t>:</a:t>
                </a:r>
              </a:p>
              <a:p>
                <a:r>
                  <a:rPr lang="en-US" dirty="0">
                    <a:solidFill>
                      <a:schemeClr val="bg1"/>
                    </a:solidFill>
                    <a:sym typeface="Wingdings" pitchFamily="2" charset="2"/>
                  </a:rPr>
                  <a:t>     for each </a:t>
                </a:r>
                <a:r>
                  <a:rPr lang="en-US" dirty="0">
                    <a:solidFill>
                      <a:schemeClr val="accent1"/>
                    </a:solidFill>
                    <a:sym typeface="Wingdings" pitchFamily="2" charset="2"/>
                  </a:rPr>
                  <a:t>var</a:t>
                </a:r>
                <a:r>
                  <a:rPr lang="en-US" dirty="0">
                    <a:solidFill>
                      <a:schemeClr val="bg1"/>
                    </a:solidFill>
                    <a:sym typeface="Wingdings" pitchFamily="2" charset="2"/>
                  </a:rPr>
                  <a:t> in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{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,…,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𝑛</m:t>
                        </m:r>
                      </m:sub>
                    </m:sSub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}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          set </a:t>
                </a:r>
                <a:r>
                  <a:rPr lang="en-US" dirty="0">
                    <a:solidFill>
                      <a:schemeClr val="accent1"/>
                    </a:solidFill>
                  </a:rPr>
                  <a:t>var</a:t>
                </a:r>
                <a:r>
                  <a:rPr lang="en-US" dirty="0">
                    <a:solidFill>
                      <a:schemeClr val="bg1"/>
                    </a:solidFill>
                  </a:rPr>
                  <a:t> = </a:t>
                </a:r>
                <a:r>
                  <a:rPr lang="en-US" dirty="0">
                    <a:solidFill>
                      <a:schemeClr val="accent1"/>
                    </a:solidFill>
                  </a:rPr>
                  <a:t>true</a:t>
                </a:r>
                <a:r>
                  <a:rPr lang="en-US" dirty="0">
                    <a:solidFill>
                      <a:schemeClr val="bg1"/>
                    </a:solidFill>
                  </a:rPr>
                  <a:t> with 50% probability</a:t>
                </a: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     for each </a:t>
                </a:r>
                <a:r>
                  <a:rPr lang="en-US" dirty="0">
                    <a:solidFill>
                      <a:schemeClr val="accent2"/>
                    </a:solidFill>
                  </a:rPr>
                  <a:t>clause</a:t>
                </a:r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          If </a:t>
                </a:r>
                <a:r>
                  <a:rPr lang="en-US" dirty="0">
                    <a:solidFill>
                      <a:schemeClr val="accent2"/>
                    </a:solidFill>
                  </a:rPr>
                  <a:t>clause</a:t>
                </a:r>
                <a:r>
                  <a:rPr lang="en-US" dirty="0">
                    <a:solidFill>
                      <a:schemeClr val="bg1"/>
                    </a:solidFill>
                  </a:rPr>
                  <a:t> satisfied, </a:t>
                </a:r>
                <a:r>
                  <a:rPr lang="en-US" dirty="0">
                    <a:solidFill>
                      <a:schemeClr val="accent5"/>
                    </a:solidFill>
                  </a:rPr>
                  <a:t>count++</a:t>
                </a: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     return </a:t>
                </a:r>
                <a:r>
                  <a:rPr lang="en-US" dirty="0">
                    <a:solidFill>
                      <a:schemeClr val="accent5"/>
                    </a:solidFill>
                  </a:rPr>
                  <a:t>count</a:t>
                </a:r>
                <a:r>
                  <a:rPr lang="en-US" dirty="0">
                    <a:solidFill>
                      <a:schemeClr val="bg1"/>
                    </a:solidFill>
                  </a:rPr>
                  <a:t>; //num clauses satisfied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528BCE2-EEB0-EC98-E2F4-FA26418A76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9388" y="2919414"/>
                <a:ext cx="4220022" cy="2308324"/>
              </a:xfrm>
              <a:prstGeom prst="rect">
                <a:avLst/>
              </a:prstGeom>
              <a:blipFill>
                <a:blip r:embed="rId3"/>
                <a:stretch>
                  <a:fillRect l="-1198" t="-1087" b="-2717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A06BA6A-A5C3-6BAF-DFDE-F6D094121841}"/>
                  </a:ext>
                </a:extLst>
              </p:cNvPr>
              <p:cNvSpPr txBox="1"/>
              <p:nvPr/>
            </p:nvSpPr>
            <p:spPr>
              <a:xfrm>
                <a:off x="5815585" y="2619958"/>
                <a:ext cx="5427026" cy="2718501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accent1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accent1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1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1⋅</m:t>
                      </m:r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+0⋅</m:t>
                      </m:r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=0</m:t>
                          </m:r>
                        </m:e>
                      </m:d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1⋅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7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8</m:t>
                          </m:r>
                        </m:den>
                      </m:f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+0⋅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8</m:t>
                          </m:r>
                        </m:den>
                      </m:f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7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8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chemeClr val="tx1">
                      <a:lumMod val="95000"/>
                    </a:schemeClr>
                  </a:solidFill>
                </a:endParaRPr>
              </a:p>
              <a:p>
                <a:endParaRPr lang="en-US" dirty="0">
                  <a:solidFill>
                    <a:schemeClr val="tx1">
                      <a:lumMod val="95000"/>
                    </a:schemeClr>
                  </a:solidFill>
                </a:endParaRPr>
              </a:p>
              <a:p>
                <a:endParaRPr lang="en-US" dirty="0">
                  <a:solidFill>
                    <a:schemeClr val="tx1">
                      <a:lumMod val="95000"/>
                    </a:schemeClr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tx1">
                                          <a:lumMod val="9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tx1">
                                          <a:lumMod val="9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𝑌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tx1">
                                          <a:lumMod val="9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</m:e>
                      </m:d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sup>
                        <m:e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sup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7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8</m:t>
                              </m:r>
                            </m:den>
                          </m:f>
                        </m:e>
                      </m:nary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7</m:t>
                          </m:r>
                          <m: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8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chemeClr val="tx1">
                      <a:lumMod val="9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A06BA6A-A5C3-6BAF-DFDE-F6D0941218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15585" y="2619958"/>
                <a:ext cx="5427026" cy="2718501"/>
              </a:xfrm>
              <a:prstGeom prst="rect">
                <a:avLst/>
              </a:prstGeom>
              <a:blipFill>
                <a:blip r:embed="rId4"/>
                <a:stretch>
                  <a:fillRect b="-47685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485AE366-28CF-C8E7-BB2D-777B61541A52}"/>
              </a:ext>
            </a:extLst>
          </p:cNvPr>
          <p:cNvSpPr txBox="1"/>
          <p:nvPr/>
        </p:nvSpPr>
        <p:spPr>
          <a:xfrm>
            <a:off x="5815585" y="2229562"/>
            <a:ext cx="54270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Proof:</a:t>
            </a:r>
          </a:p>
        </p:txBody>
      </p:sp>
    </p:spTree>
    <p:extLst>
      <p:ext uri="{BB962C8B-B14F-4D97-AF65-F5344CB8AC3E}">
        <p14:creationId xmlns:p14="http://schemas.microsoft.com/office/powerpoint/2010/main" val="32390423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D9DB61-84AE-12D6-26D4-741BE9710C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5D21D4DF-6604-FF27-24EB-3397CFC5B5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185572"/>
            <a:ext cx="9905998" cy="652710"/>
          </a:xfrm>
        </p:spPr>
        <p:txBody>
          <a:bodyPr/>
          <a:lstStyle/>
          <a:p>
            <a:pPr algn="ctr"/>
            <a:r>
              <a:rPr lang="en-US" dirty="0"/>
              <a:t>Max 3-SAT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8A6BCA6-AC19-F182-BF95-44F6166724F5}"/>
              </a:ext>
            </a:extLst>
          </p:cNvPr>
          <p:cNvSpPr txBox="1"/>
          <p:nvPr/>
        </p:nvSpPr>
        <p:spPr>
          <a:xfrm>
            <a:off x="949389" y="2573792"/>
            <a:ext cx="42200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Algorithm: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FCD6233-5867-F572-C269-FF524E26639B}"/>
                  </a:ext>
                </a:extLst>
              </p:cNvPr>
              <p:cNvSpPr txBox="1"/>
              <p:nvPr/>
            </p:nvSpPr>
            <p:spPr>
              <a:xfrm>
                <a:off x="1541494" y="1165793"/>
                <a:ext cx="9109012" cy="61523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400" b="1" i="1" u="sng" dirty="0">
                    <a:solidFill>
                      <a:schemeClr val="bg1"/>
                    </a:solidFill>
                  </a:rPr>
                  <a:t>Claim</a:t>
                </a:r>
                <a:r>
                  <a:rPr lang="en-US" sz="2400" dirty="0">
                    <a:solidFill>
                      <a:schemeClr val="bg1"/>
                    </a:solidFill>
                  </a:rPr>
                  <a:t>: RandMax3Sat(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2400" dirty="0">
                    <a:solidFill>
                      <a:schemeClr val="bg1"/>
                    </a:solidFill>
                  </a:rPr>
                  <a:t>) is an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7</m:t>
                        </m:r>
                      </m:den>
                    </m:f>
                  </m:oMath>
                </a14:m>
                <a:r>
                  <a:rPr lang="en-US" sz="2400" dirty="0">
                    <a:solidFill>
                      <a:schemeClr val="bg1"/>
                    </a:solidFill>
                  </a:rPr>
                  <a:t> approximation of the Max 3-Sat problem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FCD6233-5867-F572-C269-FF524E2663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1494" y="1165793"/>
                <a:ext cx="9109012" cy="615233"/>
              </a:xfrm>
              <a:prstGeom prst="rect">
                <a:avLst/>
              </a:prstGeom>
              <a:blipFill>
                <a:blip r:embed="rId2"/>
                <a:stretch>
                  <a:fillRect l="-972" r="-417" b="-8000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86AC826-8508-F6D6-4969-04D249461B6F}"/>
                  </a:ext>
                </a:extLst>
              </p:cNvPr>
              <p:cNvSpPr txBox="1"/>
              <p:nvPr/>
            </p:nvSpPr>
            <p:spPr>
              <a:xfrm>
                <a:off x="949388" y="2919414"/>
                <a:ext cx="4220022" cy="2308324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b="1" i="1" dirty="0">
                    <a:solidFill>
                      <a:schemeClr val="bg1"/>
                    </a:solidFill>
                  </a:rPr>
                  <a:t>RandMax3Sat</a:t>
                </a:r>
                <a:r>
                  <a:rPr lang="en-US" b="1" i="1" dirty="0">
                    <a:solidFill>
                      <a:schemeClr val="bg1"/>
                    </a:solidFill>
                    <a:sym typeface="Wingdings" pitchFamily="2" charset="2"/>
                  </a:rPr>
                  <a:t>(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𝜽</m:t>
                    </m:r>
                  </m:oMath>
                </a14:m>
                <a:r>
                  <a:rPr lang="en-US" b="1" i="1" dirty="0">
                    <a:solidFill>
                      <a:schemeClr val="bg1"/>
                    </a:solidFill>
                    <a:sym typeface="Wingdings" pitchFamily="2" charset="2"/>
                  </a:rPr>
                  <a:t>)</a:t>
                </a:r>
                <a:r>
                  <a:rPr lang="en-US" dirty="0">
                    <a:solidFill>
                      <a:schemeClr val="bg1"/>
                    </a:solidFill>
                    <a:sym typeface="Wingdings" pitchFamily="2" charset="2"/>
                  </a:rPr>
                  <a:t>:</a:t>
                </a:r>
              </a:p>
              <a:p>
                <a:r>
                  <a:rPr lang="en-US" dirty="0">
                    <a:solidFill>
                      <a:schemeClr val="bg1"/>
                    </a:solidFill>
                    <a:sym typeface="Wingdings" pitchFamily="2" charset="2"/>
                  </a:rPr>
                  <a:t>     for each </a:t>
                </a:r>
                <a:r>
                  <a:rPr lang="en-US" dirty="0">
                    <a:solidFill>
                      <a:schemeClr val="accent1"/>
                    </a:solidFill>
                    <a:sym typeface="Wingdings" pitchFamily="2" charset="2"/>
                  </a:rPr>
                  <a:t>var</a:t>
                </a:r>
                <a:r>
                  <a:rPr lang="en-US" dirty="0">
                    <a:solidFill>
                      <a:schemeClr val="bg1"/>
                    </a:solidFill>
                    <a:sym typeface="Wingdings" pitchFamily="2" charset="2"/>
                  </a:rPr>
                  <a:t> in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{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,…,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𝑛</m:t>
                        </m:r>
                      </m:sub>
                    </m:sSub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}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          set </a:t>
                </a:r>
                <a:r>
                  <a:rPr lang="en-US" dirty="0">
                    <a:solidFill>
                      <a:schemeClr val="accent1"/>
                    </a:solidFill>
                  </a:rPr>
                  <a:t>var</a:t>
                </a:r>
                <a:r>
                  <a:rPr lang="en-US" dirty="0">
                    <a:solidFill>
                      <a:schemeClr val="bg1"/>
                    </a:solidFill>
                  </a:rPr>
                  <a:t> = </a:t>
                </a:r>
                <a:r>
                  <a:rPr lang="en-US" dirty="0">
                    <a:solidFill>
                      <a:schemeClr val="accent1"/>
                    </a:solidFill>
                  </a:rPr>
                  <a:t>true</a:t>
                </a:r>
                <a:r>
                  <a:rPr lang="en-US" dirty="0">
                    <a:solidFill>
                      <a:schemeClr val="bg1"/>
                    </a:solidFill>
                  </a:rPr>
                  <a:t> with 50% probability</a:t>
                </a: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     for each </a:t>
                </a:r>
                <a:r>
                  <a:rPr lang="en-US" dirty="0">
                    <a:solidFill>
                      <a:schemeClr val="accent2"/>
                    </a:solidFill>
                  </a:rPr>
                  <a:t>clause</a:t>
                </a:r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          If </a:t>
                </a:r>
                <a:r>
                  <a:rPr lang="en-US" dirty="0">
                    <a:solidFill>
                      <a:schemeClr val="accent2"/>
                    </a:solidFill>
                  </a:rPr>
                  <a:t>clause</a:t>
                </a:r>
                <a:r>
                  <a:rPr lang="en-US" dirty="0">
                    <a:solidFill>
                      <a:schemeClr val="bg1"/>
                    </a:solidFill>
                  </a:rPr>
                  <a:t> satisfied, </a:t>
                </a:r>
                <a:r>
                  <a:rPr lang="en-US" dirty="0">
                    <a:solidFill>
                      <a:schemeClr val="accent5"/>
                    </a:solidFill>
                  </a:rPr>
                  <a:t>count++</a:t>
                </a: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     return </a:t>
                </a:r>
                <a:r>
                  <a:rPr lang="en-US" dirty="0">
                    <a:solidFill>
                      <a:schemeClr val="accent5"/>
                    </a:solidFill>
                  </a:rPr>
                  <a:t>count</a:t>
                </a:r>
                <a:r>
                  <a:rPr lang="en-US" dirty="0">
                    <a:solidFill>
                      <a:schemeClr val="bg1"/>
                    </a:solidFill>
                  </a:rPr>
                  <a:t>; //num clauses satisfied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86AC826-8508-F6D6-4969-04D249461B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9388" y="2919414"/>
                <a:ext cx="4220022" cy="2308324"/>
              </a:xfrm>
              <a:prstGeom prst="rect">
                <a:avLst/>
              </a:prstGeom>
              <a:blipFill>
                <a:blip r:embed="rId3"/>
                <a:stretch>
                  <a:fillRect l="-1198" t="-1087" b="-2717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C311AE5-0C9D-0BBE-27F6-4367F6F7280E}"/>
                  </a:ext>
                </a:extLst>
              </p:cNvPr>
              <p:cNvSpPr txBox="1"/>
              <p:nvPr/>
            </p:nvSpPr>
            <p:spPr>
              <a:xfrm>
                <a:off x="5815585" y="2619958"/>
                <a:ext cx="5427026" cy="2698624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tx1">
                                          <a:lumMod val="9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tx1">
                                          <a:lumMod val="9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𝑌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tx1">
                                          <a:lumMod val="9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</m:e>
                      </m:d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sup>
                        <m:e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sup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7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8</m:t>
                              </m:r>
                            </m:den>
                          </m:f>
                        </m:e>
                      </m:nary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7</m:t>
                          </m:r>
                          <m: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8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chemeClr val="tx1">
                      <a:lumMod val="95000"/>
                    </a:schemeClr>
                  </a:solidFill>
                </a:endParaRPr>
              </a:p>
              <a:p>
                <a:endParaRPr lang="en-US" dirty="0">
                  <a:solidFill>
                    <a:schemeClr val="tx1">
                      <a:lumMod val="95000"/>
                    </a:schemeClr>
                  </a:solidFill>
                </a:endParaRPr>
              </a:p>
              <a:p>
                <a:endParaRPr lang="en-US" dirty="0">
                  <a:solidFill>
                    <a:schemeClr val="tx1">
                      <a:lumMod val="95000"/>
                    </a:schemeClr>
                  </a:solidFill>
                </a:endParaRPr>
              </a:p>
              <a:p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Approximation Ratio:</a:t>
                </a:r>
              </a:p>
              <a:p>
                <a:endParaRPr lang="en-US" dirty="0">
                  <a:solidFill>
                    <a:schemeClr val="tx1">
                      <a:lumMod val="95000"/>
                    </a:schemeClr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𝑂𝑝𝑡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num>
                        <m:den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7</m:t>
                              </m:r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8</m:t>
                              </m:r>
                            </m:den>
                          </m:f>
                        </m:den>
                      </m:f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8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7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chemeClr val="tx1">
                      <a:lumMod val="9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C311AE5-0C9D-0BBE-27F6-4367F6F728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15585" y="2619958"/>
                <a:ext cx="5427026" cy="2698624"/>
              </a:xfrm>
              <a:prstGeom prst="rect">
                <a:avLst/>
              </a:prstGeom>
              <a:blipFill>
                <a:blip r:embed="rId4"/>
                <a:stretch>
                  <a:fillRect l="-699" t="-31163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5697A3FB-B353-4310-10E1-F5B3FACE8FFE}"/>
              </a:ext>
            </a:extLst>
          </p:cNvPr>
          <p:cNvSpPr txBox="1"/>
          <p:nvPr/>
        </p:nvSpPr>
        <p:spPr>
          <a:xfrm>
            <a:off x="5815585" y="2229562"/>
            <a:ext cx="54270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Proof:</a:t>
            </a:r>
          </a:p>
        </p:txBody>
      </p:sp>
    </p:spTree>
    <p:extLst>
      <p:ext uri="{BB962C8B-B14F-4D97-AF65-F5344CB8AC3E}">
        <p14:creationId xmlns:p14="http://schemas.microsoft.com/office/powerpoint/2010/main" val="14165103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1E9129-1621-D00B-ADAC-75B0DAAEFE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9B592EF7-7F00-2B46-55AF-2A99EB534F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185572"/>
            <a:ext cx="9905998" cy="652710"/>
          </a:xfrm>
        </p:spPr>
        <p:txBody>
          <a:bodyPr/>
          <a:lstStyle/>
          <a:p>
            <a:pPr algn="ctr"/>
            <a:r>
              <a:rPr lang="en-US" dirty="0"/>
              <a:t>Max 3-SAT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CBFBD0A-9233-5744-BD7C-4C1CE7C9752D}"/>
              </a:ext>
            </a:extLst>
          </p:cNvPr>
          <p:cNvSpPr txBox="1"/>
          <p:nvPr/>
        </p:nvSpPr>
        <p:spPr>
          <a:xfrm>
            <a:off x="949389" y="2573792"/>
            <a:ext cx="42200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Algorithm: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19AC6BD-EE7B-DB32-DD53-3669B6C52414}"/>
                  </a:ext>
                </a:extLst>
              </p:cNvPr>
              <p:cNvSpPr txBox="1"/>
              <p:nvPr/>
            </p:nvSpPr>
            <p:spPr>
              <a:xfrm>
                <a:off x="1541494" y="1165793"/>
                <a:ext cx="9109012" cy="61523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400" b="1" i="1" u="sng" dirty="0">
                    <a:solidFill>
                      <a:schemeClr val="bg1"/>
                    </a:solidFill>
                  </a:rPr>
                  <a:t>Claim</a:t>
                </a:r>
                <a:r>
                  <a:rPr lang="en-US" sz="2400" dirty="0">
                    <a:solidFill>
                      <a:schemeClr val="bg1"/>
                    </a:solidFill>
                  </a:rPr>
                  <a:t>: RandMax3Sat(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2400" dirty="0">
                    <a:solidFill>
                      <a:schemeClr val="bg1"/>
                    </a:solidFill>
                  </a:rPr>
                  <a:t>) is an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7</m:t>
                        </m:r>
                      </m:den>
                    </m:f>
                  </m:oMath>
                </a14:m>
                <a:r>
                  <a:rPr lang="en-US" sz="2400" dirty="0">
                    <a:solidFill>
                      <a:schemeClr val="bg1"/>
                    </a:solidFill>
                  </a:rPr>
                  <a:t> approximation of the Max 3-Sat problem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19AC6BD-EE7B-DB32-DD53-3669B6C524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1494" y="1165793"/>
                <a:ext cx="9109012" cy="615233"/>
              </a:xfrm>
              <a:prstGeom prst="rect">
                <a:avLst/>
              </a:prstGeom>
              <a:blipFill>
                <a:blip r:embed="rId2"/>
                <a:stretch>
                  <a:fillRect l="-972" r="-417" b="-8000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87239844-8A2A-3039-04E7-14B7A156FBC8}"/>
                  </a:ext>
                </a:extLst>
              </p:cNvPr>
              <p:cNvSpPr txBox="1"/>
              <p:nvPr/>
            </p:nvSpPr>
            <p:spPr>
              <a:xfrm>
                <a:off x="949388" y="2919414"/>
                <a:ext cx="4220022" cy="2308324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b="1" i="1" dirty="0">
                    <a:solidFill>
                      <a:schemeClr val="bg1"/>
                    </a:solidFill>
                  </a:rPr>
                  <a:t>RandMax3Sat</a:t>
                </a:r>
                <a:r>
                  <a:rPr lang="en-US" b="1" i="1" dirty="0">
                    <a:solidFill>
                      <a:schemeClr val="bg1"/>
                    </a:solidFill>
                    <a:sym typeface="Wingdings" pitchFamily="2" charset="2"/>
                  </a:rPr>
                  <a:t>(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𝜽</m:t>
                    </m:r>
                  </m:oMath>
                </a14:m>
                <a:r>
                  <a:rPr lang="en-US" b="1" i="1" dirty="0">
                    <a:solidFill>
                      <a:schemeClr val="bg1"/>
                    </a:solidFill>
                    <a:sym typeface="Wingdings" pitchFamily="2" charset="2"/>
                  </a:rPr>
                  <a:t>)</a:t>
                </a:r>
                <a:r>
                  <a:rPr lang="en-US" dirty="0">
                    <a:solidFill>
                      <a:schemeClr val="bg1"/>
                    </a:solidFill>
                    <a:sym typeface="Wingdings" pitchFamily="2" charset="2"/>
                  </a:rPr>
                  <a:t>:</a:t>
                </a:r>
              </a:p>
              <a:p>
                <a:r>
                  <a:rPr lang="en-US" dirty="0">
                    <a:solidFill>
                      <a:schemeClr val="bg1"/>
                    </a:solidFill>
                    <a:sym typeface="Wingdings" pitchFamily="2" charset="2"/>
                  </a:rPr>
                  <a:t>     for each </a:t>
                </a:r>
                <a:r>
                  <a:rPr lang="en-US" dirty="0">
                    <a:solidFill>
                      <a:schemeClr val="accent1"/>
                    </a:solidFill>
                    <a:sym typeface="Wingdings" pitchFamily="2" charset="2"/>
                  </a:rPr>
                  <a:t>var</a:t>
                </a:r>
                <a:r>
                  <a:rPr lang="en-US" dirty="0">
                    <a:solidFill>
                      <a:schemeClr val="bg1"/>
                    </a:solidFill>
                    <a:sym typeface="Wingdings" pitchFamily="2" charset="2"/>
                  </a:rPr>
                  <a:t> in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{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,…,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𝑛</m:t>
                        </m:r>
                      </m:sub>
                    </m:sSub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}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          set </a:t>
                </a:r>
                <a:r>
                  <a:rPr lang="en-US" dirty="0">
                    <a:solidFill>
                      <a:schemeClr val="accent1"/>
                    </a:solidFill>
                  </a:rPr>
                  <a:t>var</a:t>
                </a:r>
                <a:r>
                  <a:rPr lang="en-US" dirty="0">
                    <a:solidFill>
                      <a:schemeClr val="bg1"/>
                    </a:solidFill>
                  </a:rPr>
                  <a:t> = </a:t>
                </a:r>
                <a:r>
                  <a:rPr lang="en-US" dirty="0">
                    <a:solidFill>
                      <a:schemeClr val="accent1"/>
                    </a:solidFill>
                  </a:rPr>
                  <a:t>true</a:t>
                </a:r>
                <a:r>
                  <a:rPr lang="en-US" dirty="0">
                    <a:solidFill>
                      <a:schemeClr val="bg1"/>
                    </a:solidFill>
                  </a:rPr>
                  <a:t> with 50% probability</a:t>
                </a: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     for each </a:t>
                </a:r>
                <a:r>
                  <a:rPr lang="en-US" dirty="0">
                    <a:solidFill>
                      <a:schemeClr val="accent2"/>
                    </a:solidFill>
                  </a:rPr>
                  <a:t>clause</a:t>
                </a:r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          If </a:t>
                </a:r>
                <a:r>
                  <a:rPr lang="en-US" dirty="0">
                    <a:solidFill>
                      <a:schemeClr val="accent2"/>
                    </a:solidFill>
                  </a:rPr>
                  <a:t>clause</a:t>
                </a:r>
                <a:r>
                  <a:rPr lang="en-US" dirty="0">
                    <a:solidFill>
                      <a:schemeClr val="bg1"/>
                    </a:solidFill>
                  </a:rPr>
                  <a:t> satisfied, </a:t>
                </a:r>
                <a:r>
                  <a:rPr lang="en-US" dirty="0">
                    <a:solidFill>
                      <a:schemeClr val="accent5"/>
                    </a:solidFill>
                  </a:rPr>
                  <a:t>count++</a:t>
                </a: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     return </a:t>
                </a:r>
                <a:r>
                  <a:rPr lang="en-US" dirty="0">
                    <a:solidFill>
                      <a:schemeClr val="accent5"/>
                    </a:solidFill>
                  </a:rPr>
                  <a:t>count</a:t>
                </a:r>
                <a:r>
                  <a:rPr lang="en-US" dirty="0">
                    <a:solidFill>
                      <a:schemeClr val="bg1"/>
                    </a:solidFill>
                  </a:rPr>
                  <a:t>; //num clauses satisfied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87239844-8A2A-3039-04E7-14B7A156FB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9388" y="2919414"/>
                <a:ext cx="4220022" cy="2308324"/>
              </a:xfrm>
              <a:prstGeom prst="rect">
                <a:avLst/>
              </a:prstGeom>
              <a:blipFill>
                <a:blip r:embed="rId3"/>
                <a:stretch>
                  <a:fillRect l="-1198" t="-1087" b="-2717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F4060593-AEC9-C353-CCC3-F2F921BE0DF3}"/>
              </a:ext>
            </a:extLst>
          </p:cNvPr>
          <p:cNvSpPr txBox="1"/>
          <p:nvPr/>
        </p:nvSpPr>
        <p:spPr>
          <a:xfrm>
            <a:off x="6751782" y="3968837"/>
            <a:ext cx="465512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Hold on a sec! What if some clauses contain a variable AND its negation? Doesn’t this proof assume that all variables in each clause are unique?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9629640-202B-DF79-4A98-C94B881E6C20}"/>
              </a:ext>
            </a:extLst>
          </p:cNvPr>
          <p:cNvCxnSpPr>
            <a:cxnSpLocks/>
          </p:cNvCxnSpPr>
          <p:nvPr/>
        </p:nvCxnSpPr>
        <p:spPr>
          <a:xfrm flipH="1" flipV="1">
            <a:off x="5347855" y="1918968"/>
            <a:ext cx="1533236" cy="1877177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1A6D5CA-27C7-A47C-F69B-8BF735E615C8}"/>
              </a:ext>
            </a:extLst>
          </p:cNvPr>
          <p:cNvCxnSpPr>
            <a:cxnSpLocks/>
          </p:cNvCxnSpPr>
          <p:nvPr/>
        </p:nvCxnSpPr>
        <p:spPr>
          <a:xfrm flipH="1" flipV="1">
            <a:off x="5347855" y="3796145"/>
            <a:ext cx="1199250" cy="345622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2223338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D00629-B6BF-2AF2-A179-80CDE22630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FE523DC8-2F92-741C-CF2E-F8EEFF3F87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185572"/>
            <a:ext cx="9905998" cy="652710"/>
          </a:xfrm>
        </p:spPr>
        <p:txBody>
          <a:bodyPr/>
          <a:lstStyle/>
          <a:p>
            <a:pPr algn="ctr"/>
            <a:r>
              <a:rPr lang="en-US" dirty="0"/>
              <a:t>Max 3-SAT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A9753CD-BC74-E76B-24A3-925C0914F80B}"/>
                  </a:ext>
                </a:extLst>
              </p:cNvPr>
              <p:cNvSpPr txBox="1"/>
              <p:nvPr/>
            </p:nvSpPr>
            <p:spPr>
              <a:xfrm>
                <a:off x="1541494" y="1165793"/>
                <a:ext cx="9109012" cy="61523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400" b="1" i="1" u="sng" dirty="0">
                    <a:solidFill>
                      <a:schemeClr val="bg1"/>
                    </a:solidFill>
                  </a:rPr>
                  <a:t>Claim</a:t>
                </a:r>
                <a:r>
                  <a:rPr lang="en-US" sz="2400" dirty="0">
                    <a:solidFill>
                      <a:schemeClr val="bg1"/>
                    </a:solidFill>
                  </a:rPr>
                  <a:t>: RandMax3Sat(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2400" dirty="0">
                    <a:solidFill>
                      <a:schemeClr val="bg1"/>
                    </a:solidFill>
                  </a:rPr>
                  <a:t>) is an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7</m:t>
                        </m:r>
                      </m:den>
                    </m:f>
                  </m:oMath>
                </a14:m>
                <a:r>
                  <a:rPr lang="en-US" sz="2400" dirty="0">
                    <a:solidFill>
                      <a:schemeClr val="bg1"/>
                    </a:solidFill>
                  </a:rPr>
                  <a:t> approximation of the Max 3-Sat problem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A9753CD-BC74-E76B-24A3-925C0914F8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1494" y="1165793"/>
                <a:ext cx="9109012" cy="615233"/>
              </a:xfrm>
              <a:prstGeom prst="rect">
                <a:avLst/>
              </a:prstGeom>
              <a:blipFill>
                <a:blip r:embed="rId2"/>
                <a:stretch>
                  <a:fillRect l="-972" r="-417" b="-8000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E2829B9-53B7-FA74-B388-533696A9CB0F}"/>
                  </a:ext>
                </a:extLst>
              </p:cNvPr>
              <p:cNvSpPr txBox="1"/>
              <p:nvPr/>
            </p:nvSpPr>
            <p:spPr>
              <a:xfrm>
                <a:off x="1622062" y="2287819"/>
                <a:ext cx="894469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Suppose that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dirty="0"/>
                  <a:t> contains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 clauses with unique variables</a:t>
                </a:r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>
                    <a:solidFill>
                      <a:schemeClr val="accent4">
                        <a:lumMod val="60000"/>
                        <a:lumOff val="40000"/>
                      </a:schemeClr>
                    </a:solidFill>
                  </a:rPr>
                  <a:t> clauses with repeated variables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E2829B9-53B7-FA74-B388-533696A9CB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22062" y="2287819"/>
                <a:ext cx="8944697" cy="369332"/>
              </a:xfrm>
              <a:prstGeom prst="rect">
                <a:avLst/>
              </a:prstGeom>
              <a:blipFill>
                <a:blip r:embed="rId3"/>
                <a:stretch>
                  <a:fillRect l="-567" t="-6667" b="-2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6D78B18B-92D1-C049-836D-57E8C26703EB}"/>
              </a:ext>
            </a:extLst>
          </p:cNvPr>
          <p:cNvSpPr txBox="1"/>
          <p:nvPr/>
        </p:nvSpPr>
        <p:spPr>
          <a:xfrm>
            <a:off x="7915563" y="4153645"/>
            <a:ext cx="281709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Note that our random algorithm is </a:t>
            </a:r>
            <a:r>
              <a:rPr lang="en-US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guaranteed to satisfy these clauses</a:t>
            </a:r>
            <a:r>
              <a:rPr lang="en-US" dirty="0"/>
              <a:t>!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7578E2C-1C91-E05D-0952-5F9DF83C9407}"/>
                  </a:ext>
                </a:extLst>
              </p:cNvPr>
              <p:cNvSpPr txBox="1"/>
              <p:nvPr/>
            </p:nvSpPr>
            <p:spPr>
              <a:xfrm>
                <a:off x="1787236" y="3964300"/>
                <a:ext cx="2817091" cy="10382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The chance of satisfying these clauses remains the same: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solidFill>
                              <a:schemeClr val="accent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solidFill>
                              <a:schemeClr val="accent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7</m:t>
                        </m:r>
                      </m:num>
                      <m:den>
                        <m:r>
                          <a:rPr lang="en-US" b="0" i="1" smtClean="0">
                            <a:solidFill>
                              <a:schemeClr val="accent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8</m:t>
                        </m:r>
                      </m:den>
                    </m:f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7578E2C-1C91-E05D-0952-5F9DF83C94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87236" y="3964300"/>
                <a:ext cx="2817091" cy="1038298"/>
              </a:xfrm>
              <a:prstGeom prst="rect">
                <a:avLst/>
              </a:prstGeom>
              <a:blipFill>
                <a:blip r:embed="rId4"/>
                <a:stretch>
                  <a:fillRect t="-2410" b="-24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51D4A72-8881-5AEC-6E05-E2E4DE472AEF}"/>
              </a:ext>
            </a:extLst>
          </p:cNvPr>
          <p:cNvCxnSpPr/>
          <p:nvPr/>
        </p:nvCxnSpPr>
        <p:spPr>
          <a:xfrm flipV="1">
            <a:off x="3990109" y="2657151"/>
            <a:ext cx="535709" cy="1222122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6B9A07B6-5139-E8DD-027F-F60677E7F8CB}"/>
              </a:ext>
            </a:extLst>
          </p:cNvPr>
          <p:cNvCxnSpPr>
            <a:cxnSpLocks/>
          </p:cNvCxnSpPr>
          <p:nvPr/>
        </p:nvCxnSpPr>
        <p:spPr>
          <a:xfrm flipH="1" flipV="1">
            <a:off x="8423564" y="2794337"/>
            <a:ext cx="706582" cy="1245724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759574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EE82CE-2717-DF9D-36C4-5048AF50EC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EE58B883-33D1-EB1A-2657-45EED3D857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185572"/>
            <a:ext cx="9905998" cy="652710"/>
          </a:xfrm>
        </p:spPr>
        <p:txBody>
          <a:bodyPr/>
          <a:lstStyle/>
          <a:p>
            <a:pPr algn="ctr"/>
            <a:r>
              <a:rPr lang="en-US" dirty="0"/>
              <a:t>Max 3-SAT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4AE648B-DFF5-DAA9-5397-B49C84BC13AF}"/>
                  </a:ext>
                </a:extLst>
              </p:cNvPr>
              <p:cNvSpPr txBox="1"/>
              <p:nvPr/>
            </p:nvSpPr>
            <p:spPr>
              <a:xfrm>
                <a:off x="1541494" y="1165793"/>
                <a:ext cx="9109012" cy="61523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400" b="1" i="1" u="sng" dirty="0">
                    <a:solidFill>
                      <a:schemeClr val="bg1"/>
                    </a:solidFill>
                  </a:rPr>
                  <a:t>Claim</a:t>
                </a:r>
                <a:r>
                  <a:rPr lang="en-US" sz="2400" dirty="0">
                    <a:solidFill>
                      <a:schemeClr val="bg1"/>
                    </a:solidFill>
                  </a:rPr>
                  <a:t>: RandMax3Sat(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2400" dirty="0">
                    <a:solidFill>
                      <a:schemeClr val="bg1"/>
                    </a:solidFill>
                  </a:rPr>
                  <a:t>) is an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7</m:t>
                        </m:r>
                      </m:den>
                    </m:f>
                  </m:oMath>
                </a14:m>
                <a:r>
                  <a:rPr lang="en-US" sz="2400" dirty="0">
                    <a:solidFill>
                      <a:schemeClr val="bg1"/>
                    </a:solidFill>
                  </a:rPr>
                  <a:t> approximation of the Max 3-Sat problem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4AE648B-DFF5-DAA9-5397-B49C84BC13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1494" y="1165793"/>
                <a:ext cx="9109012" cy="615233"/>
              </a:xfrm>
              <a:prstGeom prst="rect">
                <a:avLst/>
              </a:prstGeom>
              <a:blipFill>
                <a:blip r:embed="rId2"/>
                <a:stretch>
                  <a:fillRect l="-972" r="-417" b="-8000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6046288-6867-A989-57C5-E2C22B26B946}"/>
                  </a:ext>
                </a:extLst>
              </p:cNvPr>
              <p:cNvSpPr txBox="1"/>
              <p:nvPr/>
            </p:nvSpPr>
            <p:spPr>
              <a:xfrm>
                <a:off x="1622062" y="2075384"/>
                <a:ext cx="8944697" cy="453290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Suppose that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dirty="0"/>
                  <a:t> contains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 clauses with unique variables</a:t>
                </a:r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>
                    <a:solidFill>
                      <a:schemeClr val="accent4">
                        <a:lumMod val="60000"/>
                        <a:lumOff val="40000"/>
                      </a:schemeClr>
                    </a:solidFill>
                  </a:rPr>
                  <a:t> clauses with repeated variables</a:t>
                </a:r>
              </a:p>
              <a:p>
                <a:endParaRPr lang="en-US" dirty="0">
                  <a:solidFill>
                    <a:schemeClr val="accent4">
                      <a:lumMod val="60000"/>
                      <a:lumOff val="40000"/>
                    </a:schemeClr>
                  </a:solidFill>
                </a:endParaRPr>
              </a:p>
              <a:p>
                <a:endParaRPr lang="en-US" dirty="0">
                  <a:solidFill>
                    <a:schemeClr val="accent4">
                      <a:lumMod val="60000"/>
                      <a:lumOff val="40000"/>
                    </a:schemeClr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</m:d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ctrlPr>
                                <a:rPr lang="en-US" b="0" i="1" smtClean="0">
                                  <a:solidFill>
                                    <a:schemeClr val="accent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b="0" i="1" smtClean="0">
                                  <a:solidFill>
                                    <a:schemeClr val="accent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solidFill>
                                    <a:schemeClr val="accent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b="0" i="1" smtClean="0">
                                  <a:solidFill>
                                    <a:schemeClr val="accent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accent2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accent2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𝑌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2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0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sup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accent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accent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  <m:r>
                                <a:rPr lang="en-US" b="0" i="1" smtClean="0">
                                  <a:solidFill>
                                    <a:schemeClr val="accent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b="0" i="1" smtClean="0">
                                  <a:solidFill>
                                    <a:schemeClr val="accent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+</m:t>
                          </m:r>
                          <m:r>
                            <a:rPr lang="en-US" b="0" i="1" smtClean="0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nary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0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7</m:t>
                          </m:r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8</m:t>
                          </m:r>
                        </m:den>
                      </m:f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accent4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</m:oMath>
                  </m:oMathPara>
                </a14:m>
                <a:endParaRPr lang="en-US" dirty="0">
                  <a:solidFill>
                    <a:schemeClr val="tx1">
                      <a:lumMod val="95000"/>
                    </a:schemeClr>
                  </a:solidFill>
                </a:endParaRPr>
              </a:p>
              <a:p>
                <a:endParaRPr lang="en-US" dirty="0">
                  <a:solidFill>
                    <a:schemeClr val="tx1">
                      <a:lumMod val="95000"/>
                    </a:schemeClr>
                  </a:solidFill>
                </a:endParaRPr>
              </a:p>
              <a:p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For an approximation ratio of:</a:t>
                </a:r>
              </a:p>
              <a:p>
                <a:endParaRPr lang="en-US" dirty="0">
                  <a:solidFill>
                    <a:schemeClr val="tx1">
                      <a:lumMod val="95000"/>
                    </a:schemeClr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𝑂𝑃𝑇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den>
                      </m:f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num>
                        <m:den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accent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accent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7</m:t>
                              </m:r>
                              <m:r>
                                <a:rPr lang="en-US" b="0" i="1" smtClean="0">
                                  <a:solidFill>
                                    <a:schemeClr val="accent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accent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8</m:t>
                              </m:r>
                            </m:den>
                          </m:f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den>
                      </m:f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num>
                        <m:den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accent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accent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7</m:t>
                              </m:r>
                              <m:r>
                                <a:rPr lang="en-US" b="0" i="1" smtClean="0">
                                  <a:solidFill>
                                    <a:schemeClr val="accent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accent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8</m:t>
                              </m:r>
                            </m:den>
                          </m:f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7</m:t>
                              </m:r>
                              <m:r>
                                <a:rPr lang="en-US" b="0" i="1" smtClean="0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8</m:t>
                              </m:r>
                            </m:den>
                          </m:f>
                        </m:den>
                      </m:f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8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7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chemeClr val="tx1">
                      <a:lumMod val="9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6046288-6867-A989-57C5-E2C22B26B9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22062" y="2075384"/>
                <a:ext cx="8944697" cy="4532908"/>
              </a:xfrm>
              <a:prstGeom prst="rect">
                <a:avLst/>
              </a:prstGeom>
              <a:blipFill>
                <a:blip r:embed="rId3"/>
                <a:stretch>
                  <a:fillRect l="-567" t="-8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9142835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6B628C-9012-4D1B-1DB1-4EC97E19A0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211243-63FB-41A3-D6DE-6ADC8AD5D4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1" y="1860330"/>
            <a:ext cx="9906000" cy="2175149"/>
          </a:xfrm>
        </p:spPr>
        <p:txBody>
          <a:bodyPr/>
          <a:lstStyle/>
          <a:p>
            <a:pPr algn="ctr"/>
            <a:r>
              <a:rPr lang="en-US" dirty="0"/>
              <a:t>Weighted Vertex-Cover and LP-Rounding</a:t>
            </a:r>
          </a:p>
        </p:txBody>
      </p:sp>
    </p:spTree>
    <p:extLst>
      <p:ext uri="{BB962C8B-B14F-4D97-AF65-F5344CB8AC3E}">
        <p14:creationId xmlns:p14="http://schemas.microsoft.com/office/powerpoint/2010/main" val="158882015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4"/>
            <a:ext cx="9905998" cy="658504"/>
          </a:xfrm>
        </p:spPr>
        <p:txBody>
          <a:bodyPr/>
          <a:lstStyle/>
          <a:p>
            <a:pPr algn="ctr"/>
            <a:r>
              <a:rPr lang="en-US" dirty="0"/>
              <a:t>Min-Weight Vertex-Cover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E5D1DC23-009C-4345-AACE-883EA6E42F99}"/>
                  </a:ext>
                </a:extLst>
              </p:cNvPr>
              <p:cNvSpPr txBox="1"/>
              <p:nvPr/>
            </p:nvSpPr>
            <p:spPr>
              <a:xfrm>
                <a:off x="2206870" y="1373796"/>
                <a:ext cx="7630828" cy="103714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000" dirty="0">
                    <a:solidFill>
                      <a:sysClr val="windowText" lastClr="000000"/>
                    </a:solidFill>
                  </a:rPr>
                  <a:t>Given a Graph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dirty="0">
                    <a:solidFill>
                      <a:sysClr val="windowText" lastClr="000000"/>
                    </a:solidFill>
                  </a:rPr>
                  <a:t> and weight function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 b="0" i="0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w</m:t>
                    </m:r>
                    <m:r>
                      <a:rPr lang="en-US" sz="2000" b="0" i="0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ℕ</m:t>
                    </m:r>
                  </m:oMath>
                </a14:m>
                <a:r>
                  <a:rPr lang="en-US" sz="2000" dirty="0">
                    <a:solidFill>
                      <a:sysClr val="windowText" lastClr="000000"/>
                    </a:solidFill>
                  </a:rPr>
                  <a:t>, find the smallest set of nodes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p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⊂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 | </m:t>
                    </m:r>
                    <m:sSub>
                      <m:sSubPr>
                        <m:ctrlP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∀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ctrlPr>
                              <a:rPr lang="en-US" sz="2000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𝑢</m:t>
                            </m:r>
                            <m:r>
                              <a:rPr lang="en-US" sz="2000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000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</m:d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𝐸</m:t>
                        </m:r>
                      </m:sub>
                    </m:sSub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𝑢</m:t>
                        </m:r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∈</m:t>
                        </m:r>
                        <m:sSup>
                          <m:sSupPr>
                            <m:ctrlPr>
                              <a:rPr lang="en-US" sz="2000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p>
                            <m:r>
                              <a:rPr lang="en-US" sz="2000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∨</m:t>
                        </m:r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∈</m:t>
                        </m:r>
                        <m:sSup>
                          <m:sSupPr>
                            <m:ctrlPr>
                              <a:rPr lang="en-US" sz="2000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p>
                            <m:r>
                              <a:rPr lang="en-US" sz="2000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sz="2000" dirty="0">
                    <a:solidFill>
                      <a:sysClr val="windowText" lastClr="000000"/>
                    </a:solidFill>
                  </a:rPr>
                  <a:t> that minimizes the sum of the weights of those nodes (minimize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b>
                      <m:sup/>
                      <m:e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nary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dirty="0">
                    <a:solidFill>
                      <a:sysClr val="windowText" lastClr="000000"/>
                    </a:solidFill>
                  </a:rPr>
                  <a:t>)</a:t>
                </a: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E5D1DC23-009C-4345-AACE-883EA6E42F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06870" y="1373796"/>
                <a:ext cx="7630828" cy="1037143"/>
              </a:xfrm>
              <a:prstGeom prst="rect">
                <a:avLst/>
              </a:prstGeom>
              <a:blipFill>
                <a:blip r:embed="rId2"/>
                <a:stretch>
                  <a:fillRect t="-2381" b="-67857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TextBox 32">
            <a:extLst>
              <a:ext uri="{FF2B5EF4-FFF2-40B4-BE49-F238E27FC236}">
                <a16:creationId xmlns:a16="http://schemas.microsoft.com/office/drawing/2014/main" id="{6F161728-15B5-954F-9A41-BA22A58390B2}"/>
              </a:ext>
            </a:extLst>
          </p:cNvPr>
          <p:cNvSpPr txBox="1"/>
          <p:nvPr/>
        </p:nvSpPr>
        <p:spPr>
          <a:xfrm>
            <a:off x="1678158" y="5468904"/>
            <a:ext cx="2479271" cy="584775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600" i="1" dirty="0"/>
              <a:t>What is the solution to this instance here?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D544E45-2AB5-B94E-BBB0-24CC96733871}"/>
              </a:ext>
            </a:extLst>
          </p:cNvPr>
          <p:cNvSpPr txBox="1"/>
          <p:nvPr/>
        </p:nvSpPr>
        <p:spPr>
          <a:xfrm>
            <a:off x="8407878" y="3012260"/>
            <a:ext cx="2479271" cy="338554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600" i="1" dirty="0"/>
              <a:t>This problem is NP-Hard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4F9C98AB-3765-E940-C948-974C2CA2E6E3}"/>
              </a:ext>
            </a:extLst>
          </p:cNvPr>
          <p:cNvGrpSpPr/>
          <p:nvPr/>
        </p:nvGrpSpPr>
        <p:grpSpPr>
          <a:xfrm>
            <a:off x="3542345" y="2805471"/>
            <a:ext cx="4959877" cy="2149587"/>
            <a:chOff x="3614472" y="2445255"/>
            <a:chExt cx="4959877" cy="2149587"/>
          </a:xfrm>
        </p:grpSpPr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E7C2DE78-1759-8447-9B92-2AF4A82F425B}"/>
                </a:ext>
              </a:extLst>
            </p:cNvPr>
            <p:cNvGrpSpPr/>
            <p:nvPr/>
          </p:nvGrpSpPr>
          <p:grpSpPr>
            <a:xfrm>
              <a:off x="3614472" y="2629921"/>
              <a:ext cx="4959877" cy="1964921"/>
              <a:chOff x="3557016" y="1819656"/>
              <a:chExt cx="4959877" cy="1964921"/>
            </a:xfrm>
          </p:grpSpPr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617EEFE5-65F0-6346-B7BD-B2659399F822}"/>
                  </a:ext>
                </a:extLst>
              </p:cNvPr>
              <p:cNvSpPr/>
              <p:nvPr/>
            </p:nvSpPr>
            <p:spPr>
              <a:xfrm>
                <a:off x="3557016" y="1819656"/>
                <a:ext cx="630936" cy="630936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ysClr val="windowText" lastClr="000000"/>
                    </a:solidFill>
                  </a:rPr>
                  <a:t>b</a:t>
                </a:r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FD40B913-6BD0-1B49-93A8-9C3819029042}"/>
                  </a:ext>
                </a:extLst>
              </p:cNvPr>
              <p:cNvSpPr/>
              <p:nvPr/>
            </p:nvSpPr>
            <p:spPr>
              <a:xfrm>
                <a:off x="3557016" y="3153641"/>
                <a:ext cx="630936" cy="630936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ysClr val="windowText" lastClr="000000"/>
                    </a:solidFill>
                  </a:rPr>
                  <a:t>a</a:t>
                </a:r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ED549965-9AF9-0546-A16E-6C50853D7B14}"/>
                  </a:ext>
                </a:extLst>
              </p:cNvPr>
              <p:cNvSpPr/>
              <p:nvPr/>
            </p:nvSpPr>
            <p:spPr>
              <a:xfrm>
                <a:off x="5090160" y="1819656"/>
                <a:ext cx="630936" cy="630936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ysClr val="windowText" lastClr="000000"/>
                    </a:solidFill>
                  </a:rPr>
                  <a:t>c</a:t>
                </a:r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969838E2-6009-504F-8290-68230C7D90A0}"/>
                  </a:ext>
                </a:extLst>
              </p:cNvPr>
              <p:cNvSpPr/>
              <p:nvPr/>
            </p:nvSpPr>
            <p:spPr>
              <a:xfrm>
                <a:off x="5090160" y="3153641"/>
                <a:ext cx="630936" cy="630936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ysClr val="windowText" lastClr="000000"/>
                    </a:solidFill>
                  </a:rPr>
                  <a:t>e</a:t>
                </a:r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DA227750-14A7-1248-82B9-1F6656165C3D}"/>
                  </a:ext>
                </a:extLst>
              </p:cNvPr>
              <p:cNvSpPr/>
              <p:nvPr/>
            </p:nvSpPr>
            <p:spPr>
              <a:xfrm>
                <a:off x="6623304" y="1819656"/>
                <a:ext cx="630936" cy="630936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ysClr val="windowText" lastClr="000000"/>
                    </a:solidFill>
                  </a:rPr>
                  <a:t>d</a:t>
                </a:r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66071694-DAB2-7346-BD4D-2F9566C2004B}"/>
                  </a:ext>
                </a:extLst>
              </p:cNvPr>
              <p:cNvSpPr/>
              <p:nvPr/>
            </p:nvSpPr>
            <p:spPr>
              <a:xfrm>
                <a:off x="6623304" y="3153641"/>
                <a:ext cx="630936" cy="630936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ysClr val="windowText" lastClr="000000"/>
                    </a:solidFill>
                  </a:rPr>
                  <a:t>f</a:t>
                </a:r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7390B225-A4D7-B54E-99F9-66A2B1731359}"/>
                  </a:ext>
                </a:extLst>
              </p:cNvPr>
              <p:cNvSpPr/>
              <p:nvPr/>
            </p:nvSpPr>
            <p:spPr>
              <a:xfrm>
                <a:off x="7885957" y="3153641"/>
                <a:ext cx="630936" cy="630936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ysClr val="windowText" lastClr="000000"/>
                    </a:solidFill>
                  </a:rPr>
                  <a:t>g</a:t>
                </a:r>
              </a:p>
            </p:txBody>
          </p: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04F68430-2504-054D-A55F-1EAB0915A55C}"/>
                  </a:ext>
                </a:extLst>
              </p:cNvPr>
              <p:cNvCxnSpPr>
                <a:cxnSpLocks/>
                <a:stCxn id="5" idx="4"/>
                <a:endCxn id="8" idx="0"/>
              </p:cNvCxnSpPr>
              <p:nvPr/>
            </p:nvCxnSpPr>
            <p:spPr>
              <a:xfrm>
                <a:off x="3872484" y="2450592"/>
                <a:ext cx="0" cy="703049"/>
              </a:xfrm>
              <a:prstGeom prst="line">
                <a:avLst/>
              </a:prstGeom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4A4367C4-6AD0-C942-961E-52AFCAAC92D7}"/>
                  </a:ext>
                </a:extLst>
              </p:cNvPr>
              <p:cNvCxnSpPr>
                <a:endCxn id="9" idx="2"/>
              </p:cNvCxnSpPr>
              <p:nvPr/>
            </p:nvCxnSpPr>
            <p:spPr>
              <a:xfrm>
                <a:off x="4187952" y="2135124"/>
                <a:ext cx="902208" cy="0"/>
              </a:xfrm>
              <a:prstGeom prst="line">
                <a:avLst/>
              </a:prstGeom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BD987431-D419-E047-919A-9A2425DC90DE}"/>
                  </a:ext>
                </a:extLst>
              </p:cNvPr>
              <p:cNvCxnSpPr>
                <a:stCxn id="9" idx="4"/>
                <a:endCxn id="10" idx="0"/>
              </p:cNvCxnSpPr>
              <p:nvPr/>
            </p:nvCxnSpPr>
            <p:spPr>
              <a:xfrm>
                <a:off x="5405628" y="2450592"/>
                <a:ext cx="0" cy="703049"/>
              </a:xfrm>
              <a:prstGeom prst="line">
                <a:avLst/>
              </a:prstGeom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Connector 20">
                <a:extLst>
                  <a:ext uri="{FF2B5EF4-FFF2-40B4-BE49-F238E27FC236}">
                    <a16:creationId xmlns:a16="http://schemas.microsoft.com/office/drawing/2014/main" id="{2607CA13-8432-3340-A74D-C46AEE7842CD}"/>
                  </a:ext>
                </a:extLst>
              </p:cNvPr>
              <p:cNvCxnSpPr>
                <a:stCxn id="9" idx="6"/>
                <a:endCxn id="11" idx="2"/>
              </p:cNvCxnSpPr>
              <p:nvPr/>
            </p:nvCxnSpPr>
            <p:spPr>
              <a:xfrm>
                <a:off x="5721096" y="2135124"/>
                <a:ext cx="902208" cy="0"/>
              </a:xfrm>
              <a:prstGeom prst="line">
                <a:avLst/>
              </a:prstGeom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Straight Connector 22">
                <a:extLst>
                  <a:ext uri="{FF2B5EF4-FFF2-40B4-BE49-F238E27FC236}">
                    <a16:creationId xmlns:a16="http://schemas.microsoft.com/office/drawing/2014/main" id="{8A073737-16EB-9043-8B78-D6A489B24119}"/>
                  </a:ext>
                </a:extLst>
              </p:cNvPr>
              <p:cNvCxnSpPr>
                <a:stCxn id="11" idx="3"/>
                <a:endCxn id="10" idx="7"/>
              </p:cNvCxnSpPr>
              <p:nvPr/>
            </p:nvCxnSpPr>
            <p:spPr>
              <a:xfrm flipH="1">
                <a:off x="5628698" y="2358194"/>
                <a:ext cx="1087004" cy="887845"/>
              </a:xfrm>
              <a:prstGeom prst="line">
                <a:avLst/>
              </a:prstGeom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Straight Connector 24">
                <a:extLst>
                  <a:ext uri="{FF2B5EF4-FFF2-40B4-BE49-F238E27FC236}">
                    <a16:creationId xmlns:a16="http://schemas.microsoft.com/office/drawing/2014/main" id="{B26B532A-93EB-D146-879B-DAAEECFCB20F}"/>
                  </a:ext>
                </a:extLst>
              </p:cNvPr>
              <p:cNvCxnSpPr>
                <a:stCxn id="11" idx="4"/>
                <a:endCxn id="12" idx="0"/>
              </p:cNvCxnSpPr>
              <p:nvPr/>
            </p:nvCxnSpPr>
            <p:spPr>
              <a:xfrm>
                <a:off x="6938772" y="2450592"/>
                <a:ext cx="0" cy="703049"/>
              </a:xfrm>
              <a:prstGeom prst="line">
                <a:avLst/>
              </a:prstGeom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B3BFC779-55F4-E647-9E1B-CDA261223664}"/>
                  </a:ext>
                </a:extLst>
              </p:cNvPr>
              <p:cNvCxnSpPr>
                <a:stCxn id="10" idx="6"/>
                <a:endCxn id="12" idx="2"/>
              </p:cNvCxnSpPr>
              <p:nvPr/>
            </p:nvCxnSpPr>
            <p:spPr>
              <a:xfrm>
                <a:off x="5721096" y="3469109"/>
                <a:ext cx="902208" cy="0"/>
              </a:xfrm>
              <a:prstGeom prst="line">
                <a:avLst/>
              </a:prstGeom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0158C4E0-12D8-A449-98FA-D5CC88A18871}"/>
                  </a:ext>
                </a:extLst>
              </p:cNvPr>
              <p:cNvCxnSpPr>
                <a:stCxn id="11" idx="5"/>
                <a:endCxn id="13" idx="1"/>
              </p:cNvCxnSpPr>
              <p:nvPr/>
            </p:nvCxnSpPr>
            <p:spPr>
              <a:xfrm>
                <a:off x="7161842" y="2358194"/>
                <a:ext cx="816513" cy="887845"/>
              </a:xfrm>
              <a:prstGeom prst="line">
                <a:avLst/>
              </a:prstGeom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EFC9CE9A-6B87-BD4C-2F32-62EB110FA585}"/>
                </a:ext>
              </a:extLst>
            </p:cNvPr>
            <p:cNvSpPr txBox="1"/>
            <p:nvPr/>
          </p:nvSpPr>
          <p:spPr>
            <a:xfrm>
              <a:off x="4229556" y="2549126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5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9C771DC0-3E06-92CD-F44A-099D2497C3C0}"/>
                </a:ext>
              </a:extLst>
            </p:cNvPr>
            <p:cNvSpPr txBox="1"/>
            <p:nvPr/>
          </p:nvSpPr>
          <p:spPr>
            <a:xfrm>
              <a:off x="4094310" y="3779240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3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92FC787-E698-7AD6-03A0-0416110FE159}"/>
                </a:ext>
              </a:extLst>
            </p:cNvPr>
            <p:cNvSpPr txBox="1"/>
            <p:nvPr/>
          </p:nvSpPr>
          <p:spPr>
            <a:xfrm>
              <a:off x="5686154" y="2445255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4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E0A523A5-3625-9542-A5A3-D0D1821AE0EC}"/>
                </a:ext>
              </a:extLst>
            </p:cNvPr>
            <p:cNvSpPr txBox="1"/>
            <p:nvPr/>
          </p:nvSpPr>
          <p:spPr>
            <a:xfrm>
              <a:off x="4980324" y="3749185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7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504A0496-4409-5C68-B4CF-06FF26EF0F11}"/>
                </a:ext>
              </a:extLst>
            </p:cNvPr>
            <p:cNvSpPr txBox="1"/>
            <p:nvPr/>
          </p:nvSpPr>
          <p:spPr>
            <a:xfrm>
              <a:off x="7251400" y="2541396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8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C5CCFE2F-96AC-4E98-75DF-B6BED5C44E07}"/>
                </a:ext>
              </a:extLst>
            </p:cNvPr>
            <p:cNvSpPr txBox="1"/>
            <p:nvPr/>
          </p:nvSpPr>
          <p:spPr>
            <a:xfrm>
              <a:off x="6548125" y="3740837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2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1C0C6FF6-BDFA-CE11-9530-1D01AF286BBD}"/>
                </a:ext>
              </a:extLst>
            </p:cNvPr>
            <p:cNvSpPr txBox="1"/>
            <p:nvPr/>
          </p:nvSpPr>
          <p:spPr>
            <a:xfrm>
              <a:off x="8170647" y="3639607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6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66440541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C5A37F-58AF-8EAA-14C0-E112FF843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0674AF23-0564-D15E-9A94-AADD0BD432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4"/>
            <a:ext cx="9905998" cy="658504"/>
          </a:xfrm>
        </p:spPr>
        <p:txBody>
          <a:bodyPr/>
          <a:lstStyle/>
          <a:p>
            <a:pPr algn="ctr"/>
            <a:r>
              <a:rPr lang="en-US" dirty="0"/>
              <a:t>Min-Weight Vertex-Cover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48A6A122-5A03-A15C-4696-E2F6CE16D5AF}"/>
                  </a:ext>
                </a:extLst>
              </p:cNvPr>
              <p:cNvSpPr txBox="1"/>
              <p:nvPr/>
            </p:nvSpPr>
            <p:spPr>
              <a:xfrm>
                <a:off x="2206870" y="1373796"/>
                <a:ext cx="7630828" cy="103714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000" dirty="0">
                    <a:solidFill>
                      <a:sysClr val="windowText" lastClr="000000"/>
                    </a:solidFill>
                  </a:rPr>
                  <a:t>Given a Graph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dirty="0">
                    <a:solidFill>
                      <a:sysClr val="windowText" lastClr="000000"/>
                    </a:solidFill>
                  </a:rPr>
                  <a:t> and weight function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 b="0" i="0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w</m:t>
                    </m:r>
                    <m:r>
                      <a:rPr lang="en-US" sz="2000" b="0" i="0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ℕ</m:t>
                    </m:r>
                  </m:oMath>
                </a14:m>
                <a:r>
                  <a:rPr lang="en-US" sz="2000" dirty="0">
                    <a:solidFill>
                      <a:sysClr val="windowText" lastClr="000000"/>
                    </a:solidFill>
                  </a:rPr>
                  <a:t>, find the smallest set of nodes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p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⊂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 | </m:t>
                    </m:r>
                    <m:sSub>
                      <m:sSubPr>
                        <m:ctrlP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∀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ctrlPr>
                              <a:rPr lang="en-US" sz="2000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𝑢</m:t>
                            </m:r>
                            <m:r>
                              <a:rPr lang="en-US" sz="2000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000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</m:d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𝐸</m:t>
                        </m:r>
                      </m:sub>
                    </m:sSub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𝑢</m:t>
                        </m:r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∈</m:t>
                        </m:r>
                        <m:sSup>
                          <m:sSupPr>
                            <m:ctrlPr>
                              <a:rPr lang="en-US" sz="2000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p>
                            <m:r>
                              <a:rPr lang="en-US" sz="2000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∨</m:t>
                        </m:r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∈</m:t>
                        </m:r>
                        <m:sSup>
                          <m:sSupPr>
                            <m:ctrlPr>
                              <a:rPr lang="en-US" sz="2000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p>
                            <m:r>
                              <a:rPr lang="en-US" sz="2000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sz="2000" dirty="0">
                    <a:solidFill>
                      <a:sysClr val="windowText" lastClr="000000"/>
                    </a:solidFill>
                  </a:rPr>
                  <a:t> that minimizes the sum of the weights of those nodes (minimize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b>
                      <m:sup/>
                      <m:e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nary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dirty="0">
                    <a:solidFill>
                      <a:sysClr val="windowText" lastClr="000000"/>
                    </a:solidFill>
                  </a:rPr>
                  <a:t>)</a:t>
                </a: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48A6A122-5A03-A15C-4696-E2F6CE16D5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06870" y="1373796"/>
                <a:ext cx="7630828" cy="1037143"/>
              </a:xfrm>
              <a:prstGeom prst="rect">
                <a:avLst/>
              </a:prstGeom>
              <a:blipFill>
                <a:blip r:embed="rId2"/>
                <a:stretch>
                  <a:fillRect t="-2381" b="-67857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TextBox 32">
            <a:extLst>
              <a:ext uri="{FF2B5EF4-FFF2-40B4-BE49-F238E27FC236}">
                <a16:creationId xmlns:a16="http://schemas.microsoft.com/office/drawing/2014/main" id="{D02D4E8E-2DE5-FDAA-14CF-08770E5EAE2D}"/>
              </a:ext>
            </a:extLst>
          </p:cNvPr>
          <p:cNvSpPr txBox="1"/>
          <p:nvPr/>
        </p:nvSpPr>
        <p:spPr>
          <a:xfrm>
            <a:off x="767622" y="3528675"/>
            <a:ext cx="2479271" cy="1077218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600" i="1" dirty="0"/>
              <a:t>This solution has total weight 3 + 4 + 2 + 8 = 17</a:t>
            </a:r>
          </a:p>
          <a:p>
            <a:pPr algn="ctr"/>
            <a:endParaRPr lang="en-US" sz="1600" i="1" dirty="0"/>
          </a:p>
          <a:p>
            <a:pPr algn="ctr"/>
            <a:r>
              <a:rPr lang="en-US" sz="1600" i="1" dirty="0"/>
              <a:t>Can we do better?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BE1334E-CC7B-A265-7A4C-AEBCD88C40B7}"/>
              </a:ext>
            </a:extLst>
          </p:cNvPr>
          <p:cNvSpPr txBox="1"/>
          <p:nvPr/>
        </p:nvSpPr>
        <p:spPr>
          <a:xfrm>
            <a:off x="8407878" y="3012260"/>
            <a:ext cx="2479271" cy="338554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600" i="1" dirty="0"/>
              <a:t>This problem is NP-Hard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D13B78E6-ED7D-22BD-6613-EC5816EFF106}"/>
              </a:ext>
            </a:extLst>
          </p:cNvPr>
          <p:cNvGrpSpPr/>
          <p:nvPr/>
        </p:nvGrpSpPr>
        <p:grpSpPr>
          <a:xfrm>
            <a:off x="3542345" y="2805471"/>
            <a:ext cx="4959877" cy="2149587"/>
            <a:chOff x="3614472" y="2445255"/>
            <a:chExt cx="4959877" cy="2149587"/>
          </a:xfrm>
        </p:grpSpPr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33ECBC6B-D9A7-6296-91E8-EBC27DC6A985}"/>
                </a:ext>
              </a:extLst>
            </p:cNvPr>
            <p:cNvGrpSpPr/>
            <p:nvPr/>
          </p:nvGrpSpPr>
          <p:grpSpPr>
            <a:xfrm>
              <a:off x="3614472" y="2629921"/>
              <a:ext cx="4959877" cy="1964921"/>
              <a:chOff x="3557016" y="1819656"/>
              <a:chExt cx="4959877" cy="1964921"/>
            </a:xfrm>
          </p:grpSpPr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E615AEFD-8611-D9CD-22D3-D1EDC3471715}"/>
                  </a:ext>
                </a:extLst>
              </p:cNvPr>
              <p:cNvSpPr/>
              <p:nvPr/>
            </p:nvSpPr>
            <p:spPr>
              <a:xfrm>
                <a:off x="3557016" y="1819656"/>
                <a:ext cx="630936" cy="630936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ysClr val="windowText" lastClr="000000"/>
                    </a:solidFill>
                  </a:rPr>
                  <a:t>b</a:t>
                </a:r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8F276E76-65C1-828E-E4FD-147C0FB400DE}"/>
                  </a:ext>
                </a:extLst>
              </p:cNvPr>
              <p:cNvSpPr/>
              <p:nvPr/>
            </p:nvSpPr>
            <p:spPr>
              <a:xfrm>
                <a:off x="3557016" y="3153641"/>
                <a:ext cx="630936" cy="630936"/>
              </a:xfrm>
              <a:prstGeom prst="ellipse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ysClr val="windowText" lastClr="000000"/>
                    </a:solidFill>
                  </a:rPr>
                  <a:t>a</a:t>
                </a:r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6F702EDF-59DF-281C-4E36-576C88703BF1}"/>
                  </a:ext>
                </a:extLst>
              </p:cNvPr>
              <p:cNvSpPr/>
              <p:nvPr/>
            </p:nvSpPr>
            <p:spPr>
              <a:xfrm>
                <a:off x="5090160" y="1819656"/>
                <a:ext cx="630936" cy="630936"/>
              </a:xfrm>
              <a:prstGeom prst="ellipse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ysClr val="windowText" lastClr="000000"/>
                    </a:solidFill>
                  </a:rPr>
                  <a:t>c</a:t>
                </a:r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983F65FD-9234-050F-4776-5CD3E81B128E}"/>
                  </a:ext>
                </a:extLst>
              </p:cNvPr>
              <p:cNvSpPr/>
              <p:nvPr/>
            </p:nvSpPr>
            <p:spPr>
              <a:xfrm>
                <a:off x="5090160" y="3153641"/>
                <a:ext cx="630936" cy="630936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ysClr val="windowText" lastClr="000000"/>
                    </a:solidFill>
                  </a:rPr>
                  <a:t>e</a:t>
                </a:r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8E5948BF-EDBF-A978-81F9-7061F5BFCACB}"/>
                  </a:ext>
                </a:extLst>
              </p:cNvPr>
              <p:cNvSpPr/>
              <p:nvPr/>
            </p:nvSpPr>
            <p:spPr>
              <a:xfrm>
                <a:off x="6623304" y="1819656"/>
                <a:ext cx="630936" cy="630936"/>
              </a:xfrm>
              <a:prstGeom prst="ellipse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ysClr val="windowText" lastClr="000000"/>
                    </a:solidFill>
                  </a:rPr>
                  <a:t>d</a:t>
                </a:r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28F8E136-97E5-A29B-FCC1-5931798E1542}"/>
                  </a:ext>
                </a:extLst>
              </p:cNvPr>
              <p:cNvSpPr/>
              <p:nvPr/>
            </p:nvSpPr>
            <p:spPr>
              <a:xfrm>
                <a:off x="6623304" y="3153641"/>
                <a:ext cx="630936" cy="630936"/>
              </a:xfrm>
              <a:prstGeom prst="ellipse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ysClr val="windowText" lastClr="000000"/>
                    </a:solidFill>
                  </a:rPr>
                  <a:t>f</a:t>
                </a:r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2932BD70-66D9-21C1-4A3F-914B30657745}"/>
                  </a:ext>
                </a:extLst>
              </p:cNvPr>
              <p:cNvSpPr/>
              <p:nvPr/>
            </p:nvSpPr>
            <p:spPr>
              <a:xfrm>
                <a:off x="7885957" y="3153641"/>
                <a:ext cx="630936" cy="630936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ysClr val="windowText" lastClr="000000"/>
                    </a:solidFill>
                  </a:rPr>
                  <a:t>g</a:t>
                </a:r>
              </a:p>
            </p:txBody>
          </p: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8B9AFE68-61F0-CF0C-5216-D1679893519B}"/>
                  </a:ext>
                </a:extLst>
              </p:cNvPr>
              <p:cNvCxnSpPr>
                <a:cxnSpLocks/>
                <a:stCxn id="5" idx="4"/>
                <a:endCxn id="8" idx="0"/>
              </p:cNvCxnSpPr>
              <p:nvPr/>
            </p:nvCxnSpPr>
            <p:spPr>
              <a:xfrm>
                <a:off x="3872484" y="2450592"/>
                <a:ext cx="0" cy="703049"/>
              </a:xfrm>
              <a:prstGeom prst="line">
                <a:avLst/>
              </a:prstGeom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0AE58290-50B5-2B7D-CD07-3265A5704111}"/>
                  </a:ext>
                </a:extLst>
              </p:cNvPr>
              <p:cNvCxnSpPr>
                <a:endCxn id="9" idx="2"/>
              </p:cNvCxnSpPr>
              <p:nvPr/>
            </p:nvCxnSpPr>
            <p:spPr>
              <a:xfrm>
                <a:off x="4187952" y="2135124"/>
                <a:ext cx="902208" cy="0"/>
              </a:xfrm>
              <a:prstGeom prst="line">
                <a:avLst/>
              </a:prstGeom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3040015A-11B2-8C84-E1A0-13E2D7078857}"/>
                  </a:ext>
                </a:extLst>
              </p:cNvPr>
              <p:cNvCxnSpPr>
                <a:stCxn id="9" idx="4"/>
                <a:endCxn id="10" idx="0"/>
              </p:cNvCxnSpPr>
              <p:nvPr/>
            </p:nvCxnSpPr>
            <p:spPr>
              <a:xfrm>
                <a:off x="5405628" y="2450592"/>
                <a:ext cx="0" cy="703049"/>
              </a:xfrm>
              <a:prstGeom prst="line">
                <a:avLst/>
              </a:prstGeom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Connector 20">
                <a:extLst>
                  <a:ext uri="{FF2B5EF4-FFF2-40B4-BE49-F238E27FC236}">
                    <a16:creationId xmlns:a16="http://schemas.microsoft.com/office/drawing/2014/main" id="{43F34500-DB6F-1331-4F30-9A642B46862C}"/>
                  </a:ext>
                </a:extLst>
              </p:cNvPr>
              <p:cNvCxnSpPr>
                <a:stCxn id="9" idx="6"/>
                <a:endCxn id="11" idx="2"/>
              </p:cNvCxnSpPr>
              <p:nvPr/>
            </p:nvCxnSpPr>
            <p:spPr>
              <a:xfrm>
                <a:off x="5721096" y="2135124"/>
                <a:ext cx="902208" cy="0"/>
              </a:xfrm>
              <a:prstGeom prst="line">
                <a:avLst/>
              </a:prstGeom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Straight Connector 22">
                <a:extLst>
                  <a:ext uri="{FF2B5EF4-FFF2-40B4-BE49-F238E27FC236}">
                    <a16:creationId xmlns:a16="http://schemas.microsoft.com/office/drawing/2014/main" id="{1C9EBF75-44DD-1D20-C7A1-E9499052A5D5}"/>
                  </a:ext>
                </a:extLst>
              </p:cNvPr>
              <p:cNvCxnSpPr>
                <a:stCxn id="11" idx="3"/>
                <a:endCxn id="10" idx="7"/>
              </p:cNvCxnSpPr>
              <p:nvPr/>
            </p:nvCxnSpPr>
            <p:spPr>
              <a:xfrm flipH="1">
                <a:off x="5628698" y="2358194"/>
                <a:ext cx="1087004" cy="887845"/>
              </a:xfrm>
              <a:prstGeom prst="line">
                <a:avLst/>
              </a:prstGeom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Straight Connector 24">
                <a:extLst>
                  <a:ext uri="{FF2B5EF4-FFF2-40B4-BE49-F238E27FC236}">
                    <a16:creationId xmlns:a16="http://schemas.microsoft.com/office/drawing/2014/main" id="{FD3F3E5E-CE4A-C667-C39E-89B81178D027}"/>
                  </a:ext>
                </a:extLst>
              </p:cNvPr>
              <p:cNvCxnSpPr>
                <a:stCxn id="11" idx="4"/>
                <a:endCxn id="12" idx="0"/>
              </p:cNvCxnSpPr>
              <p:nvPr/>
            </p:nvCxnSpPr>
            <p:spPr>
              <a:xfrm>
                <a:off x="6938772" y="2450592"/>
                <a:ext cx="0" cy="703049"/>
              </a:xfrm>
              <a:prstGeom prst="line">
                <a:avLst/>
              </a:prstGeom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9C408F0D-449F-570C-E8BD-065631DC2A3E}"/>
                  </a:ext>
                </a:extLst>
              </p:cNvPr>
              <p:cNvCxnSpPr>
                <a:stCxn id="10" idx="6"/>
                <a:endCxn id="12" idx="2"/>
              </p:cNvCxnSpPr>
              <p:nvPr/>
            </p:nvCxnSpPr>
            <p:spPr>
              <a:xfrm>
                <a:off x="5721096" y="3469109"/>
                <a:ext cx="902208" cy="0"/>
              </a:xfrm>
              <a:prstGeom prst="line">
                <a:avLst/>
              </a:prstGeom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9E4B3CA2-903B-ECAC-09FC-18D4D6FDD71D}"/>
                  </a:ext>
                </a:extLst>
              </p:cNvPr>
              <p:cNvCxnSpPr>
                <a:stCxn id="11" idx="5"/>
                <a:endCxn id="13" idx="1"/>
              </p:cNvCxnSpPr>
              <p:nvPr/>
            </p:nvCxnSpPr>
            <p:spPr>
              <a:xfrm>
                <a:off x="7161842" y="2358194"/>
                <a:ext cx="816513" cy="887845"/>
              </a:xfrm>
              <a:prstGeom prst="line">
                <a:avLst/>
              </a:prstGeom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67489EBB-8AEA-B5C0-A2AB-5EFE9310FD54}"/>
                </a:ext>
              </a:extLst>
            </p:cNvPr>
            <p:cNvSpPr txBox="1"/>
            <p:nvPr/>
          </p:nvSpPr>
          <p:spPr>
            <a:xfrm>
              <a:off x="4229556" y="2549126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5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366A40C8-A2E3-6C57-78FA-FBB0B4A8C329}"/>
                </a:ext>
              </a:extLst>
            </p:cNvPr>
            <p:cNvSpPr txBox="1"/>
            <p:nvPr/>
          </p:nvSpPr>
          <p:spPr>
            <a:xfrm>
              <a:off x="4094310" y="3779240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3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431E9416-7BFC-22C4-72F5-B809026A246A}"/>
                </a:ext>
              </a:extLst>
            </p:cNvPr>
            <p:cNvSpPr txBox="1"/>
            <p:nvPr/>
          </p:nvSpPr>
          <p:spPr>
            <a:xfrm>
              <a:off x="5686154" y="2445255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4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955C981D-DF66-F370-2E75-B59FE9519958}"/>
                </a:ext>
              </a:extLst>
            </p:cNvPr>
            <p:cNvSpPr txBox="1"/>
            <p:nvPr/>
          </p:nvSpPr>
          <p:spPr>
            <a:xfrm>
              <a:off x="4980324" y="3749185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7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8DAC977E-994D-BC02-982D-7CDB9DC06942}"/>
                </a:ext>
              </a:extLst>
            </p:cNvPr>
            <p:cNvSpPr txBox="1"/>
            <p:nvPr/>
          </p:nvSpPr>
          <p:spPr>
            <a:xfrm>
              <a:off x="7251400" y="2541396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8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2EF87193-4A5C-0FC3-36BD-2B3CDDA46E0A}"/>
                </a:ext>
              </a:extLst>
            </p:cNvPr>
            <p:cNvSpPr txBox="1"/>
            <p:nvPr/>
          </p:nvSpPr>
          <p:spPr>
            <a:xfrm>
              <a:off x="6548125" y="3740837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2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66224794-865E-648C-807D-AC8CF3228A2C}"/>
                </a:ext>
              </a:extLst>
            </p:cNvPr>
            <p:cNvSpPr txBox="1"/>
            <p:nvPr/>
          </p:nvSpPr>
          <p:spPr>
            <a:xfrm>
              <a:off x="8170647" y="3639607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6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7029955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E213E1-4754-502A-D7A5-BA2E2185A1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F72F4171-CAE2-0A54-C7C6-4F69BC0047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4"/>
            <a:ext cx="9905998" cy="658504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Min-Weight Vertex-Cover As Integer Program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51CDFAD-0C69-B4FB-52FF-6F1673588247}"/>
              </a:ext>
            </a:extLst>
          </p:cNvPr>
          <p:cNvSpPr txBox="1"/>
          <p:nvPr/>
        </p:nvSpPr>
        <p:spPr>
          <a:xfrm>
            <a:off x="2206870" y="1227036"/>
            <a:ext cx="7630828" cy="707886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b="1" i="1" u="sng" dirty="0">
                <a:solidFill>
                  <a:sysClr val="windowText" lastClr="000000"/>
                </a:solidFill>
              </a:rPr>
              <a:t>Integer Program</a:t>
            </a:r>
            <a:r>
              <a:rPr lang="en-US" sz="2000" dirty="0">
                <a:solidFill>
                  <a:sysClr val="windowText" lastClr="000000"/>
                </a:solidFill>
              </a:rPr>
              <a:t>: An integer program is a linear program with the added constraint that all variables must take on integer values.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87E4DAC3-A34B-A1A5-E7EE-F6F1C69DD320}"/>
              </a:ext>
            </a:extLst>
          </p:cNvPr>
          <p:cNvGrpSpPr/>
          <p:nvPr/>
        </p:nvGrpSpPr>
        <p:grpSpPr>
          <a:xfrm>
            <a:off x="900745" y="2482200"/>
            <a:ext cx="4959877" cy="2149587"/>
            <a:chOff x="3614472" y="2445255"/>
            <a:chExt cx="4959877" cy="2149587"/>
          </a:xfrm>
        </p:grpSpPr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9B7B8548-B525-78B9-1A45-3C540C5571B1}"/>
                </a:ext>
              </a:extLst>
            </p:cNvPr>
            <p:cNvGrpSpPr/>
            <p:nvPr/>
          </p:nvGrpSpPr>
          <p:grpSpPr>
            <a:xfrm>
              <a:off x="3614472" y="2629921"/>
              <a:ext cx="4959877" cy="1964921"/>
              <a:chOff x="3557016" y="1819656"/>
              <a:chExt cx="4959877" cy="1964921"/>
            </a:xfrm>
          </p:grpSpPr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1F97AD9B-CF9D-88F9-D772-CC297008E0E1}"/>
                  </a:ext>
                </a:extLst>
              </p:cNvPr>
              <p:cNvSpPr/>
              <p:nvPr/>
            </p:nvSpPr>
            <p:spPr>
              <a:xfrm>
                <a:off x="3557016" y="1819656"/>
                <a:ext cx="630936" cy="630936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ysClr val="windowText" lastClr="000000"/>
                    </a:solidFill>
                  </a:rPr>
                  <a:t>b</a:t>
                </a:r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3F85232B-25B1-9AAA-41D9-ACF656755EAA}"/>
                  </a:ext>
                </a:extLst>
              </p:cNvPr>
              <p:cNvSpPr/>
              <p:nvPr/>
            </p:nvSpPr>
            <p:spPr>
              <a:xfrm>
                <a:off x="3557016" y="3153641"/>
                <a:ext cx="630936" cy="630936"/>
              </a:xfrm>
              <a:prstGeom prst="ellipse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ysClr val="windowText" lastClr="000000"/>
                    </a:solidFill>
                  </a:rPr>
                  <a:t>a</a:t>
                </a:r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D2F773AD-C55A-AFE4-00D4-D0B7A74AF96E}"/>
                  </a:ext>
                </a:extLst>
              </p:cNvPr>
              <p:cNvSpPr/>
              <p:nvPr/>
            </p:nvSpPr>
            <p:spPr>
              <a:xfrm>
                <a:off x="5090160" y="1819656"/>
                <a:ext cx="630936" cy="630936"/>
              </a:xfrm>
              <a:prstGeom prst="ellipse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ysClr val="windowText" lastClr="000000"/>
                    </a:solidFill>
                  </a:rPr>
                  <a:t>c</a:t>
                </a:r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5882C8D7-762B-F44B-D255-1B902D276E1E}"/>
                  </a:ext>
                </a:extLst>
              </p:cNvPr>
              <p:cNvSpPr/>
              <p:nvPr/>
            </p:nvSpPr>
            <p:spPr>
              <a:xfrm>
                <a:off x="5090160" y="3153641"/>
                <a:ext cx="630936" cy="630936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ysClr val="windowText" lastClr="000000"/>
                    </a:solidFill>
                  </a:rPr>
                  <a:t>e</a:t>
                </a:r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84F395A1-23C1-5C73-890E-D247CB5D104D}"/>
                  </a:ext>
                </a:extLst>
              </p:cNvPr>
              <p:cNvSpPr/>
              <p:nvPr/>
            </p:nvSpPr>
            <p:spPr>
              <a:xfrm>
                <a:off x="6623304" y="1819656"/>
                <a:ext cx="630936" cy="630936"/>
              </a:xfrm>
              <a:prstGeom prst="ellipse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ysClr val="windowText" lastClr="000000"/>
                    </a:solidFill>
                  </a:rPr>
                  <a:t>d</a:t>
                </a:r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DE34C1F6-7A2B-DD95-E336-8E2AD55E4D3C}"/>
                  </a:ext>
                </a:extLst>
              </p:cNvPr>
              <p:cNvSpPr/>
              <p:nvPr/>
            </p:nvSpPr>
            <p:spPr>
              <a:xfrm>
                <a:off x="6623304" y="3153641"/>
                <a:ext cx="630936" cy="630936"/>
              </a:xfrm>
              <a:prstGeom prst="ellipse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ysClr val="windowText" lastClr="000000"/>
                    </a:solidFill>
                  </a:rPr>
                  <a:t>f</a:t>
                </a:r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085E8761-D3D9-F405-AEFE-62A5A7012958}"/>
                  </a:ext>
                </a:extLst>
              </p:cNvPr>
              <p:cNvSpPr/>
              <p:nvPr/>
            </p:nvSpPr>
            <p:spPr>
              <a:xfrm>
                <a:off x="7885957" y="3153641"/>
                <a:ext cx="630936" cy="630936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ysClr val="windowText" lastClr="000000"/>
                    </a:solidFill>
                  </a:rPr>
                  <a:t>g</a:t>
                </a:r>
              </a:p>
            </p:txBody>
          </p: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23ECC6E0-EA9A-05DC-AFBC-EF751C356798}"/>
                  </a:ext>
                </a:extLst>
              </p:cNvPr>
              <p:cNvCxnSpPr>
                <a:cxnSpLocks/>
                <a:stCxn id="5" idx="4"/>
                <a:endCxn id="8" idx="0"/>
              </p:cNvCxnSpPr>
              <p:nvPr/>
            </p:nvCxnSpPr>
            <p:spPr>
              <a:xfrm>
                <a:off x="3872484" y="2450592"/>
                <a:ext cx="0" cy="703049"/>
              </a:xfrm>
              <a:prstGeom prst="line">
                <a:avLst/>
              </a:prstGeom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F932F8E3-CD10-F5E9-D4D9-C038D5BBFFD4}"/>
                  </a:ext>
                </a:extLst>
              </p:cNvPr>
              <p:cNvCxnSpPr>
                <a:endCxn id="9" idx="2"/>
              </p:cNvCxnSpPr>
              <p:nvPr/>
            </p:nvCxnSpPr>
            <p:spPr>
              <a:xfrm>
                <a:off x="4187952" y="2135124"/>
                <a:ext cx="902208" cy="0"/>
              </a:xfrm>
              <a:prstGeom prst="line">
                <a:avLst/>
              </a:prstGeom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CCF70B20-8637-461F-EFC4-BDC08B8BF46C}"/>
                  </a:ext>
                </a:extLst>
              </p:cNvPr>
              <p:cNvCxnSpPr>
                <a:stCxn id="9" idx="4"/>
                <a:endCxn id="10" idx="0"/>
              </p:cNvCxnSpPr>
              <p:nvPr/>
            </p:nvCxnSpPr>
            <p:spPr>
              <a:xfrm>
                <a:off x="5405628" y="2450592"/>
                <a:ext cx="0" cy="703049"/>
              </a:xfrm>
              <a:prstGeom prst="line">
                <a:avLst/>
              </a:prstGeom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Connector 20">
                <a:extLst>
                  <a:ext uri="{FF2B5EF4-FFF2-40B4-BE49-F238E27FC236}">
                    <a16:creationId xmlns:a16="http://schemas.microsoft.com/office/drawing/2014/main" id="{519AB734-5808-D600-0EDA-BCB60DEAF43B}"/>
                  </a:ext>
                </a:extLst>
              </p:cNvPr>
              <p:cNvCxnSpPr>
                <a:stCxn id="9" idx="6"/>
                <a:endCxn id="11" idx="2"/>
              </p:cNvCxnSpPr>
              <p:nvPr/>
            </p:nvCxnSpPr>
            <p:spPr>
              <a:xfrm>
                <a:off x="5721096" y="2135124"/>
                <a:ext cx="902208" cy="0"/>
              </a:xfrm>
              <a:prstGeom prst="line">
                <a:avLst/>
              </a:prstGeom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Straight Connector 22">
                <a:extLst>
                  <a:ext uri="{FF2B5EF4-FFF2-40B4-BE49-F238E27FC236}">
                    <a16:creationId xmlns:a16="http://schemas.microsoft.com/office/drawing/2014/main" id="{CDADA19D-5E6D-DEFD-94EC-675FD8D9E3C9}"/>
                  </a:ext>
                </a:extLst>
              </p:cNvPr>
              <p:cNvCxnSpPr>
                <a:stCxn id="11" idx="3"/>
                <a:endCxn id="10" idx="7"/>
              </p:cNvCxnSpPr>
              <p:nvPr/>
            </p:nvCxnSpPr>
            <p:spPr>
              <a:xfrm flipH="1">
                <a:off x="5628698" y="2358194"/>
                <a:ext cx="1087004" cy="887845"/>
              </a:xfrm>
              <a:prstGeom prst="line">
                <a:avLst/>
              </a:prstGeom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Straight Connector 24">
                <a:extLst>
                  <a:ext uri="{FF2B5EF4-FFF2-40B4-BE49-F238E27FC236}">
                    <a16:creationId xmlns:a16="http://schemas.microsoft.com/office/drawing/2014/main" id="{EFA591E7-316C-0582-9149-A4BE34685181}"/>
                  </a:ext>
                </a:extLst>
              </p:cNvPr>
              <p:cNvCxnSpPr>
                <a:stCxn id="11" idx="4"/>
                <a:endCxn id="12" idx="0"/>
              </p:cNvCxnSpPr>
              <p:nvPr/>
            </p:nvCxnSpPr>
            <p:spPr>
              <a:xfrm>
                <a:off x="6938772" y="2450592"/>
                <a:ext cx="0" cy="703049"/>
              </a:xfrm>
              <a:prstGeom prst="line">
                <a:avLst/>
              </a:prstGeom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F36365D3-FD01-4F02-E28E-BA26850D34B4}"/>
                  </a:ext>
                </a:extLst>
              </p:cNvPr>
              <p:cNvCxnSpPr>
                <a:stCxn id="10" idx="6"/>
                <a:endCxn id="12" idx="2"/>
              </p:cNvCxnSpPr>
              <p:nvPr/>
            </p:nvCxnSpPr>
            <p:spPr>
              <a:xfrm>
                <a:off x="5721096" y="3469109"/>
                <a:ext cx="902208" cy="0"/>
              </a:xfrm>
              <a:prstGeom prst="line">
                <a:avLst/>
              </a:prstGeom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412253B9-F19B-9529-066E-27742B67FC67}"/>
                  </a:ext>
                </a:extLst>
              </p:cNvPr>
              <p:cNvCxnSpPr>
                <a:stCxn id="11" idx="5"/>
                <a:endCxn id="13" idx="1"/>
              </p:cNvCxnSpPr>
              <p:nvPr/>
            </p:nvCxnSpPr>
            <p:spPr>
              <a:xfrm>
                <a:off x="7161842" y="2358194"/>
                <a:ext cx="816513" cy="887845"/>
              </a:xfrm>
              <a:prstGeom prst="line">
                <a:avLst/>
              </a:prstGeom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2B20A429-A0D5-A012-B642-870AAA4C641A}"/>
                </a:ext>
              </a:extLst>
            </p:cNvPr>
            <p:cNvSpPr txBox="1"/>
            <p:nvPr/>
          </p:nvSpPr>
          <p:spPr>
            <a:xfrm>
              <a:off x="4229556" y="2549126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5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AC6F6519-1212-01D7-D662-DFF1CD8757D3}"/>
                </a:ext>
              </a:extLst>
            </p:cNvPr>
            <p:cNvSpPr txBox="1"/>
            <p:nvPr/>
          </p:nvSpPr>
          <p:spPr>
            <a:xfrm>
              <a:off x="4094310" y="3779240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3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0B716469-17C1-D634-28AC-1B5EE5F5E603}"/>
                </a:ext>
              </a:extLst>
            </p:cNvPr>
            <p:cNvSpPr txBox="1"/>
            <p:nvPr/>
          </p:nvSpPr>
          <p:spPr>
            <a:xfrm>
              <a:off x="5686154" y="2445255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4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AC2F79A0-23E7-E067-9731-F601AEF13FA2}"/>
                </a:ext>
              </a:extLst>
            </p:cNvPr>
            <p:cNvSpPr txBox="1"/>
            <p:nvPr/>
          </p:nvSpPr>
          <p:spPr>
            <a:xfrm>
              <a:off x="4980324" y="3749185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7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694DF79D-A9D3-4FCE-5EE6-8BCAFB7D5C5D}"/>
                </a:ext>
              </a:extLst>
            </p:cNvPr>
            <p:cNvSpPr txBox="1"/>
            <p:nvPr/>
          </p:nvSpPr>
          <p:spPr>
            <a:xfrm>
              <a:off x="7251400" y="2541396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8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F95966E4-CAFA-9A29-06D6-8FAAAE567001}"/>
                </a:ext>
              </a:extLst>
            </p:cNvPr>
            <p:cNvSpPr txBox="1"/>
            <p:nvPr/>
          </p:nvSpPr>
          <p:spPr>
            <a:xfrm>
              <a:off x="6548125" y="3740837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2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23807632-7C6C-6936-4650-CE0C5879B270}"/>
                </a:ext>
              </a:extLst>
            </p:cNvPr>
            <p:cNvSpPr txBox="1"/>
            <p:nvPr/>
          </p:nvSpPr>
          <p:spPr>
            <a:xfrm>
              <a:off x="8170647" y="3639607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6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3AD6E483-0EB8-70CD-536B-0C1404FECD8A}"/>
                  </a:ext>
                </a:extLst>
              </p:cNvPr>
              <p:cNvSpPr txBox="1"/>
              <p:nvPr/>
            </p:nvSpPr>
            <p:spPr>
              <a:xfrm>
                <a:off x="6331380" y="2431962"/>
                <a:ext cx="3864459" cy="839140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US" sz="2000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000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  <m:r>
                            <a:rPr lang="en-US" sz="2000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2000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𝑉</m:t>
                          </m:r>
                        </m:sub>
                        <m:sup/>
                        <m:e>
                          <m:r>
                            <a:rPr lang="en-US" sz="2000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  <m:d>
                            <m:dPr>
                              <m:ctrlPr>
                                <a:rPr lang="en-US" sz="2000" b="0" i="1" smtClean="0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b="0" i="1" smtClean="0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</m:d>
                          <m:r>
                            <a:rPr lang="en-US" sz="2000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⋅</m:t>
                          </m:r>
                          <m:sSub>
                            <m:sSubPr>
                              <m:ctrlPr>
                                <a:rPr lang="en-US" sz="2000" b="0" i="1" smtClean="0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000" b="0" i="1" smtClean="0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sz="2000" dirty="0">
                  <a:solidFill>
                    <a:sysClr val="windowText" lastClr="000000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3AD6E483-0EB8-70CD-536B-0C1404FECD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31380" y="2431962"/>
                <a:ext cx="3864459" cy="839140"/>
              </a:xfrm>
              <a:prstGeom prst="rect">
                <a:avLst/>
              </a:prstGeom>
              <a:blipFill>
                <a:blip r:embed="rId2"/>
                <a:stretch>
                  <a:fillRect t="-122059" b="-170588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TextBox 25">
            <a:extLst>
              <a:ext uri="{FF2B5EF4-FFF2-40B4-BE49-F238E27FC236}">
                <a16:creationId xmlns:a16="http://schemas.microsoft.com/office/drawing/2014/main" id="{A6F96E2D-63E6-DEA6-1D51-F96002D08987}"/>
              </a:ext>
            </a:extLst>
          </p:cNvPr>
          <p:cNvSpPr txBox="1"/>
          <p:nvPr/>
        </p:nvSpPr>
        <p:spPr>
          <a:xfrm>
            <a:off x="6331380" y="2062630"/>
            <a:ext cx="38644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Minimize: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8439ABC5-7F9E-497F-0F3E-67E65AD6EC22}"/>
                  </a:ext>
                </a:extLst>
              </p:cNvPr>
              <p:cNvSpPr txBox="1"/>
              <p:nvPr/>
            </p:nvSpPr>
            <p:spPr>
              <a:xfrm>
                <a:off x="6331380" y="4000851"/>
                <a:ext cx="3864459" cy="101566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</m:sSub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sub>
                    </m:sSub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≥1</m:t>
                    </m:r>
                  </m:oMath>
                </a14:m>
                <a:r>
                  <a:rPr lang="en-US" sz="2000" dirty="0">
                    <a:solidFill>
                      <a:sysClr val="windowText" lastClr="000000"/>
                    </a:solidFill>
                  </a:rPr>
                  <a:t>	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∀ </m:t>
                    </m:r>
                    <m:d>
                      <m:dPr>
                        <m:ctrlP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𝑢</m:t>
                        </m:r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d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endParaRPr lang="en-US" sz="2000" dirty="0">
                  <a:solidFill>
                    <a:sysClr val="windowText" lastClr="000000"/>
                  </a:solidFill>
                </a:endParaRPr>
              </a:p>
              <a:p>
                <a:pPr algn="ctr"/>
                <a:endParaRPr lang="en-US" sz="2000" dirty="0">
                  <a:solidFill>
                    <a:sysClr val="windowText" lastClr="000000"/>
                  </a:solidFill>
                </a:endParaRPr>
              </a:p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sub>
                    </m:sSub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∈{0,1}</m:t>
                    </m:r>
                  </m:oMath>
                </a14:m>
                <a:r>
                  <a:rPr lang="en-US" sz="2000" dirty="0">
                    <a:solidFill>
                      <a:sysClr val="windowText" lastClr="000000"/>
                    </a:solidFill>
                  </a:rPr>
                  <a:t>	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∀ 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endParaRPr lang="en-US" sz="2000" dirty="0">
                  <a:solidFill>
                    <a:sysClr val="windowText" lastClr="000000"/>
                  </a:solidFill>
                </a:endParaRPr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8439ABC5-7F9E-497F-0F3E-67E65AD6EC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31380" y="4000851"/>
                <a:ext cx="3864459" cy="1015663"/>
              </a:xfrm>
              <a:prstGeom prst="rect">
                <a:avLst/>
              </a:prstGeom>
              <a:blipFill>
                <a:blip r:embed="rId3"/>
                <a:stretch>
                  <a:fillRect b="-6098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TextBox 29">
            <a:extLst>
              <a:ext uri="{FF2B5EF4-FFF2-40B4-BE49-F238E27FC236}">
                <a16:creationId xmlns:a16="http://schemas.microsoft.com/office/drawing/2014/main" id="{E79E2A59-DFD5-F575-37C6-0BD3B4099503}"/>
              </a:ext>
            </a:extLst>
          </p:cNvPr>
          <p:cNvSpPr txBox="1"/>
          <p:nvPr/>
        </p:nvSpPr>
        <p:spPr>
          <a:xfrm>
            <a:off x="6331380" y="3631519"/>
            <a:ext cx="38644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Subject to: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8824B4D-1DDE-0AC6-6BF7-2D16790B8BE9}"/>
              </a:ext>
            </a:extLst>
          </p:cNvPr>
          <p:cNvSpPr txBox="1"/>
          <p:nvPr/>
        </p:nvSpPr>
        <p:spPr>
          <a:xfrm>
            <a:off x="1213308" y="5605115"/>
            <a:ext cx="424091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Note that solving integer programs must also be NP-Hard, as solutions would produce the solution for NP-Hard problems like this one</a:t>
            </a:r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DD8D1E7E-2123-DFD7-4543-15D1BCFD2E2C}"/>
              </a:ext>
            </a:extLst>
          </p:cNvPr>
          <p:cNvCxnSpPr>
            <a:cxnSpLocks/>
          </p:cNvCxnSpPr>
          <p:nvPr/>
        </p:nvCxnSpPr>
        <p:spPr>
          <a:xfrm flipV="1">
            <a:off x="5167543" y="4922982"/>
            <a:ext cx="1039293" cy="682133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44E4DA17-3A84-E01E-0C8A-22FD5158BC70}"/>
              </a:ext>
            </a:extLst>
          </p:cNvPr>
          <p:cNvSpPr txBox="1"/>
          <p:nvPr/>
        </p:nvSpPr>
        <p:spPr>
          <a:xfrm>
            <a:off x="7046072" y="5962935"/>
            <a:ext cx="42409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Also note how the first constraint ensures that we get a vertex-cover. Can you see why?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A66DDF03-30D7-D9A8-72AD-86E02EB2EF44}"/>
              </a:ext>
            </a:extLst>
          </p:cNvPr>
          <p:cNvCxnSpPr>
            <a:cxnSpLocks/>
          </p:cNvCxnSpPr>
          <p:nvPr/>
        </p:nvCxnSpPr>
        <p:spPr>
          <a:xfrm flipH="1" flipV="1">
            <a:off x="7398327" y="5148658"/>
            <a:ext cx="202998" cy="797523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2381531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4DFA63-0238-0A8A-BB66-C6D3390082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9BBC667A-4141-49B0-0DB4-05E8C0BEB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4"/>
            <a:ext cx="9905998" cy="658504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Min-Weight Vertex-Cover As Integer Program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C45FF7D-2397-5E97-1583-EEFC7660A15D}"/>
              </a:ext>
            </a:extLst>
          </p:cNvPr>
          <p:cNvSpPr txBox="1"/>
          <p:nvPr/>
        </p:nvSpPr>
        <p:spPr>
          <a:xfrm>
            <a:off x="2206870" y="1227036"/>
            <a:ext cx="7630828" cy="707886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b="1" i="1" u="sng" dirty="0">
                <a:solidFill>
                  <a:sysClr val="windowText" lastClr="000000"/>
                </a:solidFill>
              </a:rPr>
              <a:t>LP-Relaxation</a:t>
            </a:r>
            <a:r>
              <a:rPr lang="en-US" sz="2000" dirty="0">
                <a:solidFill>
                  <a:sysClr val="windowText" lastClr="000000"/>
                </a:solidFill>
              </a:rPr>
              <a:t>: An integer program can be easily converted into a linear program by relaxing the integer constraint.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A680C0E7-6F28-28AB-2DD9-765C74856834}"/>
              </a:ext>
            </a:extLst>
          </p:cNvPr>
          <p:cNvGrpSpPr/>
          <p:nvPr/>
        </p:nvGrpSpPr>
        <p:grpSpPr>
          <a:xfrm>
            <a:off x="900745" y="2482200"/>
            <a:ext cx="4959877" cy="2149587"/>
            <a:chOff x="3614472" y="2445255"/>
            <a:chExt cx="4959877" cy="2149587"/>
          </a:xfrm>
        </p:grpSpPr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33F08D44-F390-09CC-9415-4B762C9AAEAA}"/>
                </a:ext>
              </a:extLst>
            </p:cNvPr>
            <p:cNvGrpSpPr/>
            <p:nvPr/>
          </p:nvGrpSpPr>
          <p:grpSpPr>
            <a:xfrm>
              <a:off x="3614472" y="2629921"/>
              <a:ext cx="4959877" cy="1964921"/>
              <a:chOff x="3557016" y="1819656"/>
              <a:chExt cx="4959877" cy="1964921"/>
            </a:xfrm>
          </p:grpSpPr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92B44C0F-50B0-39C6-AC5F-D0F769D5E87A}"/>
                  </a:ext>
                </a:extLst>
              </p:cNvPr>
              <p:cNvSpPr/>
              <p:nvPr/>
            </p:nvSpPr>
            <p:spPr>
              <a:xfrm>
                <a:off x="3557016" y="1819656"/>
                <a:ext cx="630936" cy="630936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ysClr val="windowText" lastClr="000000"/>
                    </a:solidFill>
                  </a:rPr>
                  <a:t>b</a:t>
                </a:r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74B2D19F-AEFB-F0DC-05A7-D2BDF6F43612}"/>
                  </a:ext>
                </a:extLst>
              </p:cNvPr>
              <p:cNvSpPr/>
              <p:nvPr/>
            </p:nvSpPr>
            <p:spPr>
              <a:xfrm>
                <a:off x="3557016" y="3153641"/>
                <a:ext cx="630936" cy="630936"/>
              </a:xfrm>
              <a:prstGeom prst="ellipse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ysClr val="windowText" lastClr="000000"/>
                    </a:solidFill>
                  </a:rPr>
                  <a:t>a</a:t>
                </a:r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F3D2246C-23E5-5129-19AB-FACB13A93EFD}"/>
                  </a:ext>
                </a:extLst>
              </p:cNvPr>
              <p:cNvSpPr/>
              <p:nvPr/>
            </p:nvSpPr>
            <p:spPr>
              <a:xfrm>
                <a:off x="5090160" y="1819656"/>
                <a:ext cx="630936" cy="630936"/>
              </a:xfrm>
              <a:prstGeom prst="ellipse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ysClr val="windowText" lastClr="000000"/>
                    </a:solidFill>
                  </a:rPr>
                  <a:t>c</a:t>
                </a:r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7E3664B6-8EF0-BB05-03E4-D28ABC7C7B21}"/>
                  </a:ext>
                </a:extLst>
              </p:cNvPr>
              <p:cNvSpPr/>
              <p:nvPr/>
            </p:nvSpPr>
            <p:spPr>
              <a:xfrm>
                <a:off x="5090160" y="3153641"/>
                <a:ext cx="630936" cy="630936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ysClr val="windowText" lastClr="000000"/>
                    </a:solidFill>
                  </a:rPr>
                  <a:t>e</a:t>
                </a:r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096E5494-027B-A080-12C7-AB1DC3834C33}"/>
                  </a:ext>
                </a:extLst>
              </p:cNvPr>
              <p:cNvSpPr/>
              <p:nvPr/>
            </p:nvSpPr>
            <p:spPr>
              <a:xfrm>
                <a:off x="6623304" y="1819656"/>
                <a:ext cx="630936" cy="630936"/>
              </a:xfrm>
              <a:prstGeom prst="ellipse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ysClr val="windowText" lastClr="000000"/>
                    </a:solidFill>
                  </a:rPr>
                  <a:t>d</a:t>
                </a:r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3AE3A615-C73C-4505-CA7A-93FBED8B9F5C}"/>
                  </a:ext>
                </a:extLst>
              </p:cNvPr>
              <p:cNvSpPr/>
              <p:nvPr/>
            </p:nvSpPr>
            <p:spPr>
              <a:xfrm>
                <a:off x="6623304" y="3153641"/>
                <a:ext cx="630936" cy="630936"/>
              </a:xfrm>
              <a:prstGeom prst="ellipse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ysClr val="windowText" lastClr="000000"/>
                    </a:solidFill>
                  </a:rPr>
                  <a:t>f</a:t>
                </a:r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DC5546F3-439D-F352-1085-7C523C91746C}"/>
                  </a:ext>
                </a:extLst>
              </p:cNvPr>
              <p:cNvSpPr/>
              <p:nvPr/>
            </p:nvSpPr>
            <p:spPr>
              <a:xfrm>
                <a:off x="7885957" y="3153641"/>
                <a:ext cx="630936" cy="630936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ysClr val="windowText" lastClr="000000"/>
                    </a:solidFill>
                  </a:rPr>
                  <a:t>g</a:t>
                </a:r>
              </a:p>
            </p:txBody>
          </p: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19318EAA-DD3A-5C36-2770-5805F0C9BB8F}"/>
                  </a:ext>
                </a:extLst>
              </p:cNvPr>
              <p:cNvCxnSpPr>
                <a:cxnSpLocks/>
                <a:stCxn id="5" idx="4"/>
                <a:endCxn id="8" idx="0"/>
              </p:cNvCxnSpPr>
              <p:nvPr/>
            </p:nvCxnSpPr>
            <p:spPr>
              <a:xfrm>
                <a:off x="3872484" y="2450592"/>
                <a:ext cx="0" cy="703049"/>
              </a:xfrm>
              <a:prstGeom prst="line">
                <a:avLst/>
              </a:prstGeom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034C79B0-6EBC-A9E0-1667-E8A870740AEB}"/>
                  </a:ext>
                </a:extLst>
              </p:cNvPr>
              <p:cNvCxnSpPr>
                <a:endCxn id="9" idx="2"/>
              </p:cNvCxnSpPr>
              <p:nvPr/>
            </p:nvCxnSpPr>
            <p:spPr>
              <a:xfrm>
                <a:off x="4187952" y="2135124"/>
                <a:ext cx="902208" cy="0"/>
              </a:xfrm>
              <a:prstGeom prst="line">
                <a:avLst/>
              </a:prstGeom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3A2BF149-9899-CB07-F81A-E50C1E20F213}"/>
                  </a:ext>
                </a:extLst>
              </p:cNvPr>
              <p:cNvCxnSpPr>
                <a:stCxn id="9" idx="4"/>
                <a:endCxn id="10" idx="0"/>
              </p:cNvCxnSpPr>
              <p:nvPr/>
            </p:nvCxnSpPr>
            <p:spPr>
              <a:xfrm>
                <a:off x="5405628" y="2450592"/>
                <a:ext cx="0" cy="703049"/>
              </a:xfrm>
              <a:prstGeom prst="line">
                <a:avLst/>
              </a:prstGeom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Connector 20">
                <a:extLst>
                  <a:ext uri="{FF2B5EF4-FFF2-40B4-BE49-F238E27FC236}">
                    <a16:creationId xmlns:a16="http://schemas.microsoft.com/office/drawing/2014/main" id="{09F34EFF-F183-C535-BB07-9D2BFD98C977}"/>
                  </a:ext>
                </a:extLst>
              </p:cNvPr>
              <p:cNvCxnSpPr>
                <a:stCxn id="9" idx="6"/>
                <a:endCxn id="11" idx="2"/>
              </p:cNvCxnSpPr>
              <p:nvPr/>
            </p:nvCxnSpPr>
            <p:spPr>
              <a:xfrm>
                <a:off x="5721096" y="2135124"/>
                <a:ext cx="902208" cy="0"/>
              </a:xfrm>
              <a:prstGeom prst="line">
                <a:avLst/>
              </a:prstGeom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Straight Connector 22">
                <a:extLst>
                  <a:ext uri="{FF2B5EF4-FFF2-40B4-BE49-F238E27FC236}">
                    <a16:creationId xmlns:a16="http://schemas.microsoft.com/office/drawing/2014/main" id="{979FE549-BFDE-076A-675B-C4ECA247CF7B}"/>
                  </a:ext>
                </a:extLst>
              </p:cNvPr>
              <p:cNvCxnSpPr>
                <a:stCxn id="11" idx="3"/>
                <a:endCxn id="10" idx="7"/>
              </p:cNvCxnSpPr>
              <p:nvPr/>
            </p:nvCxnSpPr>
            <p:spPr>
              <a:xfrm flipH="1">
                <a:off x="5628698" y="2358194"/>
                <a:ext cx="1087004" cy="887845"/>
              </a:xfrm>
              <a:prstGeom prst="line">
                <a:avLst/>
              </a:prstGeom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Straight Connector 24">
                <a:extLst>
                  <a:ext uri="{FF2B5EF4-FFF2-40B4-BE49-F238E27FC236}">
                    <a16:creationId xmlns:a16="http://schemas.microsoft.com/office/drawing/2014/main" id="{A179EC95-3321-570A-B974-20523C237AE7}"/>
                  </a:ext>
                </a:extLst>
              </p:cNvPr>
              <p:cNvCxnSpPr>
                <a:stCxn id="11" idx="4"/>
                <a:endCxn id="12" idx="0"/>
              </p:cNvCxnSpPr>
              <p:nvPr/>
            </p:nvCxnSpPr>
            <p:spPr>
              <a:xfrm>
                <a:off x="6938772" y="2450592"/>
                <a:ext cx="0" cy="703049"/>
              </a:xfrm>
              <a:prstGeom prst="line">
                <a:avLst/>
              </a:prstGeom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097FEDD4-DBAD-8AC4-ADE3-54DE5389068C}"/>
                  </a:ext>
                </a:extLst>
              </p:cNvPr>
              <p:cNvCxnSpPr>
                <a:stCxn id="10" idx="6"/>
                <a:endCxn id="12" idx="2"/>
              </p:cNvCxnSpPr>
              <p:nvPr/>
            </p:nvCxnSpPr>
            <p:spPr>
              <a:xfrm>
                <a:off x="5721096" y="3469109"/>
                <a:ext cx="902208" cy="0"/>
              </a:xfrm>
              <a:prstGeom prst="line">
                <a:avLst/>
              </a:prstGeom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EB161313-117C-7230-FF0A-2AD908671441}"/>
                  </a:ext>
                </a:extLst>
              </p:cNvPr>
              <p:cNvCxnSpPr>
                <a:stCxn id="11" idx="5"/>
                <a:endCxn id="13" idx="1"/>
              </p:cNvCxnSpPr>
              <p:nvPr/>
            </p:nvCxnSpPr>
            <p:spPr>
              <a:xfrm>
                <a:off x="7161842" y="2358194"/>
                <a:ext cx="816513" cy="887845"/>
              </a:xfrm>
              <a:prstGeom prst="line">
                <a:avLst/>
              </a:prstGeom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019C01CE-F9B3-9CF4-E3BC-A555565BAD02}"/>
                </a:ext>
              </a:extLst>
            </p:cNvPr>
            <p:cNvSpPr txBox="1"/>
            <p:nvPr/>
          </p:nvSpPr>
          <p:spPr>
            <a:xfrm>
              <a:off x="4229556" y="2549126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5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D4AB0816-9A4F-FEE2-F5AB-7E4AE954E317}"/>
                </a:ext>
              </a:extLst>
            </p:cNvPr>
            <p:cNvSpPr txBox="1"/>
            <p:nvPr/>
          </p:nvSpPr>
          <p:spPr>
            <a:xfrm>
              <a:off x="4094310" y="3779240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3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738C130C-8B09-7B26-90B6-8F61908EFA74}"/>
                </a:ext>
              </a:extLst>
            </p:cNvPr>
            <p:cNvSpPr txBox="1"/>
            <p:nvPr/>
          </p:nvSpPr>
          <p:spPr>
            <a:xfrm>
              <a:off x="5686154" y="2445255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4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696C8B9F-8C84-7D41-3F3B-D1DE37C6B80F}"/>
                </a:ext>
              </a:extLst>
            </p:cNvPr>
            <p:cNvSpPr txBox="1"/>
            <p:nvPr/>
          </p:nvSpPr>
          <p:spPr>
            <a:xfrm>
              <a:off x="4980324" y="3749185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7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98D67F91-A87F-2508-0074-D77A1AC39B55}"/>
                </a:ext>
              </a:extLst>
            </p:cNvPr>
            <p:cNvSpPr txBox="1"/>
            <p:nvPr/>
          </p:nvSpPr>
          <p:spPr>
            <a:xfrm>
              <a:off x="7251400" y="2541396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8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CA57C26D-F726-804E-93AA-FD28CF1CD0BD}"/>
                </a:ext>
              </a:extLst>
            </p:cNvPr>
            <p:cNvSpPr txBox="1"/>
            <p:nvPr/>
          </p:nvSpPr>
          <p:spPr>
            <a:xfrm>
              <a:off x="6548125" y="3740837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2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B8DCC1DC-65B0-1289-E12E-659B86E76A9A}"/>
                </a:ext>
              </a:extLst>
            </p:cNvPr>
            <p:cNvSpPr txBox="1"/>
            <p:nvPr/>
          </p:nvSpPr>
          <p:spPr>
            <a:xfrm>
              <a:off x="8170647" y="3639607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6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1BE65F4-6ADF-59BD-A8FA-026F03E673A1}"/>
                  </a:ext>
                </a:extLst>
              </p:cNvPr>
              <p:cNvSpPr txBox="1"/>
              <p:nvPr/>
            </p:nvSpPr>
            <p:spPr>
              <a:xfrm>
                <a:off x="6331380" y="2431962"/>
                <a:ext cx="3864459" cy="839140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US" sz="2000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000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  <m:r>
                            <a:rPr lang="en-US" sz="2000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2000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𝑉</m:t>
                          </m:r>
                        </m:sub>
                        <m:sup/>
                        <m:e>
                          <m:r>
                            <a:rPr lang="en-US" sz="2000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  <m:d>
                            <m:dPr>
                              <m:ctrlPr>
                                <a:rPr lang="en-US" sz="2000" b="0" i="1" smtClean="0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b="0" i="1" smtClean="0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</m:d>
                          <m:r>
                            <a:rPr lang="en-US" sz="2000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⋅</m:t>
                          </m:r>
                          <m:sSub>
                            <m:sSubPr>
                              <m:ctrlPr>
                                <a:rPr lang="en-US" sz="2000" b="0" i="1" smtClean="0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000" b="0" i="1" smtClean="0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sz="2000" dirty="0">
                  <a:solidFill>
                    <a:sysClr val="windowText" lastClr="000000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1BE65F4-6ADF-59BD-A8FA-026F03E673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31380" y="2431962"/>
                <a:ext cx="3864459" cy="839140"/>
              </a:xfrm>
              <a:prstGeom prst="rect">
                <a:avLst/>
              </a:prstGeom>
              <a:blipFill>
                <a:blip r:embed="rId2"/>
                <a:stretch>
                  <a:fillRect t="-122059" b="-170588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TextBox 25">
            <a:extLst>
              <a:ext uri="{FF2B5EF4-FFF2-40B4-BE49-F238E27FC236}">
                <a16:creationId xmlns:a16="http://schemas.microsoft.com/office/drawing/2014/main" id="{07EAF53E-798E-575F-F5A8-068F4E152316}"/>
              </a:ext>
            </a:extLst>
          </p:cNvPr>
          <p:cNvSpPr txBox="1"/>
          <p:nvPr/>
        </p:nvSpPr>
        <p:spPr>
          <a:xfrm>
            <a:off x="6331380" y="2062630"/>
            <a:ext cx="38644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Minimize: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010193FD-1524-276D-6858-859FA37B63EC}"/>
                  </a:ext>
                </a:extLst>
              </p:cNvPr>
              <p:cNvSpPr txBox="1"/>
              <p:nvPr/>
            </p:nvSpPr>
            <p:spPr>
              <a:xfrm>
                <a:off x="6331380" y="4000851"/>
                <a:ext cx="3864459" cy="1323439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</m:sSub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sub>
                    </m:sSub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≥1</m:t>
                    </m:r>
                  </m:oMath>
                </a14:m>
                <a:r>
                  <a:rPr lang="en-US" sz="2000" dirty="0">
                    <a:solidFill>
                      <a:sysClr val="windowText" lastClr="000000"/>
                    </a:solidFill>
                  </a:rPr>
                  <a:t>	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∀ </m:t>
                    </m:r>
                    <m:d>
                      <m:dPr>
                        <m:ctrlP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𝑢</m:t>
                        </m:r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d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endParaRPr lang="en-US" sz="2000" dirty="0">
                  <a:solidFill>
                    <a:sysClr val="windowText" lastClr="000000"/>
                  </a:solidFill>
                </a:endParaRPr>
              </a:p>
              <a:p>
                <a:pPr algn="ctr"/>
                <a:endParaRPr lang="en-US" sz="2000" dirty="0">
                  <a:solidFill>
                    <a:sysClr val="windowText" lastClr="000000"/>
                  </a:solidFill>
                </a:endParaRPr>
              </a:p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sub>
                    </m:sSub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≤1</m:t>
                    </m:r>
                  </m:oMath>
                </a14:m>
                <a:r>
                  <a:rPr lang="en-US" sz="2000" dirty="0">
                    <a:solidFill>
                      <a:sysClr val="windowText" lastClr="000000"/>
                    </a:solidFill>
                  </a:rPr>
                  <a:t>		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∀ 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endParaRPr lang="en-US" sz="2000" dirty="0">
                  <a:solidFill>
                    <a:sysClr val="windowText" lastClr="000000"/>
                  </a:solidFill>
                </a:endParaRPr>
              </a:p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sub>
                    </m:sSub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≥</m:t>
                    </m:r>
                    <m:r>
                      <a:rPr lang="en-US" sz="2000" i="1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000" dirty="0">
                    <a:solidFill>
                      <a:sysClr val="windowText" lastClr="000000"/>
                    </a:solidFill>
                  </a:rPr>
                  <a:t>		</a:t>
                </a:r>
                <a14:m>
                  <m:oMath xmlns:m="http://schemas.openxmlformats.org/officeDocument/2006/math">
                    <m:r>
                      <a:rPr lang="en-US" sz="2000" i="1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∀ </m:t>
                    </m:r>
                    <m:r>
                      <a:rPr lang="en-US" sz="2000" i="1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sz="2000" i="1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000" i="1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endParaRPr lang="en-US" sz="2000" dirty="0">
                  <a:solidFill>
                    <a:sysClr val="windowText" lastClr="000000"/>
                  </a:solidFill>
                </a:endParaRPr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010193FD-1524-276D-6858-859FA37B63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31380" y="4000851"/>
                <a:ext cx="3864459" cy="1323439"/>
              </a:xfrm>
              <a:prstGeom prst="rect">
                <a:avLst/>
              </a:prstGeom>
              <a:blipFill>
                <a:blip r:embed="rId3"/>
                <a:stretch>
                  <a:fillRect b="-4717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TextBox 29">
            <a:extLst>
              <a:ext uri="{FF2B5EF4-FFF2-40B4-BE49-F238E27FC236}">
                <a16:creationId xmlns:a16="http://schemas.microsoft.com/office/drawing/2014/main" id="{307CD491-D049-18B8-56CE-C00B6F398F72}"/>
              </a:ext>
            </a:extLst>
          </p:cNvPr>
          <p:cNvSpPr txBox="1"/>
          <p:nvPr/>
        </p:nvSpPr>
        <p:spPr>
          <a:xfrm>
            <a:off x="6331380" y="3631519"/>
            <a:ext cx="38644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Subject to: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4C5941D-A2A3-3B01-AD8B-A362A8ACF1A2}"/>
              </a:ext>
            </a:extLst>
          </p:cNvPr>
          <p:cNvSpPr txBox="1"/>
          <p:nvPr/>
        </p:nvSpPr>
        <p:spPr>
          <a:xfrm>
            <a:off x="1213308" y="5605115"/>
            <a:ext cx="424091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Now…this is a linear program. However, the solution to this would set each “node” selection to a floating point value…</a:t>
            </a:r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32DEC2B7-887A-4472-8AC1-C4C257D9C20A}"/>
              </a:ext>
            </a:extLst>
          </p:cNvPr>
          <p:cNvCxnSpPr>
            <a:cxnSpLocks/>
          </p:cNvCxnSpPr>
          <p:nvPr/>
        </p:nvCxnSpPr>
        <p:spPr>
          <a:xfrm flipV="1">
            <a:off x="5167543" y="4922982"/>
            <a:ext cx="1039293" cy="682133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5540831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34A4E7-1530-C296-C2AB-356773CB1E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D2C3840C-002A-8878-D6FB-C5B20502E3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4"/>
            <a:ext cx="9905998" cy="658504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Min-Weight Vertex-Cover As Integer Program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526584BD-EEE2-B385-9EA6-899E22740679}"/>
                  </a:ext>
                </a:extLst>
              </p:cNvPr>
              <p:cNvSpPr txBox="1"/>
              <p:nvPr/>
            </p:nvSpPr>
            <p:spPr>
              <a:xfrm>
                <a:off x="2299854" y="2168310"/>
                <a:ext cx="7592291" cy="2373598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b="1" dirty="0">
                    <a:solidFill>
                      <a:sysClr val="windowText" lastClr="000000"/>
                    </a:solidFill>
                  </a:rPr>
                  <a:t>Approx-Min-Weight-VC</a:t>
                </a:r>
                <a:r>
                  <a:rPr lang="en-US" sz="2000" dirty="0">
                    <a:solidFill>
                      <a:sysClr val="windowText" lastClr="000000"/>
                    </a:solidFill>
                  </a:rPr>
                  <a:t>(</a:t>
                </a:r>
                <a:r>
                  <a:rPr lang="en-US" sz="2000" dirty="0" err="1">
                    <a:solidFill>
                      <a:sysClr val="windowText" lastClr="000000"/>
                    </a:solidFill>
                  </a:rPr>
                  <a:t>G,w</a:t>
                </a:r>
                <a:r>
                  <a:rPr lang="en-US" sz="2000" dirty="0">
                    <a:solidFill>
                      <a:sysClr val="windowText" lastClr="000000"/>
                    </a:solidFill>
                  </a:rPr>
                  <a:t>):</a:t>
                </a:r>
              </a:p>
              <a:p>
                <a:r>
                  <a:rPr lang="en-US" sz="2000" dirty="0">
                    <a:solidFill>
                      <a:sysClr val="windowText" lastClr="000000"/>
                    </a:solidFill>
                  </a:rPr>
                  <a:t>   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=∅</m:t>
                    </m:r>
                  </m:oMath>
                </a14:m>
                <a:endParaRPr lang="en-US" sz="2000" dirty="0">
                  <a:solidFill>
                    <a:sysClr val="windowText" lastClr="000000"/>
                  </a:solidFill>
                </a:endParaRPr>
              </a:p>
              <a:p>
                <a:r>
                  <a:rPr lang="en-US" sz="2000" dirty="0">
                    <a:solidFill>
                      <a:sysClr val="windowText" lastClr="000000"/>
                    </a:solidFill>
                  </a:rPr>
                  <a:t>    Compute optimal solution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</m:oMath>
                </a14:m>
                <a:r>
                  <a:rPr lang="en-US" sz="2000" dirty="0">
                    <a:solidFill>
                      <a:sysClr val="windowText" lastClr="000000"/>
                    </a:solidFill>
                  </a:rPr>
                  <a:t> to the LP-Relaxation as per previous slide</a:t>
                </a:r>
              </a:p>
              <a:p>
                <a:r>
                  <a:rPr lang="en-US" sz="2000" dirty="0">
                    <a:solidFill>
                      <a:sysClr val="windowText" lastClr="000000"/>
                    </a:solidFill>
                  </a:rPr>
                  <a:t>    </a:t>
                </a:r>
                <a:r>
                  <a:rPr lang="en-US" sz="2000" b="1" dirty="0">
                    <a:solidFill>
                      <a:sysClr val="windowText" lastClr="000000"/>
                    </a:solidFill>
                  </a:rPr>
                  <a:t>for</a:t>
                </a:r>
                <a:r>
                  <a:rPr lang="en-US" sz="2000" dirty="0">
                    <a:solidFill>
                      <a:sysClr val="windowText" lastClr="00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sz="2000" dirty="0">
                    <a:solidFill>
                      <a:sysClr val="windowText" lastClr="000000"/>
                    </a:solidFill>
                  </a:rPr>
                  <a:t> </a:t>
                </a:r>
                <a:r>
                  <a:rPr lang="en-US" sz="2000" b="1" dirty="0">
                    <a:solidFill>
                      <a:sysClr val="windowText" lastClr="000000"/>
                    </a:solidFill>
                  </a:rPr>
                  <a:t>do</a:t>
                </a:r>
                <a:r>
                  <a:rPr lang="en-US" sz="2000" dirty="0">
                    <a:solidFill>
                      <a:sysClr val="windowText" lastClr="000000"/>
                    </a:solidFill>
                  </a:rPr>
                  <a:t>:</a:t>
                </a:r>
              </a:p>
              <a:p>
                <a:r>
                  <a:rPr lang="en-US" sz="2000" dirty="0">
                    <a:solidFill>
                      <a:sysClr val="windowText" lastClr="000000"/>
                    </a:solidFill>
                  </a:rPr>
                  <a:t>        </a:t>
                </a:r>
                <a:r>
                  <a:rPr lang="en-US" sz="2000" b="1" dirty="0">
                    <a:solidFill>
                      <a:sysClr val="windowText" lastClr="000000"/>
                    </a:solidFill>
                  </a:rPr>
                  <a:t>if</a:t>
                </a:r>
                <a:r>
                  <a:rPr lang="en-US" sz="2000" dirty="0">
                    <a:solidFill>
                      <a:sysClr val="windowText" lastClr="000000"/>
                    </a:solidFill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sz="2000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000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</m:e>
                    </m:acc>
                    <m:r>
                      <a:rPr lang="en-US" sz="2000" b="0" i="1" dirty="0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≥</m:t>
                    </m:r>
                    <m:f>
                      <m:fPr>
                        <m:ctrlPr>
                          <a:rPr lang="en-US" sz="2000" b="0" i="1" dirty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b="0" i="1" dirty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000" b="0" i="1" dirty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sz="2000" dirty="0">
                    <a:solidFill>
                      <a:sysClr val="windowText" lastClr="000000"/>
                    </a:solidFill>
                  </a:rPr>
                  <a:t> </a:t>
                </a:r>
                <a:r>
                  <a:rPr lang="en-US" sz="2000" b="1" dirty="0">
                    <a:solidFill>
                      <a:sysClr val="windowText" lastClr="000000"/>
                    </a:solidFill>
                  </a:rPr>
                  <a:t>then</a:t>
                </a:r>
                <a:r>
                  <a:rPr lang="en-US" sz="2000" dirty="0">
                    <a:solidFill>
                      <a:sysClr val="windowText" lastClr="000000"/>
                    </a:solidFill>
                  </a:rPr>
                  <a:t>:</a:t>
                </a:r>
              </a:p>
              <a:p>
                <a:r>
                  <a:rPr lang="en-US" sz="2000" dirty="0">
                    <a:solidFill>
                      <a:sysClr val="windowText" lastClr="000000"/>
                    </a:solidFill>
                  </a:rPr>
                  <a:t>           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∪{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2000" dirty="0">
                  <a:solidFill>
                    <a:sysClr val="windowText" lastClr="000000"/>
                  </a:solidFill>
                </a:endParaRPr>
              </a:p>
              <a:p>
                <a:r>
                  <a:rPr lang="en-US" sz="2000" dirty="0">
                    <a:solidFill>
                      <a:sysClr val="windowText" lastClr="000000"/>
                    </a:solidFill>
                  </a:rPr>
                  <a:t>    </a:t>
                </a:r>
                <a:r>
                  <a:rPr lang="en-US" sz="2000" b="1" dirty="0">
                    <a:solidFill>
                      <a:sysClr val="windowText" lastClr="000000"/>
                    </a:solidFill>
                  </a:rPr>
                  <a:t>return</a:t>
                </a:r>
                <a:r>
                  <a:rPr lang="en-US" sz="2000" dirty="0">
                    <a:solidFill>
                      <a:sysClr val="windowText" lastClr="000000"/>
                    </a:solidFill>
                  </a:rPr>
                  <a:t> C 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526584BD-EEE2-B385-9EA6-899E227406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99854" y="2168310"/>
                <a:ext cx="7592291" cy="2373598"/>
              </a:xfrm>
              <a:prstGeom prst="rect">
                <a:avLst/>
              </a:prstGeom>
              <a:blipFill>
                <a:blip r:embed="rId2"/>
                <a:stretch>
                  <a:fillRect l="-667" t="-1058" b="-3175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TextBox 25">
            <a:extLst>
              <a:ext uri="{FF2B5EF4-FFF2-40B4-BE49-F238E27FC236}">
                <a16:creationId xmlns:a16="http://schemas.microsoft.com/office/drawing/2014/main" id="{6C253CF6-E3E0-04F2-FF36-C1414316E967}"/>
              </a:ext>
            </a:extLst>
          </p:cNvPr>
          <p:cNvSpPr txBox="1"/>
          <p:nvPr/>
        </p:nvSpPr>
        <p:spPr>
          <a:xfrm>
            <a:off x="2299854" y="1798978"/>
            <a:ext cx="75922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Algorithm: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61EF982-E990-236E-3CC7-DFA455E8CF0B}"/>
              </a:ext>
            </a:extLst>
          </p:cNvPr>
          <p:cNvSpPr txBox="1"/>
          <p:nvPr/>
        </p:nvSpPr>
        <p:spPr>
          <a:xfrm>
            <a:off x="6594763" y="5606473"/>
            <a:ext cx="336203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This is guaranteed to be a valid vertex-cover. Do you see why?</a:t>
            </a: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1305E395-80D8-D91A-51F6-E13D3823EBCD}"/>
              </a:ext>
            </a:extLst>
          </p:cNvPr>
          <p:cNvCxnSpPr/>
          <p:nvPr/>
        </p:nvCxnSpPr>
        <p:spPr>
          <a:xfrm>
            <a:off x="7093527" y="4747491"/>
            <a:ext cx="461818" cy="803564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8521735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10A12D-D7CF-77F2-11B1-2742509293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341611FB-D79E-E134-1796-D639C83BC3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4"/>
            <a:ext cx="9905998" cy="658504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Min-Weight Vertex-Cover As Integer Program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A2509B7-EF00-13E1-4870-6F7328D69D0D}"/>
              </a:ext>
            </a:extLst>
          </p:cNvPr>
          <p:cNvSpPr txBox="1"/>
          <p:nvPr/>
        </p:nvSpPr>
        <p:spPr>
          <a:xfrm>
            <a:off x="2499517" y="1358341"/>
            <a:ext cx="7189788" cy="830997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400" b="1" i="1" u="sng" dirty="0">
                <a:solidFill>
                  <a:sysClr val="windowText" lastClr="000000"/>
                </a:solidFill>
              </a:rPr>
              <a:t>Claim</a:t>
            </a:r>
            <a:r>
              <a:rPr lang="en-US" sz="2400" dirty="0">
                <a:solidFill>
                  <a:sysClr val="windowText" lastClr="000000"/>
                </a:solidFill>
              </a:rPr>
              <a:t>: Approx-Min-Weight-VC is a 2-approximation of the weighted vertex-cover problem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FA904D16-04E5-350A-A87D-C11830953F46}"/>
                  </a:ext>
                </a:extLst>
              </p:cNvPr>
              <p:cNvSpPr txBox="1"/>
              <p:nvPr/>
            </p:nvSpPr>
            <p:spPr>
              <a:xfrm>
                <a:off x="1386171" y="4299391"/>
                <a:ext cx="9661239" cy="1664174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solidFill>
                              <a:schemeClr val="accent1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chemeClr val="accent1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en-US" b="0" i="1" smtClean="0">
                            <a:solidFill>
                              <a:schemeClr val="accent1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b="0" i="1" smtClean="0"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solidFill>
                              <a:schemeClr val="accent3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chemeClr val="accent3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p>
                        <m:r>
                          <a:rPr lang="en-US" b="0" i="1" smtClean="0">
                            <a:solidFill>
                              <a:schemeClr val="accent3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b="0" i="1" smtClean="0"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	LP solution cannot exceed optimal solution since opt is feasible for LP</a:t>
                </a:r>
              </a:p>
              <a:p>
                <a:endParaRPr lang="en-US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sub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acc>
                            <m:accPr>
                              <m:chr m:val="̅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sub>
                              </m:sSub>
                            </m:e>
                          </m:acc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≥</m:t>
                          </m:r>
                          <m:nary>
                            <m:naryPr>
                              <m:chr m:val="∑"/>
                              <m:supHide m:val="on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eqArr>
                                <m:eqArr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eqArr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∈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𝑉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</m:e>
                                <m:e>
                                  <m:acc>
                                    <m:accPr>
                                      <m:chr m:val="̅"/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𝑣</m:t>
                                          </m:r>
                                        </m:sub>
                                      </m:sSub>
                                    </m:e>
                                  </m:acc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≥</m:t>
                                  </m:r>
                                  <m:f>
                                    <m:f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num>
                                    <m:den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</m:e>
                              </m:eqArr>
                            </m:sub>
                            <m:sup/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acc>
                                <m:accPr>
                                  <m:chr m:val="̅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𝑣</m:t>
                                      </m:r>
                                    </m:sub>
                                  </m:sSub>
                                </m:e>
                              </m:acc>
                            </m:e>
                          </m:nary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≥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eqArr>
                            <m:eqArr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</m:e>
                            <m:e>
                              <m:acc>
                                <m:accPr>
                                  <m:chr m:val="̅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𝑣</m:t>
                                      </m:r>
                                    </m:sub>
                                  </m:sSub>
                                </m:e>
                              </m:acc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≥</m:t>
                              </m:r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eqArr>
                        </m:sub>
                        <m:sup/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𝑤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⋅</m:t>
                          </m:r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≥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b="0" i="1" smtClean="0">
                          <a:solidFill>
                            <a:schemeClr val="accent5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en-US" b="0" i="1" smtClean="0">
                          <a:solidFill>
                            <a:schemeClr val="accent5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accent5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b="0" i="1" smtClean="0">
                          <a:solidFill>
                            <a:schemeClr val="accent5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FA904D16-04E5-350A-A87D-C11830953F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6171" y="4299391"/>
                <a:ext cx="9661239" cy="1664174"/>
              </a:xfrm>
              <a:prstGeom prst="rect">
                <a:avLst/>
              </a:prstGeom>
              <a:blipFill>
                <a:blip r:embed="rId2"/>
                <a:stretch>
                  <a:fillRect t="-22556" b="-57895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673CB2E-38A4-0554-8CEA-C109CF3C5AE6}"/>
                  </a:ext>
                </a:extLst>
              </p:cNvPr>
              <p:cNvSpPr txBox="1"/>
              <p:nvPr/>
            </p:nvSpPr>
            <p:spPr>
              <a:xfrm>
                <a:off x="1386171" y="2974186"/>
                <a:ext cx="5033818" cy="923330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b="0" i="1" dirty="0">
                    <a:solidFill>
                      <a:sysClr val="windowText" lastClr="000000"/>
                    </a:solidFill>
                    <a:latin typeface="Cambria Math" panose="02040503050406030204" pitchFamily="18" charset="0"/>
                  </a:rPr>
                  <a:t>	</a:t>
                </a:r>
                <a:r>
                  <a:rPr lang="en-US" b="0" dirty="0">
                    <a:solidFill>
                      <a:sysClr val="windowText" lastClr="000000"/>
                    </a:solidFill>
                  </a:rPr>
                  <a:t>Cover Found by Algorithm</a:t>
                </a:r>
                <a:endParaRPr lang="en-US" b="0" i="1" dirty="0">
                  <a:solidFill>
                    <a:sysClr val="windowText" lastClr="000000"/>
                  </a:solidFill>
                </a:endParaRPr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p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dirty="0">
                    <a:solidFill>
                      <a:sysClr val="windowText" lastClr="000000"/>
                    </a:solidFill>
                  </a:rPr>
                  <a:t>	Optimal Cover (set of nodes)</a:t>
                </a:r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dirty="0">
                    <a:solidFill>
                      <a:sysClr val="windowText" lastClr="000000"/>
                    </a:solidFill>
                  </a:rPr>
                  <a:t>	Objective value of LP-Relaxation’s Solution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673CB2E-38A4-0554-8CEA-C109CF3C5A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6171" y="2974186"/>
                <a:ext cx="5033818" cy="923330"/>
              </a:xfrm>
              <a:prstGeom prst="rect">
                <a:avLst/>
              </a:prstGeom>
              <a:blipFill>
                <a:blip r:embed="rId3"/>
                <a:stretch>
                  <a:fillRect t="-2667" b="-8000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D02DA9EB-D60C-F3C0-C92C-FA1F9E8BF212}"/>
              </a:ext>
            </a:extLst>
          </p:cNvPr>
          <p:cNvSpPr txBox="1"/>
          <p:nvPr/>
        </p:nvSpPr>
        <p:spPr>
          <a:xfrm>
            <a:off x="1386171" y="2604854"/>
            <a:ext cx="50338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Some terms:</a:t>
            </a:r>
          </a:p>
        </p:txBody>
      </p:sp>
    </p:spTree>
    <p:extLst>
      <p:ext uri="{BB962C8B-B14F-4D97-AF65-F5344CB8AC3E}">
        <p14:creationId xmlns:p14="http://schemas.microsoft.com/office/powerpoint/2010/main" val="74095859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656590-C420-17CC-3864-C5C512B514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E918872D-3E84-B5F4-D11E-EEAD989177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4"/>
            <a:ext cx="9905998" cy="658504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Min-Weight Vertex-Cover As Integer Program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F2E5DB1-99AD-6065-2742-72F79435A6EE}"/>
              </a:ext>
            </a:extLst>
          </p:cNvPr>
          <p:cNvSpPr txBox="1"/>
          <p:nvPr/>
        </p:nvSpPr>
        <p:spPr>
          <a:xfrm>
            <a:off x="2499517" y="1358341"/>
            <a:ext cx="7189788" cy="830997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400" b="1" i="1" u="sng" dirty="0">
                <a:solidFill>
                  <a:sysClr val="windowText" lastClr="000000"/>
                </a:solidFill>
              </a:rPr>
              <a:t>Claim</a:t>
            </a:r>
            <a:r>
              <a:rPr lang="en-US" sz="2400" dirty="0">
                <a:solidFill>
                  <a:sysClr val="windowText" lastClr="000000"/>
                </a:solidFill>
              </a:rPr>
              <a:t>: Approx-Min-Weight-VC is a 2-approximation of the weighted vertex-cover problem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DB138E9C-0010-2D70-0815-790EFF70BB2F}"/>
                  </a:ext>
                </a:extLst>
              </p:cNvPr>
              <p:cNvSpPr txBox="1"/>
              <p:nvPr/>
            </p:nvSpPr>
            <p:spPr>
              <a:xfrm>
                <a:off x="2499517" y="4800877"/>
                <a:ext cx="7189788" cy="610936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b="0" i="1" smtClean="0">
                          <a:solidFill>
                            <a:schemeClr val="accent5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𝑤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</m:t>
                      </m:r>
                      <m:sSup>
                        <m:sSupPr>
                          <m:ctrlP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solidFill>
                            <a:schemeClr val="accent3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𝑤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accent3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b="0" i="1" smtClean="0">
                                  <a:solidFill>
                                    <a:schemeClr val="accent3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solidFill>
                                    <a:schemeClr val="accent3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p>
                              <m:r>
                                <a:rPr lang="en-US" b="0" i="1" smtClean="0">
                                  <a:solidFill>
                                    <a:schemeClr val="accent3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𝑂𝑝𝑡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DB138E9C-0010-2D70-0815-790EFF70BB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99517" y="4800877"/>
                <a:ext cx="7189788" cy="610936"/>
              </a:xfrm>
              <a:prstGeom prst="rect">
                <a:avLst/>
              </a:prstGeom>
              <a:blipFill>
                <a:blip r:embed="rId2"/>
                <a:stretch>
                  <a:fillRect b="-2000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15E44F3-EEC8-CB82-5F4F-0A99DB34751B}"/>
                  </a:ext>
                </a:extLst>
              </p:cNvPr>
              <p:cNvSpPr txBox="1"/>
              <p:nvPr/>
            </p:nvSpPr>
            <p:spPr>
              <a:xfrm>
                <a:off x="1386171" y="2974186"/>
                <a:ext cx="5033818" cy="923330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b="0" i="1" dirty="0">
                    <a:solidFill>
                      <a:sysClr val="windowText" lastClr="000000"/>
                    </a:solidFill>
                    <a:latin typeface="Cambria Math" panose="02040503050406030204" pitchFamily="18" charset="0"/>
                  </a:rPr>
                  <a:t>	</a:t>
                </a:r>
                <a:r>
                  <a:rPr lang="en-US" b="0" dirty="0">
                    <a:solidFill>
                      <a:sysClr val="windowText" lastClr="000000"/>
                    </a:solidFill>
                  </a:rPr>
                  <a:t>Cover Found by Algorithm</a:t>
                </a:r>
                <a:endParaRPr lang="en-US" b="0" i="1" dirty="0">
                  <a:solidFill>
                    <a:sysClr val="windowText" lastClr="000000"/>
                  </a:solidFill>
                </a:endParaRPr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p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dirty="0">
                    <a:solidFill>
                      <a:sysClr val="windowText" lastClr="000000"/>
                    </a:solidFill>
                  </a:rPr>
                  <a:t>	Optimal Cover (set of nodes)</a:t>
                </a:r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dirty="0">
                    <a:solidFill>
                      <a:sysClr val="windowText" lastClr="000000"/>
                    </a:solidFill>
                  </a:rPr>
                  <a:t>	Objective value of LP-Relaxation’s Solution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15E44F3-EEC8-CB82-5F4F-0A99DB3475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6171" y="2974186"/>
                <a:ext cx="5033818" cy="923330"/>
              </a:xfrm>
              <a:prstGeom prst="rect">
                <a:avLst/>
              </a:prstGeom>
              <a:blipFill>
                <a:blip r:embed="rId3"/>
                <a:stretch>
                  <a:fillRect t="-2667" b="-8000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4CA7BD69-A18D-18F5-3EED-38EED8DA3B13}"/>
              </a:ext>
            </a:extLst>
          </p:cNvPr>
          <p:cNvSpPr txBox="1"/>
          <p:nvPr/>
        </p:nvSpPr>
        <p:spPr>
          <a:xfrm>
            <a:off x="1386171" y="2604854"/>
            <a:ext cx="50338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Some terms: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D38450B-C8EE-D583-B27A-0D4C73850623}"/>
                  </a:ext>
                </a:extLst>
              </p:cNvPr>
              <p:cNvSpPr txBox="1"/>
              <p:nvPr/>
            </p:nvSpPr>
            <p:spPr>
              <a:xfrm>
                <a:off x="6696363" y="2974186"/>
                <a:ext cx="3990110" cy="887935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solidFill>
                            <a:schemeClr val="accent3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en-US" b="0" i="1" smtClean="0">
                          <a:solidFill>
                            <a:schemeClr val="accent3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b="0" i="1" smtClean="0">
                              <a:solidFill>
                                <a:schemeClr val="accent3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chemeClr val="accent3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p>
                          <m:r>
                            <a:rPr lang="en-US" b="0" i="1" smtClean="0">
                              <a:solidFill>
                                <a:schemeClr val="accent3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b="0" i="1" smtClean="0">
                          <a:solidFill>
                            <a:schemeClr val="accent3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≥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b="0" i="1" smtClean="0">
                          <a:solidFill>
                            <a:schemeClr val="accent5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en-US" b="0" i="1" smtClean="0">
                          <a:solidFill>
                            <a:schemeClr val="accent5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accent5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b="0" i="1" smtClean="0">
                          <a:solidFill>
                            <a:schemeClr val="accent5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D38450B-C8EE-D583-B27A-0D4C738506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96363" y="2974186"/>
                <a:ext cx="3990110" cy="887935"/>
              </a:xfrm>
              <a:prstGeom prst="rect">
                <a:avLst/>
              </a:prstGeom>
              <a:blipFill>
                <a:blip r:embed="rId4"/>
                <a:stretch>
                  <a:fillRect b="-2778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8AA1C7B3-857A-86A9-51A2-CDBA7375A1D8}"/>
              </a:ext>
            </a:extLst>
          </p:cNvPr>
          <p:cNvSpPr txBox="1"/>
          <p:nvPr/>
        </p:nvSpPr>
        <p:spPr>
          <a:xfrm>
            <a:off x="6696364" y="2604854"/>
            <a:ext cx="39901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From previous slide:</a:t>
            </a:r>
          </a:p>
        </p:txBody>
      </p:sp>
    </p:spTree>
    <p:extLst>
      <p:ext uri="{BB962C8B-B14F-4D97-AF65-F5344CB8AC3E}">
        <p14:creationId xmlns:p14="http://schemas.microsoft.com/office/powerpoint/2010/main" val="8146489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594A91-9DF3-9186-FD6F-3E79721FAF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77055F-6BB4-7D42-8927-1B7D4F4F08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1" y="1860330"/>
            <a:ext cx="9906000" cy="2175149"/>
          </a:xfrm>
        </p:spPr>
        <p:txBody>
          <a:bodyPr/>
          <a:lstStyle/>
          <a:p>
            <a:pPr algn="ctr"/>
            <a:r>
              <a:rPr lang="en-US" dirty="0"/>
              <a:t>FPTAS for Knapsack Problem</a:t>
            </a:r>
          </a:p>
        </p:txBody>
      </p:sp>
    </p:spTree>
    <p:extLst>
      <p:ext uri="{BB962C8B-B14F-4D97-AF65-F5344CB8AC3E}">
        <p14:creationId xmlns:p14="http://schemas.microsoft.com/office/powerpoint/2010/main" val="177241462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Some Definitions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A507F4E-6CC4-BC41-9782-9F16AFBEC3B8}"/>
              </a:ext>
            </a:extLst>
          </p:cNvPr>
          <p:cNvSpPr txBox="1"/>
          <p:nvPr/>
        </p:nvSpPr>
        <p:spPr>
          <a:xfrm>
            <a:off x="789708" y="2292946"/>
            <a:ext cx="2815937" cy="338554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pPr algn="r"/>
            <a:r>
              <a:rPr lang="en-US" sz="1600" i="1" dirty="0"/>
              <a:t>Approximation Scheme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AB20409-AA97-D143-A7AE-C528CA238C94}"/>
                  </a:ext>
                </a:extLst>
              </p:cNvPr>
              <p:cNvSpPr txBox="1"/>
              <p:nvPr/>
            </p:nvSpPr>
            <p:spPr>
              <a:xfrm>
                <a:off x="3751118" y="2292946"/>
                <a:ext cx="7813963" cy="58477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1600" i="1" dirty="0">
                    <a:solidFill>
                      <a:sysClr val="windowText" lastClr="000000"/>
                    </a:solidFill>
                  </a:rPr>
                  <a:t>An approximation algorithm that takes as input the instance of the problem and a value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𝜖</m:t>
                    </m:r>
                    <m:r>
                      <a:rPr lang="en-US" sz="16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sz="1600" i="1" dirty="0">
                    <a:solidFill>
                      <a:sysClr val="windowText" lastClr="000000"/>
                    </a:solidFill>
                  </a:rPr>
                  <a:t> such that for any fixed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sz="1600" i="1" dirty="0">
                    <a:solidFill>
                      <a:sysClr val="windowText" lastClr="000000"/>
                    </a:solidFill>
                  </a:rPr>
                  <a:t>, the scheme is a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(1+</m:t>
                    </m:r>
                    <m:r>
                      <a:rPr lang="en-US" sz="16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𝜖</m:t>
                    </m:r>
                    <m:r>
                      <a:rPr lang="en-US" sz="16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600" i="1" dirty="0">
                    <a:solidFill>
                      <a:sysClr val="windowText" lastClr="000000"/>
                    </a:solidFill>
                  </a:rPr>
                  <a:t>-approximation algorithm.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AB20409-AA97-D143-A7AE-C528CA238C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51118" y="2292946"/>
                <a:ext cx="7813963" cy="584775"/>
              </a:xfrm>
              <a:prstGeom prst="rect">
                <a:avLst/>
              </a:prstGeom>
              <a:blipFill>
                <a:blip r:embed="rId2"/>
                <a:stretch>
                  <a:fillRect l="-324" t="-2083" b="-6250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DFF1ABD-240F-B14E-B2EA-F5DA37F75FBB}"/>
                  </a:ext>
                </a:extLst>
              </p:cNvPr>
              <p:cNvSpPr txBox="1"/>
              <p:nvPr/>
            </p:nvSpPr>
            <p:spPr>
              <a:xfrm>
                <a:off x="789708" y="1655640"/>
                <a:ext cx="2815937" cy="338554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r"/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600" i="1" dirty="0"/>
                  <a:t>-Approximation Algorithm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DFF1ABD-240F-B14E-B2EA-F5DA37F75F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9708" y="1655640"/>
                <a:ext cx="2815937" cy="338554"/>
              </a:xfrm>
              <a:prstGeom prst="rect">
                <a:avLst/>
              </a:prstGeom>
              <a:blipFill>
                <a:blip r:embed="rId3"/>
                <a:stretch>
                  <a:fillRect r="-446" b="-13793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7E3DC69-947A-6742-8B5F-5CF9023C0BE5}"/>
                  </a:ext>
                </a:extLst>
              </p:cNvPr>
              <p:cNvSpPr txBox="1"/>
              <p:nvPr/>
            </p:nvSpPr>
            <p:spPr>
              <a:xfrm>
                <a:off x="3751118" y="1655640"/>
                <a:ext cx="7813963" cy="338554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1600" i="1" dirty="0">
                    <a:solidFill>
                      <a:sysClr val="windowText" lastClr="000000"/>
                    </a:solidFill>
                  </a:rPr>
                  <a:t>An approximation algorithm that achieves an approximation of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16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6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16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600" i="1" dirty="0">
                    <a:solidFill>
                      <a:sysClr val="windowText" lastClr="000000"/>
                    </a:solidFill>
                  </a:rPr>
                  <a:t> on all inputs 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7E3DC69-947A-6742-8B5F-5CF9023C0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51118" y="1655640"/>
                <a:ext cx="7813963" cy="338554"/>
              </a:xfrm>
              <a:prstGeom prst="rect">
                <a:avLst/>
              </a:prstGeom>
              <a:blipFill>
                <a:blip r:embed="rId4"/>
                <a:stretch>
                  <a:fillRect l="-324" b="-13793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E39AC1A8-BC02-C745-82A4-03CA60390375}"/>
              </a:ext>
            </a:extLst>
          </p:cNvPr>
          <p:cNvSpPr txBox="1"/>
          <p:nvPr/>
        </p:nvSpPr>
        <p:spPr>
          <a:xfrm>
            <a:off x="789708" y="3133431"/>
            <a:ext cx="2815937" cy="584775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pPr algn="r"/>
            <a:r>
              <a:rPr lang="en-US" sz="1600" i="1" dirty="0"/>
              <a:t>Polynomial Time Approximation Scheme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B86796EC-7ED0-1545-B49F-6339E045669D}"/>
                  </a:ext>
                </a:extLst>
              </p:cNvPr>
              <p:cNvSpPr txBox="1"/>
              <p:nvPr/>
            </p:nvSpPr>
            <p:spPr>
              <a:xfrm>
                <a:off x="3751118" y="3133431"/>
                <a:ext cx="7813963" cy="58477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1600" i="1" dirty="0">
                    <a:solidFill>
                      <a:sysClr val="windowText" lastClr="000000"/>
                    </a:solidFill>
                  </a:rPr>
                  <a:t>A scheme is polynomial time if, for any fixed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𝜖</m:t>
                    </m:r>
                    <m:r>
                      <a:rPr lang="en-US" sz="16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sz="1600" i="1" dirty="0">
                    <a:solidFill>
                      <a:sysClr val="windowText" lastClr="000000"/>
                    </a:solidFill>
                  </a:rPr>
                  <a:t>, the algorithm runs in polynomial time in terms of the input size n</a:t>
                </a: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B86796EC-7ED0-1545-B49F-6339E04566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51118" y="3133431"/>
                <a:ext cx="7813963" cy="584775"/>
              </a:xfrm>
              <a:prstGeom prst="rect">
                <a:avLst/>
              </a:prstGeom>
              <a:blipFill>
                <a:blip r:embed="rId5"/>
                <a:stretch>
                  <a:fillRect l="-324" t="-2083" b="-8333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B6B4940-C452-B145-83ED-B3074A51885B}"/>
                  </a:ext>
                </a:extLst>
              </p:cNvPr>
              <p:cNvSpPr txBox="1"/>
              <p:nvPr/>
            </p:nvSpPr>
            <p:spPr>
              <a:xfrm>
                <a:off x="1525801" y="5410754"/>
                <a:ext cx="4518383" cy="11380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i="1" dirty="0"/>
                  <a:t>For example, a fully polynomial time approximation scheme might have runtime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b="0" i="0" smtClean="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n-US" sz="16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</a:rPr>
                                      <m:t>𝜖</m:t>
                                    </m:r>
                                  </m:den>
                                </m:f>
                              </m:e>
                            </m:d>
                          </m:e>
                          <m:sup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sSup>
                          <m:sSup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p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endParaRPr lang="en-US" sz="1600" b="0" i="1" dirty="0"/>
              </a:p>
              <a:p>
                <a:r>
                  <a:rPr lang="en-US" sz="1600" i="1" dirty="0"/>
                  <a:t> </a:t>
                </a: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B6B4940-C452-B145-83ED-B3074A5188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5801" y="5410754"/>
                <a:ext cx="4518383" cy="1138004"/>
              </a:xfrm>
              <a:prstGeom prst="rect">
                <a:avLst/>
              </a:prstGeom>
              <a:blipFill>
                <a:blip r:embed="rId6"/>
                <a:stretch>
                  <a:fillRect l="-843" t="-109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E058ABA-4EE3-0042-A9CD-27ED7BCB3633}"/>
              </a:ext>
            </a:extLst>
          </p:cNvPr>
          <p:cNvCxnSpPr>
            <a:cxnSpLocks/>
          </p:cNvCxnSpPr>
          <p:nvPr/>
        </p:nvCxnSpPr>
        <p:spPr>
          <a:xfrm flipV="1">
            <a:off x="2692974" y="4839255"/>
            <a:ext cx="1721498" cy="602673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9F18E51D-0177-1146-A35E-350BB41B107F}"/>
              </a:ext>
            </a:extLst>
          </p:cNvPr>
          <p:cNvSpPr txBox="1"/>
          <p:nvPr/>
        </p:nvSpPr>
        <p:spPr>
          <a:xfrm>
            <a:off x="789708" y="3973916"/>
            <a:ext cx="2815937" cy="584775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pPr algn="r"/>
            <a:r>
              <a:rPr lang="en-US" sz="1600" i="1" dirty="0"/>
              <a:t>Fully Polynomial Time Approximation Scheme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DA0DFB5-B265-4142-9A22-35926E01F19E}"/>
                  </a:ext>
                </a:extLst>
              </p:cNvPr>
              <p:cNvSpPr txBox="1"/>
              <p:nvPr/>
            </p:nvSpPr>
            <p:spPr>
              <a:xfrm>
                <a:off x="3751118" y="3973916"/>
                <a:ext cx="7813963" cy="441146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1600" i="1" dirty="0">
                    <a:solidFill>
                      <a:sysClr val="windowText" lastClr="000000"/>
                    </a:solidFill>
                  </a:rPr>
                  <a:t>A scheme is fully polynomial time if it has a runtime that is polynomial in terms of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16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6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16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</m:den>
                    </m:f>
                    <m:r>
                      <a:rPr lang="en-US" sz="16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600" i="1" dirty="0">
                    <a:solidFill>
                      <a:sysClr val="windowText" lastClr="000000"/>
                    </a:solidFill>
                  </a:rPr>
                  <a:t>.</a:t>
                </a: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DA0DFB5-B265-4142-9A22-35926E01F1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51118" y="3973916"/>
                <a:ext cx="7813963" cy="441146"/>
              </a:xfrm>
              <a:prstGeom prst="rect">
                <a:avLst/>
              </a:prstGeom>
              <a:blipFill>
                <a:blip r:embed="rId7"/>
                <a:stretch>
                  <a:fillRect l="-324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3563296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1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3001" y="292100"/>
            <a:ext cx="9905998" cy="677622"/>
          </a:xfrm>
        </p:spPr>
        <p:txBody>
          <a:bodyPr/>
          <a:lstStyle/>
          <a:p>
            <a:pPr algn="ctr"/>
            <a:r>
              <a:rPr lang="en-US" dirty="0">
                <a:latin typeface="Arial" charset="0"/>
                <a:ea typeface="ＭＳ Ｐゴシック" charset="0"/>
                <a:cs typeface="ＭＳ Ｐゴシック" charset="0"/>
              </a:rPr>
              <a:t>Recall: Knapsack Problems</a:t>
            </a:r>
          </a:p>
        </p:txBody>
      </p:sp>
      <p:sp>
        <p:nvSpPr>
          <p:cNvPr id="22532" name="Rectangle 3"/>
          <p:cNvSpPr>
            <a:spLocks noGrp="1" noChangeArrowheads="1"/>
          </p:cNvSpPr>
          <p:nvPr>
            <p:ph type="body" idx="1"/>
            <p:custDataLst>
              <p:tags r:id="rId2"/>
            </p:custDataLst>
          </p:nvPr>
        </p:nvSpPr>
        <p:spPr>
          <a:xfrm>
            <a:off x="1035727" y="1028206"/>
            <a:ext cx="10120543" cy="67762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dirty="0"/>
              <a:t>Knapsack Problem: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ctangle 3">
                <a:extLst>
                  <a:ext uri="{FF2B5EF4-FFF2-40B4-BE49-F238E27FC236}">
                    <a16:creationId xmlns:a16="http://schemas.microsoft.com/office/drawing/2014/main" id="{25AF4BE6-1EEE-8944-22B9-B6C0A601E47D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3"/>
                </p:custDataLst>
              </p:nvPr>
            </p:nvSpPr>
            <p:spPr>
              <a:xfrm>
                <a:off x="1035728" y="1563785"/>
                <a:ext cx="10120543" cy="270781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b="1" i="1" u="sng" dirty="0">
                    <a:solidFill>
                      <a:schemeClr val="bg1"/>
                    </a:solidFill>
                    <a:ea typeface="ＭＳ Ｐゴシック" charset="0"/>
                    <a:cs typeface="ＭＳ Ｐゴシック" charset="0"/>
                  </a:rPr>
                  <a:t>Scenario</a:t>
                </a:r>
                <a:r>
                  <a:rPr lang="en-US" dirty="0">
                    <a:solidFill>
                      <a:schemeClr val="bg1"/>
                    </a:solidFill>
                    <a:ea typeface="ＭＳ Ｐゴシック" charset="0"/>
                    <a:cs typeface="ＭＳ Ｐゴシック" charset="0"/>
                  </a:rPr>
                  <a:t>: A thief is </a:t>
                </a:r>
                <a:r>
                  <a:rPr lang="en-US" dirty="0">
                    <a:solidFill>
                      <a:schemeClr val="bg1"/>
                    </a:solidFill>
                  </a:rPr>
                  <a:t>robbing a store and finds </a:t>
                </a:r>
                <a:r>
                  <a:rPr lang="en-US" dirty="0">
                    <a:solidFill>
                      <a:schemeClr val="accent3"/>
                    </a:solidFill>
                  </a:rPr>
                  <a:t>n</a:t>
                </a:r>
                <a:r>
                  <a:rPr lang="en-US" dirty="0">
                    <a:solidFill>
                      <a:schemeClr val="bg1"/>
                    </a:solidFill>
                  </a:rPr>
                  <a:t> items, each with a </a:t>
                </a:r>
                <a:r>
                  <a:rPr lang="en-US" dirty="0">
                    <a:solidFill>
                      <a:schemeClr val="accent1"/>
                    </a:solidFill>
                  </a:rPr>
                  <a:t>profit amount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 </a:t>
                </a:r>
                <a:r>
                  <a:rPr lang="en-US" dirty="0">
                    <a:solidFill>
                      <a:schemeClr val="bg1"/>
                    </a:solidFill>
                  </a:rPr>
                  <a:t>and a </a:t>
                </a:r>
                <a:r>
                  <a:rPr lang="en-US" dirty="0">
                    <a:solidFill>
                      <a:schemeClr val="accent4"/>
                    </a:solidFill>
                  </a:rPr>
                  <a:t>weight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. The thief also has a knapsack that can fit a total weight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.</a:t>
                </a:r>
              </a:p>
              <a:p>
                <a:pPr marL="0" indent="0">
                  <a:buNone/>
                </a:pPr>
                <a:endParaRPr lang="en-US" dirty="0">
                  <a:solidFill>
                    <a:schemeClr val="bg1"/>
                  </a:solidFill>
                </a:endParaRPr>
              </a:p>
              <a:p>
                <a:pPr marL="0" indent="0">
                  <a:buNone/>
                </a:pPr>
                <a:r>
                  <a:rPr lang="en-US" b="1" i="1" u="sng" dirty="0">
                    <a:solidFill>
                      <a:schemeClr val="bg1"/>
                    </a:solidFill>
                  </a:rPr>
                  <a:t>Problem</a:t>
                </a:r>
                <a:r>
                  <a:rPr lang="en-US" dirty="0">
                    <a:solidFill>
                      <a:schemeClr val="bg1"/>
                    </a:solidFill>
                  </a:rPr>
                  <a:t>: Which </a:t>
                </a:r>
                <a:r>
                  <a:rPr lang="en-US" dirty="0">
                    <a:solidFill>
                      <a:schemeClr val="accent3"/>
                    </a:solidFill>
                  </a:rPr>
                  <a:t>items</a:t>
                </a:r>
                <a:r>
                  <a:rPr lang="en-US" dirty="0">
                    <a:solidFill>
                      <a:schemeClr val="bg1"/>
                    </a:solidFill>
                  </a:rPr>
                  <a:t> should the thief steal such that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is maximized and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≤</m:t>
                        </m:r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nary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" name="Rectangle 3">
                <a:extLst>
                  <a:ext uri="{FF2B5EF4-FFF2-40B4-BE49-F238E27FC236}">
                    <a16:creationId xmlns:a16="http://schemas.microsoft.com/office/drawing/2014/main" id="{25AF4BE6-1EEE-8944-22B9-B6C0A601E4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9"/>
                </p:custDataLst>
              </p:nvPr>
            </p:nvSpPr>
            <p:spPr>
              <a:xfrm>
                <a:off x="1035728" y="1563785"/>
                <a:ext cx="10120543" cy="2707813"/>
              </a:xfrm>
              <a:prstGeom prst="rect">
                <a:avLst/>
              </a:prstGeom>
              <a:blipFill>
                <a:blip r:embed="rId10"/>
                <a:stretch>
                  <a:fillRect l="-4637" b="-26047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Rectangle 3">
            <a:extLst>
              <a:ext uri="{FF2B5EF4-FFF2-40B4-BE49-F238E27FC236}">
                <a16:creationId xmlns:a16="http://schemas.microsoft.com/office/drawing/2014/main" id="{0D9EB0F9-CE8F-487B-438C-2EE9D736B056}"/>
              </a:ext>
            </a:extLst>
          </p:cNvPr>
          <p:cNvSpPr txBox="1">
            <a:spLocks noChangeArrowheads="1"/>
          </p:cNvSpPr>
          <p:nvPr>
            <p:custDataLst>
              <p:tags r:id="rId4"/>
            </p:custDataLst>
          </p:nvPr>
        </p:nvSpPr>
        <p:spPr>
          <a:xfrm>
            <a:off x="1035726" y="4468366"/>
            <a:ext cx="10120543" cy="6776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800" dirty="0"/>
              <a:t>Example: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198D9CEB-074F-A38F-FA59-FEBF8935A8E3}"/>
              </a:ext>
            </a:extLst>
          </p:cNvPr>
          <p:cNvGrpSpPr/>
          <p:nvPr/>
        </p:nvGrpSpPr>
        <p:grpSpPr>
          <a:xfrm>
            <a:off x="1035726" y="5087544"/>
            <a:ext cx="10257958" cy="1297741"/>
            <a:chOff x="1025561" y="5342756"/>
            <a:chExt cx="10257958" cy="129774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Rectangle 3">
                  <a:extLst>
                    <a:ext uri="{FF2B5EF4-FFF2-40B4-BE49-F238E27FC236}">
                      <a16:creationId xmlns:a16="http://schemas.microsoft.com/office/drawing/2014/main" id="{434B813E-75C6-857C-BE08-47D8F94F619E}"/>
                    </a:ext>
                  </a:extLst>
                </p:cNvPr>
                <p:cNvSpPr/>
                <p:nvPr/>
              </p:nvSpPr>
              <p:spPr>
                <a:xfrm>
                  <a:off x="2254927" y="6214368"/>
                  <a:ext cx="1251752" cy="351531"/>
                </a:xfrm>
                <a:prstGeom prst="rect">
                  <a:avLst/>
                </a:prstGeom>
                <a:solidFill>
                  <a:schemeClr val="tx1">
                    <a:lumMod val="95000"/>
                  </a:schemeClr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=10</m:t>
                        </m:r>
                      </m:oMath>
                    </m:oMathPara>
                  </a14:m>
                  <a:endParaRPr lang="en-US" dirty="0">
                    <a:solidFill>
                      <a:schemeClr val="accent1"/>
                    </a:solidFill>
                  </a:endParaRPr>
                </a:p>
              </p:txBody>
            </p:sp>
          </mc:Choice>
          <mc:Fallback xmlns="">
            <p:sp>
              <p:nvSpPr>
                <p:cNvPr id="4" name="Rectangle 3">
                  <a:extLst>
                    <a:ext uri="{FF2B5EF4-FFF2-40B4-BE49-F238E27FC236}">
                      <a16:creationId xmlns:a16="http://schemas.microsoft.com/office/drawing/2014/main" id="{434B813E-75C6-857C-BE08-47D8F94F619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54927" y="6214368"/>
                  <a:ext cx="1251752" cy="351531"/>
                </a:xfrm>
                <a:prstGeom prst="rect">
                  <a:avLst/>
                </a:prstGeom>
                <a:blipFill>
                  <a:blip r:embed="rId11"/>
                  <a:stretch>
                    <a:fillRect b="-10000"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CA5DEF98-772B-13F5-04B6-2722AC2E7C50}"/>
                </a:ext>
              </a:extLst>
            </p:cNvPr>
            <p:cNvSpPr/>
            <p:nvPr/>
          </p:nvSpPr>
          <p:spPr>
            <a:xfrm>
              <a:off x="3792245" y="6214367"/>
              <a:ext cx="1251752" cy="351531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bg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A9637B6E-BBBB-974D-D612-152029A31B37}"/>
                    </a:ext>
                  </a:extLst>
                </p:cNvPr>
                <p:cNvSpPr/>
                <p:nvPr/>
              </p:nvSpPr>
              <p:spPr>
                <a:xfrm>
                  <a:off x="3792245" y="5829794"/>
                  <a:ext cx="1251752" cy="351531"/>
                </a:xfrm>
                <a:prstGeom prst="rect">
                  <a:avLst/>
                </a:prstGeom>
                <a:solidFill>
                  <a:schemeClr val="tx1">
                    <a:lumMod val="95000"/>
                  </a:schemeClr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=12</m:t>
                        </m:r>
                      </m:oMath>
                    </m:oMathPara>
                  </a14:m>
                  <a:endParaRPr lang="en-US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A9637B6E-BBBB-974D-D612-152029A31B3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92245" y="5829794"/>
                  <a:ext cx="1251752" cy="351531"/>
                </a:xfrm>
                <a:prstGeom prst="rect">
                  <a:avLst/>
                </a:prstGeom>
                <a:blipFill>
                  <a:blip r:embed="rId12"/>
                  <a:stretch>
                    <a:fillRect b="-6667"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5238E50F-1381-70B9-E939-9F8A0DF00682}"/>
                </a:ext>
              </a:extLst>
            </p:cNvPr>
            <p:cNvSpPr/>
            <p:nvPr/>
          </p:nvSpPr>
          <p:spPr>
            <a:xfrm>
              <a:off x="3792245" y="5445221"/>
              <a:ext cx="1251752" cy="351531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bg1"/>
                </a:solidFill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F134FF9A-19F5-C23D-81D9-134B5E1B4D35}"/>
                </a:ext>
              </a:extLst>
            </p:cNvPr>
            <p:cNvSpPr/>
            <p:nvPr/>
          </p:nvSpPr>
          <p:spPr>
            <a:xfrm>
              <a:off x="5329563" y="6214367"/>
              <a:ext cx="1251752" cy="351531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bg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78122359-6E2C-16CF-1A28-7EF6F7E0117F}"/>
                    </a:ext>
                  </a:extLst>
                </p:cNvPr>
                <p:cNvSpPr/>
                <p:nvPr/>
              </p:nvSpPr>
              <p:spPr>
                <a:xfrm>
                  <a:off x="5329563" y="5829794"/>
                  <a:ext cx="1251752" cy="351531"/>
                </a:xfrm>
                <a:prstGeom prst="rect">
                  <a:avLst/>
                </a:prstGeom>
                <a:solidFill>
                  <a:schemeClr val="tx1">
                    <a:lumMod val="95000"/>
                  </a:schemeClr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=3</m:t>
                        </m:r>
                      </m:oMath>
                    </m:oMathPara>
                  </a14:m>
                  <a:endParaRPr lang="en-US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78122359-6E2C-16CF-1A28-7EF6F7E0117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29563" y="5829794"/>
                  <a:ext cx="1251752" cy="351531"/>
                </a:xfrm>
                <a:prstGeom prst="rect">
                  <a:avLst/>
                </a:prstGeom>
                <a:blipFill>
                  <a:blip r:embed="rId13"/>
                  <a:stretch>
                    <a:fillRect b="-6667"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" name="Left Brace 12">
              <a:extLst>
                <a:ext uri="{FF2B5EF4-FFF2-40B4-BE49-F238E27FC236}">
                  <a16:creationId xmlns:a16="http://schemas.microsoft.com/office/drawing/2014/main" id="{A8564B69-2732-E108-867E-5FE0F544E32D}"/>
                </a:ext>
              </a:extLst>
            </p:cNvPr>
            <p:cNvSpPr/>
            <p:nvPr/>
          </p:nvSpPr>
          <p:spPr>
            <a:xfrm>
              <a:off x="1802167" y="5445221"/>
              <a:ext cx="372862" cy="1120677"/>
            </a:xfrm>
            <a:prstGeom prst="leftBrace">
              <a:avLst/>
            </a:prstGeom>
            <a:ln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3">
              <a:extLst>
                <a:ext uri="{FF2B5EF4-FFF2-40B4-BE49-F238E27FC236}">
                  <a16:creationId xmlns:a16="http://schemas.microsoft.com/office/drawing/2014/main" id="{79DFFE8F-08C3-F58E-04B8-3C6150667339}"/>
                </a:ext>
              </a:extLst>
            </p:cNvPr>
            <p:cNvSpPr txBox="1">
              <a:spLocks noChangeArrowheads="1"/>
            </p:cNvSpPr>
            <p:nvPr>
              <p:custDataLst>
                <p:tags r:id="rId5"/>
              </p:custDataLst>
            </p:nvPr>
          </p:nvSpPr>
          <p:spPr>
            <a:xfrm>
              <a:off x="1025561" y="5814508"/>
              <a:ext cx="838749" cy="351531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 lnSpcReduction="10000"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en-US" sz="1600" dirty="0">
                  <a:solidFill>
                    <a:schemeClr val="accent4"/>
                  </a:solidFill>
                </a:rPr>
                <a:t>Weight</a:t>
              </a: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EB65D6B6-1D92-BD83-A5AA-9A94760ED7AD}"/>
                </a:ext>
              </a:extLst>
            </p:cNvPr>
            <p:cNvSpPr/>
            <p:nvPr/>
          </p:nvSpPr>
          <p:spPr>
            <a:xfrm>
              <a:off x="7284130" y="5342756"/>
              <a:ext cx="1487008" cy="1297741"/>
            </a:xfrm>
            <a:prstGeom prst="rect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bg1"/>
                </a:solidFill>
              </a:endParaRPr>
            </a:p>
          </p:txBody>
        </p:sp>
        <p:sp>
          <p:nvSpPr>
            <p:cNvPr id="16" name="Right Brace 15">
              <a:extLst>
                <a:ext uri="{FF2B5EF4-FFF2-40B4-BE49-F238E27FC236}">
                  <a16:creationId xmlns:a16="http://schemas.microsoft.com/office/drawing/2014/main" id="{F1B4A95F-9603-EC40-62B5-98731E3BFF94}"/>
                </a:ext>
              </a:extLst>
            </p:cNvPr>
            <p:cNvSpPr/>
            <p:nvPr/>
          </p:nvSpPr>
          <p:spPr>
            <a:xfrm>
              <a:off x="8984202" y="5342756"/>
              <a:ext cx="489751" cy="1297741"/>
            </a:xfrm>
            <a:prstGeom prst="rightBrac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3">
              <a:extLst>
                <a:ext uri="{FF2B5EF4-FFF2-40B4-BE49-F238E27FC236}">
                  <a16:creationId xmlns:a16="http://schemas.microsoft.com/office/drawing/2014/main" id="{A3834FB9-BC42-A7DA-DC03-3CA717F67801}"/>
                </a:ext>
              </a:extLst>
            </p:cNvPr>
            <p:cNvSpPr txBox="1">
              <a:spLocks noChangeArrowheads="1"/>
            </p:cNvSpPr>
            <p:nvPr>
              <p:custDataLst>
                <p:tags r:id="rId6"/>
              </p:custDataLst>
            </p:nvPr>
          </p:nvSpPr>
          <p:spPr>
            <a:xfrm>
              <a:off x="9331911" y="5796752"/>
              <a:ext cx="1951608" cy="351531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 lnSpcReduction="10000"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en-US" sz="1600" dirty="0">
                  <a:solidFill>
                    <a:schemeClr val="accent2"/>
                  </a:solidFill>
                </a:rPr>
                <a:t>Knapsack capacity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4621474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49580"/>
            <a:ext cx="9905998" cy="652710"/>
          </a:xfrm>
        </p:spPr>
        <p:txBody>
          <a:bodyPr/>
          <a:lstStyle/>
          <a:p>
            <a:pPr algn="ctr"/>
            <a:r>
              <a:rPr lang="en-US" dirty="0"/>
              <a:t>Approximation Process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0015880-A3AC-A200-829F-C2F535778B2C}"/>
              </a:ext>
            </a:extLst>
          </p:cNvPr>
          <p:cNvSpPr/>
          <p:nvPr/>
        </p:nvSpPr>
        <p:spPr>
          <a:xfrm>
            <a:off x="1570182" y="2466109"/>
            <a:ext cx="2253673" cy="1967346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Turn the typical DP algorithm around to design a new DP solution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7693BC5-4BE9-5254-F5C5-02F4392519C9}"/>
              </a:ext>
            </a:extLst>
          </p:cNvPr>
          <p:cNvSpPr/>
          <p:nvPr/>
        </p:nvSpPr>
        <p:spPr>
          <a:xfrm>
            <a:off x="4967574" y="2466109"/>
            <a:ext cx="2253673" cy="1967346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Approximate knapsack by ”cutting off” portions of the input values and running DP solution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90D680C-236A-DDC1-1CDF-C9BB86703B53}"/>
              </a:ext>
            </a:extLst>
          </p:cNvPr>
          <p:cNvSpPr/>
          <p:nvPr/>
        </p:nvSpPr>
        <p:spPr>
          <a:xfrm>
            <a:off x="8368145" y="2466109"/>
            <a:ext cx="2253673" cy="1967346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Analysis to show approximation is proper FPTAS</a:t>
            </a:r>
          </a:p>
        </p:txBody>
      </p:sp>
      <p:sp>
        <p:nvSpPr>
          <p:cNvPr id="12" name="Right Arrow 11">
            <a:extLst>
              <a:ext uri="{FF2B5EF4-FFF2-40B4-BE49-F238E27FC236}">
                <a16:creationId xmlns:a16="http://schemas.microsoft.com/office/drawing/2014/main" id="{F6006C3C-5058-6AF3-4BA0-1726DCC4C041}"/>
              </a:ext>
            </a:extLst>
          </p:cNvPr>
          <p:cNvSpPr/>
          <p:nvPr/>
        </p:nvSpPr>
        <p:spPr>
          <a:xfrm>
            <a:off x="3820677" y="3315854"/>
            <a:ext cx="1146898" cy="254000"/>
          </a:xfrm>
          <a:prstGeom prst="rightArrow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13" name="Right Arrow 12">
            <a:extLst>
              <a:ext uri="{FF2B5EF4-FFF2-40B4-BE49-F238E27FC236}">
                <a16:creationId xmlns:a16="http://schemas.microsoft.com/office/drawing/2014/main" id="{F296FDD5-95C7-9A35-7B6A-128DCFA49219}"/>
              </a:ext>
            </a:extLst>
          </p:cNvPr>
          <p:cNvSpPr/>
          <p:nvPr/>
        </p:nvSpPr>
        <p:spPr>
          <a:xfrm>
            <a:off x="7224276" y="3302000"/>
            <a:ext cx="1146898" cy="254000"/>
          </a:xfrm>
          <a:prstGeom prst="rightArrow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8986167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1549A5-4E64-4460-8786-1B4573697D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2">
            <a:extLst>
              <a:ext uri="{FF2B5EF4-FFF2-40B4-BE49-F238E27FC236}">
                <a16:creationId xmlns:a16="http://schemas.microsoft.com/office/drawing/2014/main" id="{A50876C5-BE5D-6C51-2BF2-751980D16E1D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3001" y="356575"/>
            <a:ext cx="9905998" cy="623873"/>
          </a:xfrm>
        </p:spPr>
        <p:txBody>
          <a:bodyPr/>
          <a:lstStyle/>
          <a:p>
            <a:pPr algn="ctr"/>
            <a:r>
              <a:rPr lang="en-US" dirty="0"/>
              <a:t>Typical Knapsack DP Recurrence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5FA66D69-F0BD-ED69-B640-A345B15F0E4F}"/>
              </a:ext>
            </a:extLst>
          </p:cNvPr>
          <p:cNvGrpSpPr/>
          <p:nvPr/>
        </p:nvGrpSpPr>
        <p:grpSpPr>
          <a:xfrm>
            <a:off x="1448391" y="2206716"/>
            <a:ext cx="8924043" cy="2330506"/>
            <a:chOff x="1836891" y="2103929"/>
            <a:chExt cx="8924043" cy="233050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D8CCEED8-83C2-1BB7-7DAF-E045A20AD4D7}"/>
                    </a:ext>
                  </a:extLst>
                </p:cNvPr>
                <p:cNvSpPr txBox="1"/>
                <p:nvPr/>
              </p:nvSpPr>
              <p:spPr>
                <a:xfrm>
                  <a:off x="1836891" y="3007572"/>
                  <a:ext cx="3010237" cy="52322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𝑘𝑛𝑎𝑝</m:t>
                        </m:r>
                        <m:d>
                          <m:dPr>
                            <m:ctrlPr>
                              <a:rPr lang="en-US" sz="2800" b="0" i="1" smtClean="0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800" b="0" i="1" smtClean="0">
                                <a:solidFill>
                                  <a:schemeClr val="accent3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2800" b="0" i="1" smtClean="0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800" b="0" i="1" smtClean="0">
                                <a:solidFill>
                                  <a:schemeClr val="accent2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</m:d>
                        <m:r>
                          <a:rPr lang="en-US" sz="28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28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𝑀𝑎𝑥</m:t>
                        </m:r>
                      </m:oMath>
                    </m:oMathPara>
                  </a14:m>
                  <a:endParaRPr lang="en-US" sz="2800" dirty="0">
                    <a:solidFill>
                      <a:schemeClr val="tx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D8CCEED8-83C2-1BB7-7DAF-E045A20AD4D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36891" y="3007572"/>
                  <a:ext cx="3010237" cy="523220"/>
                </a:xfrm>
                <a:prstGeom prst="rect">
                  <a:avLst/>
                </a:prstGeom>
                <a:blipFill>
                  <a:blip r:embed="rId3"/>
                  <a:stretch>
                    <a:fillRect l="-3797" b="-16279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A591A086-0591-728A-410D-9EF2A35DC5D6}"/>
                    </a:ext>
                  </a:extLst>
                </p:cNvPr>
                <p:cNvSpPr txBox="1"/>
                <p:nvPr/>
              </p:nvSpPr>
              <p:spPr>
                <a:xfrm>
                  <a:off x="5690825" y="3637445"/>
                  <a:ext cx="5070109" cy="52322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solidFill>
                              <a:schemeClr val="accent1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sz="2800" b="0" i="1" smtClean="0">
                            <a:solidFill>
                              <a:schemeClr val="accent1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2800" b="0" i="1" smtClean="0">
                                <a:solidFill>
                                  <a:schemeClr val="accent1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solidFill>
                                  <a:schemeClr val="accent1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2800" b="0" i="1" smtClean="0">
                                <a:solidFill>
                                  <a:schemeClr val="accent1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800" b="0" i="1" smtClean="0">
                            <a:solidFill>
                              <a:schemeClr val="accent1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  <m:r>
                          <a:rPr lang="en-US" sz="28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8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𝑘𝑛𝑎𝑝</m:t>
                        </m:r>
                        <m:r>
                          <a:rPr lang="en-US" sz="28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800" b="0" i="1" smtClean="0">
                            <a:solidFill>
                              <a:schemeClr val="accent3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8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−1,</m:t>
                        </m:r>
                        <m:r>
                          <a:rPr lang="en-US" sz="2800" b="0" i="1" smtClean="0">
                            <a:solidFill>
                              <a:schemeClr val="accent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  <m:r>
                          <a:rPr lang="en-US" sz="28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800" b="0" i="1" smtClean="0">
                            <a:solidFill>
                              <a:schemeClr val="accent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  <m:r>
                          <a:rPr lang="en-US" sz="2800" b="0" i="1" smtClean="0">
                            <a:solidFill>
                              <a:schemeClr val="accent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2800" b="0" i="1" smtClean="0">
                                <a:solidFill>
                                  <a:schemeClr val="accent2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solidFill>
                                  <a:schemeClr val="accent2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2800" b="0" i="1" smtClean="0">
                                <a:solidFill>
                                  <a:schemeClr val="accent2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800" b="0" i="1" smtClean="0">
                            <a:solidFill>
                              <a:schemeClr val="accent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  <m:r>
                          <a:rPr lang="en-US" sz="28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800" dirty="0">
                    <a:solidFill>
                      <a:schemeClr val="tx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A591A086-0591-728A-410D-9EF2A35DC5D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90825" y="3637445"/>
                  <a:ext cx="5070109" cy="523220"/>
                </a:xfrm>
                <a:prstGeom prst="rect">
                  <a:avLst/>
                </a:prstGeom>
                <a:blipFill>
                  <a:blip r:embed="rId4"/>
                  <a:stretch>
                    <a:fillRect l="-500" b="-19048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AF090F14-0324-7635-FB1D-3634B272ADE9}"/>
                    </a:ext>
                  </a:extLst>
                </p:cNvPr>
                <p:cNvSpPr txBox="1"/>
                <p:nvPr/>
              </p:nvSpPr>
              <p:spPr>
                <a:xfrm>
                  <a:off x="5459921" y="2341310"/>
                  <a:ext cx="2950896" cy="52322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𝑘𝑛𝑎𝑝</m:t>
                        </m:r>
                        <m:d>
                          <m:dPr>
                            <m:ctrlPr>
                              <a:rPr lang="en-US" sz="2800" b="0" i="1" smtClean="0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800" b="0" i="1" smtClean="0">
                                <a:solidFill>
                                  <a:schemeClr val="accent3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2800" b="0" i="1" smtClean="0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2800" b="0" i="1" smtClean="0">
                                <a:solidFill>
                                  <a:schemeClr val="accent2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</m:d>
                      </m:oMath>
                    </m:oMathPara>
                  </a14:m>
                  <a:endParaRPr lang="en-US" sz="2800" dirty="0">
                    <a:solidFill>
                      <a:schemeClr val="tx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AF090F14-0324-7635-FB1D-3634B272AD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59921" y="2341310"/>
                  <a:ext cx="2950896" cy="523220"/>
                </a:xfrm>
                <a:prstGeom prst="rect">
                  <a:avLst/>
                </a:prstGeom>
                <a:blipFill>
                  <a:blip r:embed="rId5"/>
                  <a:stretch>
                    <a:fillRect b="-19048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6" name="Left Brace 15">
              <a:extLst>
                <a:ext uri="{FF2B5EF4-FFF2-40B4-BE49-F238E27FC236}">
                  <a16:creationId xmlns:a16="http://schemas.microsoft.com/office/drawing/2014/main" id="{D7DCBBDC-CE38-1B8E-4361-2CC182948D1F}"/>
                </a:ext>
              </a:extLst>
            </p:cNvPr>
            <p:cNvSpPr/>
            <p:nvPr/>
          </p:nvSpPr>
          <p:spPr>
            <a:xfrm>
              <a:off x="4887589" y="2103929"/>
              <a:ext cx="655455" cy="2330506"/>
            </a:xfrm>
            <a:prstGeom prst="leftBrace">
              <a:avLst/>
            </a:prstGeom>
            <a:ln>
              <a:solidFill>
                <a:schemeClr val="tx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6CB26687-E93E-2A79-37BB-1565AEB3BCBD}"/>
              </a:ext>
            </a:extLst>
          </p:cNvPr>
          <p:cNvSpPr txBox="1"/>
          <p:nvPr/>
        </p:nvSpPr>
        <p:spPr>
          <a:xfrm>
            <a:off x="737192" y="4978400"/>
            <a:ext cx="21428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i="1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You can use up to the first </a:t>
            </a:r>
            <a:r>
              <a:rPr lang="en-US" i="1" dirty="0" err="1">
                <a:solidFill>
                  <a:schemeClr val="accent3">
                    <a:lumMod val="60000"/>
                    <a:lumOff val="40000"/>
                  </a:schemeClr>
                </a:solidFill>
              </a:rPr>
              <a:t>i</a:t>
            </a:r>
            <a:r>
              <a:rPr lang="en-US" i="1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 items only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29E26C6-C60C-B391-D8DD-81E5E27046A5}"/>
              </a:ext>
            </a:extLst>
          </p:cNvPr>
          <p:cNvSpPr txBox="1"/>
          <p:nvPr/>
        </p:nvSpPr>
        <p:spPr>
          <a:xfrm>
            <a:off x="3519708" y="5190358"/>
            <a:ext cx="21428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i="1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Capacity of knapsack able to be used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3A5C7CA-0DB2-3EE8-D4E5-612A81D49A38}"/>
              </a:ext>
            </a:extLst>
          </p:cNvPr>
          <p:cNvSpPr txBox="1"/>
          <p:nvPr/>
        </p:nvSpPr>
        <p:spPr>
          <a:xfrm>
            <a:off x="6821708" y="5375024"/>
            <a:ext cx="391094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i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Take the </a:t>
            </a:r>
            <a:r>
              <a:rPr lang="en-US" i="1" dirty="0" err="1">
                <a:solidFill>
                  <a:schemeClr val="accent1">
                    <a:lumMod val="60000"/>
                    <a:lumOff val="40000"/>
                  </a:schemeClr>
                </a:solidFill>
              </a:rPr>
              <a:t>ith</a:t>
            </a:r>
            <a:r>
              <a:rPr lang="en-US" i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 item and remove its weight from the knapsack capacity but earn its profit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3F9CA43-4A7F-455C-8C71-AA7BB6261ABC}"/>
              </a:ext>
            </a:extLst>
          </p:cNvPr>
          <p:cNvCxnSpPr/>
          <p:nvPr/>
        </p:nvCxnSpPr>
        <p:spPr>
          <a:xfrm flipV="1">
            <a:off x="1948873" y="3633579"/>
            <a:ext cx="517236" cy="1243221"/>
          </a:xfrm>
          <a:prstGeom prst="line">
            <a:avLst/>
          </a:pr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692AEDC-0C7E-4978-0A7A-94AA8787A8B5}"/>
              </a:ext>
            </a:extLst>
          </p:cNvPr>
          <p:cNvCxnSpPr>
            <a:cxnSpLocks/>
            <a:endCxn id="43" idx="2"/>
          </p:cNvCxnSpPr>
          <p:nvPr/>
        </p:nvCxnSpPr>
        <p:spPr>
          <a:xfrm flipH="1" flipV="1">
            <a:off x="2953510" y="3633579"/>
            <a:ext cx="916526" cy="1556779"/>
          </a:xfrm>
          <a:prstGeom prst="line">
            <a:avLst/>
          </a:prstGeom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41B80CE-249E-0796-9552-8207E812541D}"/>
              </a:ext>
            </a:extLst>
          </p:cNvPr>
          <p:cNvCxnSpPr>
            <a:cxnSpLocks/>
          </p:cNvCxnSpPr>
          <p:nvPr/>
        </p:nvCxnSpPr>
        <p:spPr>
          <a:xfrm flipH="1" flipV="1">
            <a:off x="5662545" y="4374439"/>
            <a:ext cx="2659421" cy="927126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12A2A4F-633B-BE91-02FB-B8F8A110FE48}"/>
              </a:ext>
            </a:extLst>
          </p:cNvPr>
          <p:cNvCxnSpPr>
            <a:cxnSpLocks/>
          </p:cNvCxnSpPr>
          <p:nvPr/>
        </p:nvCxnSpPr>
        <p:spPr>
          <a:xfrm flipV="1">
            <a:off x="8358909" y="4337710"/>
            <a:ext cx="1616364" cy="963855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3216D5B5-AF74-D4A2-03BA-EFB3660F833F}"/>
              </a:ext>
            </a:extLst>
          </p:cNvPr>
          <p:cNvSpPr txBox="1"/>
          <p:nvPr/>
        </p:nvSpPr>
        <p:spPr>
          <a:xfrm>
            <a:off x="7722254" y="1353381"/>
            <a:ext cx="391094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i="1" dirty="0">
                <a:solidFill>
                  <a:schemeClr val="tx1">
                    <a:lumMod val="95000"/>
                  </a:schemeClr>
                </a:solidFill>
              </a:rPr>
              <a:t>Do NOT take the </a:t>
            </a:r>
            <a:r>
              <a:rPr lang="en-US" i="1" dirty="0" err="1">
                <a:solidFill>
                  <a:schemeClr val="tx1">
                    <a:lumMod val="95000"/>
                  </a:schemeClr>
                </a:solidFill>
              </a:rPr>
              <a:t>ith</a:t>
            </a:r>
            <a:r>
              <a:rPr lang="en-US" i="1" dirty="0">
                <a:solidFill>
                  <a:schemeClr val="tx1">
                    <a:lumMod val="95000"/>
                  </a:schemeClr>
                </a:solidFill>
              </a:rPr>
              <a:t> item, just solve the subproblem that does not include it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9F917FE4-EE55-9562-F419-1A2F7708B51E}"/>
              </a:ext>
            </a:extLst>
          </p:cNvPr>
          <p:cNvCxnSpPr>
            <a:cxnSpLocks/>
          </p:cNvCxnSpPr>
          <p:nvPr/>
        </p:nvCxnSpPr>
        <p:spPr>
          <a:xfrm flipV="1">
            <a:off x="7185891" y="1739977"/>
            <a:ext cx="836426" cy="497116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6949897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A05620-6024-E6FF-FD2C-3BD3E138A1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08878ECF-B4C5-968D-9244-D293FA67AB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49580"/>
            <a:ext cx="9905998" cy="652710"/>
          </a:xfrm>
        </p:spPr>
        <p:txBody>
          <a:bodyPr/>
          <a:lstStyle/>
          <a:p>
            <a:pPr algn="ctr"/>
            <a:r>
              <a:rPr lang="en-US" dirty="0"/>
              <a:t>Changing DP Around…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3D0FDF9-C705-74FB-349E-CC223CD7271F}"/>
              </a:ext>
            </a:extLst>
          </p:cNvPr>
          <p:cNvSpPr/>
          <p:nvPr/>
        </p:nvSpPr>
        <p:spPr>
          <a:xfrm>
            <a:off x="591127" y="2445327"/>
            <a:ext cx="2253673" cy="1967346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Turn the typical DP algorithm around to design a new DP solution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7D564C6-599A-D7E4-8594-EAE4651CE929}"/>
              </a:ext>
            </a:extLst>
          </p:cNvPr>
          <p:cNvSpPr txBox="1"/>
          <p:nvPr/>
        </p:nvSpPr>
        <p:spPr>
          <a:xfrm>
            <a:off x="3158836" y="1246909"/>
            <a:ext cx="8183419" cy="646331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Instead of solving the maximum profit that fits in an arbitrary capacity w, we are going to </a:t>
            </a:r>
            <a:r>
              <a:rPr lang="en-US" dirty="0">
                <a:solidFill>
                  <a:schemeClr val="accent2"/>
                </a:solidFill>
              </a:rPr>
              <a:t>solve for the least weight </a:t>
            </a:r>
            <a:r>
              <a:rPr lang="en-US" dirty="0">
                <a:solidFill>
                  <a:schemeClr val="bg1"/>
                </a:solidFill>
              </a:rPr>
              <a:t>that gets us some </a:t>
            </a:r>
            <a:r>
              <a:rPr lang="en-US" dirty="0">
                <a:solidFill>
                  <a:schemeClr val="accent1"/>
                </a:solidFill>
              </a:rPr>
              <a:t>exact profit target l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2463FFCA-C720-573E-F704-C719D924F94A}"/>
              </a:ext>
            </a:extLst>
          </p:cNvPr>
          <p:cNvGrpSpPr/>
          <p:nvPr/>
        </p:nvGrpSpPr>
        <p:grpSpPr>
          <a:xfrm>
            <a:off x="3241641" y="2256336"/>
            <a:ext cx="8045198" cy="1650648"/>
            <a:chOff x="2281631" y="2427202"/>
            <a:chExt cx="8045198" cy="165064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3AC8770C-7D82-0D86-4EE0-63DFF9D4430D}"/>
                    </a:ext>
                  </a:extLst>
                </p:cNvPr>
                <p:cNvSpPr txBox="1"/>
                <p:nvPr/>
              </p:nvSpPr>
              <p:spPr>
                <a:xfrm>
                  <a:off x="2281631" y="3007572"/>
                  <a:ext cx="2537789" cy="46166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𝑘𝑛𝑎𝑝</m:t>
                        </m:r>
                        <m:d>
                          <m:dPr>
                            <m:ctrlPr>
                              <a:rPr lang="en-US" sz="2400" b="0" i="1" smtClean="0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0" i="1" smtClean="0">
                                <a:solidFill>
                                  <a:schemeClr val="accent3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2400" b="0" i="1" smtClean="0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400" b="0" i="1" smtClean="0">
                                <a:solidFill>
                                  <a:schemeClr val="accent1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𝑙</m:t>
                            </m:r>
                          </m:e>
                        </m:d>
                        <m:r>
                          <a:rPr lang="en-US" sz="24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24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𝑀𝑖𝑛</m:t>
                        </m:r>
                      </m:oMath>
                    </m:oMathPara>
                  </a14:m>
                  <a:endParaRPr lang="en-US" sz="2400" dirty="0">
                    <a:solidFill>
                      <a:schemeClr val="tx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3AC8770C-7D82-0D86-4EE0-63DFF9D4430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81631" y="3007572"/>
                  <a:ext cx="2537789" cy="461665"/>
                </a:xfrm>
                <a:prstGeom prst="rect">
                  <a:avLst/>
                </a:prstGeom>
                <a:blipFill>
                  <a:blip r:embed="rId2"/>
                  <a:stretch>
                    <a:fillRect l="-995" b="-18919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BF780AC1-841B-3F71-E019-D2A90D8CFB25}"/>
                    </a:ext>
                  </a:extLst>
                </p:cNvPr>
                <p:cNvSpPr txBox="1"/>
                <p:nvPr/>
              </p:nvSpPr>
              <p:spPr>
                <a:xfrm>
                  <a:off x="5256720" y="3313540"/>
                  <a:ext cx="5070109" cy="46166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0" smtClean="0">
                            <a:solidFill>
                              <a:schemeClr val="accent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w</m:t>
                        </m:r>
                        <m:r>
                          <a:rPr lang="en-US" sz="2400" b="0" i="1" smtClean="0">
                            <a:solidFill>
                              <a:schemeClr val="accent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chemeClr val="accent2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chemeClr val="accent2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chemeClr val="accent2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400" b="0" i="1" smtClean="0">
                            <a:solidFill>
                              <a:schemeClr val="accent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  <m:r>
                          <a:rPr lang="en-US" sz="24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4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𝑘𝑛𝑎𝑝</m:t>
                        </m:r>
                        <m:r>
                          <a:rPr lang="en-US" sz="24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400" b="0" i="1" smtClean="0">
                            <a:solidFill>
                              <a:schemeClr val="accent3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−1,</m:t>
                        </m:r>
                        <m:r>
                          <a:rPr lang="en-US" sz="2400" b="0" i="1" smtClean="0">
                            <a:solidFill>
                              <a:schemeClr val="accent1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sz="24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400" b="0" i="1" smtClean="0">
                            <a:solidFill>
                              <a:schemeClr val="accent1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sz="2400" b="0" i="1" smtClean="0">
                            <a:solidFill>
                              <a:schemeClr val="accent1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chemeClr val="accent1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chemeClr val="accent1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chemeClr val="accent1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400" b="0" i="1" smtClean="0">
                            <a:solidFill>
                              <a:schemeClr val="accent1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  <m:r>
                          <a:rPr lang="en-US" sz="24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400" dirty="0">
                    <a:solidFill>
                      <a:schemeClr val="tx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BF780AC1-841B-3F71-E019-D2A90D8CFB2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56720" y="3313540"/>
                  <a:ext cx="5070109" cy="461665"/>
                </a:xfrm>
                <a:prstGeom prst="rect">
                  <a:avLst/>
                </a:prstGeom>
                <a:blipFill>
                  <a:blip r:embed="rId3"/>
                  <a:stretch>
                    <a:fillRect b="-18919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BBEA60E7-C440-EF46-3D28-24D7847F2ED3}"/>
                    </a:ext>
                  </a:extLst>
                </p:cNvPr>
                <p:cNvSpPr txBox="1"/>
                <p:nvPr/>
              </p:nvSpPr>
              <p:spPr>
                <a:xfrm>
                  <a:off x="5229012" y="2638730"/>
                  <a:ext cx="2950896" cy="46166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en-US" sz="24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𝑘𝑛𝑎𝑝</m:t>
                        </m:r>
                        <m:d>
                          <m:dPr>
                            <m:ctrlPr>
                              <a:rPr lang="en-US" sz="2400" b="0" i="1" smtClean="0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0" i="1" smtClean="0">
                                <a:solidFill>
                                  <a:schemeClr val="accent3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2400" b="0" i="1" smtClean="0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2400" b="0" i="1" smtClean="0">
                                <a:solidFill>
                                  <a:schemeClr val="accent1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𝑙</m:t>
                            </m:r>
                          </m:e>
                        </m:d>
                      </m:oMath>
                    </m:oMathPara>
                  </a14:m>
                  <a:endParaRPr lang="en-US" sz="2400" dirty="0">
                    <a:solidFill>
                      <a:schemeClr val="tx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BBEA60E7-C440-EF46-3D28-24D7847F2ED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29012" y="2638730"/>
                  <a:ext cx="2950896" cy="461665"/>
                </a:xfrm>
                <a:prstGeom prst="rect">
                  <a:avLst/>
                </a:prstGeom>
                <a:blipFill>
                  <a:blip r:embed="rId4"/>
                  <a:stretch>
                    <a:fillRect l="-1717" b="-18919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" name="Left Brace 13">
              <a:extLst>
                <a:ext uri="{FF2B5EF4-FFF2-40B4-BE49-F238E27FC236}">
                  <a16:creationId xmlns:a16="http://schemas.microsoft.com/office/drawing/2014/main" id="{B1C9C84F-9497-69EE-51DC-D7C424599647}"/>
                </a:ext>
              </a:extLst>
            </p:cNvPr>
            <p:cNvSpPr/>
            <p:nvPr/>
          </p:nvSpPr>
          <p:spPr>
            <a:xfrm>
              <a:off x="4684390" y="2427202"/>
              <a:ext cx="655455" cy="1650648"/>
            </a:xfrm>
            <a:prstGeom prst="leftBrace">
              <a:avLst/>
            </a:prstGeom>
            <a:ln>
              <a:solidFill>
                <a:schemeClr val="tx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82C92AD-08A1-4C4F-B44B-016863DD45F3}"/>
                  </a:ext>
                </a:extLst>
              </p:cNvPr>
              <p:cNvSpPr txBox="1"/>
              <p:nvPr/>
            </p:nvSpPr>
            <p:spPr>
              <a:xfrm>
                <a:off x="9070107" y="4672373"/>
                <a:ext cx="2373748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i="1" dirty="0"/>
                  <a:t>Note you can still only take bottom option if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1600" b="0" i="1" smtClean="0">
                            <a:solidFill>
                              <a:schemeClr val="accent1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b="0" i="1" smtClean="0">
                                <a:solidFill>
                                  <a:schemeClr val="accent1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solidFill>
                                  <a:schemeClr val="accent1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600" b="0" i="1" smtClean="0">
                                <a:solidFill>
                                  <a:schemeClr val="accent1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sz="1600" b="0" i="1" smtClean="0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𝑙</m:t>
                    </m:r>
                  </m:oMath>
                </a14:m>
                <a:endParaRPr lang="en-US" sz="1600" i="1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82C92AD-08A1-4C4F-B44B-016863DD45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70107" y="4672373"/>
                <a:ext cx="2373748" cy="584775"/>
              </a:xfrm>
              <a:prstGeom prst="rect">
                <a:avLst/>
              </a:prstGeom>
              <a:blipFill>
                <a:blip r:embed="rId5"/>
                <a:stretch>
                  <a:fillRect l="-535" t="-2128" r="-2674" b="-127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B6FB474-5E79-D140-E131-AE1B88D09030}"/>
              </a:ext>
            </a:extLst>
          </p:cNvPr>
          <p:cNvCxnSpPr/>
          <p:nvPr/>
        </p:nvCxnSpPr>
        <p:spPr>
          <a:xfrm>
            <a:off x="9393382" y="3805382"/>
            <a:ext cx="489527" cy="812800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3CB1B5FA-7095-87D0-100C-F2CDC614B8CA}"/>
                  </a:ext>
                </a:extLst>
              </p:cNvPr>
              <p:cNvSpPr txBox="1"/>
              <p:nvPr/>
            </p:nvSpPr>
            <p:spPr>
              <a:xfrm>
                <a:off x="3528945" y="4798553"/>
                <a:ext cx="4672946" cy="1569660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i="1" dirty="0"/>
                  <a:t>Solution to knapsack problem overall then is given by:</a:t>
                </a:r>
              </a:p>
              <a:p>
                <a:pPr algn="ctr"/>
                <a:endParaRPr lang="en-US" sz="2400" i="1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400" b="0" i="0" smtClean="0">
                          <a:latin typeface="Cambria Math" panose="02040503050406030204" pitchFamily="18" charset="0"/>
                        </a:rPr>
                        <m:t>max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⁡_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𝑣𝑎𝑙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{ </m:t>
                      </m:r>
                      <m:r>
                        <a:rPr lang="en-US" sz="2400" b="0" i="1" smtClean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𝑙</m:t>
                      </m:r>
                      <m:r>
                        <a:rPr lang="en-US" sz="2400" b="0" i="1" smtClean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 :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𝑘𝑛𝑎𝑝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chemeClr val="accent3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sz="2400" b="0" i="1" smtClean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𝑊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sz="2400" i="1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3CB1B5FA-7095-87D0-100C-F2CDC614B8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28945" y="4798553"/>
                <a:ext cx="4672946" cy="1569660"/>
              </a:xfrm>
              <a:prstGeom prst="rect">
                <a:avLst/>
              </a:prstGeom>
              <a:blipFill>
                <a:blip r:embed="rId6"/>
                <a:stretch>
                  <a:fillRect l="-270" t="-3175" r="-2162" b="-3968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9522528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F67E8C-7DA6-E29D-A500-0D39DE5155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918697B2-8F77-85D3-0388-55E237DB3C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49580"/>
            <a:ext cx="9905998" cy="652710"/>
          </a:xfrm>
        </p:spPr>
        <p:txBody>
          <a:bodyPr/>
          <a:lstStyle/>
          <a:p>
            <a:pPr algn="ctr"/>
            <a:r>
              <a:rPr lang="en-US" dirty="0"/>
              <a:t>Changing DP Around…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F041A41-9683-D865-4760-6BDD61F22F8D}"/>
              </a:ext>
            </a:extLst>
          </p:cNvPr>
          <p:cNvSpPr/>
          <p:nvPr/>
        </p:nvSpPr>
        <p:spPr>
          <a:xfrm>
            <a:off x="591127" y="2445327"/>
            <a:ext cx="2253673" cy="1967346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Turn the typical DP algorithm around to design a new DP solution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9ECD268F-FC1E-0DCD-EF74-5861B98EDA01}"/>
              </a:ext>
            </a:extLst>
          </p:cNvPr>
          <p:cNvGrpSpPr/>
          <p:nvPr/>
        </p:nvGrpSpPr>
        <p:grpSpPr>
          <a:xfrm>
            <a:off x="3241641" y="1147973"/>
            <a:ext cx="8045198" cy="1650648"/>
            <a:chOff x="2281631" y="2427202"/>
            <a:chExt cx="8045198" cy="165064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D319EABA-019F-3826-A49F-7C68BD74D384}"/>
                    </a:ext>
                  </a:extLst>
                </p:cNvPr>
                <p:cNvSpPr txBox="1"/>
                <p:nvPr/>
              </p:nvSpPr>
              <p:spPr>
                <a:xfrm>
                  <a:off x="2281631" y="3007572"/>
                  <a:ext cx="2537789" cy="46166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𝑘𝑛𝑎𝑝</m:t>
                        </m:r>
                        <m:d>
                          <m:dPr>
                            <m:ctrlPr>
                              <a:rPr lang="en-US" sz="2400" b="0" i="1" smtClean="0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0" i="1" smtClean="0">
                                <a:solidFill>
                                  <a:schemeClr val="accent3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2400" b="0" i="1" smtClean="0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400" b="0" i="1" smtClean="0">
                                <a:solidFill>
                                  <a:schemeClr val="accent1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𝑙</m:t>
                            </m:r>
                          </m:e>
                        </m:d>
                        <m:r>
                          <a:rPr lang="en-US" sz="24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24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𝑀𝑖𝑛</m:t>
                        </m:r>
                      </m:oMath>
                    </m:oMathPara>
                  </a14:m>
                  <a:endParaRPr lang="en-US" sz="2400" dirty="0">
                    <a:solidFill>
                      <a:schemeClr val="tx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D319EABA-019F-3826-A49F-7C68BD74D38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81631" y="3007572"/>
                  <a:ext cx="2537789" cy="461665"/>
                </a:xfrm>
                <a:prstGeom prst="rect">
                  <a:avLst/>
                </a:prstGeom>
                <a:blipFill>
                  <a:blip r:embed="rId2"/>
                  <a:stretch>
                    <a:fillRect l="-995" b="-18919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F9D661F9-4405-C5EC-AD73-DC6B8928A1AF}"/>
                    </a:ext>
                  </a:extLst>
                </p:cNvPr>
                <p:cNvSpPr txBox="1"/>
                <p:nvPr/>
              </p:nvSpPr>
              <p:spPr>
                <a:xfrm>
                  <a:off x="5256720" y="3313540"/>
                  <a:ext cx="5070109" cy="46166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0" smtClean="0">
                            <a:solidFill>
                              <a:schemeClr val="accent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w</m:t>
                        </m:r>
                        <m:r>
                          <a:rPr lang="en-US" sz="2400" b="0" i="1" smtClean="0">
                            <a:solidFill>
                              <a:schemeClr val="accent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chemeClr val="accent2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chemeClr val="accent2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chemeClr val="accent2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400" b="0" i="1" smtClean="0">
                            <a:solidFill>
                              <a:schemeClr val="accent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  <m:r>
                          <a:rPr lang="en-US" sz="24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4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𝑘𝑛𝑎𝑝</m:t>
                        </m:r>
                        <m:r>
                          <a:rPr lang="en-US" sz="24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400" b="0" i="1" smtClean="0">
                            <a:solidFill>
                              <a:schemeClr val="accent3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−1,</m:t>
                        </m:r>
                        <m:r>
                          <a:rPr lang="en-US" sz="2400" b="0" i="1" smtClean="0">
                            <a:solidFill>
                              <a:schemeClr val="accent1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sz="24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400" b="0" i="1" smtClean="0">
                            <a:solidFill>
                              <a:schemeClr val="accent1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sz="2400" b="0" i="1" smtClean="0">
                            <a:solidFill>
                              <a:schemeClr val="accent1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chemeClr val="accent1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chemeClr val="accent1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chemeClr val="accent1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400" b="0" i="1" smtClean="0">
                            <a:solidFill>
                              <a:schemeClr val="accent1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  <m:r>
                          <a:rPr lang="en-US" sz="24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400" dirty="0">
                    <a:solidFill>
                      <a:schemeClr val="tx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F9D661F9-4405-C5EC-AD73-DC6B8928A1A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56720" y="3313540"/>
                  <a:ext cx="5070109" cy="461665"/>
                </a:xfrm>
                <a:prstGeom prst="rect">
                  <a:avLst/>
                </a:prstGeom>
                <a:blipFill>
                  <a:blip r:embed="rId3"/>
                  <a:stretch>
                    <a:fillRect b="-18919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C2D4056B-A6FF-6366-06F3-3C4933B14E0D}"/>
                    </a:ext>
                  </a:extLst>
                </p:cNvPr>
                <p:cNvSpPr txBox="1"/>
                <p:nvPr/>
              </p:nvSpPr>
              <p:spPr>
                <a:xfrm>
                  <a:off x="5229012" y="2638730"/>
                  <a:ext cx="2950896" cy="46166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en-US" sz="24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𝑘𝑛𝑎𝑝</m:t>
                        </m:r>
                        <m:d>
                          <m:dPr>
                            <m:ctrlPr>
                              <a:rPr lang="en-US" sz="2400" b="0" i="1" smtClean="0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0" i="1" smtClean="0">
                                <a:solidFill>
                                  <a:schemeClr val="accent3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2400" b="0" i="1" smtClean="0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2400" b="0" i="1" smtClean="0">
                                <a:solidFill>
                                  <a:schemeClr val="accent1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𝑙</m:t>
                            </m:r>
                          </m:e>
                        </m:d>
                      </m:oMath>
                    </m:oMathPara>
                  </a14:m>
                  <a:endParaRPr lang="en-US" sz="2400" dirty="0">
                    <a:solidFill>
                      <a:schemeClr val="tx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C2D4056B-A6FF-6366-06F3-3C4933B14E0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29012" y="2638730"/>
                  <a:ext cx="2950896" cy="461665"/>
                </a:xfrm>
                <a:prstGeom prst="rect">
                  <a:avLst/>
                </a:prstGeom>
                <a:blipFill>
                  <a:blip r:embed="rId4"/>
                  <a:stretch>
                    <a:fillRect l="-1717" b="-16216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" name="Left Brace 13">
              <a:extLst>
                <a:ext uri="{FF2B5EF4-FFF2-40B4-BE49-F238E27FC236}">
                  <a16:creationId xmlns:a16="http://schemas.microsoft.com/office/drawing/2014/main" id="{09C647C1-432C-2962-4A2D-1941C0F51616}"/>
                </a:ext>
              </a:extLst>
            </p:cNvPr>
            <p:cNvSpPr/>
            <p:nvPr/>
          </p:nvSpPr>
          <p:spPr>
            <a:xfrm>
              <a:off x="4684390" y="2427202"/>
              <a:ext cx="655455" cy="1650648"/>
            </a:xfrm>
            <a:prstGeom prst="leftBrace">
              <a:avLst/>
            </a:prstGeom>
            <a:ln>
              <a:solidFill>
                <a:schemeClr val="tx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5" name="Picture 4" descr="A white sheet with black text&#10;&#10;AI-generated content may be incorrect.">
            <a:extLst>
              <a:ext uri="{FF2B5EF4-FFF2-40B4-BE49-F238E27FC236}">
                <a16:creationId xmlns:a16="http://schemas.microsoft.com/office/drawing/2014/main" id="{B5AA548A-8176-3864-DA0B-A3469879F13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43388" y="3026772"/>
            <a:ext cx="4572000" cy="3632200"/>
          </a:xfrm>
          <a:prstGeom prst="rect">
            <a:avLst/>
          </a:prstGeom>
          <a:ln>
            <a:solidFill>
              <a:schemeClr val="bg1"/>
            </a:solidFill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D70523D-C1DE-730D-63E3-5303BFF20C26}"/>
                  </a:ext>
                </a:extLst>
              </p:cNvPr>
              <p:cNvSpPr txBox="1"/>
              <p:nvPr/>
            </p:nvSpPr>
            <p:spPr>
              <a:xfrm>
                <a:off x="7749314" y="3220734"/>
                <a:ext cx="3537525" cy="2308324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:r>
                  <a:rPr lang="en-US" dirty="0"/>
                  <a:t>Notice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dirty="0"/>
                  <a:t> term on line 3 </a:t>
                </a:r>
                <a:br>
                  <a:rPr lang="en-US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max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⁡{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: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𝑊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Essentially, P is the maximum profit over all items that fit in the knapsack.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dirty="0"/>
                  <a:t> is an upper bound on our solution, so we don’t need to solve beyond this.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D70523D-C1DE-730D-63E3-5303BFF20C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49314" y="3220734"/>
                <a:ext cx="3537525" cy="2308324"/>
              </a:xfrm>
              <a:prstGeom prst="rect">
                <a:avLst/>
              </a:prstGeom>
              <a:blipFill>
                <a:blip r:embed="rId6"/>
                <a:stretch>
                  <a:fillRect l="-1068" t="-543" b="-3261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BE3D367-8987-A524-D591-3ABA2A31F978}"/>
                  </a:ext>
                </a:extLst>
              </p:cNvPr>
              <p:cNvSpPr txBox="1"/>
              <p:nvPr/>
            </p:nvSpPr>
            <p:spPr>
              <a:xfrm>
                <a:off x="7749313" y="5819772"/>
                <a:ext cx="3537525" cy="369332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b="1" i="1" u="sng" dirty="0"/>
                  <a:t>Runtime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BE3D367-8987-A524-D591-3ABA2A31F9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49313" y="5819772"/>
                <a:ext cx="3537525" cy="369332"/>
              </a:xfrm>
              <a:prstGeom prst="rect">
                <a:avLst/>
              </a:prstGeom>
              <a:blipFill>
                <a:blip r:embed="rId7"/>
                <a:stretch>
                  <a:fillRect l="-1068" t="-3226" b="-22581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8297222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What did we learn in this deck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A36B35A7-33B4-2246-9592-F0BBDFD568CC}"/>
              </a:ext>
            </a:extLst>
          </p:cNvPr>
          <p:cNvSpPr txBox="1">
            <a:spLocks/>
          </p:cNvSpPr>
          <p:nvPr/>
        </p:nvSpPr>
        <p:spPr>
          <a:xfrm>
            <a:off x="2953570" y="2598821"/>
            <a:ext cx="6284859" cy="137962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00" b="1" i="1" u="sng" dirty="0"/>
              <a:t>More Approximations:</a:t>
            </a:r>
          </a:p>
          <a:p>
            <a:pPr lvl="1"/>
            <a:r>
              <a:rPr lang="en-US" sz="1600" dirty="0"/>
              <a:t>Some were more advanced or required more advanced analysis</a:t>
            </a:r>
          </a:p>
          <a:p>
            <a:pPr lvl="1"/>
            <a:r>
              <a:rPr lang="en-US" sz="1600" dirty="0"/>
              <a:t>FPTAS approximations are possible, analysis is quite difficult!</a:t>
            </a:r>
          </a:p>
        </p:txBody>
      </p:sp>
    </p:spTree>
    <p:extLst>
      <p:ext uri="{BB962C8B-B14F-4D97-AF65-F5344CB8AC3E}">
        <p14:creationId xmlns:p14="http://schemas.microsoft.com/office/powerpoint/2010/main" val="65464159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BAA0D8-F167-E66A-55FE-4C8C6CA106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A9AB9B1C-70FC-17E5-15B3-EEF304CFB3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49580"/>
            <a:ext cx="9905998" cy="652710"/>
          </a:xfrm>
        </p:spPr>
        <p:txBody>
          <a:bodyPr/>
          <a:lstStyle/>
          <a:p>
            <a:pPr algn="ctr"/>
            <a:r>
              <a:rPr lang="en-US" dirty="0"/>
              <a:t>Approximation Process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113F544-2546-68BB-86A6-74E71F287632}"/>
              </a:ext>
            </a:extLst>
          </p:cNvPr>
          <p:cNvSpPr/>
          <p:nvPr/>
        </p:nvSpPr>
        <p:spPr>
          <a:xfrm>
            <a:off x="1570182" y="2466109"/>
            <a:ext cx="2253673" cy="1967346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Turn the typical DP algorithm around to design a new DP solution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8DC9AB7-CD5C-B7FC-ECDA-AFACBEEE2399}"/>
              </a:ext>
            </a:extLst>
          </p:cNvPr>
          <p:cNvSpPr/>
          <p:nvPr/>
        </p:nvSpPr>
        <p:spPr>
          <a:xfrm>
            <a:off x="4967574" y="2466109"/>
            <a:ext cx="2253673" cy="1967346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Approximate knapsack by ”cutting off” portions of the input values and running DP solution</a:t>
            </a:r>
          </a:p>
        </p:txBody>
      </p:sp>
      <p:sp>
        <p:nvSpPr>
          <p:cNvPr id="12" name="Right Arrow 11">
            <a:extLst>
              <a:ext uri="{FF2B5EF4-FFF2-40B4-BE49-F238E27FC236}">
                <a16:creationId xmlns:a16="http://schemas.microsoft.com/office/drawing/2014/main" id="{CBB816AF-B9C7-BAA6-0DD1-C5D16E038910}"/>
              </a:ext>
            </a:extLst>
          </p:cNvPr>
          <p:cNvSpPr/>
          <p:nvPr/>
        </p:nvSpPr>
        <p:spPr>
          <a:xfrm>
            <a:off x="3820677" y="3315854"/>
            <a:ext cx="1146898" cy="254000"/>
          </a:xfrm>
          <a:prstGeom prst="rightArrow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4152298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277DCD-472C-8774-5E00-28CAD9CCDE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61881F6-4721-AD02-75AD-EC2DE108DC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49580"/>
            <a:ext cx="9905998" cy="652710"/>
          </a:xfrm>
        </p:spPr>
        <p:txBody>
          <a:bodyPr/>
          <a:lstStyle/>
          <a:p>
            <a:pPr algn="ctr"/>
            <a:r>
              <a:rPr lang="en-US" dirty="0"/>
              <a:t>Approximating Knapsack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14C9620-8855-EAA7-478C-035D29AB43FA}"/>
                  </a:ext>
                </a:extLst>
              </p:cNvPr>
              <p:cNvSpPr txBox="1"/>
              <p:nvPr/>
            </p:nvSpPr>
            <p:spPr>
              <a:xfrm>
                <a:off x="4926013" y="1529400"/>
                <a:ext cx="2336796" cy="369332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i="1" u="sng" dirty="0"/>
                  <a:t>Runtime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solidFill>
                              <a:schemeClr val="accent3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chemeClr val="accent3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solidFill>
                              <a:schemeClr val="accent3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14C9620-8855-EAA7-478C-035D29AB43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26013" y="1529400"/>
                <a:ext cx="2336796" cy="369332"/>
              </a:xfrm>
              <a:prstGeom prst="rect">
                <a:avLst/>
              </a:prstGeom>
              <a:blipFill>
                <a:blip r:embed="rId2"/>
                <a:stretch>
                  <a:fillRect t="-6667" b="-26667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Rectangle 2">
            <a:extLst>
              <a:ext uri="{FF2B5EF4-FFF2-40B4-BE49-F238E27FC236}">
                <a16:creationId xmlns:a16="http://schemas.microsoft.com/office/drawing/2014/main" id="{8788399F-BCC9-202B-8A02-3138626149AC}"/>
              </a:ext>
            </a:extLst>
          </p:cNvPr>
          <p:cNvSpPr/>
          <p:nvPr/>
        </p:nvSpPr>
        <p:spPr>
          <a:xfrm>
            <a:off x="790807" y="2525843"/>
            <a:ext cx="2253673" cy="1967346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Approximate knapsack by ”cutting off” portions of the input values and running DP solution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AC3BAB0-03C4-F7F5-AD68-508CE3B13F35}"/>
                  </a:ext>
                </a:extLst>
              </p:cNvPr>
              <p:cNvSpPr txBox="1"/>
              <p:nvPr/>
            </p:nvSpPr>
            <p:spPr>
              <a:xfrm>
                <a:off x="3502094" y="2507370"/>
                <a:ext cx="7632263" cy="14773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This 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P term </a:t>
                </a:r>
                <a:r>
                  <a:rPr lang="en-US" dirty="0"/>
                  <a:t>makes the algorithm exponential time because 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P</a:t>
                </a:r>
                <a:r>
                  <a:rPr lang="en-US" dirty="0"/>
                  <a:t> takes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fName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chemeClr val="accent1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</m:d>
                      </m:e>
                    </m:func>
                  </m:oMath>
                </a14:m>
                <a:r>
                  <a:rPr lang="en-US" dirty="0"/>
                  <a:t> bits to represent. 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P</a:t>
                </a:r>
                <a:r>
                  <a:rPr lang="en-US" dirty="0"/>
                  <a:t> can be very large and the size of the DP table grows with it. </a:t>
                </a:r>
              </a:p>
              <a:p>
                <a:endParaRPr lang="en-US" dirty="0"/>
              </a:p>
              <a:p>
                <a:r>
                  <a:rPr lang="en-US" b="1" i="1" u="sng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</a:rPr>
                  <a:t>IDEA</a:t>
                </a:r>
                <a:r>
                  <a:rPr lang="en-US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</a:rPr>
                  <a:t>: Approximate knapsack by reducing the value of P manually. We will lose precision on our profits and get incorrect answer but will speed up runtime.</a:t>
                </a: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AC3BAB0-03C4-F7F5-AD68-508CE3B13F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02094" y="2507370"/>
                <a:ext cx="7632263" cy="1477328"/>
              </a:xfrm>
              <a:prstGeom prst="rect">
                <a:avLst/>
              </a:prstGeom>
              <a:blipFill>
                <a:blip r:embed="rId3"/>
                <a:stretch>
                  <a:fillRect l="-664" t="-1709" r="-664" b="-59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7B58EDFD-04BA-77B5-5483-D4FFE13451B9}"/>
              </a:ext>
            </a:extLst>
          </p:cNvPr>
          <p:cNvCxnSpPr>
            <a:cxnSpLocks/>
          </p:cNvCxnSpPr>
          <p:nvPr/>
        </p:nvCxnSpPr>
        <p:spPr>
          <a:xfrm flipH="1">
            <a:off x="4608945" y="1947071"/>
            <a:ext cx="1967346" cy="578771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" name="Picture 19" descr="A white paper with black text&#10;&#10;AI-generated content may be incorrect.">
            <a:extLst>
              <a:ext uri="{FF2B5EF4-FFF2-40B4-BE49-F238E27FC236}">
                <a16:creationId xmlns:a16="http://schemas.microsoft.com/office/drawing/2014/main" id="{E3EA721D-4CB8-14AD-C365-EB4ADC0E50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33859" y="4497505"/>
            <a:ext cx="6057900" cy="1739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155597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5DB711-3938-E8DE-83D6-816D038BEE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E33E3470-1415-BF7D-A386-4917A5A776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49580"/>
            <a:ext cx="9905998" cy="652710"/>
          </a:xfrm>
        </p:spPr>
        <p:txBody>
          <a:bodyPr/>
          <a:lstStyle/>
          <a:p>
            <a:pPr algn="ctr"/>
            <a:r>
              <a:rPr lang="en-US" dirty="0"/>
              <a:t>Approximation Process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ED043B6-7A07-FA87-1526-EF0D216A0958}"/>
              </a:ext>
            </a:extLst>
          </p:cNvPr>
          <p:cNvSpPr/>
          <p:nvPr/>
        </p:nvSpPr>
        <p:spPr>
          <a:xfrm>
            <a:off x="1570182" y="2466109"/>
            <a:ext cx="2253673" cy="1967346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Turn the typical DP algorithm around to design a new DP solution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B5CD784-BD12-9485-BE20-69698721F7A5}"/>
              </a:ext>
            </a:extLst>
          </p:cNvPr>
          <p:cNvSpPr/>
          <p:nvPr/>
        </p:nvSpPr>
        <p:spPr>
          <a:xfrm>
            <a:off x="4967574" y="2466109"/>
            <a:ext cx="2253673" cy="1967346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Approximate knapsack by ”cutting off” portions of the input values and running DP solution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9C7894C-C69D-4898-5D3D-0D91A0C8AD4E}"/>
              </a:ext>
            </a:extLst>
          </p:cNvPr>
          <p:cNvSpPr/>
          <p:nvPr/>
        </p:nvSpPr>
        <p:spPr>
          <a:xfrm>
            <a:off x="8368145" y="2466109"/>
            <a:ext cx="2253673" cy="1967346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Analysis to show approximation is proper FPTAS</a:t>
            </a:r>
          </a:p>
        </p:txBody>
      </p:sp>
      <p:sp>
        <p:nvSpPr>
          <p:cNvPr id="12" name="Right Arrow 11">
            <a:extLst>
              <a:ext uri="{FF2B5EF4-FFF2-40B4-BE49-F238E27FC236}">
                <a16:creationId xmlns:a16="http://schemas.microsoft.com/office/drawing/2014/main" id="{6C1D903C-564C-E9E4-C347-FD9B7A5B8ED3}"/>
              </a:ext>
            </a:extLst>
          </p:cNvPr>
          <p:cNvSpPr/>
          <p:nvPr/>
        </p:nvSpPr>
        <p:spPr>
          <a:xfrm>
            <a:off x="3820677" y="3315854"/>
            <a:ext cx="1146898" cy="254000"/>
          </a:xfrm>
          <a:prstGeom prst="rightArrow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13" name="Right Arrow 12">
            <a:extLst>
              <a:ext uri="{FF2B5EF4-FFF2-40B4-BE49-F238E27FC236}">
                <a16:creationId xmlns:a16="http://schemas.microsoft.com/office/drawing/2014/main" id="{E75DF6EC-F7E8-5533-4963-D8919148358E}"/>
              </a:ext>
            </a:extLst>
          </p:cNvPr>
          <p:cNvSpPr/>
          <p:nvPr/>
        </p:nvSpPr>
        <p:spPr>
          <a:xfrm>
            <a:off x="7224276" y="3302000"/>
            <a:ext cx="1146898" cy="254000"/>
          </a:xfrm>
          <a:prstGeom prst="rightArrow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0078364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6F2B24-EDD8-5296-9384-1289B9E5F1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F9C7549-DFB4-D528-324C-44A3E93F5B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49580"/>
            <a:ext cx="9905998" cy="652710"/>
          </a:xfrm>
        </p:spPr>
        <p:txBody>
          <a:bodyPr/>
          <a:lstStyle/>
          <a:p>
            <a:pPr algn="ctr"/>
            <a:r>
              <a:rPr lang="en-US" dirty="0"/>
              <a:t>Approximating Knapsack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861B6711-D213-9071-C930-E0339B7DC5C0}"/>
                  </a:ext>
                </a:extLst>
              </p:cNvPr>
              <p:cNvSpPr txBox="1"/>
              <p:nvPr/>
            </p:nvSpPr>
            <p:spPr>
              <a:xfrm>
                <a:off x="5806434" y="3145359"/>
                <a:ext cx="3196836" cy="830997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i="1" u="sng" dirty="0"/>
                  <a:t>Goal - show that</a:t>
                </a:r>
                <a:r>
                  <a:rPr lang="en-US" sz="2400" dirty="0"/>
                  <a:t>: 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chemeClr val="accent3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𝑂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⋅(1−</m:t>
                      </m:r>
                      <m:r>
                        <a:rPr lang="en-US" sz="2400" b="0" i="1" smtClean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𝜖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861B6711-D213-9071-C930-E0339B7DC5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06434" y="3145359"/>
                <a:ext cx="3196836" cy="830997"/>
              </a:xfrm>
              <a:prstGeom prst="rect">
                <a:avLst/>
              </a:prstGeom>
              <a:blipFill>
                <a:blip r:embed="rId2"/>
                <a:stretch>
                  <a:fillRect t="-5970" b="-7463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" name="Picture 19" descr="A white paper with black text&#10;&#10;AI-generated content may be incorrect.">
            <a:extLst>
              <a:ext uri="{FF2B5EF4-FFF2-40B4-BE49-F238E27FC236}">
                <a16:creationId xmlns:a16="http://schemas.microsoft.com/office/drawing/2014/main" id="{7353E1A8-2BD8-7EEF-F121-10BDFEC4A0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5902" y="1141745"/>
            <a:ext cx="6057900" cy="173990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AF64F81E-D044-3ACF-664A-32E3FBC7BE90}"/>
              </a:ext>
            </a:extLst>
          </p:cNvPr>
          <p:cNvSpPr/>
          <p:nvPr/>
        </p:nvSpPr>
        <p:spPr>
          <a:xfrm>
            <a:off x="600183" y="2445327"/>
            <a:ext cx="2253673" cy="1967346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Analysis to show approximation is proper FPTAS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EFD1A33-B3FE-DCE8-C31A-64714035E0E0}"/>
                  </a:ext>
                </a:extLst>
              </p:cNvPr>
              <p:cNvSpPr txBox="1"/>
              <p:nvPr/>
            </p:nvSpPr>
            <p:spPr>
              <a:xfrm>
                <a:off x="3217585" y="4890579"/>
                <a:ext cx="2316634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: profit returned by our approximation algorithm</a:t>
                </a: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EFD1A33-B3FE-DCE8-C31A-64714035E0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17585" y="4890579"/>
                <a:ext cx="2316634" cy="923330"/>
              </a:xfrm>
              <a:prstGeom prst="rect">
                <a:avLst/>
              </a:prstGeom>
              <a:blipFill>
                <a:blip r:embed="rId4"/>
                <a:stretch>
                  <a:fillRect l="-2186" t="-1351" b="-108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2F33BB8-E937-E9D0-923B-3E2764E3772A}"/>
                  </a:ext>
                </a:extLst>
              </p:cNvPr>
              <p:cNvSpPr txBox="1"/>
              <p:nvPr/>
            </p:nvSpPr>
            <p:spPr>
              <a:xfrm>
                <a:off x="6246535" y="5490743"/>
                <a:ext cx="2316634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: Optimal profit achievable</a:t>
                </a: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2F33BB8-E937-E9D0-923B-3E2764E377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46535" y="5490743"/>
                <a:ext cx="2316634" cy="646331"/>
              </a:xfrm>
              <a:prstGeom prst="rect">
                <a:avLst/>
              </a:prstGeom>
              <a:blipFill>
                <a:blip r:embed="rId5"/>
                <a:stretch>
                  <a:fillRect l="-2732" t="-3846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049B165-B3E4-6B98-81BF-8C7696987DE5}"/>
                  </a:ext>
                </a:extLst>
              </p:cNvPr>
              <p:cNvSpPr txBox="1"/>
              <p:nvPr/>
            </p:nvSpPr>
            <p:spPr>
              <a:xfrm>
                <a:off x="9176679" y="4682823"/>
                <a:ext cx="2514246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: Approximation should be within this percent of optimal solution</a:t>
                </a: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049B165-B3E4-6B98-81BF-8C7696987D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76679" y="4682823"/>
                <a:ext cx="2514246" cy="923330"/>
              </a:xfrm>
              <a:prstGeom prst="rect">
                <a:avLst/>
              </a:prstGeom>
              <a:blipFill>
                <a:blip r:embed="rId6"/>
                <a:stretch>
                  <a:fillRect l="-2010" t="-2703" b="-94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CDEE2E1-39F6-B6FC-B7ED-E3063FF7A5D1}"/>
              </a:ext>
            </a:extLst>
          </p:cNvPr>
          <p:cNvCxnSpPr/>
          <p:nvPr/>
        </p:nvCxnSpPr>
        <p:spPr>
          <a:xfrm flipV="1">
            <a:off x="5131293" y="4083728"/>
            <a:ext cx="1038688" cy="736847"/>
          </a:xfrm>
          <a:prstGeom prst="line">
            <a:avLst/>
          </a:pr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DF6D2E3-0A8D-16DD-099C-AEE0CA94CA64}"/>
              </a:ext>
            </a:extLst>
          </p:cNvPr>
          <p:cNvCxnSpPr>
            <a:cxnSpLocks/>
          </p:cNvCxnSpPr>
          <p:nvPr/>
        </p:nvCxnSpPr>
        <p:spPr>
          <a:xfrm flipV="1">
            <a:off x="7039992" y="4083728"/>
            <a:ext cx="292963" cy="126851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AE63987-E15C-123B-7C28-2AD601D63D9B}"/>
              </a:ext>
            </a:extLst>
          </p:cNvPr>
          <p:cNvCxnSpPr>
            <a:cxnSpLocks/>
          </p:cNvCxnSpPr>
          <p:nvPr/>
        </p:nvCxnSpPr>
        <p:spPr>
          <a:xfrm flipH="1" flipV="1">
            <a:off x="8447418" y="4099291"/>
            <a:ext cx="729261" cy="618695"/>
          </a:xfrm>
          <a:prstGeom prst="line">
            <a:avLst/>
          </a:prstGeom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8058325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2AB0AB-5B1E-BBD7-7407-73D3441DEF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2C34EA88-AB79-7DAB-F6AA-DA25D1C46E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137286"/>
            <a:ext cx="9905998" cy="652710"/>
          </a:xfrm>
        </p:spPr>
        <p:txBody>
          <a:bodyPr/>
          <a:lstStyle/>
          <a:p>
            <a:pPr algn="ctr"/>
            <a:r>
              <a:rPr lang="en-US" dirty="0"/>
              <a:t>Three Inequalities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360D84C-B8F5-BCE6-F8BD-ECB12D56BBEA}"/>
                  </a:ext>
                </a:extLst>
              </p:cNvPr>
              <p:cNvSpPr txBox="1"/>
              <p:nvPr/>
            </p:nvSpPr>
            <p:spPr>
              <a:xfrm>
                <a:off x="3545306" y="1067052"/>
                <a:ext cx="7269494" cy="988925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chemeClr val="accent3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400" b="0" i="1" smtClean="0">
                              <a:solidFill>
                                <a:schemeClr val="accent3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  <m:sup/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400" b="0" i="1" smtClean="0">
                              <a:solidFill>
                                <a:schemeClr val="accent3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≥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400" b="0" i="1" smtClean="0">
                              <a:solidFill>
                                <a:schemeClr val="accent3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  <m:sup/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d>
                            <m:dPr>
                              <m:begChr m:val="⌊"/>
                              <m:endChr m:val="⌋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sz="2400" b="0" i="1" smtClean="0">
                                      <a:solidFill>
                                        <a:schemeClr val="accent3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num>
                                <m:den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den>
                              </m:f>
                            </m:e>
                          </m:d>
                        </m:e>
                      </m:nary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360D84C-B8F5-BCE6-F8BD-ECB12D56BB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45306" y="1067052"/>
                <a:ext cx="7269494" cy="988925"/>
              </a:xfrm>
              <a:prstGeom prst="rect">
                <a:avLst/>
              </a:prstGeom>
              <a:blipFill>
                <a:blip r:embed="rId2"/>
                <a:stretch>
                  <a:fillRect t="-127500" b="-176250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Rectangle 1">
            <a:extLst>
              <a:ext uri="{FF2B5EF4-FFF2-40B4-BE49-F238E27FC236}">
                <a16:creationId xmlns:a16="http://schemas.microsoft.com/office/drawing/2014/main" id="{C2551ECC-BE6B-C265-596B-4A86F0617678}"/>
              </a:ext>
            </a:extLst>
          </p:cNvPr>
          <p:cNvSpPr/>
          <p:nvPr/>
        </p:nvSpPr>
        <p:spPr>
          <a:xfrm>
            <a:off x="600183" y="2445327"/>
            <a:ext cx="2253673" cy="1967346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Analysis to show approximation is proper FPTAS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3C977F-4A04-8BD6-1C4E-FE25F5F6B041}"/>
              </a:ext>
            </a:extLst>
          </p:cNvPr>
          <p:cNvSpPr txBox="1"/>
          <p:nvPr/>
        </p:nvSpPr>
        <p:spPr>
          <a:xfrm>
            <a:off x="3331896" y="2132508"/>
            <a:ext cx="77283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This is simply true due to rounding (we floor the division before multiplying back in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A7C33D7-CAEE-2748-E025-DE874BD1CF07}"/>
                  </a:ext>
                </a:extLst>
              </p:cNvPr>
              <p:cNvSpPr txBox="1"/>
              <p:nvPr/>
            </p:nvSpPr>
            <p:spPr>
              <a:xfrm>
                <a:off x="3545306" y="2887833"/>
                <a:ext cx="7269494" cy="1008225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400" i="1">
                              <a:solidFill>
                                <a:schemeClr val="accent3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  <m:sup/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⋅</m:t>
                          </m:r>
                          <m:d>
                            <m:dPr>
                              <m:begChr m:val="⌊"/>
                              <m:endChr m:val="⌋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sz="2400" i="1">
                                      <a:solidFill>
                                        <a:schemeClr val="accent3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num>
                                <m:den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den>
                              </m:f>
                            </m:e>
                          </m:d>
                        </m:e>
                      </m:nary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≥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2400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𝑂</m:t>
                          </m:r>
                        </m:sub>
                        <m:sup/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d>
                            <m:dPr>
                              <m:begChr m:val="⌊"/>
                              <m:endChr m:val="⌋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  <m:d>
                                    <m:dPr>
                                      <m:ctrlP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400" b="0" i="1" smtClean="0">
                                          <a:solidFill>
                                            <a:schemeClr val="accent3">
                                              <a:lumMod val="60000"/>
                                              <a:lumOff val="4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</m:d>
                                </m:num>
                                <m:den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den>
                              </m:f>
                            </m:e>
                          </m:d>
                        </m:e>
                      </m:nary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A7C33D7-CAEE-2748-E025-DE874BD1CF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45306" y="2887833"/>
                <a:ext cx="7269494" cy="1008225"/>
              </a:xfrm>
              <a:prstGeom prst="rect">
                <a:avLst/>
              </a:prstGeom>
              <a:blipFill>
                <a:blip r:embed="rId3"/>
                <a:stretch>
                  <a:fillRect t="-124691" b="-175309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FC7899A6-A5A5-468F-C7E2-E8D5BD3B728F}"/>
              </a:ext>
            </a:extLst>
          </p:cNvPr>
          <p:cNvSpPr txBox="1"/>
          <p:nvPr/>
        </p:nvSpPr>
        <p:spPr>
          <a:xfrm>
            <a:off x="3331895" y="4001415"/>
            <a:ext cx="772839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Since S is an optimal solution with respect to the new profits, it dominates the profits of the optimal solution to the original profits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A53EE2DE-27BA-4653-0E9E-3DE232E8C5B4}"/>
                  </a:ext>
                </a:extLst>
              </p:cNvPr>
              <p:cNvSpPr txBox="1"/>
              <p:nvPr/>
            </p:nvSpPr>
            <p:spPr>
              <a:xfrm>
                <a:off x="3545306" y="5049781"/>
                <a:ext cx="7269494" cy="1008225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2400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𝑂</m:t>
                          </m:r>
                        </m:sub>
                        <m:sup/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d>
                            <m:dPr>
                              <m:begChr m:val="⌊"/>
                              <m:endChr m:val="⌋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  <m:d>
                                    <m:dPr>
                                      <m:ctrlP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400" b="0" i="1" smtClean="0">
                                          <a:solidFill>
                                            <a:schemeClr val="accent3">
                                              <a:lumMod val="60000"/>
                                              <a:lumOff val="4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</m:d>
                                </m:num>
                                <m:den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den>
                              </m:f>
                            </m:e>
                          </m:d>
                        </m:e>
                      </m:nary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≥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2400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𝑂</m:t>
                          </m:r>
                        </m:sub>
                        <m:sup/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solidFill>
                                    <a:schemeClr val="accent3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A53EE2DE-27BA-4653-0E9E-3DE232E8C5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45306" y="5049781"/>
                <a:ext cx="7269494" cy="1008225"/>
              </a:xfrm>
              <a:prstGeom prst="rect">
                <a:avLst/>
              </a:prstGeom>
              <a:blipFill>
                <a:blip r:embed="rId4"/>
                <a:stretch>
                  <a:fillRect t="-120732" b="-173171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4BFEA1D-8346-B361-8757-235D6F15F39C}"/>
                  </a:ext>
                </a:extLst>
              </p:cNvPr>
              <p:cNvSpPr txBox="1"/>
              <p:nvPr/>
            </p:nvSpPr>
            <p:spPr>
              <a:xfrm>
                <a:off x="3331895" y="6123258"/>
                <a:ext cx="7728398" cy="5107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Due to rounding again,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⋅</m:t>
                    </m:r>
                    <m:d>
                      <m:dPr>
                        <m:begChr m:val="⌊"/>
                        <m:endChr m:val="⌋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solidFill>
                                      <a:schemeClr val="accent3">
                                        <a:lumMod val="60000"/>
                                        <a:lumOff val="40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d>
                          </m:num>
                          <m:den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den>
                        </m:f>
                      </m:e>
                    </m:d>
                  </m:oMath>
                </a14:m>
                <a:r>
                  <a:rPr lang="en-US" dirty="0"/>
                  <a:t> can never be smaller than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chemeClr val="accent3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</m:oMath>
                </a14:m>
                <a:r>
                  <a:rPr lang="en-US" dirty="0"/>
                  <a:t> by more than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4BFEA1D-8346-B361-8757-235D6F15F3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31895" y="6123258"/>
                <a:ext cx="7728398" cy="510781"/>
              </a:xfrm>
              <a:prstGeom prst="rect">
                <a:avLst/>
              </a:prstGeom>
              <a:blipFill>
                <a:blip r:embed="rId5"/>
                <a:stretch>
                  <a:fillRect b="-71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050493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343DDB-7EDA-0D13-C0EF-FCBC468943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846FF1D-480F-CEC9-92C9-4F582EBE5B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137286"/>
            <a:ext cx="9905998" cy="652710"/>
          </a:xfrm>
        </p:spPr>
        <p:txBody>
          <a:bodyPr/>
          <a:lstStyle/>
          <a:p>
            <a:pPr algn="ctr"/>
            <a:r>
              <a:rPr lang="en-US" dirty="0"/>
              <a:t>Three Inequalities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9EEA2D3-A929-FBA2-833A-9924E895B657}"/>
                  </a:ext>
                </a:extLst>
              </p:cNvPr>
              <p:cNvSpPr txBox="1"/>
              <p:nvPr/>
            </p:nvSpPr>
            <p:spPr>
              <a:xfrm>
                <a:off x="3545306" y="890590"/>
                <a:ext cx="7269494" cy="988925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chemeClr val="accent3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400" b="0" i="1" smtClean="0">
                              <a:solidFill>
                                <a:schemeClr val="accent3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  <m:sup/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400" b="0" i="1" smtClean="0">
                              <a:solidFill>
                                <a:schemeClr val="accent3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≥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400" b="0" i="1" smtClean="0">
                              <a:solidFill>
                                <a:schemeClr val="accent3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  <m:sup/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d>
                            <m:dPr>
                              <m:begChr m:val="⌊"/>
                              <m:endChr m:val="⌋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sz="2400" b="0" i="1" smtClean="0">
                                      <a:solidFill>
                                        <a:schemeClr val="accent3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num>
                                <m:den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den>
                              </m:f>
                            </m:e>
                          </m:d>
                        </m:e>
                      </m:nary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9EEA2D3-A929-FBA2-833A-9924E895B6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45306" y="890590"/>
                <a:ext cx="7269494" cy="988925"/>
              </a:xfrm>
              <a:prstGeom prst="rect">
                <a:avLst/>
              </a:prstGeom>
              <a:blipFill>
                <a:blip r:embed="rId2"/>
                <a:stretch>
                  <a:fillRect t="-127500" b="-176250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Rectangle 1">
            <a:extLst>
              <a:ext uri="{FF2B5EF4-FFF2-40B4-BE49-F238E27FC236}">
                <a16:creationId xmlns:a16="http://schemas.microsoft.com/office/drawing/2014/main" id="{23CF0F94-1858-16CE-22B7-0C5ACD50FC96}"/>
              </a:ext>
            </a:extLst>
          </p:cNvPr>
          <p:cNvSpPr/>
          <p:nvPr/>
        </p:nvSpPr>
        <p:spPr>
          <a:xfrm>
            <a:off x="600183" y="2445327"/>
            <a:ext cx="2253673" cy="1967346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Analysis to show approximation is proper FPTAS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F7327A5-2051-1E2D-F9CD-20094615135D}"/>
                  </a:ext>
                </a:extLst>
              </p:cNvPr>
              <p:cNvSpPr txBox="1"/>
              <p:nvPr/>
            </p:nvSpPr>
            <p:spPr>
              <a:xfrm>
                <a:off x="3545306" y="1885208"/>
                <a:ext cx="7269494" cy="1008225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400" i="1">
                              <a:solidFill>
                                <a:schemeClr val="accent3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  <m:sup/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⋅</m:t>
                          </m:r>
                          <m:d>
                            <m:dPr>
                              <m:begChr m:val="⌊"/>
                              <m:endChr m:val="⌋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sz="2400" i="1">
                                      <a:solidFill>
                                        <a:schemeClr val="accent3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num>
                                <m:den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den>
                              </m:f>
                            </m:e>
                          </m:d>
                        </m:e>
                      </m:nary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≥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2400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𝑂</m:t>
                          </m:r>
                        </m:sub>
                        <m:sup/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d>
                            <m:dPr>
                              <m:begChr m:val="⌊"/>
                              <m:endChr m:val="⌋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  <m:d>
                                    <m:dPr>
                                      <m:ctrlP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400" b="0" i="1" smtClean="0">
                                          <a:solidFill>
                                            <a:schemeClr val="accent3">
                                              <a:lumMod val="60000"/>
                                              <a:lumOff val="4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</m:d>
                                </m:num>
                                <m:den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den>
                              </m:f>
                            </m:e>
                          </m:d>
                        </m:e>
                      </m:nary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F7327A5-2051-1E2D-F9CD-2009461513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45306" y="1885208"/>
                <a:ext cx="7269494" cy="1008225"/>
              </a:xfrm>
              <a:prstGeom prst="rect">
                <a:avLst/>
              </a:prstGeom>
              <a:blipFill>
                <a:blip r:embed="rId3"/>
                <a:stretch>
                  <a:fillRect t="-120732" b="-173171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FB53ED4-E743-FF47-3ABF-809D71282630}"/>
                  </a:ext>
                </a:extLst>
              </p:cNvPr>
              <p:cNvSpPr txBox="1"/>
              <p:nvPr/>
            </p:nvSpPr>
            <p:spPr>
              <a:xfrm>
                <a:off x="3545306" y="2892122"/>
                <a:ext cx="7269494" cy="1008225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2400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𝑂</m:t>
                          </m:r>
                        </m:sub>
                        <m:sup/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d>
                            <m:dPr>
                              <m:begChr m:val="⌊"/>
                              <m:endChr m:val="⌋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  <m:d>
                                    <m:dPr>
                                      <m:ctrlP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400" b="0" i="1" smtClean="0">
                                          <a:solidFill>
                                            <a:schemeClr val="accent3">
                                              <a:lumMod val="60000"/>
                                              <a:lumOff val="4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</m:d>
                                </m:num>
                                <m:den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den>
                              </m:f>
                            </m:e>
                          </m:d>
                        </m:e>
                      </m:nary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≥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2400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𝑂</m:t>
                          </m:r>
                        </m:sub>
                        <m:sup/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solidFill>
                                    <a:schemeClr val="accent3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FB53ED4-E743-FF47-3ABF-809D712826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45306" y="2892122"/>
                <a:ext cx="7269494" cy="1008225"/>
              </a:xfrm>
              <a:prstGeom prst="rect">
                <a:avLst/>
              </a:prstGeom>
              <a:blipFill>
                <a:blip r:embed="rId4"/>
                <a:stretch>
                  <a:fillRect t="-123457" b="-175309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4F96BC3D-FB67-39D8-B21B-DD856C5D443C}"/>
              </a:ext>
            </a:extLst>
          </p:cNvPr>
          <p:cNvSpPr txBox="1"/>
          <p:nvPr/>
        </p:nvSpPr>
        <p:spPr>
          <a:xfrm>
            <a:off x="3331895" y="4270398"/>
            <a:ext cx="77283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Putting these together…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FAAC14B-13E7-98BD-48EF-5AC6C5C06EBA}"/>
                  </a:ext>
                </a:extLst>
              </p:cNvPr>
              <p:cNvSpPr txBox="1"/>
              <p:nvPr/>
            </p:nvSpPr>
            <p:spPr>
              <a:xfrm>
                <a:off x="3545306" y="4788824"/>
                <a:ext cx="7269494" cy="988925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chemeClr val="accent3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≥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2400" i="1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𝑂</m:t>
                          </m:r>
                        </m:sub>
                        <m:sup/>
                        <m:e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d>
                                <m:d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i="1">
                                      <a:solidFill>
                                        <a:schemeClr val="accent3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</m:d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</m:d>
                        </m:e>
                      </m:nary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𝑂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𝑛𝐾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FAAC14B-13E7-98BD-48EF-5AC6C5C06E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45306" y="4788824"/>
                <a:ext cx="7269494" cy="988925"/>
              </a:xfrm>
              <a:prstGeom prst="rect">
                <a:avLst/>
              </a:prstGeom>
              <a:blipFill>
                <a:blip r:embed="rId5"/>
                <a:stretch>
                  <a:fillRect t="-127500" b="-177500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1409845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FD1A48-3955-9719-DBF6-ABC3920593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D8771448-D19F-C959-EE45-40B1F8F45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137286"/>
            <a:ext cx="9905998" cy="652710"/>
          </a:xfrm>
        </p:spPr>
        <p:txBody>
          <a:bodyPr/>
          <a:lstStyle/>
          <a:p>
            <a:pPr algn="ctr"/>
            <a:r>
              <a:rPr lang="en-US" dirty="0"/>
              <a:t>Three Inequalities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74D4508-2A46-9FD2-99B9-8F6504D3C0A4}"/>
              </a:ext>
            </a:extLst>
          </p:cNvPr>
          <p:cNvSpPr/>
          <p:nvPr/>
        </p:nvSpPr>
        <p:spPr>
          <a:xfrm>
            <a:off x="600183" y="2445327"/>
            <a:ext cx="2253673" cy="1967346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Analysis to show approximation is proper FPTAS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A91F858-D86D-2FAB-92FF-49FF9F9EBFEF}"/>
              </a:ext>
            </a:extLst>
          </p:cNvPr>
          <p:cNvSpPr txBox="1"/>
          <p:nvPr/>
        </p:nvSpPr>
        <p:spPr>
          <a:xfrm>
            <a:off x="3277318" y="3059668"/>
            <a:ext cx="77283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Almost done…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206B5F2-4A54-9CC3-EB54-C45747D9421E}"/>
                  </a:ext>
                </a:extLst>
              </p:cNvPr>
              <p:cNvSpPr txBox="1"/>
              <p:nvPr/>
            </p:nvSpPr>
            <p:spPr>
              <a:xfrm>
                <a:off x="3532423" y="1692698"/>
                <a:ext cx="7269494" cy="988925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chemeClr val="accent3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≥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2400" i="1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𝑂</m:t>
                          </m:r>
                        </m:sub>
                        <m:sup/>
                        <m:e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d>
                                <m:d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i="1">
                                      <a:solidFill>
                                        <a:schemeClr val="accent3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</m:d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</m:d>
                        </m:e>
                      </m:nary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𝑂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𝑛𝐾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206B5F2-4A54-9CC3-EB54-C45747D942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32423" y="1692698"/>
                <a:ext cx="7269494" cy="988925"/>
              </a:xfrm>
              <a:prstGeom prst="rect">
                <a:avLst/>
              </a:prstGeom>
              <a:blipFill>
                <a:blip r:embed="rId2"/>
                <a:stretch>
                  <a:fillRect t="-127500" b="-177500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C88C3B7-4610-404F-3FFE-66C51F21551B}"/>
                  </a:ext>
                </a:extLst>
              </p:cNvPr>
              <p:cNvSpPr txBox="1"/>
              <p:nvPr/>
            </p:nvSpPr>
            <p:spPr>
              <a:xfrm>
                <a:off x="3532423" y="3951008"/>
                <a:ext cx="7269494" cy="1200329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chemeClr val="accent3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</m:d>
                      <m:r>
                        <m:rPr>
                          <m:aln/>
                        </m:rPr>
                        <a:rPr lang="en-US" sz="2400" b="0" i="1" smtClean="0">
                          <a:latin typeface="Cambria Math" panose="02040503050406030204" pitchFamily="18" charset="0"/>
                        </a:rPr>
                        <m:t>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𝑂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𝑛𝐾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𝑂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𝜖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𝑃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sz="2400" b="0" i="1" smtClean="0">
                          <a:latin typeface="Cambria Math" panose="02040503050406030204" pitchFamily="18" charset="0"/>
                        </a:rPr>
                        <m:t>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𝑂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⋅(1−</m:t>
                      </m:r>
                      <m:r>
                        <a:rPr lang="en-US" sz="2400" b="0" i="1" smtClean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𝜖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C88C3B7-4610-404F-3FFE-66C51F2155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32423" y="3951008"/>
                <a:ext cx="7269494" cy="1200329"/>
              </a:xfrm>
              <a:prstGeom prst="rect">
                <a:avLst/>
              </a:prstGeom>
              <a:blipFill>
                <a:blip r:embed="rId3"/>
                <a:stretch>
                  <a:fillRect b="-4124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EE252B1-ECD7-FBDB-8F1B-45F5580D27A7}"/>
                  </a:ext>
                </a:extLst>
              </p:cNvPr>
              <p:cNvSpPr txBox="1"/>
              <p:nvPr/>
            </p:nvSpPr>
            <p:spPr>
              <a:xfrm>
                <a:off x="7141517" y="5248229"/>
                <a:ext cx="3680926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Done! The approximation is within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 of the optimal solution!</a:t>
                </a: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EE252B1-ECD7-FBDB-8F1B-45F5580D27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41517" y="5248229"/>
                <a:ext cx="3680926" cy="646331"/>
              </a:xfrm>
              <a:prstGeom prst="rect">
                <a:avLst/>
              </a:prstGeom>
              <a:blipFill>
                <a:blip r:embed="rId4"/>
                <a:stretch>
                  <a:fillRect l="-1375" t="-5769" r="-3093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5395577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1F9C2E-DFF9-AD53-9EB8-93496CB43D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AE5F0763-EF31-3989-3145-DDB677C17F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137286"/>
            <a:ext cx="9905998" cy="652710"/>
          </a:xfrm>
        </p:spPr>
        <p:txBody>
          <a:bodyPr/>
          <a:lstStyle/>
          <a:p>
            <a:pPr algn="ctr"/>
            <a:r>
              <a:rPr lang="en-US" dirty="0"/>
              <a:t>Runtime!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9679AC5-DD66-B00D-6C0C-17D908594DF6}"/>
              </a:ext>
            </a:extLst>
          </p:cNvPr>
          <p:cNvSpPr/>
          <p:nvPr/>
        </p:nvSpPr>
        <p:spPr>
          <a:xfrm>
            <a:off x="600183" y="2445327"/>
            <a:ext cx="2253673" cy="1967346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Analysis to show approximation is proper FPTAS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B18DA6B-7321-973E-B21A-300D7ADA2E40}"/>
                  </a:ext>
                </a:extLst>
              </p:cNvPr>
              <p:cNvSpPr txBox="1"/>
              <p:nvPr/>
            </p:nvSpPr>
            <p:spPr>
              <a:xfrm>
                <a:off x="3123956" y="1549776"/>
                <a:ext cx="2336796" cy="461665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i="1" u="sng" dirty="0"/>
                  <a:t>Runtime</a:t>
                </a:r>
                <a:r>
                  <a:rPr lang="en-US" sz="2400" dirty="0"/>
                  <a:t>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sz="2400" b="0" i="1" smtClean="0">
                            <a:solidFill>
                              <a:schemeClr val="accent3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solidFill>
                              <a:schemeClr val="accent3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sz="2400" b="0" i="1" smtClean="0">
                            <a:solidFill>
                              <a:schemeClr val="accent3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b="0" i="1" smtClean="0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400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B18DA6B-7321-973E-B21A-300D7ADA2E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23956" y="1549776"/>
                <a:ext cx="2336796" cy="461665"/>
              </a:xfrm>
              <a:prstGeom prst="rect">
                <a:avLst/>
              </a:prstGeom>
              <a:blipFill>
                <a:blip r:embed="rId2"/>
                <a:stretch>
                  <a:fillRect l="-1613" t="-7895" b="-28947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408A0A8-C5AA-56C8-0AF8-793B26653679}"/>
                  </a:ext>
                </a:extLst>
              </p:cNvPr>
              <p:cNvSpPr txBox="1"/>
              <p:nvPr/>
            </p:nvSpPr>
            <p:spPr>
              <a:xfrm>
                <a:off x="5942796" y="975613"/>
                <a:ext cx="3196836" cy="1609993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solidFill>
                              <a:schemeClr val="accent3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≥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solidFill>
                              <a:schemeClr val="accent1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𝑂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⋅(1−</m:t>
                    </m:r>
                    <m:r>
                      <a:rPr lang="en-US" sz="2400" b="0" i="1" smtClean="0"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𝜖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400" dirty="0"/>
              </a:p>
              <a:p>
                <a:pPr algn="ctr"/>
                <a:endParaRPr lang="en-US" sz="2400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solidFill>
                                    <a:schemeClr val="accent1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</m:e>
                          </m:d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400" b="0" i="1" smtClean="0">
                              <a:solidFill>
                                <a:schemeClr val="accent3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≤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(1−</m:t>
                          </m:r>
                          <m:r>
                            <a:rPr lang="en-US" sz="2400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𝜖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408A0A8-C5AA-56C8-0AF8-793B266536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42796" y="975613"/>
                <a:ext cx="3196836" cy="1609993"/>
              </a:xfrm>
              <a:prstGeom prst="rect">
                <a:avLst/>
              </a:prstGeom>
              <a:blipFill>
                <a:blip r:embed="rId3"/>
                <a:stretch>
                  <a:fillRect b="-3876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8D8FCEDA-7DDC-EE5C-D9A1-A6698B6DB358}"/>
              </a:ext>
            </a:extLst>
          </p:cNvPr>
          <p:cNvSpPr txBox="1"/>
          <p:nvPr/>
        </p:nvSpPr>
        <p:spPr>
          <a:xfrm>
            <a:off x="9322884" y="1457442"/>
            <a:ext cx="17245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Known from earlier analysis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89D6043-2FE4-D666-BEA2-86CFE240831B}"/>
              </a:ext>
            </a:extLst>
          </p:cNvPr>
          <p:cNvCxnSpPr/>
          <p:nvPr/>
        </p:nvCxnSpPr>
        <p:spPr>
          <a:xfrm>
            <a:off x="2975811" y="2927684"/>
            <a:ext cx="9007642" cy="0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5CA2925-C99E-C8C6-4DB2-487BF41F8D4F}"/>
                  </a:ext>
                </a:extLst>
              </p:cNvPr>
              <p:cNvSpPr txBox="1"/>
              <p:nvPr/>
            </p:nvSpPr>
            <p:spPr>
              <a:xfrm>
                <a:off x="3123955" y="3079975"/>
                <a:ext cx="7923455" cy="4986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To easily show runtime is FPTAS, we will run our algorithm with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5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𝛿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solidFill>
                              <a:schemeClr val="accent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(1+</m:t>
                        </m:r>
                        <m:r>
                          <a:rPr lang="en-US" b="0" i="1" smtClean="0">
                            <a:solidFill>
                              <a:schemeClr val="accent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&lt;0</m:t>
                    </m:r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5CA2925-C99E-C8C6-4DB2-487BF41F8D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23955" y="3079975"/>
                <a:ext cx="7923455" cy="498663"/>
              </a:xfrm>
              <a:prstGeom prst="rect">
                <a:avLst/>
              </a:prstGeom>
              <a:blipFill>
                <a:blip r:embed="rId4"/>
                <a:stretch>
                  <a:fillRect b="-7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25E5C453-B151-F29C-24C1-5CEBA6240EC0}"/>
                  </a:ext>
                </a:extLst>
              </p:cNvPr>
              <p:cNvSpPr txBox="1"/>
              <p:nvPr/>
            </p:nvSpPr>
            <p:spPr>
              <a:xfrm>
                <a:off x="3400122" y="3667466"/>
                <a:ext cx="7326445" cy="1115690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solidFill>
                                    <a:schemeClr val="accent1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</m:e>
                          </m:d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400" b="0" i="1" smtClean="0">
                              <a:solidFill>
                                <a:schemeClr val="accent3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≤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r>
                                <a:rPr lang="en-US" sz="2400" b="0" i="1" smtClean="0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𝛿</m:t>
                              </m:r>
                            </m:e>
                          </m:d>
                        </m:den>
                      </m:f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f>
                            <m:f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400" b="0" i="1" smtClean="0">
                                  <a:solidFill>
                                    <a:schemeClr val="accent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𝜖</m:t>
                              </m:r>
                            </m:num>
                            <m:den>
                              <m:d>
                                <m:d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1+</m:t>
                                  </m:r>
                                  <m:r>
                                    <a:rPr lang="en-US" sz="2400" b="0" i="1" smtClean="0">
                                      <a:solidFill>
                                        <a:schemeClr val="accent2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𝜖</m:t>
                                  </m:r>
                                </m:e>
                              </m:d>
                            </m:den>
                          </m:f>
                        </m:den>
                      </m:f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=1+</m:t>
                      </m:r>
                      <m:r>
                        <a:rPr lang="en-US" sz="2400" b="0" i="1" smtClean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𝜖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25E5C453-B151-F29C-24C1-5CEBA6240E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00122" y="3667466"/>
                <a:ext cx="7326445" cy="111569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3D31748E-A799-C934-21F9-99EC2DAD12BC}"/>
              </a:ext>
            </a:extLst>
          </p:cNvPr>
          <p:cNvSpPr txBox="1"/>
          <p:nvPr/>
        </p:nvSpPr>
        <p:spPr>
          <a:xfrm>
            <a:off x="3123954" y="4939258"/>
            <a:ext cx="79234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…so final runtime is: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8E9EDF7-AA36-8CCB-8758-15427AF2F56E}"/>
                  </a:ext>
                </a:extLst>
              </p:cNvPr>
              <p:cNvSpPr txBox="1"/>
              <p:nvPr/>
            </p:nvSpPr>
            <p:spPr>
              <a:xfrm>
                <a:off x="2975811" y="5464692"/>
                <a:ext cx="8269705" cy="796115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𝑂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400" b="0" i="1" smtClean="0">
                                  <a:solidFill>
                                    <a:schemeClr val="accent3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solidFill>
                                    <a:schemeClr val="accent3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p>
                              <m:r>
                                <a:rPr lang="en-US" sz="2400" b="0" i="1" smtClean="0">
                                  <a:solidFill>
                                    <a:schemeClr val="accent3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d>
                            <m:dPr>
                              <m:begChr m:val="⌊"/>
                              <m:endChr m:val="⌋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2400" b="0" i="1" smtClean="0">
                                      <a:solidFill>
                                        <a:schemeClr val="accent1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num>
                                <m:den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den>
                              </m:f>
                            </m:e>
                          </m:d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𝑂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400" b="0" i="1" smtClean="0">
                                  <a:solidFill>
                                    <a:schemeClr val="accent3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solidFill>
                                    <a:schemeClr val="accent3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p>
                              <m:r>
                                <a:rPr lang="en-US" sz="2400" b="0" i="1" smtClean="0">
                                  <a:solidFill>
                                    <a:schemeClr val="accent3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d>
                            <m:dPr>
                              <m:begChr m:val="⌊"/>
                              <m:endChr m:val="⌋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num>
                                <m:den>
                                  <m:r>
                                    <a:rPr lang="en-US" sz="2400" b="0" i="1" smtClean="0">
                                      <a:solidFill>
                                        <a:schemeClr val="accent5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𝛿</m:t>
                                  </m:r>
                                </m:den>
                              </m:f>
                            </m:e>
                          </m:d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𝑂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400" b="0" i="1" smtClean="0">
                                  <a:solidFill>
                                    <a:schemeClr val="accent3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solidFill>
                                    <a:schemeClr val="accent3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p>
                              <m:r>
                                <a:rPr lang="en-US" sz="2400" b="0" i="1" smtClean="0">
                                  <a:solidFill>
                                    <a:schemeClr val="accent3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f>
                            <m:f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1+</m:t>
                              </m:r>
                              <m:r>
                                <a:rPr lang="en-US" sz="2400" b="0" i="1" smtClean="0">
                                  <a:solidFill>
                                    <a:schemeClr val="accent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𝜖</m:t>
                              </m:r>
                            </m:num>
                            <m:den>
                              <m:r>
                                <a:rPr lang="en-US" sz="2400" b="0" i="1" smtClean="0">
                                  <a:solidFill>
                                    <a:schemeClr val="accent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𝜖</m:t>
                              </m:r>
                            </m:den>
                          </m:f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𝑂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sz="2400" b="0" i="1" smtClean="0">
                              <a:solidFill>
                                <a:schemeClr val="accent3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solidFill>
                                <a:schemeClr val="accent3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p>
                          <m:r>
                            <a:rPr lang="en-US" sz="2400" b="0" i="1" smtClean="0">
                              <a:solidFill>
                                <a:schemeClr val="accent3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p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⋅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𝜖</m:t>
                          </m:r>
                        </m:den>
                      </m:f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sz="2400" b="0" i="1" smtClean="0">
                              <a:solidFill>
                                <a:schemeClr val="accent3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solidFill>
                                <a:schemeClr val="accent3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p>
                          <m:r>
                            <a:rPr lang="en-US" sz="2400" b="0" i="1" smtClean="0">
                              <a:solidFill>
                                <a:schemeClr val="accent3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p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8E9EDF7-AA36-8CCB-8758-15427AF2F5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75811" y="5464692"/>
                <a:ext cx="8269705" cy="796115"/>
              </a:xfrm>
              <a:prstGeom prst="rect">
                <a:avLst/>
              </a:prstGeom>
              <a:blipFill>
                <a:blip r:embed="rId6"/>
                <a:stretch>
                  <a:fillRect b="-4615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76582863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252C36"/>
      </a:dk2>
      <a:lt2>
        <a:srgbClr val="7C96A3"/>
      </a:lt2>
      <a:accent1>
        <a:srgbClr val="4FD093"/>
      </a:accent1>
      <a:accent2>
        <a:srgbClr val="54BCDF"/>
      </a:accent2>
      <a:accent3>
        <a:srgbClr val="A262D0"/>
      </a:accent3>
      <a:accent4>
        <a:srgbClr val="D7537B"/>
      </a:accent4>
      <a:accent5>
        <a:srgbClr val="E78045"/>
      </a:accent5>
      <a:accent6>
        <a:srgbClr val="84C350"/>
      </a:accent6>
      <a:hlink>
        <a:srgbClr val="22FFFF"/>
      </a:hlink>
      <a:folHlink>
        <a:srgbClr val="9BF3FD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142578CA-DEC9-49C3-80AF-C113973CC9A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{78731ABC-CB82-E74D-A429-13D3326A7E5D}tf10001122</Template>
  <TotalTime>50396</TotalTime>
  <Words>2435</Words>
  <Application>Microsoft Macintosh PowerPoint</Application>
  <PresentationFormat>Widescreen</PresentationFormat>
  <Paragraphs>368</Paragraphs>
  <Slides>36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43" baseType="lpstr">
      <vt:lpstr>ＭＳ Ｐゴシック</vt:lpstr>
      <vt:lpstr>Arial</vt:lpstr>
      <vt:lpstr>Calibri</vt:lpstr>
      <vt:lpstr>Cambria Math</vt:lpstr>
      <vt:lpstr>Tw Cen MT</vt:lpstr>
      <vt:lpstr>Wingdings</vt:lpstr>
      <vt:lpstr>Circuit</vt:lpstr>
      <vt:lpstr>Approximation Algorithms (Part 2)</vt:lpstr>
      <vt:lpstr>Advanced Tree Structures</vt:lpstr>
      <vt:lpstr>Randomization Methods Max 3-SAT</vt:lpstr>
      <vt:lpstr>Max 3-SAT</vt:lpstr>
      <vt:lpstr>Max 3-SAT</vt:lpstr>
      <vt:lpstr>Max 3-SAT</vt:lpstr>
      <vt:lpstr>Max 3-SAT</vt:lpstr>
      <vt:lpstr>Max 3-SAT</vt:lpstr>
      <vt:lpstr>Max 3-SAT</vt:lpstr>
      <vt:lpstr>Max 3-SAT</vt:lpstr>
      <vt:lpstr>Max 3-SAT</vt:lpstr>
      <vt:lpstr>Max 3-SAT</vt:lpstr>
      <vt:lpstr>Weighted Vertex-Cover and LP-Rounding</vt:lpstr>
      <vt:lpstr>Min-Weight Vertex-Cover</vt:lpstr>
      <vt:lpstr>Min-Weight Vertex-Cover</vt:lpstr>
      <vt:lpstr>Min-Weight Vertex-Cover As Integer Program</vt:lpstr>
      <vt:lpstr>Min-Weight Vertex-Cover As Integer Program</vt:lpstr>
      <vt:lpstr>Min-Weight Vertex-Cover As Integer Program</vt:lpstr>
      <vt:lpstr>Min-Weight Vertex-Cover As Integer Program</vt:lpstr>
      <vt:lpstr>Min-Weight Vertex-Cover As Integer Program</vt:lpstr>
      <vt:lpstr>FPTAS for Knapsack Problem</vt:lpstr>
      <vt:lpstr>Some Definitions</vt:lpstr>
      <vt:lpstr>Recall: Knapsack Problems</vt:lpstr>
      <vt:lpstr>Approximation Process</vt:lpstr>
      <vt:lpstr>Typical Knapsack DP Recurrence</vt:lpstr>
      <vt:lpstr>Changing DP Around…</vt:lpstr>
      <vt:lpstr>Changing DP Around…</vt:lpstr>
      <vt:lpstr>What did we learn in this deck</vt:lpstr>
      <vt:lpstr>Approximation Process</vt:lpstr>
      <vt:lpstr>Approximating Knapsack</vt:lpstr>
      <vt:lpstr>Approximation Process</vt:lpstr>
      <vt:lpstr>Approximating Knapsack</vt:lpstr>
      <vt:lpstr>Three Inequalities</vt:lpstr>
      <vt:lpstr>Three Inequalities</vt:lpstr>
      <vt:lpstr>Three Inequalities</vt:lpstr>
      <vt:lpstr>Runtime!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Linear Programming</dc:title>
  <dc:creator>Mark Floryan</dc:creator>
  <cp:lastModifiedBy>Floryan, Mark Richard (mrf8t)</cp:lastModifiedBy>
  <cp:revision>301</cp:revision>
  <dcterms:created xsi:type="dcterms:W3CDTF">2023-02-24T14:15:53Z</dcterms:created>
  <dcterms:modified xsi:type="dcterms:W3CDTF">2026-03-12T12:13:57Z</dcterms:modified>
</cp:coreProperties>
</file>